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63" r:id="rId5"/>
    <p:sldId id="261" r:id="rId6"/>
    <p:sldId id="259" r:id="rId7"/>
    <p:sldId id="262" r:id="rId8"/>
    <p:sldId id="260" r:id="rId9"/>
    <p:sldId id="286" r:id="rId10"/>
    <p:sldId id="264" r:id="rId11"/>
    <p:sldId id="269" r:id="rId12"/>
    <p:sldId id="265" r:id="rId13"/>
    <p:sldId id="295" r:id="rId14"/>
    <p:sldId id="296" r:id="rId15"/>
    <p:sldId id="297" r:id="rId16"/>
    <p:sldId id="266" r:id="rId17"/>
    <p:sldId id="273" r:id="rId18"/>
    <p:sldId id="268" r:id="rId19"/>
    <p:sldId id="298" r:id="rId20"/>
    <p:sldId id="267" r:id="rId21"/>
    <p:sldId id="270" r:id="rId22"/>
    <p:sldId id="274" r:id="rId23"/>
    <p:sldId id="287" r:id="rId24"/>
    <p:sldId id="271" r:id="rId25"/>
    <p:sldId id="275" r:id="rId26"/>
    <p:sldId id="276" r:id="rId27"/>
    <p:sldId id="277" r:id="rId28"/>
    <p:sldId id="278" r:id="rId29"/>
    <p:sldId id="281" r:id="rId30"/>
    <p:sldId id="279" r:id="rId31"/>
    <p:sldId id="280" r:id="rId32"/>
    <p:sldId id="289" r:id="rId33"/>
    <p:sldId id="290" r:id="rId34"/>
    <p:sldId id="291" r:id="rId35"/>
    <p:sldId id="292" r:id="rId36"/>
    <p:sldId id="293" r:id="rId37"/>
    <p:sldId id="294" r:id="rId38"/>
    <p:sldId id="288" r:id="rId3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232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tiff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8.png"/><Relationship Id="rId7" Type="http://schemas.openxmlformats.org/officeDocument/2006/relationships/image" Target="../media/image1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2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1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8.png"/><Relationship Id="rId4" Type="http://schemas.openxmlformats.org/officeDocument/2006/relationships/image" Target="../media/image1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37.tiff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36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transparent', padding: 0, flexDirection: 'row', alignItems: 'center' }}&gt;&#10;    &lt;Image src=&quot;resources/images/gvp_background.jpg&quot; style={{ position: 'absolute', top: 0, left: 0, width: 1280, height: 720, objectFit: 'cover', }} /&gt;&#10;    &lt;Box style={{ zIndex: 1,  position: 'absolute', top: 0, right: 0, width: 600, height: 720, background: 'radial-gradient(circle at 70% 50%, rgba(37, 99, 235,0.15) 0%, transparent 60%)' }} /&gt;&#10;    &lt;Box style={{ zIndex: 1,  position: 'absolute', right: 80, top: 100, width: 400, height: 400, border: '2px solid #2563EB', borderRadius: 200, opacity: 0.12 }} /&gt;&#10;    &lt;Box style={{ zIndex: 1,  position: 'absolute', right: 140, top: 160, width: 280, height: 280, border: '1.5px solid #0891B2', borderRadius: 140, opacity: 0.12 }} /&gt;&#10;    &lt;Box style={{ zIndex: 1,  position: 'absolute', right: 200, top: 220, width: 160, height: 160, border: '1px solid #2563EB', borderRadius: 80, opacity: 0.12 }} /&gt;&#10;    &lt;Box style={{ paddingLeft: 80, paddingRight: 60, flexDirection: 'column', gap: 24, zIndex: 1 }}&gt;&#10;        &lt;Box style={{ flexDirection: 'row', alignItems: 'center', gap: 12 }}&gt;&#10;            &lt;Box style={{ width: 6, height: 48, background: 'linear-gradient(180deg, #2563EB 0%, #0891B2 100%)', borderRadius: 3 }} /&gt;&#10;            &lt;Text style={{ fontSize: 20, color: '#0891B2', fontWeight: '600', letterSpacing: 3 }}&gt;LIVETALKING&lt;/Text&gt;&#10;        &lt;/Box&gt;&#10;        &lt;Text style={{ fontSize: 72, fontWeight: 'bold', color: '#1E293B', lineHeight: 1.1, letterSpacing: -1 }}&gt;&#10;            实时交互&lt;br /&gt;流式数字人引擎&#10;        &lt;/Text&gt;&#10;        &lt;Text style={{ fontSize: 22, color: '#475569', lineHeight: 1.5, maxWidth: 520 }}&gt;&#10;            多模型融合的实时数字人技术实践与应用&#10;        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3" name="矩形 2"/>
          <p:cNvSpPr/>
          <p:nvPr/>
        </p:nvSpPr>
        <p:spPr>
          <a:xfrm>
            <a:off x="6477000" y="0"/>
            <a:ext cx="5715000" cy="6858000"/>
          </a:xfrm>
          <a:prstGeom prst="rect">
            <a:avLst/>
          </a:prstGeom>
          <a:gradFill>
            <a:gsLst>
              <a:gs pos="0">
                <a:srgbClr val="2563EB">
                  <a:alpha val="15000"/>
                </a:srgbClr>
              </a:gs>
              <a:gs pos="60000">
                <a:srgbClr val="FFFFFF">
                  <a:alpha val="0"/>
                </a:srgbClr>
              </a:gs>
            </a:gsLst>
            <a:path path="circle">
              <a:fillToRect l="70000" t="50000" r="30000" b="50000"/>
            </a:path>
          </a:gradFill>
          <a:ln/>
        </p:spPr>
        <p:txBody>
          <a:bodyPr/>
          <a:lstStyle/>
          <a:p>
            <a:endParaRPr/>
          </a:p>
        </p:txBody>
      </p:sp>
      <p:sp>
        <p:nvSpPr>
          <p:cNvPr id="4" name="圆角矩形 3"/>
          <p:cNvSpPr/>
          <p:nvPr/>
        </p:nvSpPr>
        <p:spPr>
          <a:xfrm>
            <a:off x="7620000" y="952500"/>
            <a:ext cx="3810000" cy="3810000"/>
          </a:xfrm>
          <a:prstGeom prst="roundRect">
            <a:avLst>
              <a:gd name="adj" fmla="val 50000"/>
            </a:avLst>
          </a:prstGeom>
          <a:ln w="25400">
            <a:solidFill>
              <a:srgbClr val="2563EB">
                <a:alpha val="1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圆角矩形 4"/>
          <p:cNvSpPr/>
          <p:nvPr/>
        </p:nvSpPr>
        <p:spPr>
          <a:xfrm>
            <a:off x="8191500" y="1524000"/>
            <a:ext cx="2667000" cy="2667000"/>
          </a:xfrm>
          <a:prstGeom prst="roundRect">
            <a:avLst>
              <a:gd name="adj" fmla="val 50000"/>
            </a:avLst>
          </a:prstGeom>
          <a:ln w="19050">
            <a:solidFill>
              <a:srgbClr val="0891B2">
                <a:alpha val="1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圆角矩形 5"/>
          <p:cNvSpPr/>
          <p:nvPr/>
        </p:nvSpPr>
        <p:spPr>
          <a:xfrm>
            <a:off x="8763000" y="2095500"/>
            <a:ext cx="1524000" cy="1524000"/>
          </a:xfrm>
          <a:prstGeom prst="roundRect">
            <a:avLst>
              <a:gd name="adj" fmla="val 50000"/>
            </a:avLst>
          </a:prstGeom>
          <a:ln w="12700">
            <a:solidFill>
              <a:srgbClr val="2563EB">
                <a:alpha val="1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圆角矩形 6"/>
          <p:cNvSpPr/>
          <p:nvPr/>
        </p:nvSpPr>
        <p:spPr>
          <a:xfrm>
            <a:off x="762000" y="1876425"/>
            <a:ext cx="57150" cy="4572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0891B2"/>
              </a:gs>
            </a:gsLst>
            <a:lin ang="54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8" name="文本框 7" descr="{&quot;isTemplate&quot;:true,&quot;type&quot;:&quot;text&quot;}"/>
          <p:cNvSpPr txBox="1"/>
          <p:nvPr/>
        </p:nvSpPr>
        <p:spPr>
          <a:xfrm>
            <a:off x="933450" y="1990725"/>
            <a:ext cx="15240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 b="1" spc="225">
                <a:solidFill>
                  <a:srgbClr val="0891B2"/>
                </a:solidFill>
                <a:latin typeface="Microsoft YaHei"/>
                <a:ea typeface="Microsoft YaHei"/>
              </a:rPr>
              <a:t>LIVETALKING</a:t>
            </a:r>
            <a:endParaRPr/>
          </a:p>
        </p:txBody>
      </p:sp>
      <p:sp>
        <p:nvSpPr>
          <p:cNvPr id="9" name="文本框 8" descr="{&quot;isTemplate&quot;:true,&quot;type&quot;:&quot;text&quot;}"/>
          <p:cNvSpPr txBox="1"/>
          <p:nvPr/>
        </p:nvSpPr>
        <p:spPr>
          <a:xfrm>
            <a:off x="762000" y="2562225"/>
            <a:ext cx="4733925" cy="1819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10000"/>
              </a:lnSpc>
            </a:pPr>
            <a:r>
              <a:rPr lang="zh-CN" sz="5400" b="1" spc="-75">
                <a:solidFill>
                  <a:srgbClr val="1E293B"/>
                </a:solidFill>
                <a:latin typeface="Microsoft YaHei"/>
                <a:ea typeface="Microsoft YaHei"/>
              </a:rPr>
              <a:t>实时交互</a:t>
            </a:r>
            <a:endParaRPr/>
          </a:p>
          <a:p>
            <a:pPr>
              <a:lnSpc>
                <a:spcPct val="110000"/>
              </a:lnSpc>
            </a:pPr>
            <a:r>
              <a:rPr lang="zh-CN" sz="5400" b="1" spc="-75">
                <a:solidFill>
                  <a:srgbClr val="1E293B"/>
                </a:solidFill>
                <a:latin typeface="Microsoft YaHei"/>
                <a:ea typeface="Microsoft YaHei"/>
              </a:rPr>
              <a:t>流式数字人引擎</a:t>
            </a:r>
            <a:endParaRPr/>
          </a:p>
        </p:txBody>
      </p:sp>
      <p:sp>
        <p:nvSpPr>
          <p:cNvPr id="10" name="文本框 9" descr="{&quot;isTemplate&quot;:true,&quot;type&quot;:&quot;text&quot;}"/>
          <p:cNvSpPr txBox="1"/>
          <p:nvPr/>
        </p:nvSpPr>
        <p:spPr>
          <a:xfrm>
            <a:off x="762000" y="4610100"/>
            <a:ext cx="4733925" cy="3810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650">
                <a:solidFill>
                  <a:srgbClr val="475569"/>
                </a:solidFill>
                <a:latin typeface="Microsoft YaHei"/>
                <a:ea typeface="Microsoft YaHei"/>
              </a:rPr>
              <a:t>多模型融合的实时数字人技术实践与应用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transparent', padding: 0, flexDirection: 'row' }}&gt;&#10;    &lt;Image src=&quot;resources/images/gvp_background.jpg&quot; style={{ position: 'absolute', top: 0, left: 0, width: 1280, height: 720, objectFit: 'cover', }} /&gt;&#10;    &lt;Box style={{ zIndex: 1,  width: '35%', height: 720, background: 'transparent', justifyContent: 'center', alignItems: 'center', padding: 40 }}&gt;&#10;        &lt;Box style={{ flexDirection: 'column', gap: 16, alignItems: 'flex-start' }}&gt;&#10;            &lt;Box style={{ width: 48, height: 6, background: 'linear-gradient(90deg, #2563EB 0%, #0891B2 100%)', borderRadius: 3 }} /&gt;&#10;            &lt;Text style={{ fontSize: 52, fontWeight: 'bold', color: '#1E293B', lineHeight: 1.1 }}&gt;目录&lt;/Text&gt;&#10;            &lt;Text style={{ fontSize: 18, color: '#0891B2', letterSpacing: 4, fontWeight: '600' }}&gt;CONTENTS&lt;/Text&gt;&#10;            &lt;Text style={{ fontSize: 16, color: '#475569', marginTop: 12, lineHeight: 1.5 }}&gt;LiveTalking 技术分享&lt;/Text&gt;&#10;        &lt;/Box&gt;&#10;    &lt;/Box&gt;&#10;    &lt;Box style={{ zIndex: 1,  flex: 1, height: 720, padding: '60px 72px', justifyContent: 'center', flexDirection: 'column', gap: 28 }}&gt;&#10;        {[&#10;            { num: '01', title: '数字人技术背景', desc: '两大技术路线 · 主流模型对比 · 核心挑战' },&#10;            { num: '02', title: '项目概览与架构设计', desc: '核心特性 · 四层架构 · 三线程并发模型' },&#10;            { num: '03', title: '关键技术深入', desc: '音频特征 · 动作编排 · 资源消耗 · OOM防护' },&#10;            { num: '04', title: '部署方案与直播系统', desc: '网络部署 · LiveStream · TTS选型' },&#10;            { num: '05', title: '应用场景与总结', desc: '三种交互模式 · 行业落地 · 总结展望' }&#10;        ].map((item, idx) =&gt; (&#10;            &lt;Box key={idx} style={{ flexDirection: 'row', alignItems: 'center', gap: 24, padding: '14px 0', borderBottom: '1px solid #CBD5E1' }}&gt;&#10;                &lt;Text style={{ fontSize: 28, fontWeight: 'bold', color: '#2563EB', minWidth: 56 }}&gt;{item.num}&lt;/Text&gt;&#10;                &lt;Box style={{ flexDirection: 'column', gap: 4 }}&gt;&#10;                    &lt;Text style={{ fontSize: 20, fontWeight: 'bold', color: '#1E293B' }}&gt;{item.title}&lt;/Text&gt;&#10;                    &lt;Text style={{ fontSize: 14, color: '#475569' }}&gt;{item.desc}&lt;/Text&gt;&#10;                &lt;/Box&gt;&#10;            &lt;/Box&gt;&#10;        ))}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9" name="图片 50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510" name="圆角矩形 509"/>
          <p:cNvSpPr/>
          <p:nvPr/>
        </p:nvSpPr>
        <p:spPr>
          <a:xfrm>
            <a:off x="1409700" y="2543175"/>
            <a:ext cx="45720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0891B2"/>
              </a:gs>
            </a:gsLst>
            <a:lin ang="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511" name="文本框 510" descr="{&quot;isTemplate&quot;:true,&quot;type&quot;:&quot;text&quot;}"/>
          <p:cNvSpPr txBox="1"/>
          <p:nvPr/>
        </p:nvSpPr>
        <p:spPr>
          <a:xfrm>
            <a:off x="1409700" y="2752725"/>
            <a:ext cx="990600" cy="657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10000"/>
              </a:lnSpc>
            </a:pPr>
            <a:r>
              <a:rPr lang="zh-CN" sz="3900" b="1">
                <a:solidFill>
                  <a:srgbClr val="1E293B"/>
                </a:solidFill>
                <a:latin typeface="Microsoft YaHei"/>
                <a:ea typeface="Microsoft YaHei"/>
              </a:rPr>
              <a:t>目录</a:t>
            </a:r>
            <a:endParaRPr/>
          </a:p>
        </p:txBody>
      </p:sp>
      <p:sp>
        <p:nvSpPr>
          <p:cNvPr id="512" name="文本框 511" descr="{&quot;isTemplate&quot;:true,&quot;type&quot;:&quot;text&quot;}"/>
          <p:cNvSpPr txBox="1"/>
          <p:nvPr/>
        </p:nvSpPr>
        <p:spPr>
          <a:xfrm>
            <a:off x="1409700" y="3562350"/>
            <a:ext cx="122872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 spc="300">
                <a:solidFill>
                  <a:srgbClr val="0891B2"/>
                </a:solidFill>
                <a:latin typeface="Microsoft YaHei"/>
                <a:ea typeface="Microsoft YaHei"/>
              </a:rPr>
              <a:t>CONTENTS</a:t>
            </a:r>
            <a:endParaRPr/>
          </a:p>
        </p:txBody>
      </p:sp>
      <p:sp>
        <p:nvSpPr>
          <p:cNvPr id="513" name="文本框 512" descr="{&quot;isTemplate&quot;:true,&quot;type&quot;:&quot;text&quot;}"/>
          <p:cNvSpPr txBox="1"/>
          <p:nvPr/>
        </p:nvSpPr>
        <p:spPr>
          <a:xfrm>
            <a:off x="1409700" y="4038600"/>
            <a:ext cx="1457325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>LiveTalking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技术分享</a:t>
            </a:r>
            <a:endParaRPr/>
          </a:p>
        </p:txBody>
      </p:sp>
      <p:sp>
        <p:nvSpPr>
          <p:cNvPr id="514" name="任意形状 513"/>
          <p:cNvSpPr/>
          <p:nvPr/>
        </p:nvSpPr>
        <p:spPr>
          <a:xfrm>
            <a:off x="4953000" y="1133475"/>
            <a:ext cx="6553200" cy="714375"/>
          </a:xfrm>
          <a:custGeom>
            <a:avLst/>
            <a:gdLst/>
            <a:ahLst/>
            <a:cxnLst/>
            <a:rect l="0" t="0" r="0" b="0"/>
            <a:pathLst>
              <a:path w="688" h="75">
                <a:moveTo>
                  <a:pt x="0" y="74"/>
                </a:moveTo>
                <a:lnTo>
                  <a:pt x="688" y="74"/>
                </a:lnTo>
                <a:lnTo>
                  <a:pt x="688" y="75"/>
                </a:lnTo>
                <a:lnTo>
                  <a:pt x="0" y="75"/>
                </a:lnTo>
                <a:close/>
              </a:path>
            </a:pathLst>
          </a:custGeom>
          <a:solidFill>
            <a:srgbClr val="CBD5E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15" name="文本框 514" descr="{&quot;isTemplate&quot;:true,&quot;type&quot;:&quot;text&quot;}"/>
          <p:cNvSpPr txBox="1"/>
          <p:nvPr/>
        </p:nvSpPr>
        <p:spPr>
          <a:xfrm>
            <a:off x="4953000" y="1323975"/>
            <a:ext cx="533400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2563EB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516" name="文本框 515" descr="{&quot;isTemplate&quot;:true,&quot;type&quot;:&quot;text&quot;}"/>
          <p:cNvSpPr txBox="1"/>
          <p:nvPr/>
        </p:nvSpPr>
        <p:spPr>
          <a:xfrm>
            <a:off x="5715000" y="1266825"/>
            <a:ext cx="23622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数字人技术背景</a:t>
            </a:r>
            <a:endParaRPr/>
          </a:p>
        </p:txBody>
      </p:sp>
      <p:sp>
        <p:nvSpPr>
          <p:cNvPr id="517" name="文本框 516" descr="{&quot;isTemplate&quot;:true,&quot;type&quot;:&quot;text&quot;}"/>
          <p:cNvSpPr txBox="1"/>
          <p:nvPr/>
        </p:nvSpPr>
        <p:spPr>
          <a:xfrm>
            <a:off x="5715000" y="1533525"/>
            <a:ext cx="2362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dirty="0">
                <a:solidFill>
                  <a:srgbClr val="475569"/>
                </a:solidFill>
                <a:latin typeface="Microsoft YaHei"/>
                <a:ea typeface="Microsoft YaHei"/>
              </a:rPr>
              <a:t>两大技术路线</a:t>
            </a:r>
            <a:r>
              <a:rPr lang="en-US" sz="1050" dirty="0">
                <a:solidFill>
                  <a:srgbClr val="475569"/>
                </a:solidFill>
                <a:latin typeface="Microsoft YaHei"/>
                <a:ea typeface="Microsoft YaHei"/>
              </a:rPr>
              <a:t> · </a:t>
            </a:r>
            <a:r>
              <a:rPr lang="zh-CN" sz="1050" dirty="0">
                <a:solidFill>
                  <a:srgbClr val="475569"/>
                </a:solidFill>
                <a:latin typeface="Microsoft YaHei"/>
                <a:ea typeface="Microsoft YaHei"/>
              </a:rPr>
              <a:t>主流模型对比</a:t>
            </a:r>
            <a:r>
              <a:rPr lang="en-US" sz="1050" dirty="0">
                <a:solidFill>
                  <a:srgbClr val="475569"/>
                </a:solidFill>
                <a:latin typeface="Microsoft YaHei"/>
                <a:ea typeface="Microsoft YaHei"/>
              </a:rPr>
              <a:t> · </a:t>
            </a:r>
            <a:r>
              <a:rPr lang="zh-CN" sz="1050" dirty="0">
                <a:solidFill>
                  <a:srgbClr val="475569"/>
                </a:solidFill>
                <a:latin typeface="Microsoft YaHei"/>
                <a:ea typeface="Microsoft YaHei"/>
              </a:rPr>
              <a:t>核心挑战</a:t>
            </a:r>
            <a:endParaRPr dirty="0"/>
          </a:p>
        </p:txBody>
      </p:sp>
      <p:sp>
        <p:nvSpPr>
          <p:cNvPr id="518" name="任意形状 517"/>
          <p:cNvSpPr/>
          <p:nvPr/>
        </p:nvSpPr>
        <p:spPr>
          <a:xfrm>
            <a:off x="4953000" y="2105025"/>
            <a:ext cx="6553200" cy="714375"/>
          </a:xfrm>
          <a:custGeom>
            <a:avLst/>
            <a:gdLst/>
            <a:ahLst/>
            <a:cxnLst/>
            <a:rect l="0" t="0" r="0" b="0"/>
            <a:pathLst>
              <a:path w="688" h="75">
                <a:moveTo>
                  <a:pt x="0" y="74"/>
                </a:moveTo>
                <a:lnTo>
                  <a:pt x="688" y="74"/>
                </a:lnTo>
                <a:lnTo>
                  <a:pt x="688" y="75"/>
                </a:lnTo>
                <a:lnTo>
                  <a:pt x="0" y="75"/>
                </a:lnTo>
                <a:close/>
              </a:path>
            </a:pathLst>
          </a:custGeom>
          <a:solidFill>
            <a:srgbClr val="CBD5E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19" name="文本框 518" descr="{&quot;isTemplate&quot;:true,&quot;type&quot;:&quot;text&quot;}"/>
          <p:cNvSpPr txBox="1"/>
          <p:nvPr/>
        </p:nvSpPr>
        <p:spPr>
          <a:xfrm>
            <a:off x="4953000" y="2295525"/>
            <a:ext cx="533400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2563EB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520" name="文本框 519" descr="{&quot;isTemplate&quot;:true,&quot;type&quot;:&quot;text&quot;}"/>
          <p:cNvSpPr txBox="1"/>
          <p:nvPr/>
        </p:nvSpPr>
        <p:spPr>
          <a:xfrm>
            <a:off x="5715000" y="2238375"/>
            <a:ext cx="222885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 dirty="0">
                <a:solidFill>
                  <a:srgbClr val="1E293B"/>
                </a:solidFill>
                <a:latin typeface="Microsoft YaHei"/>
                <a:ea typeface="Microsoft YaHei"/>
              </a:rPr>
              <a:t>架构设计</a:t>
            </a:r>
            <a:r>
              <a:rPr lang="zh-CN" altLang="en-US" sz="1500" b="1" dirty="0">
                <a:solidFill>
                  <a:srgbClr val="1E293B"/>
                </a:solidFill>
                <a:latin typeface="Microsoft YaHei"/>
                <a:ea typeface="Microsoft YaHei"/>
              </a:rPr>
              <a:t>与关键技术</a:t>
            </a:r>
            <a:endParaRPr dirty="0"/>
          </a:p>
        </p:txBody>
      </p:sp>
      <p:sp>
        <p:nvSpPr>
          <p:cNvPr id="521" name="文本框 520" descr="{&quot;isTemplate&quot;:true,&quot;type&quot;:&quot;text&quot;}"/>
          <p:cNvSpPr txBox="1"/>
          <p:nvPr/>
        </p:nvSpPr>
        <p:spPr>
          <a:xfrm>
            <a:off x="5715000" y="2505075"/>
            <a:ext cx="22288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dirty="0">
                <a:solidFill>
                  <a:srgbClr val="475569"/>
                </a:solidFill>
                <a:latin typeface="Microsoft YaHei"/>
                <a:ea typeface="Microsoft YaHei"/>
              </a:rPr>
              <a:t>核心特性</a:t>
            </a:r>
            <a:r>
              <a:rPr lang="en-US" sz="1050" dirty="0">
                <a:solidFill>
                  <a:srgbClr val="475569"/>
                </a:solidFill>
                <a:latin typeface="Microsoft YaHei"/>
                <a:ea typeface="Microsoft YaHei"/>
              </a:rPr>
              <a:t> · </a:t>
            </a:r>
            <a:r>
              <a:rPr lang="zh-CN" sz="1050" dirty="0">
                <a:solidFill>
                  <a:srgbClr val="475569"/>
                </a:solidFill>
                <a:latin typeface="Microsoft YaHei"/>
                <a:ea typeface="Microsoft YaHei"/>
              </a:rPr>
              <a:t>四层架构</a:t>
            </a:r>
            <a:r>
              <a:rPr lang="en-US" sz="1050" dirty="0">
                <a:solidFill>
                  <a:srgbClr val="475569"/>
                </a:solidFill>
                <a:latin typeface="Microsoft YaHei"/>
                <a:ea typeface="Microsoft YaHei"/>
              </a:rPr>
              <a:t> · </a:t>
            </a:r>
            <a:r>
              <a:rPr lang="en-US" sz="1050" dirty="0" err="1">
                <a:solidFill>
                  <a:srgbClr val="475569"/>
                </a:solidFill>
                <a:latin typeface="Microsoft YaHei"/>
                <a:ea typeface="Microsoft YaHei"/>
              </a:rPr>
              <a:t>四</a:t>
            </a:r>
            <a:r>
              <a:rPr lang="zh-CN" sz="1050" dirty="0">
                <a:solidFill>
                  <a:srgbClr val="475569"/>
                </a:solidFill>
                <a:latin typeface="Microsoft YaHei"/>
                <a:ea typeface="Microsoft YaHei"/>
              </a:rPr>
              <a:t>线程并发模型</a:t>
            </a:r>
            <a:endParaRPr dirty="0"/>
          </a:p>
        </p:txBody>
      </p:sp>
      <p:sp>
        <p:nvSpPr>
          <p:cNvPr id="522" name="任意形状 521"/>
          <p:cNvSpPr/>
          <p:nvPr/>
        </p:nvSpPr>
        <p:spPr>
          <a:xfrm>
            <a:off x="4953000" y="3076575"/>
            <a:ext cx="6553200" cy="714375"/>
          </a:xfrm>
          <a:custGeom>
            <a:avLst/>
            <a:gdLst/>
            <a:ahLst/>
            <a:cxnLst/>
            <a:rect l="0" t="0" r="0" b="0"/>
            <a:pathLst>
              <a:path w="688" h="75">
                <a:moveTo>
                  <a:pt x="0" y="74"/>
                </a:moveTo>
                <a:lnTo>
                  <a:pt x="688" y="74"/>
                </a:lnTo>
                <a:lnTo>
                  <a:pt x="688" y="75"/>
                </a:lnTo>
                <a:lnTo>
                  <a:pt x="0" y="75"/>
                </a:lnTo>
                <a:close/>
              </a:path>
            </a:pathLst>
          </a:custGeom>
          <a:solidFill>
            <a:srgbClr val="CBD5E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23" name="文本框 522" descr="{&quot;isTemplate&quot;:true,&quot;type&quot;:&quot;text&quot;}"/>
          <p:cNvSpPr txBox="1"/>
          <p:nvPr/>
        </p:nvSpPr>
        <p:spPr>
          <a:xfrm>
            <a:off x="4953000" y="3267075"/>
            <a:ext cx="533400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2563EB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524" name="文本框 523" descr="{&quot;isTemplate&quot;:true,&quot;type&quot;:&quot;text&quot;}"/>
          <p:cNvSpPr txBox="1"/>
          <p:nvPr/>
        </p:nvSpPr>
        <p:spPr>
          <a:xfrm>
            <a:off x="5715000" y="3209925"/>
            <a:ext cx="25527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altLang="zh-CN" sz="1500" b="1" dirty="0">
                <a:solidFill>
                  <a:srgbClr val="1E293B"/>
                </a:solidFill>
                <a:latin typeface="Microsoft YaHei"/>
                <a:ea typeface="Microsoft YaHei"/>
              </a:rPr>
              <a:t>部署方案</a:t>
            </a:r>
            <a:endParaRPr dirty="0"/>
          </a:p>
        </p:txBody>
      </p:sp>
      <p:sp>
        <p:nvSpPr>
          <p:cNvPr id="526" name="任意形状 525"/>
          <p:cNvSpPr/>
          <p:nvPr/>
        </p:nvSpPr>
        <p:spPr>
          <a:xfrm>
            <a:off x="4953000" y="4048125"/>
            <a:ext cx="6553200" cy="714375"/>
          </a:xfrm>
          <a:custGeom>
            <a:avLst/>
            <a:gdLst/>
            <a:ahLst/>
            <a:cxnLst/>
            <a:rect l="0" t="0" r="0" b="0"/>
            <a:pathLst>
              <a:path w="688" h="75">
                <a:moveTo>
                  <a:pt x="0" y="74"/>
                </a:moveTo>
                <a:lnTo>
                  <a:pt x="688" y="74"/>
                </a:lnTo>
                <a:lnTo>
                  <a:pt x="688" y="75"/>
                </a:lnTo>
                <a:lnTo>
                  <a:pt x="0" y="75"/>
                </a:lnTo>
                <a:close/>
              </a:path>
            </a:pathLst>
          </a:custGeom>
          <a:solidFill>
            <a:srgbClr val="CBD5E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27" name="文本框 526" descr="{&quot;isTemplate&quot;:true,&quot;type&quot;:&quot;text&quot;}"/>
          <p:cNvSpPr txBox="1"/>
          <p:nvPr/>
        </p:nvSpPr>
        <p:spPr>
          <a:xfrm>
            <a:off x="4953000" y="4238625"/>
            <a:ext cx="533400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2563EB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528" name="文本框 527" descr="{&quot;isTemplate&quot;:true,&quot;type&quot;:&quot;text&quot;}"/>
          <p:cNvSpPr txBox="1"/>
          <p:nvPr/>
        </p:nvSpPr>
        <p:spPr>
          <a:xfrm>
            <a:off x="5715000" y="4181475"/>
            <a:ext cx="195262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 b="1" dirty="0" err="1">
                <a:solidFill>
                  <a:srgbClr val="1E293B"/>
                </a:solidFill>
                <a:latin typeface="Microsoft YaHei"/>
                <a:ea typeface="Microsoft YaHei"/>
              </a:rPr>
              <a:t>典型案例</a:t>
            </a:r>
            <a:endParaRPr dirty="0"/>
          </a:p>
        </p:txBody>
      </p:sp>
      <p:sp>
        <p:nvSpPr>
          <p:cNvPr id="529" name="文本框 528" descr="{&quot;isTemplate&quot;:true,&quot;type&quot;:&quot;text&quot;}"/>
          <p:cNvSpPr txBox="1"/>
          <p:nvPr/>
        </p:nvSpPr>
        <p:spPr>
          <a:xfrm>
            <a:off x="5714999" y="3505200"/>
            <a:ext cx="19526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dirty="0">
                <a:solidFill>
                  <a:srgbClr val="475569"/>
                </a:solidFill>
                <a:latin typeface="Microsoft YaHei"/>
                <a:ea typeface="Microsoft YaHei"/>
              </a:rPr>
              <a:t>网络部署</a:t>
            </a:r>
            <a:r>
              <a:rPr lang="en-US" sz="1050" dirty="0">
                <a:solidFill>
                  <a:srgbClr val="475569"/>
                </a:solidFill>
                <a:latin typeface="Microsoft YaHei"/>
                <a:ea typeface="Microsoft YaHei"/>
              </a:rPr>
              <a:t> · </a:t>
            </a:r>
            <a:r>
              <a:rPr lang="en-US" sz="1050" dirty="0" err="1">
                <a:solidFill>
                  <a:srgbClr val="475569"/>
                </a:solidFill>
                <a:latin typeface="Microsoft YaHei"/>
                <a:ea typeface="Microsoft YaHei"/>
              </a:rPr>
              <a:t>LiveStream</a:t>
            </a:r>
            <a:r>
              <a:rPr lang="en-US" sz="1050" dirty="0">
                <a:solidFill>
                  <a:srgbClr val="475569"/>
                </a:solidFill>
                <a:latin typeface="Microsoft YaHei"/>
                <a:ea typeface="Microsoft YaHei"/>
              </a:rPr>
              <a:t> · TTS</a:t>
            </a:r>
            <a:r>
              <a:rPr lang="zh-CN" sz="1050" dirty="0">
                <a:solidFill>
                  <a:srgbClr val="475569"/>
                </a:solidFill>
                <a:latin typeface="Microsoft YaHei"/>
                <a:ea typeface="Microsoft YaHei"/>
              </a:rPr>
              <a:t>选型</a:t>
            </a:r>
            <a:endParaRPr dirty="0"/>
          </a:p>
        </p:txBody>
      </p:sp>
      <p:sp>
        <p:nvSpPr>
          <p:cNvPr id="530" name="任意形状 529"/>
          <p:cNvSpPr/>
          <p:nvPr/>
        </p:nvSpPr>
        <p:spPr>
          <a:xfrm>
            <a:off x="4953000" y="5019675"/>
            <a:ext cx="6553200" cy="714375"/>
          </a:xfrm>
          <a:custGeom>
            <a:avLst/>
            <a:gdLst/>
            <a:ahLst/>
            <a:cxnLst/>
            <a:rect l="0" t="0" r="0" b="0"/>
            <a:pathLst>
              <a:path w="688" h="75">
                <a:moveTo>
                  <a:pt x="0" y="74"/>
                </a:moveTo>
                <a:lnTo>
                  <a:pt x="688" y="74"/>
                </a:lnTo>
                <a:lnTo>
                  <a:pt x="688" y="75"/>
                </a:lnTo>
                <a:lnTo>
                  <a:pt x="0" y="75"/>
                </a:lnTo>
                <a:close/>
              </a:path>
            </a:pathLst>
          </a:custGeom>
          <a:solidFill>
            <a:srgbClr val="CBD5E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33" name="文本框 532" descr="{&quot;isTemplate&quot;:true,&quot;type&quot;:&quot;text&quot;}"/>
          <p:cNvSpPr txBox="1"/>
          <p:nvPr/>
        </p:nvSpPr>
        <p:spPr>
          <a:xfrm>
            <a:off x="5714999" y="4481512"/>
            <a:ext cx="20955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475569"/>
                </a:solidFill>
                <a:latin typeface="Microsoft YaHei"/>
                <a:ea typeface="Microsoft YaHei"/>
              </a:rPr>
              <a:t> </a:t>
            </a:r>
            <a:r>
              <a:rPr lang="zh-CN" sz="1050" dirty="0">
                <a:solidFill>
                  <a:srgbClr val="475569"/>
                </a:solidFill>
                <a:latin typeface="Microsoft YaHei"/>
                <a:ea typeface="Microsoft YaHei"/>
              </a:rPr>
              <a:t>行业落地</a:t>
            </a:r>
            <a:r>
              <a:rPr lang="en-US" sz="1050" dirty="0">
                <a:solidFill>
                  <a:srgbClr val="475569"/>
                </a:solidFill>
                <a:latin typeface="Microsoft YaHei"/>
                <a:ea typeface="Microsoft YaHei"/>
              </a:rPr>
              <a:t> · </a:t>
            </a:r>
            <a:r>
              <a:rPr lang="zh-CN" sz="1050" dirty="0">
                <a:solidFill>
                  <a:srgbClr val="475569"/>
                </a:solidFill>
                <a:latin typeface="Microsoft YaHei"/>
                <a:ea typeface="Microsoft YaHei"/>
              </a:rPr>
              <a:t>总结展望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padding: 0, flexDirection: 'column', justifyContent: 'center', alignItems: 'center' }}&gt;&#10;    &lt;Image src=&quot;resources/images/gvp_background.jpg&quot; style={{ position: 'absolute', top: 0, left: 0, width: 1280, height: 720, objectFit: 'cover', }} /&gt;&#10;    &lt;Box style={{ flexDirection: 'column', alignItems: 'center', gap: 24, zIndex: 1 }}&gt;&#10;        &lt;Text style={{ fontSize: 20, color: '#0891B2', letterSpacing: 6, fontWeight: '600' }}&gt;PART 01&lt;/Text&gt;&#10;        &lt;Box style={{ width: 80, height: 4, background: 'linear-gradient(90deg, #2563EB 0%, #0891B2 100%)', borderRadius: 2 }} /&gt;&#10;        &lt;Text style={{ fontSize: 60, fontWeight: 'bold', color: '#1E293B', letterSpacing: 2 }}&gt;数字人技术背景&lt;/Text&gt;&#10;        &lt;Text style={{ fontSize: 22, color: '#475569', marginTop: 8 }}&gt;神经渲染 vs 3D 渲染 · 主流口型驱动方案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1" name="图片 97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972" name="文本框 971" descr="{&quot;isTemplate&quot;:true,&quot;type&quot;:&quot;text&quot;}"/>
          <p:cNvSpPr txBox="1"/>
          <p:nvPr/>
        </p:nvSpPr>
        <p:spPr>
          <a:xfrm>
            <a:off x="5514975" y="2447925"/>
            <a:ext cx="117157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 b="1" spc="450">
                <a:solidFill>
                  <a:srgbClr val="0891B2"/>
                </a:solidFill>
                <a:latin typeface="Microsoft YaHei"/>
                <a:ea typeface="Microsoft YaHei"/>
              </a:rPr>
              <a:t>PART 01</a:t>
            </a:r>
            <a:endParaRPr/>
          </a:p>
        </p:txBody>
      </p:sp>
      <p:sp>
        <p:nvSpPr>
          <p:cNvPr id="973" name="圆角矩形 972"/>
          <p:cNvSpPr/>
          <p:nvPr/>
        </p:nvSpPr>
        <p:spPr>
          <a:xfrm>
            <a:off x="5715000" y="2905125"/>
            <a:ext cx="7620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0891B2"/>
              </a:gs>
            </a:gsLst>
            <a:lin ang="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974" name="文本框 973" descr="{&quot;isTemplate&quot;:true,&quot;type&quot;:&quot;text&quot;}"/>
          <p:cNvSpPr txBox="1"/>
          <p:nvPr/>
        </p:nvSpPr>
        <p:spPr>
          <a:xfrm>
            <a:off x="4029075" y="3171825"/>
            <a:ext cx="4133850" cy="685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4500" b="1" spc="150">
                <a:solidFill>
                  <a:srgbClr val="1E293B"/>
                </a:solidFill>
                <a:latin typeface="Microsoft YaHei"/>
                <a:ea typeface="Microsoft YaHei"/>
              </a:rPr>
              <a:t>数字人技术背景</a:t>
            </a:r>
            <a:endParaRPr/>
          </a:p>
        </p:txBody>
      </p:sp>
      <p:sp>
        <p:nvSpPr>
          <p:cNvPr id="975" name="文本框 974" descr="{&quot;isTemplate&quot;:true,&quot;type&quot;:&quot;text&quot;}"/>
          <p:cNvSpPr txBox="1"/>
          <p:nvPr/>
        </p:nvSpPr>
        <p:spPr>
          <a:xfrm>
            <a:off x="4200525" y="4162425"/>
            <a:ext cx="37909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>
                <a:solidFill>
                  <a:srgbClr val="475569"/>
                </a:solidFill>
                <a:latin typeface="Microsoft YaHei"/>
                <a:ea typeface="Microsoft YaHei"/>
              </a:rPr>
              <a:t>神经渲染</a:t>
            </a:r>
            <a:r>
              <a:rPr lang="en-US" sz="1650">
                <a:solidFill>
                  <a:srgbClr val="475569"/>
                </a:solidFill>
                <a:latin typeface="Microsoft YaHei"/>
                <a:ea typeface="Microsoft YaHei"/>
              </a:rPr>
              <a:t> vs 3D </a:t>
            </a:r>
            <a:r>
              <a:rPr lang="zh-CN" sz="1650">
                <a:solidFill>
                  <a:srgbClr val="475569"/>
                </a:solidFill>
                <a:latin typeface="Microsoft YaHei"/>
                <a:ea typeface="Microsoft YaHei"/>
              </a:rPr>
              <a:t>渲染</a:t>
            </a:r>
            <a:r>
              <a:rPr lang="en-US" sz="1650">
                <a:solidFill>
                  <a:srgbClr val="475569"/>
                </a:solidFill>
                <a:latin typeface="Microsoft YaHei"/>
                <a:ea typeface="Microsoft YaHei"/>
              </a:rPr>
              <a:t> · </a:t>
            </a:r>
            <a:r>
              <a:rPr lang="zh-CN" sz="1650">
                <a:solidFill>
                  <a:srgbClr val="475569"/>
                </a:solidFill>
                <a:latin typeface="Microsoft YaHei"/>
                <a:ea typeface="Microsoft YaHei"/>
              </a:rPr>
              <a:t>主流口型驱动方案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transparent', padding: '90px 60px 16px', flexDirection: 'column' }}&gt;&#10;    &lt;Image src=&quot;resources/images/gvp_background.jpg&quot; style={{ position: 'absolute', top: 0, left: 0, width: 1280, height: 720, objectFit: 'cover', }} /&gt;&#10;    &lt;Box style={{ zIndex: 1, height: 56, flexDirection: 'column', gap: 2, justifyContent: 'center' }}&gt;&#10;        &lt;Box style={{ flexDirection: 'row', alignItems: 'center', gap: 10 }}&gt;&#10;            &lt;Text style={{ fontSize: 30, fontWeight: 'bold', color: '#1E293B' }}&gt;3D 数字人模型&lt;/Text&gt;&#10;            &lt;Box style={{ background: 'rgba(8, 145, 178, 0.12)', borderRadius: 4, padding: '2px 10px' }}&gt;&#10;                &lt;Text style={{ fontSize: 13, color: '#0891B2', fontWeight: 'bold' }}&gt;Blendshape 驱动&lt;/Text&gt;&#10;            &lt;/Box&gt;&#10;        &lt;/Box&gt;&#10;        &lt;Text style={{ fontSize: 14, color: '#475569' }}&gt;三维面部形变模型 · 通过 Blendshape 系数驱动脸部运动&lt;/Text&gt;&#10;    &lt;/Box&gt;&#10;&#10;    &lt;Box style={{ zIndex: 1, flexDirection: 'row', gap: 16, flex: 1, marginTop: 10 }}&gt;&#10;        &#10;        &lt;Box style={{ flex: 1, flexDirection: 'column', gap: 10 }}&gt;&#10;            &#10;            &lt;Box style={{ flex: 1, background: 'rgba(255, 255, 255, 0.82)', borderRadius: 10, padding: 16, flexDirection: 'column', gap: 8, border: '1px solid rgba(203, 213, 225, 0.4)' }}&gt;&#10;                &lt;Text style={{ fontSize: 16, fontWeight: 'bold', color: '#2563EB' }}&gt;网络结构&lt;/Text&gt;&#10;                &#10;                &lt;Box style={{ flexDirection: 'row', alignItems: 'center', gap: 6, flexWrap: 'wrap', marginTop: 2 }}&gt;&#10;                    &lt;Box style={{ background: 'rgba(8, 145, 178, 0.12)', borderRadius: 4, padding: '5px 12px' }}&gt;&#10;                        &lt;Text style={{ fontSize: 12, color: '#0891B2', fontWeight: 'bold' }}&gt;Audio&lt;/Text&gt;&#10;                    &lt;/Box&gt;&#10;                    &lt;Text style={{ fontSize: 14, color: '#475569' }}&gt;→&lt;/Text&gt;&#10;                    &lt;Box style={{ background: 'rgba(37, 99, 235, 0.12)', borderRadius: 4, padding: '5px 12px' }}&gt;&#10;                        &lt;Text style={{ fontSize: 12, color: '#2563EB', fontWeight: 'bold' }}&gt;Audio2BS&lt;/Text&gt;&#10;                    &lt;/Box&gt;&#10;                    &lt;Text style={{ fontSize: 14, color: '#475569' }}&gt;→&lt;/Text&gt;&#10;                    &lt;Box style={{ background: 'rgba(8, 145, 178, 0.12)', borderRadius: 4, padding: '5px 12px' }}&gt;&#10;                        &lt;Text style={{ fontSize: 12, color: '#0891B2', fontWeight: 'bold' }}&gt;3D Face Model&lt;/Text&gt;&#10;                    &lt;/Box&gt;&#10;                    &lt;Text style={{ fontSize: 14, color: '#475569' }}&gt;→&lt;/Text&gt;&#10;                    &lt;Box style={{ background: 'rgba(37, 99, 235, 0.12)', borderRadius: 4, padding: '5px 12px' }}&gt;&#10;                        &lt;Text style={{ fontSize: 12, color: '#2563EB', fontWeight: 'bold' }}&gt;Texture Render&lt;/Text&gt;&#10;                    &lt;/Box&gt;&#10;                    &lt;Text style={{ fontSize: 14, color: '#475569' }}&gt;→&lt;/Text&gt;&#10;                    &lt;Box style={{ background: 'rgba(8, 145, 178, 0.12)', borderRadius: 4, padding: '5px 12px' }}&gt;&#10;                        &lt;Text style={{ fontSize: 12, color: '#0891B2', fontWeight: 'bold' }}&gt;Output&lt;/Text&gt;&#10;                    &lt;/Box&gt;&#10;                &lt;/Box&gt;&#10;                &lt;Text style={{ fontSize: 13, color: '#475569', lineHeight: 1.5 }}&gt;音频特征经 Audio2BS 网络映射为一组 Blendshape 权重系数，驱动 3D 面部模型的形变基产生表情，再经纹理混合与渲染输出最终图像。&lt;/Text&gt;&#10;            &lt;/Box&gt;&#10;&#10;            &#10;            &lt;Box style={{ flex: 1, background: 'rgba(255, 255, 255, 0.82)', borderRadius: 10, padding: 16, flexDirection: 'column', gap: 8, border: '1px solid rgba(203, 213, 225, 0.4)' }}&gt;&#10;                &lt;Text style={{ fontSize: 16, fontWeight: 'bold', color: '#0891B2' }}&gt;Blendshape 原理&lt;/Text&gt;&#10;                &lt;Text style={{ fontSize: 13, color: '#475569', lineHeight: 1.6 }}&gt;预定义一组面部表情基（如闭眼、张嘴、微笑等），每个基对应一种局部形变。任意表情 = 基的线性组合：&lt;/Text&gt;&#10;                &lt;Box style={{ background: 'rgba(37, 99, 235, 0.08)', borderRadius: 6, padding: '8px 12px', alignItems: 'center' }}&gt;&#10;                    &lt;Text style={{ fontSize: 14, color: '#2563EB', fontWeight: 'bold' }}&gt;Face = Σ (wᵢ × BSᵢ)&lt;/Text&gt;&#10;                &lt;/Box&gt;&#10;                &lt;Text style={{ fontSize: 13, color: '#475569', lineHeight: 1.5 }}&gt;权重 wᵢ 由音频特征映射得到，不同音频段激活不同表情基，组合出完整面部动画。&lt;/Text&gt;&#10;            &lt;/Box&gt;&#10;        &lt;/Box&gt;&#10;&#10;        &#10;        &lt;Box style={{ width: '40%', flexDirection: 'column', gap: 10 }}&gt;&#10;            &#10;            &lt;Box style={{ flex: 1, background: 'rgba(255, 255, 255, 0.82)', borderRadius: 10, padding: 12, flexDirection: 'column', gap: 8, border: '1px solid rgba(203, 213, 225, 0.4)', justifyContent: 'center', alignItems: 'center' }}&gt;&#10;                &lt;Text style={{ fontSize: 15, fontWeight: 'bold', color: '#1E293B' }}&gt;3D 面部模型与 Blendshape 表情基&lt;/Text&gt;&#10;                &lt;Image src=&quot;resources/images/A_3D_digital_human_face_model__2026-08-06T10-34-38.png&quot; style={{ width: 360, height: 220, objectFit: 'contain', borderRadius: 8 }} /&gt;&#10;                &lt;Text style={{ fontSize: 12, color: '#475569', textAlign: 'center' }}&gt;左侧：3D 网格模型；右侧：典型 Blendshape 表情基&lt;/Text&gt;&#10;            &lt;/Box&gt;&#10;&#10;            &#10;            &lt;Box style={{ height: 150, background: 'rgba(255, 255, 255, 0.82)', borderRadius: 10, padding: 14, flexDirection: 'column', gap: 6, border: '1px solid rgba(203, 213, 225, 0.4)' }}&gt;&#10;                &lt;Text style={{ fontSize: 15, fontWeight: 'bold', color: '#1E293B' }}&gt;2D vs 3D 对比&lt;/Text&gt;&#10;                &lt;Box style={{ flexDirection: 'row', gap: 20 }}&gt;&#10;                    &lt;Box style={{ flex: 1, flexDirection: 'column', gap: 5 }}&gt;&#10;                        &lt;Box style={{ flexDirection: 'row', alignItems: 'center', gap: 6 }}&gt;&#10;                            &lt;Box style={{ width: 8, height: 8, borderRadius: 4, background: '#0891B2' }} /&gt;&#10;                            &lt;Text style={{ fontSize: 13, color: '#0891B2', fontWeight: 'bold' }}&gt;2D&lt;/Text&gt;&#10;                        &lt;/Box&gt;&#10;                        &lt;Text style={{ fontSize: 12, color: '#475569' }}&gt;图像空间生成，泛化能力强，精度高&lt;/Text&gt;&#10;                    &lt;/Box&gt;&#10;                    &lt;Box style={{ flex: 1, flexDirection: 'column', gap: 5 }}&gt;&#10;                        &lt;Box style={{ flexDirection: 'row', alignItems: 'center', gap: 6 }}&gt;&#10;                            &lt;Box style={{ width: 8, height: 8, borderRadius: 4, background: '#2563EB' }} /&gt;&#10;                            &lt;Text style={{ fontSize: 13, color: '#2563EB', fontWeight: 'bold' }}&gt;3D&lt;/Text&gt;&#10;                        &lt;/Box&gt;&#10;                        &lt;Text style={{ fontSize: 12, color: '#475569' }}&gt;模型驱动，轻量实时，CPU 可运行&lt;/Text&gt;&#10;                    &lt;/Box&gt;&#10;                &lt;/Box&gt;&#10;            &lt;/Box&gt;&#10;        &lt;/Box&gt;&#10;    &lt;/Box&gt;&#10;&#10;    &lt;Box style={{ zIndex: 1, height: 28, flexDirection: 'row', justifyContent: 'space-between', alignItems: 'center', marginTop: 6 }}&gt;&#10;        &lt;Text style={{ fontSize: 13, color: '#475569' }}&gt;3D 模型核心：音频映射为 Blendshape 权重 → 驱动 3D 面部形变 → 渲染输出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8" name="图片 116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169" name="文本框 1168" descr="{&quot;isTemplate&quot;:true,&quot;type&quot;:&quot;text&quot;}"/>
          <p:cNvSpPr txBox="1"/>
          <p:nvPr/>
        </p:nvSpPr>
        <p:spPr>
          <a:xfrm>
            <a:off x="571500" y="866775"/>
            <a:ext cx="190500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E293B"/>
                </a:solidFill>
                <a:latin typeface="Microsoft YaHei"/>
                <a:ea typeface="Microsoft YaHei"/>
              </a:rPr>
              <a:t>3D </a:t>
            </a:r>
            <a:r>
              <a:rPr lang="zh-CN" sz="2250" b="1">
                <a:solidFill>
                  <a:srgbClr val="1E293B"/>
                </a:solidFill>
                <a:latin typeface="Microsoft YaHei"/>
                <a:ea typeface="Microsoft YaHei"/>
              </a:rPr>
              <a:t>数字人模型</a:t>
            </a:r>
            <a:endParaRPr/>
          </a:p>
        </p:txBody>
      </p:sp>
      <p:sp>
        <p:nvSpPr>
          <p:cNvPr id="1170" name="圆角矩形 1169"/>
          <p:cNvSpPr/>
          <p:nvPr/>
        </p:nvSpPr>
        <p:spPr>
          <a:xfrm>
            <a:off x="2571750" y="942975"/>
            <a:ext cx="1171575" cy="190500"/>
          </a:xfrm>
          <a:prstGeom prst="roundRect">
            <a:avLst>
              <a:gd name="adj" fmla="val 20000"/>
            </a:avLst>
          </a:prstGeom>
          <a:solidFill>
            <a:srgbClr val="0891B2">
              <a:alpha val="1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71" name="文本框 1170" descr="{&quot;isTemplate&quot;:true,&quot;type&quot;:&quot;text&quot;}"/>
          <p:cNvSpPr txBox="1"/>
          <p:nvPr/>
        </p:nvSpPr>
        <p:spPr>
          <a:xfrm>
            <a:off x="2667000" y="962025"/>
            <a:ext cx="9810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0891B2"/>
                </a:solidFill>
                <a:latin typeface="Microsoft YaHei"/>
                <a:ea typeface="Microsoft YaHei"/>
              </a:rPr>
              <a:t>Blendshape </a:t>
            </a:r>
            <a:r>
              <a:rPr lang="zh-CN" sz="975" b="1">
                <a:solidFill>
                  <a:srgbClr val="0891B2"/>
                </a:solidFill>
                <a:latin typeface="Microsoft YaHei"/>
                <a:ea typeface="Microsoft YaHei"/>
              </a:rPr>
              <a:t>驱动</a:t>
            </a:r>
            <a:endParaRPr/>
          </a:p>
        </p:txBody>
      </p:sp>
      <p:sp>
        <p:nvSpPr>
          <p:cNvPr id="1172" name="文本框 1171" descr="{&quot;isTemplate&quot;:true,&quot;type&quot;:&quot;text&quot;}"/>
          <p:cNvSpPr txBox="1"/>
          <p:nvPr/>
        </p:nvSpPr>
        <p:spPr>
          <a:xfrm>
            <a:off x="571500" y="1228725"/>
            <a:ext cx="110490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三维面部形变模型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通过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 Blendshape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系数驱动脸部运动</a:t>
            </a:r>
            <a:endParaRPr/>
          </a:p>
        </p:txBody>
      </p:sp>
      <p:sp>
        <p:nvSpPr>
          <p:cNvPr id="1173" name="圆角矩形 1172"/>
          <p:cNvSpPr/>
          <p:nvPr/>
        </p:nvSpPr>
        <p:spPr>
          <a:xfrm>
            <a:off x="571500" y="1485900"/>
            <a:ext cx="6477000" cy="2324100"/>
          </a:xfrm>
          <a:prstGeom prst="roundRect">
            <a:avLst>
              <a:gd name="adj" fmla="val 4098"/>
            </a:avLst>
          </a:prstGeom>
          <a:solidFill>
            <a:srgbClr val="FFFFFF">
              <a:alpha val="82000"/>
            </a:srgbClr>
          </a:solidFill>
          <a:ln w="12700">
            <a:solidFill>
              <a:srgbClr val="CBD5E1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74" name="文本框 1173" descr="{&quot;isTemplate&quot;:true,&quot;type&quot;:&quot;text&quot;}"/>
          <p:cNvSpPr txBox="1"/>
          <p:nvPr/>
        </p:nvSpPr>
        <p:spPr>
          <a:xfrm>
            <a:off x="723900" y="1638300"/>
            <a:ext cx="61722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563EB"/>
                </a:solidFill>
                <a:latin typeface="Microsoft YaHei"/>
                <a:ea typeface="Microsoft YaHei"/>
              </a:rPr>
              <a:t>网络结构</a:t>
            </a:r>
            <a:endParaRPr/>
          </a:p>
        </p:txBody>
      </p:sp>
      <p:sp>
        <p:nvSpPr>
          <p:cNvPr id="1175" name="圆角矩形 1174"/>
          <p:cNvSpPr/>
          <p:nvPr/>
        </p:nvSpPr>
        <p:spPr>
          <a:xfrm>
            <a:off x="723900" y="1924050"/>
            <a:ext cx="561975" cy="238125"/>
          </a:xfrm>
          <a:prstGeom prst="roundRect">
            <a:avLst>
              <a:gd name="adj" fmla="val 16000"/>
            </a:avLst>
          </a:prstGeom>
          <a:solidFill>
            <a:srgbClr val="0891B2">
              <a:alpha val="1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76" name="文本框 1175" descr="{&quot;isTemplate&quot;:true,&quot;type&quot;:&quot;text&quot;}"/>
          <p:cNvSpPr txBox="1"/>
          <p:nvPr/>
        </p:nvSpPr>
        <p:spPr>
          <a:xfrm>
            <a:off x="838200" y="1971675"/>
            <a:ext cx="33337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0891B2"/>
                </a:solidFill>
                <a:latin typeface="Microsoft YaHei"/>
                <a:ea typeface="Microsoft YaHei"/>
              </a:rPr>
              <a:t>Audio</a:t>
            </a:r>
            <a:endParaRPr/>
          </a:p>
        </p:txBody>
      </p:sp>
      <p:sp>
        <p:nvSpPr>
          <p:cNvPr id="1177" name="文本框 1176" descr="{&quot;isTemplate&quot;:true,&quot;type&quot;:&quot;text&quot;}"/>
          <p:cNvSpPr txBox="1"/>
          <p:nvPr/>
        </p:nvSpPr>
        <p:spPr>
          <a:xfrm>
            <a:off x="1343025" y="1962150"/>
            <a:ext cx="1333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050">
                <a:solidFill>
                  <a:srgbClr val="475569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178" name="圆角矩形 1177"/>
          <p:cNvSpPr/>
          <p:nvPr/>
        </p:nvSpPr>
        <p:spPr>
          <a:xfrm>
            <a:off x="1533525" y="1924050"/>
            <a:ext cx="762000" cy="238125"/>
          </a:xfrm>
          <a:prstGeom prst="roundRect">
            <a:avLst>
              <a:gd name="adj" fmla="val 16000"/>
            </a:avLst>
          </a:prstGeom>
          <a:solidFill>
            <a:srgbClr val="2563EB">
              <a:alpha val="1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79" name="文本框 1178" descr="{&quot;isTemplate&quot;:true,&quot;type&quot;:&quot;text&quot;}"/>
          <p:cNvSpPr txBox="1"/>
          <p:nvPr/>
        </p:nvSpPr>
        <p:spPr>
          <a:xfrm>
            <a:off x="1647825" y="1971675"/>
            <a:ext cx="5334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2563EB"/>
                </a:solidFill>
                <a:latin typeface="Microsoft YaHei"/>
                <a:ea typeface="Microsoft YaHei"/>
              </a:rPr>
              <a:t>Audio2BS</a:t>
            </a:r>
            <a:endParaRPr/>
          </a:p>
        </p:txBody>
      </p:sp>
      <p:sp>
        <p:nvSpPr>
          <p:cNvPr id="1180" name="文本框 1179" descr="{&quot;isTemplate&quot;:true,&quot;type&quot;:&quot;text&quot;}"/>
          <p:cNvSpPr txBox="1"/>
          <p:nvPr/>
        </p:nvSpPr>
        <p:spPr>
          <a:xfrm>
            <a:off x="2352675" y="1962150"/>
            <a:ext cx="1333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050">
                <a:solidFill>
                  <a:srgbClr val="475569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181" name="圆角矩形 1180"/>
          <p:cNvSpPr/>
          <p:nvPr/>
        </p:nvSpPr>
        <p:spPr>
          <a:xfrm>
            <a:off x="2543175" y="1924050"/>
            <a:ext cx="1047750" cy="238125"/>
          </a:xfrm>
          <a:prstGeom prst="roundRect">
            <a:avLst>
              <a:gd name="adj" fmla="val 16000"/>
            </a:avLst>
          </a:prstGeom>
          <a:solidFill>
            <a:srgbClr val="0891B2">
              <a:alpha val="1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82" name="文本框 1181" descr="{&quot;isTemplate&quot;:true,&quot;type&quot;:&quot;text&quot;}"/>
          <p:cNvSpPr txBox="1"/>
          <p:nvPr/>
        </p:nvSpPr>
        <p:spPr>
          <a:xfrm>
            <a:off x="2657475" y="1971675"/>
            <a:ext cx="81915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0891B2"/>
                </a:solidFill>
                <a:latin typeface="Microsoft YaHei"/>
                <a:ea typeface="Microsoft YaHei"/>
              </a:rPr>
              <a:t>3D Face Model</a:t>
            </a:r>
            <a:endParaRPr/>
          </a:p>
        </p:txBody>
      </p:sp>
      <p:sp>
        <p:nvSpPr>
          <p:cNvPr id="1183" name="文本框 1182" descr="{&quot;isTemplate&quot;:true,&quot;type&quot;:&quot;text&quot;}"/>
          <p:cNvSpPr txBox="1"/>
          <p:nvPr/>
        </p:nvSpPr>
        <p:spPr>
          <a:xfrm>
            <a:off x="3648075" y="1962150"/>
            <a:ext cx="1333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050">
                <a:solidFill>
                  <a:srgbClr val="475569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184" name="圆角矩形 1183"/>
          <p:cNvSpPr/>
          <p:nvPr/>
        </p:nvSpPr>
        <p:spPr>
          <a:xfrm>
            <a:off x="3838575" y="1924050"/>
            <a:ext cx="1047750" cy="238125"/>
          </a:xfrm>
          <a:prstGeom prst="roundRect">
            <a:avLst>
              <a:gd name="adj" fmla="val 16000"/>
            </a:avLst>
          </a:prstGeom>
          <a:solidFill>
            <a:srgbClr val="2563EB">
              <a:alpha val="1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85" name="文本框 1184" descr="{&quot;isTemplate&quot;:true,&quot;type&quot;:&quot;text&quot;}"/>
          <p:cNvSpPr txBox="1"/>
          <p:nvPr/>
        </p:nvSpPr>
        <p:spPr>
          <a:xfrm>
            <a:off x="3952875" y="1971675"/>
            <a:ext cx="81915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2563EB"/>
                </a:solidFill>
                <a:latin typeface="Microsoft YaHei"/>
                <a:ea typeface="Microsoft YaHei"/>
              </a:rPr>
              <a:t>Texture Render</a:t>
            </a:r>
            <a:endParaRPr/>
          </a:p>
        </p:txBody>
      </p:sp>
      <p:sp>
        <p:nvSpPr>
          <p:cNvPr id="1186" name="文本框 1185" descr="{&quot;isTemplate&quot;:true,&quot;type&quot;:&quot;text&quot;}"/>
          <p:cNvSpPr txBox="1"/>
          <p:nvPr/>
        </p:nvSpPr>
        <p:spPr>
          <a:xfrm>
            <a:off x="4943475" y="1962150"/>
            <a:ext cx="1333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050">
                <a:solidFill>
                  <a:srgbClr val="475569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187" name="圆角矩形 1186"/>
          <p:cNvSpPr/>
          <p:nvPr/>
        </p:nvSpPr>
        <p:spPr>
          <a:xfrm>
            <a:off x="5133975" y="1924050"/>
            <a:ext cx="628650" cy="238125"/>
          </a:xfrm>
          <a:prstGeom prst="roundRect">
            <a:avLst>
              <a:gd name="adj" fmla="val 16000"/>
            </a:avLst>
          </a:prstGeom>
          <a:solidFill>
            <a:srgbClr val="0891B2">
              <a:alpha val="1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88" name="文本框 1187" descr="{&quot;isTemplate&quot;:true,&quot;type&quot;:&quot;text&quot;}"/>
          <p:cNvSpPr txBox="1"/>
          <p:nvPr/>
        </p:nvSpPr>
        <p:spPr>
          <a:xfrm>
            <a:off x="5248275" y="1971675"/>
            <a:ext cx="40005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0891B2"/>
                </a:solidFill>
                <a:latin typeface="Microsoft YaHei"/>
                <a:ea typeface="Microsoft YaHei"/>
              </a:rPr>
              <a:t>Output</a:t>
            </a:r>
            <a:endParaRPr/>
          </a:p>
        </p:txBody>
      </p:sp>
      <p:sp>
        <p:nvSpPr>
          <p:cNvPr id="1189" name="文本框 1188" descr="{&quot;isTemplate&quot;:true,&quot;type&quot;:&quot;text&quot;}"/>
          <p:cNvSpPr txBox="1"/>
          <p:nvPr/>
        </p:nvSpPr>
        <p:spPr>
          <a:xfrm>
            <a:off x="723900" y="2238375"/>
            <a:ext cx="6172200" cy="447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音频特征经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Audio2BS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网络映射为一组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Blendshape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权重系数，驱动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3D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面部模型的形变基产生表情，再经纹理混合与渲染输出最终图像。</a:t>
            </a:r>
            <a:endParaRPr/>
          </a:p>
        </p:txBody>
      </p:sp>
      <p:sp>
        <p:nvSpPr>
          <p:cNvPr id="1190" name="圆角矩形 1189"/>
          <p:cNvSpPr/>
          <p:nvPr/>
        </p:nvSpPr>
        <p:spPr>
          <a:xfrm>
            <a:off x="571500" y="3905250"/>
            <a:ext cx="6477000" cy="2476500"/>
          </a:xfrm>
          <a:prstGeom prst="roundRect">
            <a:avLst>
              <a:gd name="adj" fmla="val 3846"/>
            </a:avLst>
          </a:prstGeom>
          <a:solidFill>
            <a:srgbClr val="FFFFFF">
              <a:alpha val="82000"/>
            </a:srgbClr>
          </a:solidFill>
          <a:ln w="12700">
            <a:solidFill>
              <a:srgbClr val="CBD5E1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91" name="文本框 1190" descr="{&quot;isTemplate&quot;:true,&quot;type&quot;:&quot;text&quot;}"/>
          <p:cNvSpPr txBox="1"/>
          <p:nvPr/>
        </p:nvSpPr>
        <p:spPr>
          <a:xfrm>
            <a:off x="723900" y="4057650"/>
            <a:ext cx="61722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891B2"/>
                </a:solidFill>
                <a:latin typeface="Microsoft YaHei"/>
                <a:ea typeface="Microsoft YaHei"/>
              </a:rPr>
              <a:t>Blendshape </a:t>
            </a:r>
            <a:r>
              <a:rPr lang="zh-CN" sz="1200" b="1">
                <a:solidFill>
                  <a:srgbClr val="0891B2"/>
                </a:solidFill>
                <a:latin typeface="Microsoft YaHei"/>
                <a:ea typeface="Microsoft YaHei"/>
              </a:rPr>
              <a:t>原理</a:t>
            </a:r>
            <a:endParaRPr/>
          </a:p>
        </p:txBody>
      </p:sp>
      <p:sp>
        <p:nvSpPr>
          <p:cNvPr id="1192" name="文本框 1191" descr="{&quot;isTemplate&quot;:true,&quot;type&quot;:&quot;text&quot;}"/>
          <p:cNvSpPr txBox="1"/>
          <p:nvPr/>
        </p:nvSpPr>
        <p:spPr>
          <a:xfrm>
            <a:off x="723900" y="4324350"/>
            <a:ext cx="6172200" cy="2381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预定义一组面部表情基（如闭眼、张嘴、微笑等），每个基对应一种局部形变。任意表情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=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基的线性组合：</a:t>
            </a:r>
            <a:endParaRPr/>
          </a:p>
        </p:txBody>
      </p:sp>
      <p:sp>
        <p:nvSpPr>
          <p:cNvPr id="1193" name="圆角矩形 1192"/>
          <p:cNvSpPr/>
          <p:nvPr/>
        </p:nvSpPr>
        <p:spPr>
          <a:xfrm>
            <a:off x="723900" y="4638675"/>
            <a:ext cx="6172200" cy="314325"/>
          </a:xfrm>
          <a:prstGeom prst="roundRect">
            <a:avLst>
              <a:gd name="adj" fmla="val 18182"/>
            </a:avLst>
          </a:prstGeom>
          <a:solidFill>
            <a:srgbClr val="2563EB">
              <a:alpha val="8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94" name="文本框 1193" descr="{&quot;isTemplate&quot;:true,&quot;type&quot;:&quot;text&quot;}"/>
          <p:cNvSpPr txBox="1"/>
          <p:nvPr/>
        </p:nvSpPr>
        <p:spPr>
          <a:xfrm>
            <a:off x="3238500" y="4714875"/>
            <a:ext cx="11525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563EB"/>
                </a:solidFill>
                <a:latin typeface="Microsoft YaHei"/>
                <a:ea typeface="Microsoft YaHei"/>
              </a:rPr>
              <a:t>Face = Σ (wᵢ × BSᵢ)</a:t>
            </a:r>
            <a:endParaRPr/>
          </a:p>
        </p:txBody>
      </p:sp>
      <p:sp>
        <p:nvSpPr>
          <p:cNvPr id="1195" name="文本框 1194" descr="{&quot;isTemplate&quot;:true,&quot;type&quot;:&quot;text&quot;}"/>
          <p:cNvSpPr txBox="1"/>
          <p:nvPr/>
        </p:nvSpPr>
        <p:spPr>
          <a:xfrm>
            <a:off x="723900" y="5029200"/>
            <a:ext cx="61722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权重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wᵢ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由音频特征映射得到，不同音频段激活不同表情基，组合出完整面部动画。</a:t>
            </a:r>
            <a:endParaRPr/>
          </a:p>
        </p:txBody>
      </p:sp>
      <p:sp>
        <p:nvSpPr>
          <p:cNvPr id="1196" name="圆角矩形 1195"/>
          <p:cNvSpPr/>
          <p:nvPr/>
        </p:nvSpPr>
        <p:spPr>
          <a:xfrm>
            <a:off x="7200900" y="1485900"/>
            <a:ext cx="4419600" cy="3371850"/>
          </a:xfrm>
          <a:prstGeom prst="roundRect">
            <a:avLst>
              <a:gd name="adj" fmla="val 2825"/>
            </a:avLst>
          </a:prstGeom>
          <a:solidFill>
            <a:srgbClr val="FFFFFF">
              <a:alpha val="82000"/>
            </a:srgbClr>
          </a:solidFill>
          <a:ln w="12700">
            <a:solidFill>
              <a:srgbClr val="CBD5E1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97" name="文本框 1196" descr="{&quot;isTemplate&quot;:true,&quot;type&quot;:&quot;text&quot;}"/>
          <p:cNvSpPr txBox="1"/>
          <p:nvPr/>
        </p:nvSpPr>
        <p:spPr>
          <a:xfrm>
            <a:off x="8286750" y="1895475"/>
            <a:ext cx="225742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293B"/>
                </a:solidFill>
                <a:latin typeface="Microsoft YaHei"/>
                <a:ea typeface="Microsoft YaHei"/>
              </a:rPr>
              <a:t>3D </a:t>
            </a:r>
            <a:r>
              <a:rPr lang="zh-CN" sz="1125" b="1">
                <a:solidFill>
                  <a:srgbClr val="1E293B"/>
                </a:solidFill>
                <a:latin typeface="Microsoft YaHei"/>
                <a:ea typeface="Microsoft YaHei"/>
              </a:rPr>
              <a:t>面部模型与</a:t>
            </a:r>
            <a:r>
              <a:rPr lang="en-US" sz="1125" b="1">
                <a:solidFill>
                  <a:srgbClr val="1E293B"/>
                </a:solidFill>
                <a:latin typeface="Microsoft YaHei"/>
                <a:ea typeface="Microsoft YaHei"/>
              </a:rPr>
              <a:t> Blendshape </a:t>
            </a:r>
            <a:r>
              <a:rPr lang="zh-CN" sz="1125" b="1">
                <a:solidFill>
                  <a:srgbClr val="1E293B"/>
                </a:solidFill>
                <a:latin typeface="Microsoft YaHei"/>
                <a:ea typeface="Microsoft YaHei"/>
              </a:rPr>
              <a:t>表情基</a:t>
            </a:r>
            <a:endParaRPr/>
          </a:p>
        </p:txBody>
      </p:sp>
      <p:pic>
        <p:nvPicPr>
          <p:cNvPr id="1198" name="图片 1197"/>
          <p:cNvPicPr>
            <a:picLocks noChangeAspect="1"/>
          </p:cNvPicPr>
          <p:nvPr/>
        </p:nvPicPr>
        <p:blipFill>
          <a:blip r:embed="rId3"/>
          <a:srcRect t="19444" b="19444"/>
          <a:stretch>
            <a:fillRect/>
          </a:stretch>
        </p:blipFill>
        <p:spPr>
          <a:xfrm>
            <a:off x="7696200" y="2143125"/>
            <a:ext cx="3429000" cy="2095500"/>
          </a:xfrm>
          <a:prstGeom prst="roundRect">
            <a:avLst>
              <a:gd name="adj" fmla="val 3636"/>
            </a:avLst>
          </a:prstGeom>
          <a:ln/>
        </p:spPr>
      </p:pic>
      <p:sp>
        <p:nvSpPr>
          <p:cNvPr id="1199" name="文本框 1198" descr="{&quot;isTemplate&quot;:true,&quot;type&quot;:&quot;text&quot;}"/>
          <p:cNvSpPr txBox="1"/>
          <p:nvPr/>
        </p:nvSpPr>
        <p:spPr>
          <a:xfrm>
            <a:off x="8048625" y="4314825"/>
            <a:ext cx="272415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左侧：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3D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网格模型；右侧：典型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Blendshape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表情基</a:t>
            </a:r>
            <a:endParaRPr/>
          </a:p>
        </p:txBody>
      </p:sp>
      <p:sp>
        <p:nvSpPr>
          <p:cNvPr id="1200" name="圆角矩形 1199"/>
          <p:cNvSpPr/>
          <p:nvPr/>
        </p:nvSpPr>
        <p:spPr>
          <a:xfrm>
            <a:off x="7200900" y="4953000"/>
            <a:ext cx="4419600" cy="1428750"/>
          </a:xfrm>
          <a:prstGeom prst="roundRect">
            <a:avLst>
              <a:gd name="adj" fmla="val 6667"/>
            </a:avLst>
          </a:prstGeom>
          <a:solidFill>
            <a:srgbClr val="FFFFFF">
              <a:alpha val="82000"/>
            </a:srgbClr>
          </a:solidFill>
          <a:ln w="12700">
            <a:solidFill>
              <a:srgbClr val="CBD5E1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01" name="文本框 1200" descr="{&quot;isTemplate&quot;:true,&quot;type&quot;:&quot;text&quot;}"/>
          <p:cNvSpPr txBox="1"/>
          <p:nvPr/>
        </p:nvSpPr>
        <p:spPr>
          <a:xfrm>
            <a:off x="7334250" y="5086350"/>
            <a:ext cx="41529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293B"/>
                </a:solidFill>
                <a:latin typeface="Microsoft YaHei"/>
                <a:ea typeface="Microsoft YaHei"/>
              </a:rPr>
              <a:t>2D vs 3D </a:t>
            </a:r>
            <a:r>
              <a:rPr lang="zh-CN" sz="1125" b="1">
                <a:solidFill>
                  <a:srgbClr val="1E293B"/>
                </a:solidFill>
                <a:latin typeface="Microsoft YaHei"/>
                <a:ea typeface="Microsoft YaHei"/>
              </a:rPr>
              <a:t>对比</a:t>
            </a:r>
            <a:endParaRPr/>
          </a:p>
        </p:txBody>
      </p:sp>
      <p:sp>
        <p:nvSpPr>
          <p:cNvPr id="1202" name="圆角矩形 1201"/>
          <p:cNvSpPr/>
          <p:nvPr/>
        </p:nvSpPr>
        <p:spPr>
          <a:xfrm>
            <a:off x="7334250" y="53530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03" name="文本框 1202" descr="{&quot;isTemplate&quot;:true,&quot;type&quot;:&quot;text&quot;}"/>
          <p:cNvSpPr txBox="1"/>
          <p:nvPr/>
        </p:nvSpPr>
        <p:spPr>
          <a:xfrm>
            <a:off x="7467600" y="5314950"/>
            <a:ext cx="1714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0891B2"/>
                </a:solidFill>
                <a:latin typeface="Microsoft YaHei"/>
                <a:ea typeface="Microsoft YaHei"/>
              </a:rPr>
              <a:t>2D</a:t>
            </a:r>
            <a:endParaRPr/>
          </a:p>
        </p:txBody>
      </p:sp>
      <p:sp>
        <p:nvSpPr>
          <p:cNvPr id="1204" name="文本框 1203" descr="{&quot;isTemplate&quot;:true,&quot;type&quot;:&quot;text&quot;}"/>
          <p:cNvSpPr txBox="1"/>
          <p:nvPr/>
        </p:nvSpPr>
        <p:spPr>
          <a:xfrm>
            <a:off x="7334250" y="5514975"/>
            <a:ext cx="19812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图像空间生成，泛化能力强，精度高</a:t>
            </a:r>
            <a:endParaRPr/>
          </a:p>
        </p:txBody>
      </p:sp>
      <p:sp>
        <p:nvSpPr>
          <p:cNvPr id="1205" name="圆角矩形 1204"/>
          <p:cNvSpPr/>
          <p:nvPr/>
        </p:nvSpPr>
        <p:spPr>
          <a:xfrm>
            <a:off x="9505950" y="53530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06" name="文本框 1205" descr="{&quot;isTemplate&quot;:true,&quot;type&quot;:&quot;text&quot;}"/>
          <p:cNvSpPr txBox="1"/>
          <p:nvPr/>
        </p:nvSpPr>
        <p:spPr>
          <a:xfrm>
            <a:off x="9639300" y="5314950"/>
            <a:ext cx="1714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563EB"/>
                </a:solidFill>
                <a:latin typeface="Microsoft YaHei"/>
                <a:ea typeface="Microsoft YaHei"/>
              </a:rPr>
              <a:t>3D</a:t>
            </a:r>
            <a:endParaRPr/>
          </a:p>
        </p:txBody>
      </p:sp>
      <p:sp>
        <p:nvSpPr>
          <p:cNvPr id="1207" name="文本框 1206" descr="{&quot;isTemplate&quot;:true,&quot;type&quot;:&quot;text&quot;}"/>
          <p:cNvSpPr txBox="1"/>
          <p:nvPr/>
        </p:nvSpPr>
        <p:spPr>
          <a:xfrm>
            <a:off x="9505950" y="5514975"/>
            <a:ext cx="19812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模型驱动，轻量实时，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CPU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可运行</a:t>
            </a:r>
            <a:endParaRPr/>
          </a:p>
        </p:txBody>
      </p:sp>
      <p:sp>
        <p:nvSpPr>
          <p:cNvPr id="1208" name="文本框 1207" descr="{&quot;isTemplate&quot;:true,&quot;type&quot;:&quot;text&quot;}"/>
          <p:cNvSpPr txBox="1"/>
          <p:nvPr/>
        </p:nvSpPr>
        <p:spPr>
          <a:xfrm>
            <a:off x="571500" y="6496050"/>
            <a:ext cx="43243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3D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模型核心：音频映射为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Blendshape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权重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→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驱动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3D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面部形变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→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渲染输出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transparent', padding: '90px 60px 16px', flexDirection: 'column' }}&gt;&#10;    &lt;Image src=&quot;resources/images/gvp_background.jpg&quot; style={{ position: 'absolute', top: 0, left: 0, width: 1280, height: 720, objectFit: 'cover', }} /&gt;&#10;    &lt;Box style={{ zIndex: 1, height: 56, flexDirection: 'column', gap: 2, justifyContent: 'center' }}&gt;&#10;        &lt;Box style={{ flexDirection: 'row', alignItems: 'center', gap: 10 }}&gt;&#10;            &lt;Text style={{ fontSize: 30, fontWeight: 'bold', color: '#1E293B' }}&gt;ER-NeRF&lt;/Text&gt;&#10;            &lt;Box style={{ background: 'rgba(8, 145, 178, 0.12)', borderRadius: 4, padding: '2px 10px' }}&gt;&#10;                &lt;Text style={{ fontSize: 13, color: '#0891B2', fontWeight: 'bold' }}&gt;神经辐射场 · 3D 一致性渲染&lt;/Text&gt;&#10;            &lt;/Box&gt;&#10;        &lt;/Box&gt;&#10;        &lt;Text style={{ fontSize: 14, color: '#475569' }}&gt;2D 数字人模型 (3/4) — 基于条件 NeRF 的三维一致性面部生成&lt;/Text&gt;&#10;    &lt;/Box&gt;&#10;&#10;    &lt;Box style={{ zIndex: 1, flexDirection: 'row', gap: 16, flex: 1, marginTop: 10 }}&gt;&#10;        &#10;        &lt;Box style={{ flex: 1, background: 'rgba(255, 255, 255, 0.82)', borderRadius: 10, padding: 12, flexDirection: 'column', gap: 8, border: '1px solid rgba(203, 213, 225, 0.4)', justifyContent: 'center', alignItems: 'center' }}&gt;&#10;            &lt;Text style={{ fontSize: 15, fontWeight: 'bold', color: '#1E293B' }}&gt;ER-NeRF 网络结构&lt;/Text&gt;&#10;            &lt;Image src=&quot;resources/images/ERNerf_radiance_field_architec_2026-08-06T10-42-31.png&quot; style={{ width: 500, height: 320, objectFit: 'contain', borderRadius: 8 }} /&gt;&#10;            &lt;Text style={{ fontSize: 12, color: '#475569', textAlign: 'center' }}&gt;Exp Encoder → Audio-NeRF → Torso Deform → Volume Render&lt;/Text&gt;&#10;        &lt;/Box&gt;&#10;&#10;        &#10;        &lt;Box style={{ width: '38%', flexDirection: 'column', gap: 10 }}&gt;&#10;            &#10;            &lt;Box style={{ flex: 1, background: 'rgba(255, 255, 255, 0.82)', borderRadius: 10, padding: 14, flexDirection: 'column', gap: 8, border: '1px solid rgba(203, 213, 225, 0.4)' }}&gt;&#10;                &lt;Text style={{ fontSize: 15, fontWeight: 'bold', color: '#0891B2' }}&gt;网络流程&lt;/Text&gt;&#10;                &lt;Box style={{ flexDirection: 'column', gap: 6 }}&gt;&#10;                    &lt;Box style={{ flexDirection: 'row', alignItems: 'center', gap: 6 }}&gt;&#10;                        &lt;Box style={{ width: 24, height: 24, borderRadius: 12, background: 'rgba(37, 99, 235, 0.15)', justifyContent: 'center', alignItems: 'center' }}&gt;&#10;                            &lt;Text style={{ fontSize: 11, color: '#2563EB', fontWeight: 'bold' }}&gt;1&lt;/Text&gt;&#10;                        &lt;/Box&gt;&#10;                        &lt;Text style={{ fontSize: 13, color: '#1E293B', fontWeight: 'bold' }}&gt;Exp Encoder&lt;/Text&gt;&#10;                    &lt;/Box&gt;&#10;                    &lt;Text style={{ fontSize: 12, color: '#475569', marginLeft: 30 }}&gt;音频经表情编码器映射为表情特征向量&lt;/Text&gt;&#10;                    &lt;Box style={{ flexDirection: 'row', alignItems: 'center', gap: 6 }}&gt;&#10;                        &lt;Box style={{ width: 24, height: 24, borderRadius: 12, background: 'rgba(8, 145, 178, 0.15)', justifyContent: 'center', alignItems: 'center' }}&gt;&#10;                            &lt;Text style={{ fontSize: 11, color: '#0891B2', fontWeight: 'bold' }}&gt;2&lt;/Text&gt;&#10;                        &lt;/Box&gt;&#10;                        &lt;Text style={{ fontSize: 13, color: '#1E293B', fontWeight: 'bold' }}&gt;Audio-NeRF&lt;/Text&gt;&#10;                    &lt;/Box&gt;&#10;                    &lt;Text style={{ fontSize: 12, color: '#475569', marginLeft: 30 }}&gt;条件 NeRF 生成 3D 面部，区域注意力聚焦嘴部&lt;/Text&gt;&#10;                    &lt;Box style={{ flexDirection: 'row', alignItems: 'center', gap: 6 }}&gt;&#10;                        &lt;Box style={{ width: 24, height: 24, borderRadius: 12, background: 'rgba(37, 99, 235, 0.15)', justifyContent: 'center', alignItems: 'center' }}&gt;&#10;                            &lt;Text style={{ fontSize: 11, color: '#2563EB', fontWeight: 'bold' }}&gt;3&lt;/Text&gt;&#10;                        &lt;/Box&gt;&#10;                        &lt;Text style={{ fontSize: 13, color: '#1E293B', fontWeight: 'bold' }}&gt;Torso Deform&lt;/Text&gt;&#10;                    &lt;/Box&gt;&#10;                    &lt;Text style={{ fontSize: 12, color: '#475569', marginLeft: 30 }}&gt;躯干变形网络独立控制身体运动&lt;/Text&gt;&#10;                    &lt;Box style={{ flexDirection: 'row', alignItems: 'center', gap: 6 }}&gt;&#10;                        &lt;Box style={{ width: 24, height: 24, borderRadius: 12, background: 'rgba(8, 145, 178, 0.15)', justifyContent: 'center', alignItems: 'center' }}&gt;&#10;                            &lt;Text style={{ fontSize: 11, color: '#0891B2', fontWeight: 'bold' }}&gt;4&lt;/Text&gt;&#10;                        &lt;/Box&gt;&#10;                        &lt;Text style={{ fontSize: 13, color: '#1E293B', fontWeight: 'bold' }}&gt;Volume Render&lt;/Text&gt;&#10;                    &lt;/Box&gt;&#10;                    &lt;Text style={{ fontSize: 12, color: '#475569', marginLeft: 30 }}&gt;体渲染：光线投射累积颜色和密度，输出 2D 图像&lt;/Text&gt;&#10;                &lt;/Box&gt;&#10;            &lt;/Box&gt;&#10;&#10;            &#10;            &lt;Box style={{ background: 'rgba(255, 255, 255, 0.82)', borderRadius: 10, padding: 14, flexDirection: 'column', gap: 6, border: '1px solid rgba(203, 213, 225, 0.4)' }}&gt;&#10;                &lt;Text style={{ fontSize: 15, fontWeight: 'bold', color: '#1E293B' }}&gt;性能指标&lt;/Text&gt;&#10;                &lt;Box style={{ flexDirection: 'row', gap: 12 }}&gt;&#10;                    &lt;Box style={{ flex: 1, alignItems: 'center' }}&gt;&#10;                        &lt;Text style={{ fontSize: 18, fontWeight: 'bold', color: '#0891B2' }}&gt;较高&lt;/Text&gt;&#10;                        &lt;Text style={{ fontSize: 11, color: '#475569' }}&gt;显存占用&lt;/Text&gt;&#10;                    &lt;/Box&gt;&#10;                    &lt;Box style={{ flex: 1, alignItems: 'center' }}&gt;&#10;                        &lt;Text style={{ fontSize: 18, fontWeight: 'bold', color: '#0891B2' }}&gt;逐人训练&lt;/Text&gt;&#10;                        &lt;Text style={{ fontSize: 11, color: '#475569' }}&gt;需单独适配&lt;/Text&gt;&#10;                    &lt;/Box&gt;&#10;                    &lt;Box style={{ flex: 1, alignItems: 'center' }}&gt;&#10;                        &lt;Text style={{ fontSize: 18, fontWeight: 'bold', color: '#0891B2' }}&gt;最佳&lt;/Text&gt;&#10;                        &lt;Text style={{ fontSize: 11, color: '#475569' }}&gt;3D 一致性&lt;/Text&gt;&#10;                    &lt;/Box&gt;&#10;                &lt;/Box&gt;&#10;                &lt;Box style={{ flexDirection: 'row', gap: 6, marginTop: 4, flexWrap: 'wrap' }}&gt;&#10;                    &lt;Box style={{ background: 'rgba(8, 145, 178, 0.1)', borderRadius: 4, padding: '2px 8px' }}&gt;&#10;                        &lt;Text style={{ fontSize: 11, color: '#0891B2' }}&gt;3D 一致性最佳&lt;/Text&gt;&#10;                    &lt;/Box&gt;&#10;                    &lt;Box style={{ background: 'rgba(8, 145, 178, 0.1)', borderRadius: 4, padding: '2px 8px' }}&gt;&#10;                        &lt;Text style={{ fontSize: 11, color: '#0891B2' }}&gt;区域注意力&lt;/Text&gt;&#10;                    &lt;/Box&gt;&#10;                    &lt;Box style={{ background: 'rgba(8, 145, 178, 0.1)', borderRadius: 4, padding: '2px 8px' }}&gt;&#10;                        &lt;Text style={{ fontSize: 11, color: '#0891B2' }}&gt;躯干独立控制&lt;/Text&gt;&#10;                    &lt;/Box&gt;&#10;                &lt;/Box&gt;&#10;            &lt;/Box&gt;&#10;        &lt;/Box&gt;&#10;    &lt;/Box&gt;&#10;&#10;    &lt;Box style={{ zIndex: 1, height: 28, flexDirection: 'row', justifyContent: 'space-between', alignItems: 'center', marginTop: 6 }}&gt;&#10;        &lt;Text style={{ fontSize: 13, color: '#475569' }}&gt;核心思想：音频驱动条件 NeRF，在三维空间中保持视角一致性，体渲染输出高质量图像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2" name="图片 108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083" name="文本框 1082" descr="{&quot;isTemplate&quot;:true,&quot;type&quot;:&quot;text&quot;}"/>
          <p:cNvSpPr txBox="1"/>
          <p:nvPr/>
        </p:nvSpPr>
        <p:spPr>
          <a:xfrm>
            <a:off x="571500" y="866775"/>
            <a:ext cx="120015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E293B"/>
                </a:solidFill>
                <a:latin typeface="Microsoft YaHei"/>
                <a:ea typeface="Microsoft YaHei"/>
              </a:rPr>
              <a:t>ER-NeRF</a:t>
            </a:r>
            <a:endParaRPr/>
          </a:p>
        </p:txBody>
      </p:sp>
      <p:sp>
        <p:nvSpPr>
          <p:cNvPr id="1084" name="圆角矩形 1083"/>
          <p:cNvSpPr/>
          <p:nvPr/>
        </p:nvSpPr>
        <p:spPr>
          <a:xfrm>
            <a:off x="1866900" y="942975"/>
            <a:ext cx="1743075" cy="190500"/>
          </a:xfrm>
          <a:prstGeom prst="roundRect">
            <a:avLst>
              <a:gd name="adj" fmla="val 20000"/>
            </a:avLst>
          </a:prstGeom>
          <a:solidFill>
            <a:srgbClr val="0891B2">
              <a:alpha val="1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85" name="文本框 1084" descr="{&quot;isTemplate&quot;:true,&quot;type&quot;:&quot;text&quot;}"/>
          <p:cNvSpPr txBox="1"/>
          <p:nvPr/>
        </p:nvSpPr>
        <p:spPr>
          <a:xfrm>
            <a:off x="1962150" y="962025"/>
            <a:ext cx="15525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891B2"/>
                </a:solidFill>
                <a:latin typeface="Microsoft YaHei"/>
                <a:ea typeface="Microsoft YaHei"/>
              </a:rPr>
              <a:t>神经辐射场</a:t>
            </a:r>
            <a:r>
              <a:rPr lang="en-US" sz="975" b="1">
                <a:solidFill>
                  <a:srgbClr val="0891B2"/>
                </a:solidFill>
                <a:latin typeface="Microsoft YaHei"/>
                <a:ea typeface="Microsoft YaHei"/>
              </a:rPr>
              <a:t> · 3D </a:t>
            </a:r>
            <a:r>
              <a:rPr lang="zh-CN" sz="975" b="1">
                <a:solidFill>
                  <a:srgbClr val="0891B2"/>
                </a:solidFill>
                <a:latin typeface="Microsoft YaHei"/>
                <a:ea typeface="Microsoft YaHei"/>
              </a:rPr>
              <a:t>一致性渲染</a:t>
            </a:r>
            <a:endParaRPr/>
          </a:p>
        </p:txBody>
      </p:sp>
      <p:sp>
        <p:nvSpPr>
          <p:cNvPr id="1086" name="文本框 1085" descr="{&quot;isTemplate&quot;:true,&quot;type&quot;:&quot;text&quot;}"/>
          <p:cNvSpPr txBox="1"/>
          <p:nvPr/>
        </p:nvSpPr>
        <p:spPr>
          <a:xfrm>
            <a:off x="571500" y="1228725"/>
            <a:ext cx="110490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2D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数字人模型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 (3/4) —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基于条件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 NeRF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的三维一致性面部生成</a:t>
            </a:r>
            <a:endParaRPr/>
          </a:p>
        </p:txBody>
      </p:sp>
      <p:sp>
        <p:nvSpPr>
          <p:cNvPr id="1087" name="圆角矩形 1086"/>
          <p:cNvSpPr/>
          <p:nvPr/>
        </p:nvSpPr>
        <p:spPr>
          <a:xfrm>
            <a:off x="571500" y="1485900"/>
            <a:ext cx="6696075" cy="4895850"/>
          </a:xfrm>
          <a:prstGeom prst="roundRect">
            <a:avLst>
              <a:gd name="adj" fmla="val 1946"/>
            </a:avLst>
          </a:prstGeom>
          <a:solidFill>
            <a:srgbClr val="FFFFFF">
              <a:alpha val="82000"/>
            </a:srgbClr>
          </a:solidFill>
          <a:ln w="12700">
            <a:solidFill>
              <a:srgbClr val="CBD5E1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88" name="文本框 1087" descr="{&quot;isTemplate&quot;:true,&quot;type&quot;:&quot;text&quot;}"/>
          <p:cNvSpPr txBox="1"/>
          <p:nvPr/>
        </p:nvSpPr>
        <p:spPr>
          <a:xfrm>
            <a:off x="3314700" y="2181225"/>
            <a:ext cx="12192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293B"/>
                </a:solidFill>
                <a:latin typeface="Microsoft YaHei"/>
                <a:ea typeface="Microsoft YaHei"/>
              </a:rPr>
              <a:t>ER-NeRF </a:t>
            </a:r>
            <a:r>
              <a:rPr lang="zh-CN" sz="1125" b="1">
                <a:solidFill>
                  <a:srgbClr val="1E293B"/>
                </a:solidFill>
                <a:latin typeface="Microsoft YaHei"/>
                <a:ea typeface="Microsoft YaHei"/>
              </a:rPr>
              <a:t>网络结构</a:t>
            </a:r>
            <a:endParaRPr/>
          </a:p>
        </p:txBody>
      </p:sp>
      <p:sp>
        <p:nvSpPr>
          <p:cNvPr id="1090" name="文本框 1089" descr="{&quot;isTemplate&quot;:true,&quot;type&quot;:&quot;text&quot;}"/>
          <p:cNvSpPr txBox="1"/>
          <p:nvPr/>
        </p:nvSpPr>
        <p:spPr>
          <a:xfrm>
            <a:off x="2181225" y="5553075"/>
            <a:ext cx="347662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Exp Encoder → Audio-NeRF → Torso Deform → Volume Render</a:t>
            </a:r>
            <a:endParaRPr/>
          </a:p>
        </p:txBody>
      </p:sp>
      <p:sp>
        <p:nvSpPr>
          <p:cNvPr id="1091" name="圆角矩形 1090"/>
          <p:cNvSpPr/>
          <p:nvPr/>
        </p:nvSpPr>
        <p:spPr>
          <a:xfrm>
            <a:off x="7419975" y="1485900"/>
            <a:ext cx="4200525" cy="3695700"/>
          </a:xfrm>
          <a:prstGeom prst="roundRect">
            <a:avLst>
              <a:gd name="adj" fmla="val 2577"/>
            </a:avLst>
          </a:prstGeom>
          <a:solidFill>
            <a:srgbClr val="FFFFFF">
              <a:alpha val="82000"/>
            </a:srgbClr>
          </a:solidFill>
          <a:ln w="12700">
            <a:solidFill>
              <a:srgbClr val="CBD5E1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92" name="文本框 1091" descr="{&quot;isTemplate&quot;:true,&quot;type&quot;:&quot;text&quot;}"/>
          <p:cNvSpPr txBox="1"/>
          <p:nvPr/>
        </p:nvSpPr>
        <p:spPr>
          <a:xfrm>
            <a:off x="7553325" y="1619250"/>
            <a:ext cx="393382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891B2"/>
                </a:solidFill>
                <a:latin typeface="Microsoft YaHei"/>
                <a:ea typeface="Microsoft YaHei"/>
              </a:rPr>
              <a:t>网络流程</a:t>
            </a:r>
            <a:endParaRPr/>
          </a:p>
        </p:txBody>
      </p:sp>
      <p:sp>
        <p:nvSpPr>
          <p:cNvPr id="1093" name="圆角矩形 1092"/>
          <p:cNvSpPr/>
          <p:nvPr/>
        </p:nvSpPr>
        <p:spPr>
          <a:xfrm>
            <a:off x="7553325" y="18669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2563EB">
              <a:alpha val="1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94" name="文本框 1093" descr="{&quot;isTemplate&quot;:true,&quot;type&quot;:&quot;text&quot;}"/>
          <p:cNvSpPr txBox="1"/>
          <p:nvPr/>
        </p:nvSpPr>
        <p:spPr>
          <a:xfrm>
            <a:off x="7639050" y="1914525"/>
            <a:ext cx="66675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2563EB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095" name="文本框 1094" descr="{&quot;isTemplate&quot;:true,&quot;type&quot;:&quot;text&quot;}"/>
          <p:cNvSpPr txBox="1"/>
          <p:nvPr/>
        </p:nvSpPr>
        <p:spPr>
          <a:xfrm>
            <a:off x="7839075" y="1905000"/>
            <a:ext cx="7334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E293B"/>
                </a:solidFill>
                <a:latin typeface="Microsoft YaHei"/>
                <a:ea typeface="Microsoft YaHei"/>
              </a:rPr>
              <a:t>Exp Encoder</a:t>
            </a:r>
            <a:endParaRPr/>
          </a:p>
        </p:txBody>
      </p:sp>
      <p:sp>
        <p:nvSpPr>
          <p:cNvPr id="1096" name="文本框 1095" descr="{&quot;isTemplate&quot;:true,&quot;type&quot;:&quot;text&quot;}"/>
          <p:cNvSpPr txBox="1"/>
          <p:nvPr/>
        </p:nvSpPr>
        <p:spPr>
          <a:xfrm>
            <a:off x="7839075" y="2152650"/>
            <a:ext cx="364807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音频经表情编码器映射为表情特征向量</a:t>
            </a:r>
            <a:endParaRPr/>
          </a:p>
        </p:txBody>
      </p:sp>
      <p:sp>
        <p:nvSpPr>
          <p:cNvPr id="1097" name="圆角矩形 1096"/>
          <p:cNvSpPr/>
          <p:nvPr/>
        </p:nvSpPr>
        <p:spPr>
          <a:xfrm>
            <a:off x="7553325" y="23526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891B2">
              <a:alpha val="1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98" name="文本框 1097" descr="{&quot;isTemplate&quot;:true,&quot;type&quot;:&quot;text&quot;}"/>
          <p:cNvSpPr txBox="1"/>
          <p:nvPr/>
        </p:nvSpPr>
        <p:spPr>
          <a:xfrm>
            <a:off x="7639050" y="2400300"/>
            <a:ext cx="66675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0891B2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099" name="文本框 1098" descr="{&quot;isTemplate&quot;:true,&quot;type&quot;:&quot;text&quot;}"/>
          <p:cNvSpPr txBox="1"/>
          <p:nvPr/>
        </p:nvSpPr>
        <p:spPr>
          <a:xfrm>
            <a:off x="7839075" y="2390775"/>
            <a:ext cx="7334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E293B"/>
                </a:solidFill>
                <a:latin typeface="Microsoft YaHei"/>
                <a:ea typeface="Microsoft YaHei"/>
              </a:rPr>
              <a:t>Audio-NeRF</a:t>
            </a:r>
            <a:endParaRPr/>
          </a:p>
        </p:txBody>
      </p:sp>
      <p:sp>
        <p:nvSpPr>
          <p:cNvPr id="1100" name="文本框 1099" descr="{&quot;isTemplate&quot;:true,&quot;type&quot;:&quot;text&quot;}"/>
          <p:cNvSpPr txBox="1"/>
          <p:nvPr/>
        </p:nvSpPr>
        <p:spPr>
          <a:xfrm>
            <a:off x="7839075" y="2638425"/>
            <a:ext cx="364807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条件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NeRF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生成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3D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面部，区域注意力聚焦嘴部</a:t>
            </a:r>
            <a:endParaRPr/>
          </a:p>
        </p:txBody>
      </p:sp>
      <p:sp>
        <p:nvSpPr>
          <p:cNvPr id="1101" name="圆角矩形 1100"/>
          <p:cNvSpPr/>
          <p:nvPr/>
        </p:nvSpPr>
        <p:spPr>
          <a:xfrm>
            <a:off x="7553325" y="28384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2563EB">
              <a:alpha val="1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02" name="文本框 1101" descr="{&quot;isTemplate&quot;:true,&quot;type&quot;:&quot;text&quot;}"/>
          <p:cNvSpPr txBox="1"/>
          <p:nvPr/>
        </p:nvSpPr>
        <p:spPr>
          <a:xfrm>
            <a:off x="7639050" y="2886075"/>
            <a:ext cx="66675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2563EB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1103" name="文本框 1102" descr="{&quot;isTemplate&quot;:true,&quot;type&quot;:&quot;text&quot;}"/>
          <p:cNvSpPr txBox="1"/>
          <p:nvPr/>
        </p:nvSpPr>
        <p:spPr>
          <a:xfrm>
            <a:off x="7839075" y="2876550"/>
            <a:ext cx="8096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E293B"/>
                </a:solidFill>
                <a:latin typeface="Microsoft YaHei"/>
                <a:ea typeface="Microsoft YaHei"/>
              </a:rPr>
              <a:t>Torso Deform</a:t>
            </a:r>
            <a:endParaRPr/>
          </a:p>
        </p:txBody>
      </p:sp>
      <p:sp>
        <p:nvSpPr>
          <p:cNvPr id="1104" name="文本框 1103" descr="{&quot;isTemplate&quot;:true,&quot;type&quot;:&quot;text&quot;}"/>
          <p:cNvSpPr txBox="1"/>
          <p:nvPr/>
        </p:nvSpPr>
        <p:spPr>
          <a:xfrm>
            <a:off x="7839075" y="3124200"/>
            <a:ext cx="364807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躯干变形网络独立控制身体运动</a:t>
            </a:r>
            <a:endParaRPr/>
          </a:p>
        </p:txBody>
      </p:sp>
      <p:sp>
        <p:nvSpPr>
          <p:cNvPr id="1105" name="圆角矩形 1104"/>
          <p:cNvSpPr/>
          <p:nvPr/>
        </p:nvSpPr>
        <p:spPr>
          <a:xfrm>
            <a:off x="7553325" y="33242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891B2">
              <a:alpha val="1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06" name="文本框 1105" descr="{&quot;isTemplate&quot;:true,&quot;type&quot;:&quot;text&quot;}"/>
          <p:cNvSpPr txBox="1"/>
          <p:nvPr/>
        </p:nvSpPr>
        <p:spPr>
          <a:xfrm>
            <a:off x="7639050" y="3371850"/>
            <a:ext cx="66675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0891B2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1107" name="文本框 1106" descr="{&quot;isTemplate&quot;:true,&quot;type&quot;:&quot;text&quot;}"/>
          <p:cNvSpPr txBox="1"/>
          <p:nvPr/>
        </p:nvSpPr>
        <p:spPr>
          <a:xfrm>
            <a:off x="7839075" y="3362325"/>
            <a:ext cx="9144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E293B"/>
                </a:solidFill>
                <a:latin typeface="Microsoft YaHei"/>
                <a:ea typeface="Microsoft YaHei"/>
              </a:rPr>
              <a:t>Volume Render</a:t>
            </a:r>
            <a:endParaRPr/>
          </a:p>
        </p:txBody>
      </p:sp>
      <p:sp>
        <p:nvSpPr>
          <p:cNvPr id="1108" name="文本框 1107" descr="{&quot;isTemplate&quot;:true,&quot;type&quot;:&quot;text&quot;}"/>
          <p:cNvSpPr txBox="1"/>
          <p:nvPr/>
        </p:nvSpPr>
        <p:spPr>
          <a:xfrm>
            <a:off x="7839075" y="3609975"/>
            <a:ext cx="364807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体渲染：光线投射累积颜色和密度，输出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2D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图像</a:t>
            </a:r>
            <a:endParaRPr/>
          </a:p>
        </p:txBody>
      </p:sp>
      <p:sp>
        <p:nvSpPr>
          <p:cNvPr id="1109" name="圆角矩形 1108"/>
          <p:cNvSpPr/>
          <p:nvPr/>
        </p:nvSpPr>
        <p:spPr>
          <a:xfrm>
            <a:off x="7419975" y="5276850"/>
            <a:ext cx="4200525" cy="1104900"/>
          </a:xfrm>
          <a:prstGeom prst="roundRect">
            <a:avLst>
              <a:gd name="adj" fmla="val 8621"/>
            </a:avLst>
          </a:prstGeom>
          <a:solidFill>
            <a:srgbClr val="FFFFFF">
              <a:alpha val="82000"/>
            </a:srgbClr>
          </a:solidFill>
          <a:ln w="12700">
            <a:solidFill>
              <a:srgbClr val="CBD5E1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10" name="文本框 1109" descr="{&quot;isTemplate&quot;:true,&quot;type&quot;:&quot;text&quot;}"/>
          <p:cNvSpPr txBox="1"/>
          <p:nvPr/>
        </p:nvSpPr>
        <p:spPr>
          <a:xfrm>
            <a:off x="7553325" y="5410200"/>
            <a:ext cx="393382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293B"/>
                </a:solidFill>
                <a:latin typeface="Microsoft YaHei"/>
                <a:ea typeface="Microsoft YaHei"/>
              </a:rPr>
              <a:t>性能指标</a:t>
            </a:r>
            <a:endParaRPr/>
          </a:p>
        </p:txBody>
      </p:sp>
      <p:sp>
        <p:nvSpPr>
          <p:cNvPr id="1111" name="文本框 1110" descr="{&quot;isTemplate&quot;:true,&quot;type&quot;:&quot;text&quot;}"/>
          <p:cNvSpPr txBox="1"/>
          <p:nvPr/>
        </p:nvSpPr>
        <p:spPr>
          <a:xfrm>
            <a:off x="8001000" y="5638800"/>
            <a:ext cx="3429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891B2"/>
                </a:solidFill>
                <a:latin typeface="Microsoft YaHei"/>
                <a:ea typeface="Microsoft YaHei"/>
              </a:rPr>
              <a:t>较高</a:t>
            </a:r>
            <a:endParaRPr/>
          </a:p>
        </p:txBody>
      </p:sp>
      <p:sp>
        <p:nvSpPr>
          <p:cNvPr id="1112" name="文本框 1111" descr="{&quot;isTemplate&quot;:true,&quot;type&quot;:&quot;text&quot;}"/>
          <p:cNvSpPr txBox="1"/>
          <p:nvPr/>
        </p:nvSpPr>
        <p:spPr>
          <a:xfrm>
            <a:off x="7962900" y="5848350"/>
            <a:ext cx="41910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显存占用</a:t>
            </a:r>
            <a:endParaRPr/>
          </a:p>
        </p:txBody>
      </p:sp>
      <p:sp>
        <p:nvSpPr>
          <p:cNvPr id="1113" name="文本框 1112" descr="{&quot;isTemplate&quot;:true,&quot;type&quot;:&quot;text&quot;}"/>
          <p:cNvSpPr txBox="1"/>
          <p:nvPr/>
        </p:nvSpPr>
        <p:spPr>
          <a:xfrm>
            <a:off x="9182100" y="5638800"/>
            <a:ext cx="6858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891B2"/>
                </a:solidFill>
                <a:latin typeface="Microsoft YaHei"/>
                <a:ea typeface="Microsoft YaHei"/>
              </a:rPr>
              <a:t>逐人训练</a:t>
            </a:r>
            <a:endParaRPr/>
          </a:p>
        </p:txBody>
      </p:sp>
      <p:sp>
        <p:nvSpPr>
          <p:cNvPr id="1114" name="文本框 1113" descr="{&quot;isTemplate&quot;:true,&quot;type&quot;:&quot;text&quot;}"/>
          <p:cNvSpPr txBox="1"/>
          <p:nvPr/>
        </p:nvSpPr>
        <p:spPr>
          <a:xfrm>
            <a:off x="9258300" y="5848350"/>
            <a:ext cx="523875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需单独适配</a:t>
            </a:r>
            <a:endParaRPr/>
          </a:p>
        </p:txBody>
      </p:sp>
      <p:sp>
        <p:nvSpPr>
          <p:cNvPr id="1115" name="文本框 1114" descr="{&quot;isTemplate&quot;:true,&quot;type&quot;:&quot;text&quot;}"/>
          <p:cNvSpPr txBox="1"/>
          <p:nvPr/>
        </p:nvSpPr>
        <p:spPr>
          <a:xfrm>
            <a:off x="10696575" y="5638800"/>
            <a:ext cx="3429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891B2"/>
                </a:solidFill>
                <a:latin typeface="Microsoft YaHei"/>
                <a:ea typeface="Microsoft YaHei"/>
              </a:rPr>
              <a:t>最佳</a:t>
            </a:r>
            <a:endParaRPr/>
          </a:p>
        </p:txBody>
      </p:sp>
      <p:sp>
        <p:nvSpPr>
          <p:cNvPr id="1116" name="文本框 1115" descr="{&quot;isTemplate&quot;:true,&quot;type&quot;:&quot;text&quot;}"/>
          <p:cNvSpPr txBox="1"/>
          <p:nvPr/>
        </p:nvSpPr>
        <p:spPr>
          <a:xfrm>
            <a:off x="10620375" y="5848350"/>
            <a:ext cx="49530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3D 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一致性</a:t>
            </a:r>
            <a:endParaRPr/>
          </a:p>
        </p:txBody>
      </p:sp>
      <p:sp>
        <p:nvSpPr>
          <p:cNvPr id="1117" name="圆角矩形 1116"/>
          <p:cNvSpPr/>
          <p:nvPr/>
        </p:nvSpPr>
        <p:spPr>
          <a:xfrm>
            <a:off x="7553325" y="6076950"/>
            <a:ext cx="857250" cy="171450"/>
          </a:xfrm>
          <a:prstGeom prst="roundRect">
            <a:avLst>
              <a:gd name="adj" fmla="val 22222"/>
            </a:avLst>
          </a:prstGeom>
          <a:solidFill>
            <a:srgbClr val="0891B2">
              <a:alpha val="1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18" name="文本框 1117" descr="{&quot;isTemplate&quot;:true,&quot;type&quot;:&quot;text&quot;}"/>
          <p:cNvSpPr txBox="1"/>
          <p:nvPr/>
        </p:nvSpPr>
        <p:spPr>
          <a:xfrm>
            <a:off x="7629525" y="6096000"/>
            <a:ext cx="7048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>
                <a:solidFill>
                  <a:srgbClr val="0891B2"/>
                </a:solidFill>
                <a:latin typeface="Microsoft YaHei"/>
                <a:ea typeface="Microsoft YaHei"/>
              </a:rPr>
              <a:t>3D </a:t>
            </a:r>
            <a:r>
              <a:rPr lang="zh-CN" sz="825">
                <a:solidFill>
                  <a:srgbClr val="0891B2"/>
                </a:solidFill>
                <a:latin typeface="Microsoft YaHei"/>
                <a:ea typeface="Microsoft YaHei"/>
              </a:rPr>
              <a:t>一致性最佳</a:t>
            </a:r>
            <a:endParaRPr/>
          </a:p>
        </p:txBody>
      </p:sp>
      <p:sp>
        <p:nvSpPr>
          <p:cNvPr id="1119" name="圆角矩形 1118"/>
          <p:cNvSpPr/>
          <p:nvPr/>
        </p:nvSpPr>
        <p:spPr>
          <a:xfrm>
            <a:off x="8467725" y="6076950"/>
            <a:ext cx="676275" cy="171450"/>
          </a:xfrm>
          <a:prstGeom prst="roundRect">
            <a:avLst>
              <a:gd name="adj" fmla="val 22222"/>
            </a:avLst>
          </a:prstGeom>
          <a:solidFill>
            <a:srgbClr val="0891B2">
              <a:alpha val="1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20" name="文本框 1119" descr="{&quot;isTemplate&quot;:true,&quot;type&quot;:&quot;text&quot;}"/>
          <p:cNvSpPr txBox="1"/>
          <p:nvPr/>
        </p:nvSpPr>
        <p:spPr>
          <a:xfrm>
            <a:off x="8543925" y="6096000"/>
            <a:ext cx="523875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25">
                <a:solidFill>
                  <a:srgbClr val="0891B2"/>
                </a:solidFill>
                <a:latin typeface="Microsoft YaHei"/>
                <a:ea typeface="Microsoft YaHei"/>
              </a:rPr>
              <a:t>区域注意力</a:t>
            </a:r>
            <a:endParaRPr/>
          </a:p>
        </p:txBody>
      </p:sp>
      <p:sp>
        <p:nvSpPr>
          <p:cNvPr id="1121" name="圆角矩形 1120"/>
          <p:cNvSpPr/>
          <p:nvPr/>
        </p:nvSpPr>
        <p:spPr>
          <a:xfrm>
            <a:off x="9201150" y="6076950"/>
            <a:ext cx="781050" cy="171450"/>
          </a:xfrm>
          <a:prstGeom prst="roundRect">
            <a:avLst>
              <a:gd name="adj" fmla="val 22222"/>
            </a:avLst>
          </a:prstGeom>
          <a:solidFill>
            <a:srgbClr val="0891B2">
              <a:alpha val="1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22" name="文本框 1121" descr="{&quot;isTemplate&quot;:true,&quot;type&quot;:&quot;text&quot;}"/>
          <p:cNvSpPr txBox="1"/>
          <p:nvPr/>
        </p:nvSpPr>
        <p:spPr>
          <a:xfrm>
            <a:off x="9277350" y="6096000"/>
            <a:ext cx="6286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25">
                <a:solidFill>
                  <a:srgbClr val="0891B2"/>
                </a:solidFill>
                <a:latin typeface="Microsoft YaHei"/>
                <a:ea typeface="Microsoft YaHei"/>
              </a:rPr>
              <a:t>躯干独立控制</a:t>
            </a:r>
            <a:endParaRPr/>
          </a:p>
        </p:txBody>
      </p:sp>
      <p:sp>
        <p:nvSpPr>
          <p:cNvPr id="1123" name="文本框 1122" descr="{&quot;isTemplate&quot;:true,&quot;type&quot;:&quot;text&quot;}"/>
          <p:cNvSpPr txBox="1"/>
          <p:nvPr/>
        </p:nvSpPr>
        <p:spPr>
          <a:xfrm>
            <a:off x="571500" y="6496050"/>
            <a:ext cx="48196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核心思想：音频驱动条件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NeRF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，在三维空间中保持视角一致性，体渲染输出高质量图像</a:t>
            </a:r>
            <a:endParaRPr/>
          </a:p>
        </p:txBody>
      </p:sp>
      <p:pic>
        <p:nvPicPr>
          <p:cNvPr id="1026" name="Picture 2" descr="image">
            <a:extLst>
              <a:ext uri="{FF2B5EF4-FFF2-40B4-BE49-F238E27FC236}">
                <a16:creationId xmlns:a16="http://schemas.microsoft.com/office/drawing/2014/main" id="{E1B80C9E-5BDB-5849-96B9-A57C296E96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010" y="2581275"/>
            <a:ext cx="6895765" cy="2444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transparent', padding: '90px 60px 16px', flexDirection: 'column' }}&gt;&#10;    &lt;Image src=&quot;resources/images/gvp_background.jpg&quot; style={{ position: 'absolute', top: 0, left: 0, width: 1280, height: 720, objectFit: 'cover', }} /&gt;&#10;    &lt;Box style={{ zIndex: 1, height: 56, flexDirection: 'column', gap: 2, justifyContent: 'center' }}&gt;&#10;        &lt;Box style={{ flexDirection: 'row', alignItems: 'center', gap: 10 }}&gt;&#10;            &lt;Text style={{ fontSize: 30, fontWeight: 'bold', color: '#1E293B' }}&gt;Wav2Lip&lt;/Text&gt;&#10;            &lt;Box style={{ background: 'rgba(8, 145, 178, 0.12)', borderRadius: 4, padding: '2px 10px' }}&gt;&#10;                &lt;Text style={{ fontSize: 13, color: '#0891B2', fontWeight: 'bold' }}&gt;GAN 对抗训练 · 实时唇形同步&lt;/Text&gt;&#10;            &lt;/Box&gt;&#10;        &lt;/Box&gt;&#10;        &lt;Text style={{ fontSize: 14, color: '#475569' }}&gt;2D 数字人模型 (1/4) — 基于 GAN 的通用唇形同步生成网络&lt;/Text&gt;&#10;    &lt;/Box&gt;&#10;&#10;    &lt;Box style={{ zIndex: 1, flexDirection: 'row', gap: 16, flex: 1, marginTop: 10 }}&gt;&#10;        &#10;        &lt;Box style={{ flex: 1, background: 'rgba(255, 255, 255, 0.82)', borderRadius: 10, padding: 12, flexDirection: 'column', gap: 8, border: '1px solid rgba(203, 213, 225, 0.4)', justifyContent: 'center', alignItems: 'center' }}&gt;&#10;            &lt;Text style={{ fontSize: 15, fontWeight: 'bold', color: '#1E293B' }}&gt;Wav2Lip 网络结构&lt;/Text&gt;&#10;            &lt;Image src=&quot;resources/images/Wav2Lip_GAN_architecture_diagr_2026-08-06T10-49-13.png&quot; style={{ width: 500, height: 320, objectFit: 'contain', borderRadius: 8 }} /&gt;&#10;            &lt;Text style={{ fontSize: 12, color: '#475569', textAlign: 'center' }}&gt;Audio Encoder → U-Net Generator → SyncNet 判别器&lt;/Text&gt;&#10;        &lt;/Box&gt;&#10;&#10;        &#10;        &lt;Box style={{ width: '38%', flexDirection: 'column', gap: 10 }}&gt;&#10;            &#10;            &lt;Box style={{ flex: 1, background: 'rgba(255, 255, 255, 0.82)', borderRadius: 10, padding: 14, flexDirection: 'column', gap: 8, border: '1px solid rgba(203, 213, 225, 0.4)' }}&gt;&#10;                &lt;Text style={{ fontSize: 15, fontWeight: 'bold', color: '#0891B2' }}&gt;网络流程&lt;/Text&gt;&#10;                &lt;Box style={{ flexDirection: 'column', gap: 6 }}&gt;&#10;                    &lt;Box style={{ flexDirection: 'row', alignItems: 'center', gap: 6 }}&gt;&#10;                        &lt;Box style={{ width: 24, height: 24, borderRadius: 12, background: 'rgba(37, 99, 235, 0.15)', justifyContent: 'center', alignItems: 'center' }}&gt;&#10;                            &lt;Text style={{ fontSize: 11, color: '#2563EB', fontWeight: 'bold' }}&gt;1&lt;/Text&gt;&#10;                        &lt;/Box&gt;&#10;                        &lt;Text style={{ fontSize: 13, color: '#1E293B', fontWeight: 'bold' }}&gt;Audio Encoder&lt;/Text&gt;&#10;                    &lt;/Box&gt;&#10;                    &lt;Text style={{ fontSize: 12, color: '#475569', marginLeft: 30 }}&gt;CNN 提取音频 MFCC 特征向量&lt;/Text&gt;&#10;                    &lt;Box style={{ flexDirection: 'row', alignItems: 'center', gap: 6 }}&gt;&#10;                        &lt;Box style={{ width: 24, height: 24, borderRadius: 12, background: 'rgba(8, 145, 178, 0.15)', justifyContent: 'center', alignItems: 'center' }}&gt;&#10;                            &lt;Text style={{ fontSize: 11, color: '#0891B2', fontWeight: 'bold' }}&gt;2&lt;/Text&gt;&#10;                        &lt;/Box&gt;&#10;                        &lt;Text style={{ fontSize: 13, color: '#1E293B', fontWeight: 'bold' }}&gt;U-Net Generator&lt;/Text&gt;&#10;                    &lt;/Box&gt;&#10;                    &lt;Text style={{ fontSize: 12, color: '#475569', marginLeft: 30 }}&gt;编码器-解码器 + skip connection，与参考帧拼接生成嘴部区域&lt;/Text&gt;&#10;                    &lt;Box style={{ flexDirection: 'row', alignItems: 'center', gap: 6 }}&gt;&#10;                        &lt;Box style={{ width: 24, height: 24, borderRadius: 12, background: 'rgba(37, 99, 235, 0.15)', justifyContent: 'center', alignItems: 'center' }}&gt;&#10;                            &lt;Text style={{ fontSize: 11, color: '#2563EB', fontWeight: 'bold' }}&gt;3&lt;/Text&gt;&#10;                        &lt;/Box&gt;&#10;                        &lt;Text style={{ fontSize: 13, color: '#1E293B', fontWeight: 'bold' }}&gt;SyncNet (D)&lt;/Text&gt;&#10;                    &lt;/Box&gt;&#10;                    &lt;Text style={{ fontSize: 12, color: '#475569', marginLeft: 30 }}&gt;判别器评估音视频同步性，对抗训练优化唇形精度&lt;/Text&gt;&#10;                &lt;/Box&gt;&#10;            &lt;/Box&gt;&#10;&#10;            &#10;            &lt;Box style={{ background: 'rgba(255, 255, 255, 0.82)', borderRadius: 10, padding: 14, flexDirection: 'column', gap: 6, border: '1px solid rgba(203, 213, 225, 0.4)' }}&gt;&#10;                &lt;Text style={{ fontSize: 15, fontWeight: 'bold', color: '#1E293B' }}&gt;性能指标&lt;/Text&gt;&#10;                &lt;Box style={{ flexDirection: 'row', gap: 12 }}&gt;&#10;                    &lt;Box style={{ flex: 1, alignItems: 'center' }}&gt;&#10;                        &lt;Text style={{ fontSize: 22, fontWeight: 'bold', color: '#0891B2' }}&gt;200MB&lt;/Text&gt;&#10;                        &lt;Text style={{ fontSize: 11, color: '#475569' }}&gt;显存占用&lt;/Text&gt;&#10;                    &lt;/Box&gt;&#10;                    &lt;Box style={{ flex: 1, alignItems: 'center' }}&gt;&#10;                        &lt;Text style={{ fontSize: 22, fontWeight: 'bold', color: '#0891B2' }}&gt;60-120&lt;/Text&gt;&#10;                        &lt;Text style={{ fontSize: 11, color: '#475569' }}&gt;FPS&lt;/Text&gt;&#10;                    &lt;/Box&gt;&#10;                    &lt;Box style={{ flex: 1, alignItems: 'center' }}&gt;&#10;                        &lt;Text style={{ fontSize: 22, fontWeight: 'bold', color: '#0891B2' }}&gt;256²&lt;/Text&gt;&#10;                        &lt;Text style={{ fontSize: 11, color: '#475569' }}&gt;分辨率&lt;/Text&gt;&#10;                    &lt;/Box&gt;&#10;                &lt;/Box&gt;&#10;                &lt;Box style={{ flexDirection: 'row', gap: 6, marginTop: 4, flexWrap: 'wrap' }}&gt;&#10;                    &lt;Box style={{ background: 'rgba(8, 145, 178, 0.1)', borderRadius: 4, padding: '2px 8px' }}&gt;&#10;                        &lt;Text style={{ fontSize: 11, color: '#0891B2' }}&gt;推理快&lt;/Text&gt;&#10;                    &lt;/Box&gt;&#10;                    &lt;Box style={{ background: 'rgba(8, 145, 178, 0.1)', borderRadius: 4, padding: '2px 8px' }}&gt;&#10;                        &lt;Text style={{ fontSize: 11, color: '#0891B2' }}&gt;结构简单&lt;/Text&gt;&#10;                    &lt;/Box&gt;&#10;                    &lt;Box style={{ background: 'rgba(8, 145, 178, 0.1)', borderRadius: 4, padding: '2px 8px' }}&gt;&#10;                        &lt;Text style={{ fontSize: 11, color: '#0891B2' }}&gt;泛化性好&lt;/Text&gt;&#10;                    &lt;/Box&gt;&#10;                &lt;/Box&gt;&#10;            &lt;/Box&gt;&#10;        &lt;/Box&gt;&#10;    &lt;/Box&gt;&#10;&#10;    &lt;Box style={{ zIndex: 1, height: 28, flexDirection: 'row', justifyContent: 'space-between', alignItems: 'center', marginTop: 6 }}&gt;&#10;        &lt;Text style={{ fontSize: 13, color: '#475569' }}&gt;核心思想：通过 SyncNet 对抗训练，在 GAN 框架下实现任意说话人的唇形同步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0" name="图片 99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001" name="文本框 1000" descr="{&quot;isTemplate&quot;:true,&quot;type&quot;:&quot;text&quot;}"/>
          <p:cNvSpPr txBox="1"/>
          <p:nvPr/>
        </p:nvSpPr>
        <p:spPr>
          <a:xfrm>
            <a:off x="571500" y="866775"/>
            <a:ext cx="116205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E293B"/>
                </a:solidFill>
                <a:latin typeface="Microsoft YaHei"/>
                <a:ea typeface="Microsoft YaHei"/>
              </a:rPr>
              <a:t>Wav2Lip</a:t>
            </a:r>
            <a:endParaRPr/>
          </a:p>
        </p:txBody>
      </p:sp>
      <p:sp>
        <p:nvSpPr>
          <p:cNvPr id="1002" name="圆角矩形 1001"/>
          <p:cNvSpPr/>
          <p:nvPr/>
        </p:nvSpPr>
        <p:spPr>
          <a:xfrm>
            <a:off x="1828800" y="942975"/>
            <a:ext cx="1857375" cy="190500"/>
          </a:xfrm>
          <a:prstGeom prst="roundRect">
            <a:avLst>
              <a:gd name="adj" fmla="val 20000"/>
            </a:avLst>
          </a:prstGeom>
          <a:solidFill>
            <a:srgbClr val="0891B2">
              <a:alpha val="1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03" name="文本框 1002" descr="{&quot;isTemplate&quot;:true,&quot;type&quot;:&quot;text&quot;}"/>
          <p:cNvSpPr txBox="1"/>
          <p:nvPr/>
        </p:nvSpPr>
        <p:spPr>
          <a:xfrm>
            <a:off x="1924050" y="962025"/>
            <a:ext cx="16668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0891B2"/>
                </a:solidFill>
                <a:latin typeface="Microsoft YaHei"/>
                <a:ea typeface="Microsoft YaHei"/>
              </a:rPr>
              <a:t>GAN </a:t>
            </a:r>
            <a:r>
              <a:rPr lang="zh-CN" sz="975" b="1">
                <a:solidFill>
                  <a:srgbClr val="0891B2"/>
                </a:solidFill>
                <a:latin typeface="Microsoft YaHei"/>
                <a:ea typeface="Microsoft YaHei"/>
              </a:rPr>
              <a:t>对抗训练</a:t>
            </a:r>
            <a:r>
              <a:rPr lang="en-US" sz="975" b="1">
                <a:solidFill>
                  <a:srgbClr val="0891B2"/>
                </a:solidFill>
                <a:latin typeface="Microsoft YaHei"/>
                <a:ea typeface="Microsoft YaHei"/>
              </a:rPr>
              <a:t> · </a:t>
            </a:r>
            <a:r>
              <a:rPr lang="zh-CN" sz="975" b="1">
                <a:solidFill>
                  <a:srgbClr val="0891B2"/>
                </a:solidFill>
                <a:latin typeface="Microsoft YaHei"/>
                <a:ea typeface="Microsoft YaHei"/>
              </a:rPr>
              <a:t>实时唇形同步</a:t>
            </a:r>
            <a:endParaRPr/>
          </a:p>
        </p:txBody>
      </p:sp>
      <p:sp>
        <p:nvSpPr>
          <p:cNvPr id="1004" name="文本框 1003" descr="{&quot;isTemplate&quot;:true,&quot;type&quot;:&quot;text&quot;}"/>
          <p:cNvSpPr txBox="1"/>
          <p:nvPr/>
        </p:nvSpPr>
        <p:spPr>
          <a:xfrm>
            <a:off x="571500" y="1228725"/>
            <a:ext cx="110490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2D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数字人模型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 (1/4) —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基于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 GAN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的通用唇形同步生成网络</a:t>
            </a:r>
            <a:endParaRPr/>
          </a:p>
        </p:txBody>
      </p:sp>
      <p:sp>
        <p:nvSpPr>
          <p:cNvPr id="1005" name="圆角矩形 1004"/>
          <p:cNvSpPr/>
          <p:nvPr/>
        </p:nvSpPr>
        <p:spPr>
          <a:xfrm>
            <a:off x="571500" y="1485900"/>
            <a:ext cx="6696075" cy="4895850"/>
          </a:xfrm>
          <a:prstGeom prst="roundRect">
            <a:avLst>
              <a:gd name="adj" fmla="val 1946"/>
            </a:avLst>
          </a:prstGeom>
          <a:solidFill>
            <a:srgbClr val="FFFFFF">
              <a:alpha val="82000"/>
            </a:srgbClr>
          </a:solidFill>
          <a:ln w="12700">
            <a:solidFill>
              <a:srgbClr val="CBD5E1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06" name="文本框 1005" descr="{&quot;isTemplate&quot;:true,&quot;type&quot;:&quot;text&quot;}"/>
          <p:cNvSpPr txBox="1"/>
          <p:nvPr/>
        </p:nvSpPr>
        <p:spPr>
          <a:xfrm>
            <a:off x="3324225" y="2181225"/>
            <a:ext cx="12001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293B"/>
                </a:solidFill>
                <a:latin typeface="Microsoft YaHei"/>
                <a:ea typeface="Microsoft YaHei"/>
              </a:rPr>
              <a:t>Wav2Lip </a:t>
            </a:r>
            <a:r>
              <a:rPr lang="zh-CN" sz="1125" b="1">
                <a:solidFill>
                  <a:srgbClr val="1E293B"/>
                </a:solidFill>
                <a:latin typeface="Microsoft YaHei"/>
                <a:ea typeface="Microsoft YaHei"/>
              </a:rPr>
              <a:t>网络结构</a:t>
            </a:r>
            <a:endParaRPr/>
          </a:p>
        </p:txBody>
      </p:sp>
      <p:pic>
        <p:nvPicPr>
          <p:cNvPr id="1007" name="图片 1006"/>
          <p:cNvPicPr>
            <a:picLocks noChangeAspect="1"/>
          </p:cNvPicPr>
          <p:nvPr/>
        </p:nvPicPr>
        <p:blipFill>
          <a:blip r:embed="rId3"/>
          <a:srcRect t="3230" b="3230"/>
          <a:stretch>
            <a:fillRect/>
          </a:stretch>
        </p:blipFill>
        <p:spPr>
          <a:xfrm>
            <a:off x="1543050" y="2428875"/>
            <a:ext cx="4762500" cy="3048000"/>
          </a:xfrm>
          <a:prstGeom prst="roundRect">
            <a:avLst>
              <a:gd name="adj" fmla="val 2500"/>
            </a:avLst>
          </a:prstGeom>
          <a:ln/>
        </p:spPr>
      </p:pic>
      <p:sp>
        <p:nvSpPr>
          <p:cNvPr id="1008" name="文本框 1007" descr="{&quot;isTemplate&quot;:true,&quot;type&quot;:&quot;text&quot;}"/>
          <p:cNvSpPr txBox="1"/>
          <p:nvPr/>
        </p:nvSpPr>
        <p:spPr>
          <a:xfrm>
            <a:off x="2457450" y="5553075"/>
            <a:ext cx="292417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Audio Encoder → U-Net Generator → SyncNet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判别器</a:t>
            </a:r>
            <a:endParaRPr/>
          </a:p>
        </p:txBody>
      </p:sp>
      <p:sp>
        <p:nvSpPr>
          <p:cNvPr id="1009" name="圆角矩形 1008"/>
          <p:cNvSpPr/>
          <p:nvPr/>
        </p:nvSpPr>
        <p:spPr>
          <a:xfrm>
            <a:off x="7419975" y="1485900"/>
            <a:ext cx="4200525" cy="3648075"/>
          </a:xfrm>
          <a:prstGeom prst="roundRect">
            <a:avLst>
              <a:gd name="adj" fmla="val 2611"/>
            </a:avLst>
          </a:prstGeom>
          <a:solidFill>
            <a:srgbClr val="FFFFFF">
              <a:alpha val="82000"/>
            </a:srgbClr>
          </a:solidFill>
          <a:ln w="12700">
            <a:solidFill>
              <a:srgbClr val="CBD5E1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10" name="文本框 1009" descr="{&quot;isTemplate&quot;:true,&quot;type&quot;:&quot;text&quot;}"/>
          <p:cNvSpPr txBox="1"/>
          <p:nvPr/>
        </p:nvSpPr>
        <p:spPr>
          <a:xfrm>
            <a:off x="7553325" y="1619250"/>
            <a:ext cx="393382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891B2"/>
                </a:solidFill>
                <a:latin typeface="Microsoft YaHei"/>
                <a:ea typeface="Microsoft YaHei"/>
              </a:rPr>
              <a:t>网络流程</a:t>
            </a:r>
            <a:endParaRPr/>
          </a:p>
        </p:txBody>
      </p:sp>
      <p:sp>
        <p:nvSpPr>
          <p:cNvPr id="1011" name="圆角矩形 1010"/>
          <p:cNvSpPr/>
          <p:nvPr/>
        </p:nvSpPr>
        <p:spPr>
          <a:xfrm>
            <a:off x="7553325" y="18669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2563EB">
              <a:alpha val="1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12" name="文本框 1011" descr="{&quot;isTemplate&quot;:true,&quot;type&quot;:&quot;text&quot;}"/>
          <p:cNvSpPr txBox="1"/>
          <p:nvPr/>
        </p:nvSpPr>
        <p:spPr>
          <a:xfrm>
            <a:off x="7639050" y="1914525"/>
            <a:ext cx="66675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2563EB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013" name="文本框 1012" descr="{&quot;isTemplate&quot;:true,&quot;type&quot;:&quot;text&quot;}"/>
          <p:cNvSpPr txBox="1"/>
          <p:nvPr/>
        </p:nvSpPr>
        <p:spPr>
          <a:xfrm>
            <a:off x="7839075" y="1905000"/>
            <a:ext cx="8763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E293B"/>
                </a:solidFill>
                <a:latin typeface="Microsoft YaHei"/>
                <a:ea typeface="Microsoft YaHei"/>
              </a:rPr>
              <a:t>Audio Encoder</a:t>
            </a:r>
            <a:endParaRPr/>
          </a:p>
        </p:txBody>
      </p:sp>
      <p:sp>
        <p:nvSpPr>
          <p:cNvPr id="1014" name="文本框 1013" descr="{&quot;isTemplate&quot;:true,&quot;type&quot;:&quot;text&quot;}"/>
          <p:cNvSpPr txBox="1"/>
          <p:nvPr/>
        </p:nvSpPr>
        <p:spPr>
          <a:xfrm>
            <a:off x="7839075" y="2152650"/>
            <a:ext cx="364807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CNN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提取音频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MFCC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特征向量</a:t>
            </a:r>
            <a:endParaRPr/>
          </a:p>
        </p:txBody>
      </p:sp>
      <p:sp>
        <p:nvSpPr>
          <p:cNvPr id="1015" name="圆角矩形 1014"/>
          <p:cNvSpPr/>
          <p:nvPr/>
        </p:nvSpPr>
        <p:spPr>
          <a:xfrm>
            <a:off x="7553325" y="23526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891B2">
              <a:alpha val="1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16" name="文本框 1015" descr="{&quot;isTemplate&quot;:true,&quot;type&quot;:&quot;text&quot;}"/>
          <p:cNvSpPr txBox="1"/>
          <p:nvPr/>
        </p:nvSpPr>
        <p:spPr>
          <a:xfrm>
            <a:off x="7639050" y="2400300"/>
            <a:ext cx="66675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0891B2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017" name="文本框 1016" descr="{&quot;isTemplate&quot;:true,&quot;type&quot;:&quot;text&quot;}"/>
          <p:cNvSpPr txBox="1"/>
          <p:nvPr/>
        </p:nvSpPr>
        <p:spPr>
          <a:xfrm>
            <a:off x="7839075" y="2390775"/>
            <a:ext cx="10001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E293B"/>
                </a:solidFill>
                <a:latin typeface="Microsoft YaHei"/>
                <a:ea typeface="Microsoft YaHei"/>
              </a:rPr>
              <a:t>U-Net Generator</a:t>
            </a:r>
            <a:endParaRPr/>
          </a:p>
        </p:txBody>
      </p:sp>
      <p:sp>
        <p:nvSpPr>
          <p:cNvPr id="1018" name="文本框 1017" descr="{&quot;isTemplate&quot;:true,&quot;type&quot;:&quot;text&quot;}"/>
          <p:cNvSpPr txBox="1"/>
          <p:nvPr/>
        </p:nvSpPr>
        <p:spPr>
          <a:xfrm>
            <a:off x="7839075" y="2638425"/>
            <a:ext cx="364807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编码器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-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解码器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+ skip connection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，与参考帧拼接生成嘴部区域</a:t>
            </a:r>
            <a:endParaRPr/>
          </a:p>
        </p:txBody>
      </p:sp>
      <p:sp>
        <p:nvSpPr>
          <p:cNvPr id="1019" name="圆角矩形 1018"/>
          <p:cNvSpPr/>
          <p:nvPr/>
        </p:nvSpPr>
        <p:spPr>
          <a:xfrm>
            <a:off x="7553325" y="28384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2563EB">
              <a:alpha val="1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20" name="文本框 1019" descr="{&quot;isTemplate&quot;:true,&quot;type&quot;:&quot;text&quot;}"/>
          <p:cNvSpPr txBox="1"/>
          <p:nvPr/>
        </p:nvSpPr>
        <p:spPr>
          <a:xfrm>
            <a:off x="7639050" y="2886075"/>
            <a:ext cx="66675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2563EB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1021" name="文本框 1020" descr="{&quot;isTemplate&quot;:true,&quot;type&quot;:&quot;text&quot;}"/>
          <p:cNvSpPr txBox="1"/>
          <p:nvPr/>
        </p:nvSpPr>
        <p:spPr>
          <a:xfrm>
            <a:off x="7839075" y="2876550"/>
            <a:ext cx="7048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E293B"/>
                </a:solidFill>
                <a:latin typeface="Microsoft YaHei"/>
                <a:ea typeface="Microsoft YaHei"/>
              </a:rPr>
              <a:t>SyncNet (D)</a:t>
            </a:r>
            <a:endParaRPr/>
          </a:p>
        </p:txBody>
      </p:sp>
      <p:sp>
        <p:nvSpPr>
          <p:cNvPr id="1022" name="文本框 1021" descr="{&quot;isTemplate&quot;:true,&quot;type&quot;:&quot;text&quot;}"/>
          <p:cNvSpPr txBox="1"/>
          <p:nvPr/>
        </p:nvSpPr>
        <p:spPr>
          <a:xfrm>
            <a:off x="7839075" y="3124200"/>
            <a:ext cx="364807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判别器评估音视频同步性，对抗训练优化唇形精度</a:t>
            </a:r>
            <a:endParaRPr/>
          </a:p>
        </p:txBody>
      </p:sp>
      <p:sp>
        <p:nvSpPr>
          <p:cNvPr id="1023" name="圆角矩形 1022"/>
          <p:cNvSpPr/>
          <p:nvPr/>
        </p:nvSpPr>
        <p:spPr>
          <a:xfrm>
            <a:off x="7419975" y="5229225"/>
            <a:ext cx="4200525" cy="1152525"/>
          </a:xfrm>
          <a:prstGeom prst="roundRect">
            <a:avLst>
              <a:gd name="adj" fmla="val 8264"/>
            </a:avLst>
          </a:prstGeom>
          <a:solidFill>
            <a:srgbClr val="FFFFFF">
              <a:alpha val="82000"/>
            </a:srgbClr>
          </a:solidFill>
          <a:ln w="12700">
            <a:solidFill>
              <a:srgbClr val="CBD5E1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24" name="文本框 1023" descr="{&quot;isTemplate&quot;:true,&quot;type&quot;:&quot;text&quot;}"/>
          <p:cNvSpPr txBox="1"/>
          <p:nvPr/>
        </p:nvSpPr>
        <p:spPr>
          <a:xfrm>
            <a:off x="7553325" y="5362575"/>
            <a:ext cx="393382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293B"/>
                </a:solidFill>
                <a:latin typeface="Microsoft YaHei"/>
                <a:ea typeface="Microsoft YaHei"/>
              </a:rPr>
              <a:t>性能指标</a:t>
            </a:r>
            <a:endParaRPr/>
          </a:p>
        </p:txBody>
      </p:sp>
      <p:sp>
        <p:nvSpPr>
          <p:cNvPr id="1025" name="文本框 1024" descr="{&quot;isTemplate&quot;:true,&quot;type&quot;:&quot;text&quot;}"/>
          <p:cNvSpPr txBox="1"/>
          <p:nvPr/>
        </p:nvSpPr>
        <p:spPr>
          <a:xfrm>
            <a:off x="7820025" y="5591175"/>
            <a:ext cx="71437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altLang="en-US" dirty="0"/>
              <a:t>较低</a:t>
            </a:r>
            <a:endParaRPr dirty="0"/>
          </a:p>
        </p:txBody>
      </p:sp>
      <p:sp>
        <p:nvSpPr>
          <p:cNvPr id="1026" name="文本框 1025" descr="{&quot;isTemplate&quot;:true,&quot;type&quot;:&quot;text&quot;}"/>
          <p:cNvSpPr txBox="1"/>
          <p:nvPr/>
        </p:nvSpPr>
        <p:spPr>
          <a:xfrm>
            <a:off x="7962900" y="5848350"/>
            <a:ext cx="41910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显存占用</a:t>
            </a:r>
            <a:endParaRPr/>
          </a:p>
        </p:txBody>
      </p:sp>
      <p:sp>
        <p:nvSpPr>
          <p:cNvPr id="1027" name="文本框 1026" descr="{&quot;isTemplate&quot;:true,&quot;type&quot;:&quot;text&quot;}"/>
          <p:cNvSpPr txBox="1"/>
          <p:nvPr/>
        </p:nvSpPr>
        <p:spPr>
          <a:xfrm>
            <a:off x="9163050" y="5591175"/>
            <a:ext cx="71437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 dirty="0">
                <a:solidFill>
                  <a:srgbClr val="0891B2"/>
                </a:solidFill>
                <a:latin typeface="Microsoft YaHei"/>
                <a:ea typeface="Microsoft YaHei"/>
              </a:rPr>
              <a:t>60-120</a:t>
            </a:r>
            <a:endParaRPr dirty="0"/>
          </a:p>
        </p:txBody>
      </p:sp>
      <p:sp>
        <p:nvSpPr>
          <p:cNvPr id="1028" name="文本框 1027" descr="{&quot;isTemplate&quot;:true,&quot;type&quot;:&quot;text&quot;}"/>
          <p:cNvSpPr txBox="1"/>
          <p:nvPr/>
        </p:nvSpPr>
        <p:spPr>
          <a:xfrm>
            <a:off x="9429750" y="5848350"/>
            <a:ext cx="180975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FPS</a:t>
            </a:r>
            <a:endParaRPr/>
          </a:p>
        </p:txBody>
      </p:sp>
      <p:sp>
        <p:nvSpPr>
          <p:cNvPr id="1029" name="文本框 1028" descr="{&quot;isTemplate&quot;:true,&quot;type&quot;:&quot;text&quot;}"/>
          <p:cNvSpPr txBox="1"/>
          <p:nvPr/>
        </p:nvSpPr>
        <p:spPr>
          <a:xfrm>
            <a:off x="10415587" y="5576887"/>
            <a:ext cx="4572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 dirty="0">
                <a:solidFill>
                  <a:srgbClr val="0891B2"/>
                </a:solidFill>
                <a:latin typeface="Microsoft YaHei"/>
                <a:ea typeface="Microsoft YaHei"/>
              </a:rPr>
              <a:t>256x</a:t>
            </a:r>
            <a:r>
              <a:rPr lang="en-US" altLang="zh-CN" sz="1650" b="1" dirty="0">
                <a:solidFill>
                  <a:srgbClr val="0891B2"/>
                </a:solidFill>
                <a:latin typeface="Microsoft YaHei"/>
                <a:ea typeface="Microsoft YaHei"/>
              </a:rPr>
              <a:t>256</a:t>
            </a:r>
            <a:endParaRPr dirty="0"/>
          </a:p>
        </p:txBody>
      </p:sp>
      <p:sp>
        <p:nvSpPr>
          <p:cNvPr id="1030" name="文本框 1029" descr="{&quot;isTemplate&quot;:true,&quot;type&quot;:&quot;text&quot;}"/>
          <p:cNvSpPr txBox="1"/>
          <p:nvPr/>
        </p:nvSpPr>
        <p:spPr>
          <a:xfrm>
            <a:off x="10715625" y="5848350"/>
            <a:ext cx="314325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25" dirty="0">
                <a:solidFill>
                  <a:srgbClr val="475569"/>
                </a:solidFill>
                <a:latin typeface="Microsoft YaHei"/>
                <a:ea typeface="Microsoft YaHei"/>
              </a:rPr>
              <a:t>分辨率</a:t>
            </a:r>
            <a:endParaRPr dirty="0"/>
          </a:p>
        </p:txBody>
      </p:sp>
      <p:sp>
        <p:nvSpPr>
          <p:cNvPr id="1031" name="圆角矩形 1030"/>
          <p:cNvSpPr/>
          <p:nvPr/>
        </p:nvSpPr>
        <p:spPr>
          <a:xfrm>
            <a:off x="7553325" y="6076950"/>
            <a:ext cx="466725" cy="171450"/>
          </a:xfrm>
          <a:prstGeom prst="roundRect">
            <a:avLst>
              <a:gd name="adj" fmla="val 22222"/>
            </a:avLst>
          </a:prstGeom>
          <a:solidFill>
            <a:srgbClr val="0891B2">
              <a:alpha val="1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32" name="文本框 1031" descr="{&quot;isTemplate&quot;:true,&quot;type&quot;:&quot;text&quot;}"/>
          <p:cNvSpPr txBox="1"/>
          <p:nvPr/>
        </p:nvSpPr>
        <p:spPr>
          <a:xfrm>
            <a:off x="7629525" y="6096000"/>
            <a:ext cx="314325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25">
                <a:solidFill>
                  <a:srgbClr val="0891B2"/>
                </a:solidFill>
                <a:latin typeface="Microsoft YaHei"/>
                <a:ea typeface="Microsoft YaHei"/>
              </a:rPr>
              <a:t>推理快</a:t>
            </a:r>
            <a:endParaRPr/>
          </a:p>
        </p:txBody>
      </p:sp>
      <p:sp>
        <p:nvSpPr>
          <p:cNvPr id="1033" name="圆角矩形 1032"/>
          <p:cNvSpPr/>
          <p:nvPr/>
        </p:nvSpPr>
        <p:spPr>
          <a:xfrm>
            <a:off x="8077200" y="6076950"/>
            <a:ext cx="571500" cy="171450"/>
          </a:xfrm>
          <a:prstGeom prst="roundRect">
            <a:avLst>
              <a:gd name="adj" fmla="val 22222"/>
            </a:avLst>
          </a:prstGeom>
          <a:solidFill>
            <a:srgbClr val="0891B2">
              <a:alpha val="1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34" name="文本框 1033" descr="{&quot;isTemplate&quot;:true,&quot;type&quot;:&quot;text&quot;}"/>
          <p:cNvSpPr txBox="1"/>
          <p:nvPr/>
        </p:nvSpPr>
        <p:spPr>
          <a:xfrm>
            <a:off x="8153400" y="6096000"/>
            <a:ext cx="41910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25">
                <a:solidFill>
                  <a:srgbClr val="0891B2"/>
                </a:solidFill>
                <a:latin typeface="Microsoft YaHei"/>
                <a:ea typeface="Microsoft YaHei"/>
              </a:rPr>
              <a:t>结构简单</a:t>
            </a:r>
            <a:endParaRPr/>
          </a:p>
        </p:txBody>
      </p:sp>
      <p:sp>
        <p:nvSpPr>
          <p:cNvPr id="1035" name="圆角矩形 1034"/>
          <p:cNvSpPr/>
          <p:nvPr/>
        </p:nvSpPr>
        <p:spPr>
          <a:xfrm>
            <a:off x="8705850" y="6076950"/>
            <a:ext cx="571500" cy="171450"/>
          </a:xfrm>
          <a:prstGeom prst="roundRect">
            <a:avLst>
              <a:gd name="adj" fmla="val 22222"/>
            </a:avLst>
          </a:prstGeom>
          <a:solidFill>
            <a:srgbClr val="0891B2">
              <a:alpha val="1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36" name="文本框 1035" descr="{&quot;isTemplate&quot;:true,&quot;type&quot;:&quot;text&quot;}"/>
          <p:cNvSpPr txBox="1"/>
          <p:nvPr/>
        </p:nvSpPr>
        <p:spPr>
          <a:xfrm>
            <a:off x="8782050" y="6096000"/>
            <a:ext cx="41910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25">
                <a:solidFill>
                  <a:srgbClr val="0891B2"/>
                </a:solidFill>
                <a:latin typeface="Microsoft YaHei"/>
                <a:ea typeface="Microsoft YaHei"/>
              </a:rPr>
              <a:t>泛化性好</a:t>
            </a:r>
            <a:endParaRPr/>
          </a:p>
        </p:txBody>
      </p:sp>
      <p:sp>
        <p:nvSpPr>
          <p:cNvPr id="1037" name="文本框 1036" descr="{&quot;isTemplate&quot;:true,&quot;type&quot;:&quot;text&quot;}"/>
          <p:cNvSpPr txBox="1"/>
          <p:nvPr/>
        </p:nvSpPr>
        <p:spPr>
          <a:xfrm>
            <a:off x="571500" y="6496050"/>
            <a:ext cx="43910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核心思想：通过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SyncNet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对抗训练，在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GAN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框架下实现任意说话人的唇形同步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transparent', padding: '90px 60px 16px', flexDirection: 'column' }}&gt;&#10;    &lt;Image src=&quot;resources/images/gvp_background.jpg&quot; style={{ position: 'absolute', top: 0, left: 0, width: 1280, height: 720, objectFit: 'cover', }} /&gt;&#10;    &lt;Box style={{ zIndex: 1, height: 56, flexDirection: 'column', gap: 2, justifyContent: 'center' }}&gt;&#10;        &lt;Box style={{ flexDirection: 'row', alignItems: 'center', gap: 10 }}&gt;&#10;            &lt;Text style={{ fontSize: 30, fontWeight: 'bold', color: '#1E293B' }}&gt;DINet&lt;/Text&gt;&#10;            &lt;Box style={{ background: 'rgba(8, 145, 178, 0.12)', borderRadius: 4, padding: '2px 10px' }}&gt;&#10;                &lt;Text style={{ fontSize: 13, color: '#0891B2', fontWeight: 'bold' }}&gt;形变修复 · 高分辨率嘴型同步&lt;/Text&gt;&#10;            &lt;/Box&gt;&#10;        &lt;/Box&gt;&#10;        &lt;Text style={{ fontSize: 14, color: '#475569' }}&gt;2D 数字人模型 (4/4) — 基于参考图特征形变 + 修复的高分辨率唇形生成&lt;/Text&gt;&#10;    &lt;/Box&gt;&#10;&#10;    &lt;Box style={{ zIndex: 1, flexDirection: 'row', gap: 16, flex: 1, marginTop: 10 }}&gt;&#10;        &#10;        &lt;Box style={{ flex: 1, background: 'rgba(255, 255, 255, 0.82)', borderRadius: 10, padding: 12, flexDirection: 'column', gap: 8, border: '1px solid rgba(203, 213, 225, 0.4)', justifyContent: 'center', alignItems: 'center' }}&gt;&#10;            &lt;Text style={{ fontSize: 15, fontWeight: 'bold', color: '#1E293B' }}&gt;DINet 网络结构&lt;/Text&gt;&#10;            &lt;Image src=&quot;resources/images/Clean_technical_architecture_d_2026-08-07T22-54-38.png&quot; style={{ width: 500, height: 320, objectFit: 'contain', borderRadius: 8 }} /&gt;&#10;            &lt;Text style={{ fontSize: 12, color: '#475569', textAlign: 'center' }}&gt;Source + 5×Ref → Deformation (AdaAT) → Feature Decoder → Dubbed Face&lt;/Text&gt;&#10;        &lt;/Box&gt;&#10;&#10;        &#10;        &lt;Box style={{ width: '38%', flexDirection: 'column', gap: 10 }}&gt;&#10;            &#10;            &lt;Box style={{ flex: 1, background: 'rgba(255, 255, 255, 0.82)', borderRadius: 10, padding: 14, flexDirection: 'column', gap: 8, border: '1px solid rgba(203, 213, 225, 0.4)' }}&gt;&#10;                &lt;Text style={{ fontSize: 15, fontWeight: 'bold', color: '#0891B2' }}&gt;网络流程&lt;/Text&gt;&#10;                &lt;Box style={{ flexDirection: 'column', gap: 6 }}&gt;&#10;                    &lt;Box style={{ flexDirection: 'row', alignItems: 'center', gap: 6 }}&gt;&#10;                        &lt;Box style={{ width: 24, height: 24, borderRadius: 12, background: 'rgba(37, 99, 235, 0.15)', justifyContent: 'center', alignItems: 'center' }}&gt;&#10;                            &lt;Text style={{ fontSize: 11, color: '#2563EB', fontWeight: 'bold' }}&gt;1&lt;/Text&gt;&#10;                        &lt;/Box&gt;&#10;                        &lt;Text style={{ fontSize: 13, color: '#1E293B', fontWeight: 'bold' }}&gt;Audio + Source&lt;/Text&gt;&#10;                    &lt;/Box&gt;&#10;                    &lt;Text style={{ fontSize: 12, color: '#475569', marginLeft: 30 }}&gt;驱动音频编码为特征；源图提供身份、头部姿态与上脸表情&lt;/Text&gt;&#10;                    &lt;Box style={{ flexDirection: 'row', alignItems: 'center', gap: 6 }}&gt;&#10;                        &lt;Box style={{ width: 24, height: 24, borderRadius: 12, background: 'rgba(8, 145, 178, 0.15)', justifyContent: 'center', alignItems: 'center' }}&gt;&#10;                            &lt;Text style={{ fontSize: 11, color: '#0891B2', fontWeight: 'bold' }}&gt;2&lt;/Text&gt;&#10;                        &lt;/Box&gt;&#10;                        &lt;Text style={{ fontSize: 13, color: '#1E293B', fontWeight: 'bold' }}&gt;Reference Images&lt;/Text&gt;&#10;                    &lt;/Box&gt;&#10;                    &lt;Text style={{ fontSize: 12, color: '#475569', marginLeft: 30 }}&gt;5 张不同嘴形的参考人脸，提取参考特征图&lt;/Text&gt;&#10;                    &lt;Box style={{ flexDirection: 'row', alignItems: 'center', gap: 6 }}&gt;&#10;                        &lt;Box style={{ width: 24, height: 24, borderRadius: 12, background: 'rgba(37, 99, 235, 0.15)', justifyContent: 'center', alignItems: 'center' }}&gt;&#10;                            &lt;Text style={{ fontSize: 11, color: '#2563EB', fontWeight: 'bold' }}&gt;3&lt;/Text&gt;&#10;                        &lt;/Box&gt;&#10;                        &lt;Text style={{ fontSize: 13, color: '#1E293B', fontWeight: 'bold' }}&gt;Deformation (AdaAT)&lt;/Text&gt;&#10;                    &lt;/Box&gt;&#10;                    &lt;Text style={{ fontSize: 12, color: '#475569', marginLeft: 30 }}&gt;参考特征图按音频与头姿做空间形变，生成对齐当前嘴形的形变特征图&lt;/Text&gt;&#10;                    &lt;Box style={{ flexDirection: 'row', alignItems: 'center', gap: 6 }}&gt;&#10;                        &lt;Box style={{ width: 24, height: 24, borderRadius: 12, background: 'rgba(8, 145, 178, 0.15)', justifyContent: 'center', alignItems: 'center' }}&gt;&#10;                            &lt;Text style={{ fontSize: 11, color: '#0891B2', fontWeight: 'bold' }}&gt;4&lt;/Text&gt;&#10;                        &lt;/Box&gt;&#10;                        &lt;Text style={{ fontSize: 13, color: '#1E293B', fontWeight: 'bold' }}&gt;Feature Decoder&lt;/Text&gt;&#10;                    &lt;/Box&gt;&#10;                    &lt;Text style={{ fontSize: 12, color: '#475569', marginLeft: 30 }}&gt;修复式解码器融合形变嘴部特征与源图属性，输出高分辨率帧&lt;/Text&gt;&#10;                &lt;/Box&gt;&#10;            &lt;/Box&gt;&#10;&#10;            &#10;            &lt;Box style={{ background: 'rgba(255, 255, 255, 0.82)', borderRadius: 10, padding: 14, flexDirection: 'column', gap: 6, border: '1px solid rgba(203, 213, 225, 0.4)' }}&gt;&#10;                &lt;Text style={{ fontSize: 15, fontWeight: 'bold', color: '#1E293B' }}&gt;性能指标&lt;/Text&gt;&#10;                &lt;Box style={{ flexDirection: 'row', gap: 12 }}&gt;&#10;                    &lt;Box style={{ flex: 1, alignItems: 'center' }}&gt;&#10;                        &lt;Text style={{ fontSize: 22, fontWeight: 'bold', color: '#0891B2' }}&gt;~1.5GB&lt;/Text&gt;&#10;                        &lt;Text style={{ fontSize: 11, color: '#475569' }}&gt;显存占用&lt;/Text&gt;&#10;                    &lt;/Box&gt;&#10;                    &lt;Box style={{ flex: 1, alignItems: 'center' }}&gt;&#10;                        &lt;Text style={{ fontSize: 22, fontWeight: 'bold', color: '#0891B2' }}&gt;30-50&lt;/Text&gt;&#10;                        &lt;Text style={{ fontSize: 11, color: '#475569' }}&gt;FPS&lt;/Text&gt;&#10;                    &lt;/Box&gt;&#10;                    &lt;Box style={{ flex: 1, alignItems: 'center' }}&gt;&#10;                        &lt;Text style={{ fontSize: 22, fontWeight: 'bold', color: '#0891B2' }}&gt;高分辨&lt;/Text&gt;&#10;                        &lt;Text style={{ fontSize: 11, color: '#475569' }}&gt;支持 1080P&lt;/Text&gt;&#10;                    &lt;/Box&gt;&#10;                &lt;/Box&gt;&#10;                &lt;Box style={{ flexDirection: 'row', gap: 6, marginTop: 4, flexWrap: 'wrap' }}&gt;&#10;                    &lt;Box style={{ background: 'rgba(8, 145, 178, 0.1)', borderRadius: 4, padding: '2px 8px' }}&gt;&#10;                        &lt;Text style={{ fontSize: 11, color: '#0891B2' }}&gt;高质量嘴型&lt;/Text&gt;&#10;                    &lt;/Box&gt;&#10;                    &lt;Box style={{ background: 'rgba(8, 145, 178, 0.1)', borderRadius: 4, padding: '2px 8px' }}&gt;&#10;                        &lt;Text style={{ fontSize: 11, color: '#0891B2' }}&gt;纹理细节好&lt;/Text&gt;&#10;                    &lt;/Box&gt;&#10;                    &lt;Box style={{ background: 'rgba(8, 145, 178, 0.1)', borderRadius: 4, padding: '2px 8px' }}&gt;&#10;                        &lt;Text style={{ fontSize: 11, color: '#0891B2' }}&gt;高分辨率&lt;/Text&gt;&#10;                    &lt;/Box&gt;&#10;                &lt;/Box&gt;&#10;            &lt;/Box&gt;&#10;        &lt;/Box&gt;&#10;    &lt;/Box&gt;&#10;&#10;    &lt;Box style={{ zIndex: 1, height: 28, flexDirection: 'row', justifyContent: 'space-between', alignItems: 'center', marginTop: 6 }}&gt;&#10;        &lt;Text style={{ fontSize: 13, color: '#475569' }}&gt;核心思想：对参考图特征做空间形变 (AdaAT) + 修复式解码，避免直接生成像素，在高分辨率下保留唇部纹理细节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5" name="图片 11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126" name="文本框 1125" descr="{&quot;isTemplate&quot;:true,&quot;type&quot;:&quot;text&quot;}"/>
          <p:cNvSpPr txBox="1"/>
          <p:nvPr/>
        </p:nvSpPr>
        <p:spPr>
          <a:xfrm>
            <a:off x="571500" y="866775"/>
            <a:ext cx="809625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E293B"/>
                </a:solidFill>
                <a:latin typeface="Microsoft YaHei"/>
                <a:ea typeface="Microsoft YaHei"/>
              </a:rPr>
              <a:t>DINet</a:t>
            </a:r>
            <a:endParaRPr/>
          </a:p>
        </p:txBody>
      </p:sp>
      <p:sp>
        <p:nvSpPr>
          <p:cNvPr id="1127" name="圆角矩形 1126"/>
          <p:cNvSpPr/>
          <p:nvPr/>
        </p:nvSpPr>
        <p:spPr>
          <a:xfrm>
            <a:off x="1476375" y="942975"/>
            <a:ext cx="1781175" cy="190500"/>
          </a:xfrm>
          <a:prstGeom prst="roundRect">
            <a:avLst>
              <a:gd name="adj" fmla="val 20000"/>
            </a:avLst>
          </a:prstGeom>
          <a:solidFill>
            <a:srgbClr val="0891B2">
              <a:alpha val="1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28" name="文本框 1127" descr="{&quot;isTemplate&quot;:true,&quot;type&quot;:&quot;text&quot;}"/>
          <p:cNvSpPr txBox="1"/>
          <p:nvPr/>
        </p:nvSpPr>
        <p:spPr>
          <a:xfrm>
            <a:off x="1571625" y="962025"/>
            <a:ext cx="15906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891B2"/>
                </a:solidFill>
                <a:latin typeface="Microsoft YaHei"/>
                <a:ea typeface="Microsoft YaHei"/>
              </a:rPr>
              <a:t>形变修复</a:t>
            </a:r>
            <a:r>
              <a:rPr lang="en-US" sz="975" b="1">
                <a:solidFill>
                  <a:srgbClr val="0891B2"/>
                </a:solidFill>
                <a:latin typeface="Microsoft YaHei"/>
                <a:ea typeface="Microsoft YaHei"/>
              </a:rPr>
              <a:t> · </a:t>
            </a:r>
            <a:r>
              <a:rPr lang="zh-CN" sz="975" b="1">
                <a:solidFill>
                  <a:srgbClr val="0891B2"/>
                </a:solidFill>
                <a:latin typeface="Microsoft YaHei"/>
                <a:ea typeface="Microsoft YaHei"/>
              </a:rPr>
              <a:t>高分辨率嘴型同步</a:t>
            </a:r>
            <a:endParaRPr/>
          </a:p>
        </p:txBody>
      </p:sp>
      <p:sp>
        <p:nvSpPr>
          <p:cNvPr id="1129" name="文本框 1128" descr="{&quot;isTemplate&quot;:true,&quot;type&quot;:&quot;text&quot;}"/>
          <p:cNvSpPr txBox="1"/>
          <p:nvPr/>
        </p:nvSpPr>
        <p:spPr>
          <a:xfrm>
            <a:off x="571500" y="1228725"/>
            <a:ext cx="110490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2D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数字人模型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 (4/4) —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基于参考图特征形变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 +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修复的高分辨率唇形生成</a:t>
            </a:r>
            <a:endParaRPr/>
          </a:p>
        </p:txBody>
      </p:sp>
      <p:sp>
        <p:nvSpPr>
          <p:cNvPr id="1130" name="圆角矩形 1129"/>
          <p:cNvSpPr/>
          <p:nvPr/>
        </p:nvSpPr>
        <p:spPr>
          <a:xfrm>
            <a:off x="571500" y="1485900"/>
            <a:ext cx="6696075" cy="4895850"/>
          </a:xfrm>
          <a:prstGeom prst="roundRect">
            <a:avLst>
              <a:gd name="adj" fmla="val 1946"/>
            </a:avLst>
          </a:prstGeom>
          <a:solidFill>
            <a:srgbClr val="FFFFFF">
              <a:alpha val="82000"/>
            </a:srgbClr>
          </a:solidFill>
          <a:ln w="12700">
            <a:solidFill>
              <a:srgbClr val="CBD5E1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31" name="文本框 1130" descr="{&quot;isTemplate&quot;:true,&quot;type&quot;:&quot;text&quot;}"/>
          <p:cNvSpPr txBox="1"/>
          <p:nvPr/>
        </p:nvSpPr>
        <p:spPr>
          <a:xfrm>
            <a:off x="3409950" y="2181225"/>
            <a:ext cx="101917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293B"/>
                </a:solidFill>
                <a:latin typeface="Microsoft YaHei"/>
                <a:ea typeface="Microsoft YaHei"/>
              </a:rPr>
              <a:t>DINet </a:t>
            </a:r>
            <a:r>
              <a:rPr lang="zh-CN" sz="1125" b="1">
                <a:solidFill>
                  <a:srgbClr val="1E293B"/>
                </a:solidFill>
                <a:latin typeface="Microsoft YaHei"/>
                <a:ea typeface="Microsoft YaHei"/>
              </a:rPr>
              <a:t>网络结构</a:t>
            </a:r>
            <a:endParaRPr/>
          </a:p>
        </p:txBody>
      </p:sp>
      <p:sp>
        <p:nvSpPr>
          <p:cNvPr id="1133" name="文本框 1132" descr="{&quot;isTemplate&quot;:true,&quot;type&quot;:&quot;text&quot;}"/>
          <p:cNvSpPr txBox="1"/>
          <p:nvPr/>
        </p:nvSpPr>
        <p:spPr>
          <a:xfrm>
            <a:off x="1828800" y="5553075"/>
            <a:ext cx="418147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Source + 5×Ref → Deformation (AdaAT) → Feature Decoder → Dubbed Face</a:t>
            </a:r>
            <a:endParaRPr/>
          </a:p>
        </p:txBody>
      </p:sp>
      <p:sp>
        <p:nvSpPr>
          <p:cNvPr id="1134" name="圆角矩形 1133"/>
          <p:cNvSpPr/>
          <p:nvPr/>
        </p:nvSpPr>
        <p:spPr>
          <a:xfrm>
            <a:off x="7419975" y="1485900"/>
            <a:ext cx="4200525" cy="3648075"/>
          </a:xfrm>
          <a:prstGeom prst="roundRect">
            <a:avLst>
              <a:gd name="adj" fmla="val 2611"/>
            </a:avLst>
          </a:prstGeom>
          <a:solidFill>
            <a:srgbClr val="FFFFFF">
              <a:alpha val="82000"/>
            </a:srgbClr>
          </a:solidFill>
          <a:ln w="12700">
            <a:solidFill>
              <a:srgbClr val="CBD5E1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35" name="文本框 1134" descr="{&quot;isTemplate&quot;:true,&quot;type&quot;:&quot;text&quot;}"/>
          <p:cNvSpPr txBox="1"/>
          <p:nvPr/>
        </p:nvSpPr>
        <p:spPr>
          <a:xfrm>
            <a:off x="7553325" y="1619250"/>
            <a:ext cx="393382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891B2"/>
                </a:solidFill>
                <a:latin typeface="Microsoft YaHei"/>
                <a:ea typeface="Microsoft YaHei"/>
              </a:rPr>
              <a:t>网络流程</a:t>
            </a:r>
            <a:endParaRPr/>
          </a:p>
        </p:txBody>
      </p:sp>
      <p:sp>
        <p:nvSpPr>
          <p:cNvPr id="1136" name="圆角矩形 1135"/>
          <p:cNvSpPr/>
          <p:nvPr/>
        </p:nvSpPr>
        <p:spPr>
          <a:xfrm>
            <a:off x="7553325" y="18669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2563EB">
              <a:alpha val="1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37" name="文本框 1136" descr="{&quot;isTemplate&quot;:true,&quot;type&quot;:&quot;text&quot;}"/>
          <p:cNvSpPr txBox="1"/>
          <p:nvPr/>
        </p:nvSpPr>
        <p:spPr>
          <a:xfrm>
            <a:off x="7639050" y="1914525"/>
            <a:ext cx="66675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2563EB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138" name="文本框 1137" descr="{&quot;isTemplate&quot;:true,&quot;type&quot;:&quot;text&quot;}"/>
          <p:cNvSpPr txBox="1"/>
          <p:nvPr/>
        </p:nvSpPr>
        <p:spPr>
          <a:xfrm>
            <a:off x="7839075" y="1905000"/>
            <a:ext cx="9239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E293B"/>
                </a:solidFill>
                <a:latin typeface="Microsoft YaHei"/>
                <a:ea typeface="Microsoft YaHei"/>
              </a:rPr>
              <a:t>Audio + Source</a:t>
            </a:r>
            <a:endParaRPr/>
          </a:p>
        </p:txBody>
      </p:sp>
      <p:sp>
        <p:nvSpPr>
          <p:cNvPr id="1139" name="文本框 1138" descr="{&quot;isTemplate&quot;:true,&quot;type&quot;:&quot;text&quot;}"/>
          <p:cNvSpPr txBox="1"/>
          <p:nvPr/>
        </p:nvSpPr>
        <p:spPr>
          <a:xfrm>
            <a:off x="7839075" y="2152650"/>
            <a:ext cx="364807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驱动音频编码为特征；源图提供身份、头部姿态与上脸表情</a:t>
            </a:r>
            <a:endParaRPr/>
          </a:p>
        </p:txBody>
      </p:sp>
      <p:sp>
        <p:nvSpPr>
          <p:cNvPr id="1140" name="圆角矩形 1139"/>
          <p:cNvSpPr/>
          <p:nvPr/>
        </p:nvSpPr>
        <p:spPr>
          <a:xfrm>
            <a:off x="7553325" y="23526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891B2">
              <a:alpha val="1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41" name="文本框 1140" descr="{&quot;isTemplate&quot;:true,&quot;type&quot;:&quot;text&quot;}"/>
          <p:cNvSpPr txBox="1"/>
          <p:nvPr/>
        </p:nvSpPr>
        <p:spPr>
          <a:xfrm>
            <a:off x="7639050" y="2400300"/>
            <a:ext cx="66675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0891B2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142" name="文本框 1141" descr="{&quot;isTemplate&quot;:true,&quot;type&quot;:&quot;text&quot;}"/>
          <p:cNvSpPr txBox="1"/>
          <p:nvPr/>
        </p:nvSpPr>
        <p:spPr>
          <a:xfrm>
            <a:off x="7839075" y="2390775"/>
            <a:ext cx="10572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E293B"/>
                </a:solidFill>
                <a:latin typeface="Microsoft YaHei"/>
                <a:ea typeface="Microsoft YaHei"/>
              </a:rPr>
              <a:t>Reference Images</a:t>
            </a:r>
            <a:endParaRPr/>
          </a:p>
        </p:txBody>
      </p:sp>
      <p:sp>
        <p:nvSpPr>
          <p:cNvPr id="1143" name="文本框 1142" descr="{&quot;isTemplate&quot;:true,&quot;type&quot;:&quot;text&quot;}"/>
          <p:cNvSpPr txBox="1"/>
          <p:nvPr/>
        </p:nvSpPr>
        <p:spPr>
          <a:xfrm>
            <a:off x="7839075" y="2638425"/>
            <a:ext cx="364807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5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张不同嘴形的参考人脸，提取参考特征图</a:t>
            </a:r>
            <a:endParaRPr/>
          </a:p>
        </p:txBody>
      </p:sp>
      <p:sp>
        <p:nvSpPr>
          <p:cNvPr id="1144" name="圆角矩形 1143"/>
          <p:cNvSpPr/>
          <p:nvPr/>
        </p:nvSpPr>
        <p:spPr>
          <a:xfrm>
            <a:off x="7553325" y="28384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2563EB">
              <a:alpha val="1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45" name="文本框 1144" descr="{&quot;isTemplate&quot;:true,&quot;type&quot;:&quot;text&quot;}"/>
          <p:cNvSpPr txBox="1"/>
          <p:nvPr/>
        </p:nvSpPr>
        <p:spPr>
          <a:xfrm>
            <a:off x="7639050" y="2886075"/>
            <a:ext cx="66675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2563EB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1146" name="文本框 1145" descr="{&quot;isTemplate&quot;:true,&quot;type&quot;:&quot;text&quot;}"/>
          <p:cNvSpPr txBox="1"/>
          <p:nvPr/>
        </p:nvSpPr>
        <p:spPr>
          <a:xfrm>
            <a:off x="7839075" y="2876550"/>
            <a:ext cx="12573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E293B"/>
                </a:solidFill>
                <a:latin typeface="Microsoft YaHei"/>
                <a:ea typeface="Microsoft YaHei"/>
              </a:rPr>
              <a:t>Deformation (AdaAT)</a:t>
            </a:r>
            <a:endParaRPr/>
          </a:p>
        </p:txBody>
      </p:sp>
      <p:sp>
        <p:nvSpPr>
          <p:cNvPr id="1147" name="文本框 1146" descr="{&quot;isTemplate&quot;:true,&quot;type&quot;:&quot;text&quot;}"/>
          <p:cNvSpPr txBox="1"/>
          <p:nvPr/>
        </p:nvSpPr>
        <p:spPr>
          <a:xfrm>
            <a:off x="7839075" y="3124200"/>
            <a:ext cx="364807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参考特征图按音频与头姿做空间形变，生成对齐当前嘴形的形变特征图</a:t>
            </a:r>
            <a:endParaRPr/>
          </a:p>
        </p:txBody>
      </p:sp>
      <p:sp>
        <p:nvSpPr>
          <p:cNvPr id="1148" name="圆角矩形 1147"/>
          <p:cNvSpPr/>
          <p:nvPr/>
        </p:nvSpPr>
        <p:spPr>
          <a:xfrm>
            <a:off x="7553325" y="33242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891B2">
              <a:alpha val="1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49" name="文本框 1148" descr="{&quot;isTemplate&quot;:true,&quot;type&quot;:&quot;text&quot;}"/>
          <p:cNvSpPr txBox="1"/>
          <p:nvPr/>
        </p:nvSpPr>
        <p:spPr>
          <a:xfrm>
            <a:off x="7639050" y="3371850"/>
            <a:ext cx="66675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0891B2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1150" name="文本框 1149" descr="{&quot;isTemplate&quot;:true,&quot;type&quot;:&quot;text&quot;}"/>
          <p:cNvSpPr txBox="1"/>
          <p:nvPr/>
        </p:nvSpPr>
        <p:spPr>
          <a:xfrm>
            <a:off x="7839075" y="3362325"/>
            <a:ext cx="9906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E293B"/>
                </a:solidFill>
                <a:latin typeface="Microsoft YaHei"/>
                <a:ea typeface="Microsoft YaHei"/>
              </a:rPr>
              <a:t>Feature Decoder</a:t>
            </a:r>
            <a:endParaRPr/>
          </a:p>
        </p:txBody>
      </p:sp>
      <p:sp>
        <p:nvSpPr>
          <p:cNvPr id="1151" name="文本框 1150" descr="{&quot;isTemplate&quot;:true,&quot;type&quot;:&quot;text&quot;}"/>
          <p:cNvSpPr txBox="1"/>
          <p:nvPr/>
        </p:nvSpPr>
        <p:spPr>
          <a:xfrm>
            <a:off x="7839075" y="3609975"/>
            <a:ext cx="364807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修复式解码器融合形变嘴部特征与源图属性，输出高分辨率帧</a:t>
            </a:r>
            <a:endParaRPr/>
          </a:p>
        </p:txBody>
      </p:sp>
      <p:sp>
        <p:nvSpPr>
          <p:cNvPr id="1152" name="圆角矩形 1151"/>
          <p:cNvSpPr/>
          <p:nvPr/>
        </p:nvSpPr>
        <p:spPr>
          <a:xfrm>
            <a:off x="7419975" y="5229225"/>
            <a:ext cx="4200525" cy="1152525"/>
          </a:xfrm>
          <a:prstGeom prst="roundRect">
            <a:avLst>
              <a:gd name="adj" fmla="val 8264"/>
            </a:avLst>
          </a:prstGeom>
          <a:solidFill>
            <a:srgbClr val="FFFFFF">
              <a:alpha val="82000"/>
            </a:srgbClr>
          </a:solidFill>
          <a:ln w="12700">
            <a:solidFill>
              <a:srgbClr val="CBD5E1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53" name="文本框 1152" descr="{&quot;isTemplate&quot;:true,&quot;type&quot;:&quot;text&quot;}"/>
          <p:cNvSpPr txBox="1"/>
          <p:nvPr/>
        </p:nvSpPr>
        <p:spPr>
          <a:xfrm>
            <a:off x="7553325" y="5362575"/>
            <a:ext cx="393382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293B"/>
                </a:solidFill>
                <a:latin typeface="Microsoft YaHei"/>
                <a:ea typeface="Microsoft YaHei"/>
              </a:rPr>
              <a:t>性能指标</a:t>
            </a:r>
            <a:endParaRPr/>
          </a:p>
        </p:txBody>
      </p:sp>
      <p:sp>
        <p:nvSpPr>
          <p:cNvPr id="1154" name="文本框 1153" descr="{&quot;isTemplate&quot;:true,&quot;type&quot;:&quot;text&quot;}"/>
          <p:cNvSpPr txBox="1"/>
          <p:nvPr/>
        </p:nvSpPr>
        <p:spPr>
          <a:xfrm>
            <a:off x="7800975" y="5591175"/>
            <a:ext cx="7429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891B2"/>
                </a:solidFill>
                <a:latin typeface="Microsoft YaHei"/>
                <a:ea typeface="Microsoft YaHei"/>
              </a:rPr>
              <a:t>~1.5GB</a:t>
            </a:r>
            <a:endParaRPr/>
          </a:p>
        </p:txBody>
      </p:sp>
      <p:sp>
        <p:nvSpPr>
          <p:cNvPr id="1155" name="文本框 1154" descr="{&quot;isTemplate&quot;:true,&quot;type&quot;:&quot;text&quot;}"/>
          <p:cNvSpPr txBox="1"/>
          <p:nvPr/>
        </p:nvSpPr>
        <p:spPr>
          <a:xfrm>
            <a:off x="7962900" y="5848350"/>
            <a:ext cx="41910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显存占用</a:t>
            </a:r>
            <a:endParaRPr/>
          </a:p>
        </p:txBody>
      </p:sp>
      <p:sp>
        <p:nvSpPr>
          <p:cNvPr id="1156" name="文本框 1155" descr="{&quot;isTemplate&quot;:true,&quot;type&quot;:&quot;text&quot;}"/>
          <p:cNvSpPr txBox="1"/>
          <p:nvPr/>
        </p:nvSpPr>
        <p:spPr>
          <a:xfrm>
            <a:off x="9229725" y="5591175"/>
            <a:ext cx="5905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891B2"/>
                </a:solidFill>
                <a:latin typeface="Microsoft YaHei"/>
                <a:ea typeface="Microsoft YaHei"/>
              </a:rPr>
              <a:t>30-50</a:t>
            </a:r>
            <a:endParaRPr/>
          </a:p>
        </p:txBody>
      </p:sp>
      <p:sp>
        <p:nvSpPr>
          <p:cNvPr id="1157" name="文本框 1156" descr="{&quot;isTemplate&quot;:true,&quot;type&quot;:&quot;text&quot;}"/>
          <p:cNvSpPr txBox="1"/>
          <p:nvPr/>
        </p:nvSpPr>
        <p:spPr>
          <a:xfrm>
            <a:off x="9429750" y="5848350"/>
            <a:ext cx="180975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FPS</a:t>
            </a:r>
            <a:endParaRPr/>
          </a:p>
        </p:txBody>
      </p:sp>
      <p:sp>
        <p:nvSpPr>
          <p:cNvPr id="1158" name="文本框 1157" descr="{&quot;isTemplate&quot;:true,&quot;type&quot;:&quot;text&quot;}"/>
          <p:cNvSpPr txBox="1"/>
          <p:nvPr/>
        </p:nvSpPr>
        <p:spPr>
          <a:xfrm>
            <a:off x="10446544" y="5605462"/>
            <a:ext cx="6286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altLang="zh-CN" sz="1650" b="1" dirty="0">
                <a:solidFill>
                  <a:srgbClr val="0891B2"/>
                </a:solidFill>
                <a:latin typeface="Microsoft YaHei"/>
                <a:ea typeface="Microsoft YaHei"/>
              </a:rPr>
              <a:t>256x256</a:t>
            </a:r>
            <a:endParaRPr dirty="0"/>
          </a:p>
        </p:txBody>
      </p:sp>
      <p:sp>
        <p:nvSpPr>
          <p:cNvPr id="1159" name="文本框 1158" descr="{&quot;isTemplate&quot;:true,&quot;type&quot;:&quot;text&quot;}"/>
          <p:cNvSpPr txBox="1"/>
          <p:nvPr/>
        </p:nvSpPr>
        <p:spPr>
          <a:xfrm>
            <a:off x="10606088" y="5848350"/>
            <a:ext cx="5524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altLang="en-US" sz="825" dirty="0">
                <a:solidFill>
                  <a:srgbClr val="475569"/>
                </a:solidFill>
                <a:latin typeface="Microsoft YaHei"/>
                <a:ea typeface="Microsoft YaHei"/>
              </a:rPr>
              <a:t>分辨率</a:t>
            </a:r>
            <a:endParaRPr dirty="0"/>
          </a:p>
        </p:txBody>
      </p:sp>
      <p:sp>
        <p:nvSpPr>
          <p:cNvPr id="1160" name="圆角矩形 1159"/>
          <p:cNvSpPr/>
          <p:nvPr/>
        </p:nvSpPr>
        <p:spPr>
          <a:xfrm>
            <a:off x="7553325" y="6076950"/>
            <a:ext cx="676275" cy="171450"/>
          </a:xfrm>
          <a:prstGeom prst="roundRect">
            <a:avLst>
              <a:gd name="adj" fmla="val 22222"/>
            </a:avLst>
          </a:prstGeom>
          <a:solidFill>
            <a:srgbClr val="0891B2">
              <a:alpha val="1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61" name="文本框 1160" descr="{&quot;isTemplate&quot;:true,&quot;type&quot;:&quot;text&quot;}"/>
          <p:cNvSpPr txBox="1"/>
          <p:nvPr/>
        </p:nvSpPr>
        <p:spPr>
          <a:xfrm>
            <a:off x="7629525" y="6096000"/>
            <a:ext cx="523875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25">
                <a:solidFill>
                  <a:srgbClr val="0891B2"/>
                </a:solidFill>
                <a:latin typeface="Microsoft YaHei"/>
                <a:ea typeface="Microsoft YaHei"/>
              </a:rPr>
              <a:t>高质量嘴型</a:t>
            </a:r>
            <a:endParaRPr/>
          </a:p>
        </p:txBody>
      </p:sp>
      <p:sp>
        <p:nvSpPr>
          <p:cNvPr id="1162" name="圆角矩形 1161"/>
          <p:cNvSpPr/>
          <p:nvPr/>
        </p:nvSpPr>
        <p:spPr>
          <a:xfrm>
            <a:off x="8286750" y="6076950"/>
            <a:ext cx="676275" cy="171450"/>
          </a:xfrm>
          <a:prstGeom prst="roundRect">
            <a:avLst>
              <a:gd name="adj" fmla="val 22222"/>
            </a:avLst>
          </a:prstGeom>
          <a:solidFill>
            <a:srgbClr val="0891B2">
              <a:alpha val="1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63" name="文本框 1162" descr="{&quot;isTemplate&quot;:true,&quot;type&quot;:&quot;text&quot;}"/>
          <p:cNvSpPr txBox="1"/>
          <p:nvPr/>
        </p:nvSpPr>
        <p:spPr>
          <a:xfrm>
            <a:off x="8362950" y="6096000"/>
            <a:ext cx="523875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25">
                <a:solidFill>
                  <a:srgbClr val="0891B2"/>
                </a:solidFill>
                <a:latin typeface="Microsoft YaHei"/>
                <a:ea typeface="Microsoft YaHei"/>
              </a:rPr>
              <a:t>纹理细节好</a:t>
            </a:r>
            <a:endParaRPr/>
          </a:p>
        </p:txBody>
      </p:sp>
      <p:sp>
        <p:nvSpPr>
          <p:cNvPr id="1164" name="圆角矩形 1163"/>
          <p:cNvSpPr/>
          <p:nvPr/>
        </p:nvSpPr>
        <p:spPr>
          <a:xfrm>
            <a:off x="9020175" y="6076950"/>
            <a:ext cx="571500" cy="171450"/>
          </a:xfrm>
          <a:prstGeom prst="roundRect">
            <a:avLst>
              <a:gd name="adj" fmla="val 22222"/>
            </a:avLst>
          </a:prstGeom>
          <a:solidFill>
            <a:srgbClr val="0891B2">
              <a:alpha val="1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65" name="文本框 1164" descr="{&quot;isTemplate&quot;:true,&quot;type&quot;:&quot;text&quot;}"/>
          <p:cNvSpPr txBox="1"/>
          <p:nvPr/>
        </p:nvSpPr>
        <p:spPr>
          <a:xfrm>
            <a:off x="9096375" y="6096000"/>
            <a:ext cx="41910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25">
                <a:solidFill>
                  <a:srgbClr val="0891B2"/>
                </a:solidFill>
                <a:latin typeface="Microsoft YaHei"/>
                <a:ea typeface="Microsoft YaHei"/>
              </a:rPr>
              <a:t>高分辨率</a:t>
            </a:r>
            <a:endParaRPr/>
          </a:p>
        </p:txBody>
      </p:sp>
      <p:sp>
        <p:nvSpPr>
          <p:cNvPr id="1166" name="文本框 1165" descr="{&quot;isTemplate&quot;:true,&quot;type&quot;:&quot;text&quot;}"/>
          <p:cNvSpPr txBox="1"/>
          <p:nvPr/>
        </p:nvSpPr>
        <p:spPr>
          <a:xfrm>
            <a:off x="571500" y="6496050"/>
            <a:ext cx="62484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核心思想：对参考图特征做空间形变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(AdaAT) +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修复式解码，避免直接生成像素，在高分辨率下保留唇部纹理细节</a:t>
            </a:r>
            <a:endParaRPr/>
          </a:p>
        </p:txBody>
      </p:sp>
      <p:pic>
        <p:nvPicPr>
          <p:cNvPr id="2050" name="Picture 2" descr="在这里插入图片描述">
            <a:extLst>
              <a:ext uri="{FF2B5EF4-FFF2-40B4-BE49-F238E27FC236}">
                <a16:creationId xmlns:a16="http://schemas.microsoft.com/office/drawing/2014/main" id="{5BB55C4C-D737-EE4C-B901-7191D1FED2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101" y="2447925"/>
            <a:ext cx="6566141" cy="290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transparent', padding: '90px 60px 16px', flexDirection: 'column' }}&gt;&#10;    &lt;Image src=&quot;resources/images/gvp_background.jpg&quot; style={{ position: 'absolute', top: 0, left: 0, width: 1280, height: 720, objectFit: 'cover', }} /&gt;&#10;    &lt;Box style={{ zIndex: 1, height: 56, flexDirection: 'column', gap: 2, justifyContent: 'center' }}&gt;&#10;        &lt;Box style={{ flexDirection: 'row', alignItems: 'center', gap: 10 }}&gt;&#10;            &lt;Text style={{ fontSize: 30, fontWeight: 'bold', color: '#1E293B' }}&gt;MuseTalk&lt;/Text&gt;&#10;            &lt;Box style={{ background: 'rgba(37, 99, 235, 0.12)', borderRadius: 4, padding: '2px 10px' }}&gt;&#10;                &lt;Text style={{ fontSize: 13, color: '#2563EB', fontWeight: 'bold' }}&gt;潜空间扩散修复 · 高质量生成&lt;/Text&gt;&#10;            &lt;/Box&gt;&#10;        &lt;/Box&gt;&#10;        &lt;Text style={{ fontSize: 14, color: '#475569' }}&gt;2D 数字人模型 (2/4) — 基于潜空间扩散模型的高质量唇形生成&lt;/Text&gt;&#10;    &lt;/Box&gt;&#10;&#10;    &lt;Box style={{ zIndex: 1, flexDirection: 'row', gap: 16, flex: 1, marginTop: 10 }}&gt;&#10;        &#10;        &lt;Box style={{ flex: 1, background: 'rgba(255, 255, 255, 0.82)', borderRadius: 10, padding: 12, flexDirection: 'column', gap: 8, border: '1px solid rgba(203, 213, 225, 0.4)', justifyContent: 'center', alignItems: 'center' }}&gt;&#10;            &lt;Text style={{ fontSize: 15, fontWeight: 'bold', color: '#1E293B' }}&gt;MuseTalk 网络结构&lt;/Text&gt;&#10;            &lt;Image src=&quot;resources/images/MuseTalk_neural_network_pipeli_2026-08-06T10-42-03.png&quot; style={{ width: 500, height: 320, objectFit: 'contain', borderRadius: 8 }} /&gt;&#10;            &lt;Text style={{ fontSize: 12, color: '#475569', textAlign: 'center' }}&gt;Whisper → VAE Encoder → Latent Diffusion → VAE Decoder&lt;/Text&gt;&#10;        &lt;/Box&gt;&#10;&#10;        &#10;        &lt;Box style={{ width: '38%', flexDirection: 'column', gap: 10 }}&gt;&#10;            &#10;            &lt;Box style={{ flex: 1, background: 'rgba(255, 255, 255, 0.82)', borderRadius: 10, padding: 14, flexDirection: 'column', gap: 8, border: '1px solid rgba(203, 213, 225, 0.4)' }}&gt;&#10;                &lt;Text style={{ fontSize: 15, fontWeight: 'bold', color: '#2563EB' }}&gt;网络流程&lt;/Text&gt;&#10;                &lt;Box style={{ flexDirection: 'column', gap: 6 }}&gt;&#10;                    &lt;Box style={{ flexDirection: 'row', alignItems: 'center', gap: 6 }}&gt;&#10;                        &lt;Box style={{ width: 24, height: 24, borderRadius: 12, background: 'rgba(8, 145, 178, 0.15)', justifyContent: 'center', alignItems: 'center' }}&gt;&#10;                            &lt;Text style={{ fontSize: 11, color: '#0891B2', fontWeight: 'bold' }}&gt;1&lt;/Text&gt;&#10;                        &lt;/Box&gt;&#10;                        &lt;Text style={{ fontSize: 13, color: '#1E293B', fontWeight: 'bold' }}&gt;Whisper Encoder&lt;/Text&gt;&#10;                    &lt;/Box&gt;&#10;                    &lt;Text style={{ fontSize: 12, color: '#475569', marginLeft: 30 }}&gt;提取音频语义特征作为生成条件&lt;/Text&gt;&#10;                    &lt;Box style={{ flexDirection: 'row', alignItems: 'center', gap: 6 }}&gt;&#10;                        &lt;Box style={{ width: 24, height: 24, borderRadius: 12, background: 'rgba(37, 99, 235, 0.15)', justifyContent: 'center', alignItems: 'center' }}&gt;&#10;                            &lt;Text style={{ fontSize: 11, color: '#2563EB', fontWeight: 'bold' }}&gt;2&lt;/Text&gt;&#10;                        &lt;/Box&gt;&#10;                        &lt;Text style={{ fontSize: 13, color: '#1E293B', fontWeight: 'bold' }}&gt;VAE Encoder&lt;/Text&gt;&#10;                    &lt;/Box&gt;&#10;                    &lt;Text style={{ fontSize: 12, color: '#475569', marginLeft: 30 }}&gt;将人脸图像编码到压缩潜空间表示&lt;/Text&gt;&#10;                    &lt;Box style={{ flexDirection: 'row', alignItems: 'center', gap: 6 }}&gt;&#10;                        &lt;Box style={{ width: 24, height: 24, borderRadius: 12, background: 'rgba(8, 145, 178, 0.15)', justifyContent: 'center', alignItems: 'center' }}&gt;&#10;                            &lt;Text style={{ fontSize: 11, color: '#0891B2', fontWeight: 'bold' }}&gt;3&lt;/Text&gt;&#10;                        &lt;/Box&gt;&#10;                        &lt;Text style={{ fontSize: 13, color: '#1E293B', fontWeight: 'bold' }}&gt;Latent Diffusion&lt;/Text&gt;&#10;                    &lt;/Box&gt;&#10;                    &lt;Text style={{ fontSize: 12, color: '#475569', marginLeft: 30 }}&gt;在潜空间中修复下半脸区域 (inpainting)&lt;/Text&gt;&#10;                    &lt;Box style={{ flexDirection: 'row', alignItems: 'center', gap: 6 }}&gt;&#10;                        &lt;Box style={{ width: 24, height: 24, borderRadius: 12, background: 'rgba(37, 99, 235, 0.15)', justifyContent: 'center', alignItems: 'center' }}&gt;&#10;                            &lt;Text style={{ fontSize: 11, color: '#2563EB', fontWeight: 'bold' }}&gt;4&lt;/Text&gt;&#10;                        &lt;/Box&gt;&#10;                        &lt;Text style={{ fontSize: 13, color: '#1E293B', fontWeight: 'bold' }}&gt;VAE Decoder&lt;/Text&gt;&#10;                    &lt;/Box&gt;&#10;                    &lt;Text style={{ fontSize: 12, color: '#475569', marginLeft: 30 }}&gt;解码回像素空间生成最终帧&lt;/Text&gt;&#10;                &lt;/Box&gt;&#10;            &lt;/Box&gt;&#10;&#10;            &#10;            &lt;Box style={{ background: 'rgba(255, 255, 255, 0.82)', borderRadius: 10, padding: 14, flexDirection: 'column', gap: 6, border: '1px solid rgba(203, 213, 225, 0.4)' }}&gt;&#10;                &lt;Text style={{ fontSize: 15, fontWeight: 'bold', color: '#1E293B' }}&gt;性能指标&lt;/Text&gt;&#10;                &lt;Box style={{ flexDirection: 'row', gap: 12 }}&gt;&#10;                    &lt;Box style={{ flex: 1, alignItems: 'center' }}&gt;&#10;                        &lt;Text style={{ fontSize: 22, fontWeight: 'bold', color: '#2563EB' }}&gt;1.2GB&lt;/Text&gt;&#10;                        &lt;Text style={{ fontSize: 11, color: '#475569' }}&gt;显存占用&lt;/Text&gt;&#10;                    &lt;/Box&gt;&#10;                    &lt;Box style={{ flex: 1, alignItems: 'center' }}&gt;&#10;                        &lt;Text style={{ fontSize: 22, fontWeight: 'bold', color: '#2563EB' }}&gt;42-72&lt;/Text&gt;&#10;                        &lt;Text style={{ fontSize: 11, color: '#475569' }}&gt;FPS&lt;/Text&gt;&#10;                    &lt;/Box&gt;&#10;                    &lt;Box style={{ flex: 1, alignItems: 'center' }}&gt;&#10;                        &lt;Text style={{ fontSize: 22, fontWeight: 'bold', color: '#2563EB' }}&gt;256²&lt;/Text&gt;&#10;                        &lt;Text style={{ fontSize: 11, color: '#475569' }}&gt;分辨率&lt;/Text&gt;&#10;                    &lt;/Box&gt;&#10;                &lt;/Box&gt;&#10;                &lt;Box style={{ flexDirection: 'row', gap: 6, marginTop: 4, flexWrap: 'wrap' }}&gt;&#10;                    &lt;Box style={{ background: 'rgba(37, 99, 235, 0.1)', borderRadius: 4, padding: '2px 8px' }}&gt;&#10;                        &lt;Text style={{ fontSize: 11, color: '#2563EB' }}&gt;生成质量高&lt;/Text&gt;&#10;                    &lt;/Box&gt;&#10;                    &lt;Box style={{ background: 'rgba(37, 99, 235, 0.1)', borderRadius: 4, padding: '2px 8px' }}&gt;&#10;                        &lt;Text style={{ fontSize: 11, color: '#2563EB' }}&gt;压缩空间操作&lt;/Text&gt;&#10;                    &lt;/Box&gt;&#10;                    &lt;Box style={{ background: 'rgba(37, 99, 235, 0.1)', borderRadius: 4, padding: '2px 8px' }}&gt;&#10;                        &lt;Text style={{ fontSize: 11, color: '#2563EB' }}&gt;泛化能力强&lt;/Text&gt;&#10;                    &lt;/Box&gt;&#10;                &lt;/Box&gt;&#10;            &lt;/Box&gt;&#10;        &lt;/Box&gt;&#10;    &lt;/Box&gt;&#10;&#10;    &lt;Box style={{ zIndex: 1, height: 28, flexDirection: 'row', justifyContent: 'space-between', alignItems: 'center', marginTop: 6 }}&gt;&#10;        &lt;Text style={{ fontSize: 13, color: '#475569' }}&gt;核心思想：在 VAE 压缩潜空间中进行扩散修复，兼顾生成质量与推理速度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9" name="图片 10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040" name="文本框 1039" descr="{&quot;isTemplate&quot;:true,&quot;type&quot;:&quot;text&quot;}"/>
          <p:cNvSpPr txBox="1"/>
          <p:nvPr/>
        </p:nvSpPr>
        <p:spPr>
          <a:xfrm>
            <a:off x="571500" y="866775"/>
            <a:ext cx="127635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E293B"/>
                </a:solidFill>
                <a:latin typeface="Microsoft YaHei"/>
                <a:ea typeface="Microsoft YaHei"/>
              </a:rPr>
              <a:t>MuseTalk</a:t>
            </a:r>
            <a:endParaRPr/>
          </a:p>
        </p:txBody>
      </p:sp>
      <p:sp>
        <p:nvSpPr>
          <p:cNvPr id="1041" name="圆角矩形 1040"/>
          <p:cNvSpPr/>
          <p:nvPr/>
        </p:nvSpPr>
        <p:spPr>
          <a:xfrm>
            <a:off x="1943100" y="942975"/>
            <a:ext cx="1781175" cy="190500"/>
          </a:xfrm>
          <a:prstGeom prst="roundRect">
            <a:avLst>
              <a:gd name="adj" fmla="val 20000"/>
            </a:avLst>
          </a:prstGeom>
          <a:solidFill>
            <a:srgbClr val="2563EB">
              <a:alpha val="1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42" name="文本框 1041" descr="{&quot;isTemplate&quot;:true,&quot;type&quot;:&quot;text&quot;}"/>
          <p:cNvSpPr txBox="1"/>
          <p:nvPr/>
        </p:nvSpPr>
        <p:spPr>
          <a:xfrm>
            <a:off x="2038350" y="962025"/>
            <a:ext cx="15906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2563EB"/>
                </a:solidFill>
                <a:latin typeface="Microsoft YaHei"/>
                <a:ea typeface="Microsoft YaHei"/>
              </a:rPr>
              <a:t>潜空间扩散修复</a:t>
            </a:r>
            <a:r>
              <a:rPr lang="en-US" sz="975" b="1">
                <a:solidFill>
                  <a:srgbClr val="2563EB"/>
                </a:solidFill>
                <a:latin typeface="Microsoft YaHei"/>
                <a:ea typeface="Microsoft YaHei"/>
              </a:rPr>
              <a:t> · </a:t>
            </a:r>
            <a:r>
              <a:rPr lang="zh-CN" sz="975" b="1">
                <a:solidFill>
                  <a:srgbClr val="2563EB"/>
                </a:solidFill>
                <a:latin typeface="Microsoft YaHei"/>
                <a:ea typeface="Microsoft YaHei"/>
              </a:rPr>
              <a:t>高质量生成</a:t>
            </a:r>
            <a:endParaRPr/>
          </a:p>
        </p:txBody>
      </p:sp>
      <p:sp>
        <p:nvSpPr>
          <p:cNvPr id="1043" name="文本框 1042" descr="{&quot;isTemplate&quot;:true,&quot;type&quot;:&quot;text&quot;}"/>
          <p:cNvSpPr txBox="1"/>
          <p:nvPr/>
        </p:nvSpPr>
        <p:spPr>
          <a:xfrm>
            <a:off x="571500" y="1228725"/>
            <a:ext cx="110490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2D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数字人模型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 (2/4) —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基于潜空间扩散模型的高质量唇形生成</a:t>
            </a:r>
            <a:endParaRPr/>
          </a:p>
        </p:txBody>
      </p:sp>
      <p:sp>
        <p:nvSpPr>
          <p:cNvPr id="1044" name="圆角矩形 1043"/>
          <p:cNvSpPr/>
          <p:nvPr/>
        </p:nvSpPr>
        <p:spPr>
          <a:xfrm>
            <a:off x="571500" y="1485900"/>
            <a:ext cx="6696075" cy="4895850"/>
          </a:xfrm>
          <a:prstGeom prst="roundRect">
            <a:avLst>
              <a:gd name="adj" fmla="val 1946"/>
            </a:avLst>
          </a:prstGeom>
          <a:solidFill>
            <a:srgbClr val="FFFFFF">
              <a:alpha val="82000"/>
            </a:srgbClr>
          </a:solidFill>
          <a:ln w="12700">
            <a:solidFill>
              <a:srgbClr val="CBD5E1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45" name="文本框 1044" descr="{&quot;isTemplate&quot;:true,&quot;type&quot;:&quot;text&quot;}"/>
          <p:cNvSpPr txBox="1"/>
          <p:nvPr/>
        </p:nvSpPr>
        <p:spPr>
          <a:xfrm>
            <a:off x="3295650" y="2181225"/>
            <a:ext cx="12573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293B"/>
                </a:solidFill>
                <a:latin typeface="Microsoft YaHei"/>
                <a:ea typeface="Microsoft YaHei"/>
              </a:rPr>
              <a:t>MuseTalk </a:t>
            </a:r>
            <a:r>
              <a:rPr lang="zh-CN" sz="1125" b="1">
                <a:solidFill>
                  <a:srgbClr val="1E293B"/>
                </a:solidFill>
                <a:latin typeface="Microsoft YaHei"/>
                <a:ea typeface="Microsoft YaHei"/>
              </a:rPr>
              <a:t>网络结构</a:t>
            </a:r>
            <a:endParaRPr/>
          </a:p>
        </p:txBody>
      </p:sp>
      <p:pic>
        <p:nvPicPr>
          <p:cNvPr id="1046" name="图片 1045"/>
          <p:cNvPicPr>
            <a:picLocks noChangeAspect="1"/>
          </p:cNvPicPr>
          <p:nvPr/>
        </p:nvPicPr>
        <p:blipFill>
          <a:blip r:embed="rId3"/>
          <a:srcRect t="3230" b="3230"/>
          <a:stretch>
            <a:fillRect/>
          </a:stretch>
        </p:blipFill>
        <p:spPr>
          <a:xfrm>
            <a:off x="1543050" y="2428875"/>
            <a:ext cx="4762500" cy="3048000"/>
          </a:xfrm>
          <a:prstGeom prst="roundRect">
            <a:avLst>
              <a:gd name="adj" fmla="val 2500"/>
            </a:avLst>
          </a:prstGeom>
          <a:ln/>
        </p:spPr>
      </p:pic>
      <p:sp>
        <p:nvSpPr>
          <p:cNvPr id="1047" name="文本框 1046" descr="{&quot;isTemplate&quot;:true,&quot;type&quot;:&quot;text&quot;}"/>
          <p:cNvSpPr txBox="1"/>
          <p:nvPr/>
        </p:nvSpPr>
        <p:spPr>
          <a:xfrm>
            <a:off x="2286000" y="5553075"/>
            <a:ext cx="32766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Whisper → VAE Encoder → Latent Diffusion → VAE Decoder</a:t>
            </a:r>
            <a:endParaRPr/>
          </a:p>
        </p:txBody>
      </p:sp>
      <p:sp>
        <p:nvSpPr>
          <p:cNvPr id="1048" name="圆角矩形 1047"/>
          <p:cNvSpPr/>
          <p:nvPr/>
        </p:nvSpPr>
        <p:spPr>
          <a:xfrm>
            <a:off x="7419975" y="1485900"/>
            <a:ext cx="4200525" cy="3648075"/>
          </a:xfrm>
          <a:prstGeom prst="roundRect">
            <a:avLst>
              <a:gd name="adj" fmla="val 2611"/>
            </a:avLst>
          </a:prstGeom>
          <a:solidFill>
            <a:srgbClr val="FFFFFF">
              <a:alpha val="82000"/>
            </a:srgbClr>
          </a:solidFill>
          <a:ln w="12700">
            <a:solidFill>
              <a:srgbClr val="CBD5E1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49" name="文本框 1048" descr="{&quot;isTemplate&quot;:true,&quot;type&quot;:&quot;text&quot;}"/>
          <p:cNvSpPr txBox="1"/>
          <p:nvPr/>
        </p:nvSpPr>
        <p:spPr>
          <a:xfrm>
            <a:off x="7553325" y="1619250"/>
            <a:ext cx="393382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563EB"/>
                </a:solidFill>
                <a:latin typeface="Microsoft YaHei"/>
                <a:ea typeface="Microsoft YaHei"/>
              </a:rPr>
              <a:t>网络流程</a:t>
            </a:r>
            <a:endParaRPr/>
          </a:p>
        </p:txBody>
      </p:sp>
      <p:sp>
        <p:nvSpPr>
          <p:cNvPr id="1050" name="圆角矩形 1049"/>
          <p:cNvSpPr/>
          <p:nvPr/>
        </p:nvSpPr>
        <p:spPr>
          <a:xfrm>
            <a:off x="7553325" y="18669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891B2">
              <a:alpha val="1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51" name="文本框 1050" descr="{&quot;isTemplate&quot;:true,&quot;type&quot;:&quot;text&quot;}"/>
          <p:cNvSpPr txBox="1"/>
          <p:nvPr/>
        </p:nvSpPr>
        <p:spPr>
          <a:xfrm>
            <a:off x="7639050" y="1914525"/>
            <a:ext cx="66675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0891B2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052" name="文本框 1051" descr="{&quot;isTemplate&quot;:true,&quot;type&quot;:&quot;text&quot;}"/>
          <p:cNvSpPr txBox="1"/>
          <p:nvPr/>
        </p:nvSpPr>
        <p:spPr>
          <a:xfrm>
            <a:off x="7839075" y="1905000"/>
            <a:ext cx="10096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E293B"/>
                </a:solidFill>
                <a:latin typeface="Microsoft YaHei"/>
                <a:ea typeface="Microsoft YaHei"/>
              </a:rPr>
              <a:t>Whisper Encoder</a:t>
            </a:r>
            <a:endParaRPr/>
          </a:p>
        </p:txBody>
      </p:sp>
      <p:sp>
        <p:nvSpPr>
          <p:cNvPr id="1053" name="文本框 1052" descr="{&quot;isTemplate&quot;:true,&quot;type&quot;:&quot;text&quot;}"/>
          <p:cNvSpPr txBox="1"/>
          <p:nvPr/>
        </p:nvSpPr>
        <p:spPr>
          <a:xfrm>
            <a:off x="7839075" y="2152650"/>
            <a:ext cx="364807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提取音频语义特征作为生成条件</a:t>
            </a:r>
            <a:endParaRPr/>
          </a:p>
        </p:txBody>
      </p:sp>
      <p:sp>
        <p:nvSpPr>
          <p:cNvPr id="1054" name="圆角矩形 1053"/>
          <p:cNvSpPr/>
          <p:nvPr/>
        </p:nvSpPr>
        <p:spPr>
          <a:xfrm>
            <a:off x="7553325" y="23526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2563EB">
              <a:alpha val="1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55" name="文本框 1054" descr="{&quot;isTemplate&quot;:true,&quot;type&quot;:&quot;text&quot;}"/>
          <p:cNvSpPr txBox="1"/>
          <p:nvPr/>
        </p:nvSpPr>
        <p:spPr>
          <a:xfrm>
            <a:off x="7639050" y="2400300"/>
            <a:ext cx="66675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2563EB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056" name="文本框 1055" descr="{&quot;isTemplate&quot;:true,&quot;type&quot;:&quot;text&quot;}"/>
          <p:cNvSpPr txBox="1"/>
          <p:nvPr/>
        </p:nvSpPr>
        <p:spPr>
          <a:xfrm>
            <a:off x="7839075" y="2390775"/>
            <a:ext cx="7524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E293B"/>
                </a:solidFill>
                <a:latin typeface="Microsoft YaHei"/>
                <a:ea typeface="Microsoft YaHei"/>
              </a:rPr>
              <a:t>VAE Encoder</a:t>
            </a:r>
            <a:endParaRPr/>
          </a:p>
        </p:txBody>
      </p:sp>
      <p:sp>
        <p:nvSpPr>
          <p:cNvPr id="1057" name="文本框 1056" descr="{&quot;isTemplate&quot;:true,&quot;type&quot;:&quot;text&quot;}"/>
          <p:cNvSpPr txBox="1"/>
          <p:nvPr/>
        </p:nvSpPr>
        <p:spPr>
          <a:xfrm>
            <a:off x="7839075" y="2638425"/>
            <a:ext cx="364807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将人脸图像编码到压缩潜空间表示</a:t>
            </a:r>
            <a:endParaRPr/>
          </a:p>
        </p:txBody>
      </p:sp>
      <p:sp>
        <p:nvSpPr>
          <p:cNvPr id="1058" name="圆角矩形 1057"/>
          <p:cNvSpPr/>
          <p:nvPr/>
        </p:nvSpPr>
        <p:spPr>
          <a:xfrm>
            <a:off x="7553325" y="28384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891B2">
              <a:alpha val="1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59" name="文本框 1058" descr="{&quot;isTemplate&quot;:true,&quot;type&quot;:&quot;text&quot;}"/>
          <p:cNvSpPr txBox="1"/>
          <p:nvPr/>
        </p:nvSpPr>
        <p:spPr>
          <a:xfrm>
            <a:off x="7639050" y="2886075"/>
            <a:ext cx="66675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0891B2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1060" name="文本框 1059" descr="{&quot;isTemplate&quot;:true,&quot;type&quot;:&quot;text&quot;}"/>
          <p:cNvSpPr txBox="1"/>
          <p:nvPr/>
        </p:nvSpPr>
        <p:spPr>
          <a:xfrm>
            <a:off x="7839075" y="2876550"/>
            <a:ext cx="9429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E293B"/>
                </a:solidFill>
                <a:latin typeface="Microsoft YaHei"/>
                <a:ea typeface="Microsoft YaHei"/>
              </a:rPr>
              <a:t>Latent Diffusion</a:t>
            </a:r>
            <a:endParaRPr/>
          </a:p>
        </p:txBody>
      </p:sp>
      <p:sp>
        <p:nvSpPr>
          <p:cNvPr id="1061" name="文本框 1060" descr="{&quot;isTemplate&quot;:true,&quot;type&quot;:&quot;text&quot;}"/>
          <p:cNvSpPr txBox="1"/>
          <p:nvPr/>
        </p:nvSpPr>
        <p:spPr>
          <a:xfrm>
            <a:off x="7839075" y="3124200"/>
            <a:ext cx="364807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在潜空间中修复下半脸区域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(inpainting)</a:t>
            </a:r>
            <a:endParaRPr/>
          </a:p>
        </p:txBody>
      </p:sp>
      <p:sp>
        <p:nvSpPr>
          <p:cNvPr id="1062" name="圆角矩形 1061"/>
          <p:cNvSpPr/>
          <p:nvPr/>
        </p:nvSpPr>
        <p:spPr>
          <a:xfrm>
            <a:off x="7553325" y="33242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2563EB">
              <a:alpha val="1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63" name="文本框 1062" descr="{&quot;isTemplate&quot;:true,&quot;type&quot;:&quot;text&quot;}"/>
          <p:cNvSpPr txBox="1"/>
          <p:nvPr/>
        </p:nvSpPr>
        <p:spPr>
          <a:xfrm>
            <a:off x="7639050" y="3371850"/>
            <a:ext cx="66675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2563EB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1064" name="文本框 1063" descr="{&quot;isTemplate&quot;:true,&quot;type&quot;:&quot;text&quot;}"/>
          <p:cNvSpPr txBox="1"/>
          <p:nvPr/>
        </p:nvSpPr>
        <p:spPr>
          <a:xfrm>
            <a:off x="7839075" y="3362325"/>
            <a:ext cx="7715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E293B"/>
                </a:solidFill>
                <a:latin typeface="Microsoft YaHei"/>
                <a:ea typeface="Microsoft YaHei"/>
              </a:rPr>
              <a:t>VAE Decoder</a:t>
            </a:r>
            <a:endParaRPr/>
          </a:p>
        </p:txBody>
      </p:sp>
      <p:sp>
        <p:nvSpPr>
          <p:cNvPr id="1065" name="文本框 1064" descr="{&quot;isTemplate&quot;:true,&quot;type&quot;:&quot;text&quot;}"/>
          <p:cNvSpPr txBox="1"/>
          <p:nvPr/>
        </p:nvSpPr>
        <p:spPr>
          <a:xfrm>
            <a:off x="7839075" y="3609975"/>
            <a:ext cx="364807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解码回像素空间生成最终帧</a:t>
            </a:r>
            <a:endParaRPr/>
          </a:p>
        </p:txBody>
      </p:sp>
      <p:sp>
        <p:nvSpPr>
          <p:cNvPr id="1066" name="圆角矩形 1065"/>
          <p:cNvSpPr/>
          <p:nvPr/>
        </p:nvSpPr>
        <p:spPr>
          <a:xfrm>
            <a:off x="7419975" y="5229225"/>
            <a:ext cx="4200525" cy="1152525"/>
          </a:xfrm>
          <a:prstGeom prst="roundRect">
            <a:avLst>
              <a:gd name="adj" fmla="val 8264"/>
            </a:avLst>
          </a:prstGeom>
          <a:solidFill>
            <a:srgbClr val="FFFFFF">
              <a:alpha val="82000"/>
            </a:srgbClr>
          </a:solidFill>
          <a:ln w="12700">
            <a:solidFill>
              <a:srgbClr val="CBD5E1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67" name="文本框 1066" descr="{&quot;isTemplate&quot;:true,&quot;type&quot;:&quot;text&quot;}"/>
          <p:cNvSpPr txBox="1"/>
          <p:nvPr/>
        </p:nvSpPr>
        <p:spPr>
          <a:xfrm>
            <a:off x="7553325" y="5362575"/>
            <a:ext cx="393382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293B"/>
                </a:solidFill>
                <a:latin typeface="Microsoft YaHei"/>
                <a:ea typeface="Microsoft YaHei"/>
              </a:rPr>
              <a:t>性能指标</a:t>
            </a:r>
            <a:endParaRPr/>
          </a:p>
        </p:txBody>
      </p:sp>
      <p:sp>
        <p:nvSpPr>
          <p:cNvPr id="1068" name="文本框 1067" descr="{&quot;isTemplate&quot;:true,&quot;type&quot;:&quot;text&quot;}"/>
          <p:cNvSpPr txBox="1"/>
          <p:nvPr/>
        </p:nvSpPr>
        <p:spPr>
          <a:xfrm>
            <a:off x="7905751" y="5591175"/>
            <a:ext cx="5905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en-US" sz="1650" b="1" dirty="0" err="1">
                <a:solidFill>
                  <a:srgbClr val="2563EB"/>
                </a:solidFill>
                <a:latin typeface="Microsoft YaHei"/>
                <a:ea typeface="Microsoft YaHei"/>
              </a:rPr>
              <a:t>高</a:t>
            </a:r>
            <a:endParaRPr dirty="0"/>
          </a:p>
        </p:txBody>
      </p:sp>
      <p:sp>
        <p:nvSpPr>
          <p:cNvPr id="1069" name="文本框 1068" descr="{&quot;isTemplate&quot;:true,&quot;type&quot;:&quot;text&quot;}"/>
          <p:cNvSpPr txBox="1"/>
          <p:nvPr/>
        </p:nvSpPr>
        <p:spPr>
          <a:xfrm>
            <a:off x="7962900" y="5848350"/>
            <a:ext cx="41910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显存占用</a:t>
            </a:r>
            <a:endParaRPr/>
          </a:p>
        </p:txBody>
      </p:sp>
      <p:sp>
        <p:nvSpPr>
          <p:cNvPr id="1070" name="文本框 1069" descr="{&quot;isTemplate&quot;:true,&quot;type&quot;:&quot;text&quot;}"/>
          <p:cNvSpPr txBox="1"/>
          <p:nvPr/>
        </p:nvSpPr>
        <p:spPr>
          <a:xfrm>
            <a:off x="9229725" y="5591175"/>
            <a:ext cx="5905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 dirty="0">
                <a:solidFill>
                  <a:srgbClr val="2563EB"/>
                </a:solidFill>
                <a:latin typeface="Microsoft YaHei"/>
                <a:ea typeface="Microsoft YaHei"/>
              </a:rPr>
              <a:t>42-72</a:t>
            </a:r>
            <a:endParaRPr dirty="0"/>
          </a:p>
        </p:txBody>
      </p:sp>
      <p:sp>
        <p:nvSpPr>
          <p:cNvPr id="1071" name="文本框 1070" descr="{&quot;isTemplate&quot;:true,&quot;type&quot;:&quot;text&quot;}"/>
          <p:cNvSpPr txBox="1"/>
          <p:nvPr/>
        </p:nvSpPr>
        <p:spPr>
          <a:xfrm>
            <a:off x="9429750" y="5848350"/>
            <a:ext cx="180975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FPS</a:t>
            </a:r>
            <a:endParaRPr/>
          </a:p>
        </p:txBody>
      </p:sp>
      <p:sp>
        <p:nvSpPr>
          <p:cNvPr id="1072" name="文本框 1071" descr="{&quot;isTemplate&quot;:true,&quot;type&quot;:&quot;text&quot;}"/>
          <p:cNvSpPr txBox="1"/>
          <p:nvPr/>
        </p:nvSpPr>
        <p:spPr>
          <a:xfrm>
            <a:off x="10491787" y="5591175"/>
            <a:ext cx="4572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 dirty="0">
                <a:solidFill>
                  <a:srgbClr val="2563EB"/>
                </a:solidFill>
                <a:latin typeface="Microsoft YaHei"/>
                <a:ea typeface="Microsoft YaHei"/>
              </a:rPr>
              <a:t>256x</a:t>
            </a:r>
            <a:r>
              <a:rPr lang="en-US" altLang="zh-CN" sz="1650" b="1" dirty="0">
                <a:solidFill>
                  <a:srgbClr val="2563EB"/>
                </a:solidFill>
                <a:latin typeface="Microsoft YaHei"/>
                <a:ea typeface="Microsoft YaHei"/>
              </a:rPr>
              <a:t>256</a:t>
            </a:r>
            <a:endParaRPr dirty="0"/>
          </a:p>
        </p:txBody>
      </p:sp>
      <p:sp>
        <p:nvSpPr>
          <p:cNvPr id="1073" name="文本框 1072" descr="{&quot;isTemplate&quot;:true,&quot;type&quot;:&quot;text&quot;}"/>
          <p:cNvSpPr txBox="1"/>
          <p:nvPr/>
        </p:nvSpPr>
        <p:spPr>
          <a:xfrm>
            <a:off x="10715625" y="5848350"/>
            <a:ext cx="314325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分辨率</a:t>
            </a:r>
            <a:endParaRPr/>
          </a:p>
        </p:txBody>
      </p:sp>
      <p:sp>
        <p:nvSpPr>
          <p:cNvPr id="1074" name="圆角矩形 1073"/>
          <p:cNvSpPr/>
          <p:nvPr/>
        </p:nvSpPr>
        <p:spPr>
          <a:xfrm>
            <a:off x="7553325" y="6076950"/>
            <a:ext cx="676275" cy="171450"/>
          </a:xfrm>
          <a:prstGeom prst="roundRect">
            <a:avLst>
              <a:gd name="adj" fmla="val 22222"/>
            </a:avLst>
          </a:prstGeom>
          <a:solidFill>
            <a:srgbClr val="2563EB">
              <a:alpha val="1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75" name="文本框 1074" descr="{&quot;isTemplate&quot;:true,&quot;type&quot;:&quot;text&quot;}"/>
          <p:cNvSpPr txBox="1"/>
          <p:nvPr/>
        </p:nvSpPr>
        <p:spPr>
          <a:xfrm>
            <a:off x="7629525" y="6096000"/>
            <a:ext cx="523875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25">
                <a:solidFill>
                  <a:srgbClr val="2563EB"/>
                </a:solidFill>
                <a:latin typeface="Microsoft YaHei"/>
                <a:ea typeface="Microsoft YaHei"/>
              </a:rPr>
              <a:t>生成质量高</a:t>
            </a:r>
            <a:endParaRPr/>
          </a:p>
        </p:txBody>
      </p:sp>
      <p:sp>
        <p:nvSpPr>
          <p:cNvPr id="1076" name="圆角矩形 1075"/>
          <p:cNvSpPr/>
          <p:nvPr/>
        </p:nvSpPr>
        <p:spPr>
          <a:xfrm>
            <a:off x="8286750" y="6076950"/>
            <a:ext cx="781050" cy="171450"/>
          </a:xfrm>
          <a:prstGeom prst="roundRect">
            <a:avLst>
              <a:gd name="adj" fmla="val 22222"/>
            </a:avLst>
          </a:prstGeom>
          <a:solidFill>
            <a:srgbClr val="2563EB">
              <a:alpha val="1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77" name="文本框 1076" descr="{&quot;isTemplate&quot;:true,&quot;type&quot;:&quot;text&quot;}"/>
          <p:cNvSpPr txBox="1"/>
          <p:nvPr/>
        </p:nvSpPr>
        <p:spPr>
          <a:xfrm>
            <a:off x="8362950" y="6096000"/>
            <a:ext cx="6286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25">
                <a:solidFill>
                  <a:srgbClr val="2563EB"/>
                </a:solidFill>
                <a:latin typeface="Microsoft YaHei"/>
                <a:ea typeface="Microsoft YaHei"/>
              </a:rPr>
              <a:t>压缩空间操作</a:t>
            </a:r>
            <a:endParaRPr/>
          </a:p>
        </p:txBody>
      </p:sp>
      <p:sp>
        <p:nvSpPr>
          <p:cNvPr id="1078" name="圆角矩形 1077"/>
          <p:cNvSpPr/>
          <p:nvPr/>
        </p:nvSpPr>
        <p:spPr>
          <a:xfrm>
            <a:off x="9124950" y="6076950"/>
            <a:ext cx="676275" cy="171450"/>
          </a:xfrm>
          <a:prstGeom prst="roundRect">
            <a:avLst>
              <a:gd name="adj" fmla="val 22222"/>
            </a:avLst>
          </a:prstGeom>
          <a:solidFill>
            <a:srgbClr val="2563EB">
              <a:alpha val="1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79" name="文本框 1078" descr="{&quot;isTemplate&quot;:true,&quot;type&quot;:&quot;text&quot;}"/>
          <p:cNvSpPr txBox="1"/>
          <p:nvPr/>
        </p:nvSpPr>
        <p:spPr>
          <a:xfrm>
            <a:off x="9201150" y="6096000"/>
            <a:ext cx="523875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25">
                <a:solidFill>
                  <a:srgbClr val="2563EB"/>
                </a:solidFill>
                <a:latin typeface="Microsoft YaHei"/>
                <a:ea typeface="Microsoft YaHei"/>
              </a:rPr>
              <a:t>泛化能力强</a:t>
            </a:r>
            <a:endParaRPr/>
          </a:p>
        </p:txBody>
      </p:sp>
      <p:sp>
        <p:nvSpPr>
          <p:cNvPr id="1080" name="文本框 1079" descr="{&quot;isTemplate&quot;:true,&quot;type&quot;:&quot;text&quot;}"/>
          <p:cNvSpPr txBox="1"/>
          <p:nvPr/>
        </p:nvSpPr>
        <p:spPr>
          <a:xfrm>
            <a:off x="571500" y="6496050"/>
            <a:ext cx="40195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核心思想：在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VAE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压缩潜空间中进行扩散修复，兼顾生成质量与推理速度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padding: 0, flexDirection: 'column', justifyContent: 'center', alignItems: 'center' }}&gt;&#10;    &lt;Image src=&quot;resources/images/gvp_background.jpg&quot; style={{ position: 'absolute', top: 0, left: 0, width: 1280, height: 720, objectFit: 'cover', }} /&gt;&#10;    &lt;Box style={{ flexDirection: 'column', alignItems: 'center', gap: 24, zIndex: 1 }}&gt;&#10;        &lt;Text style={{ fontSize: 20, color: '#0891B2', letterSpacing: 6, fontWeight: '600' }}&gt;PART 01&lt;/Text&gt;&#10;        &lt;Box style={{ width: 80, height: 4, background: 'linear-gradient(90deg, #2563EB 0%, #0891B2 100%)', borderRadius: 2 }} /&gt;&#10;        &lt;Text style={{ fontSize: 60, fontWeight: 'bold', color: '#1E293B', letterSpacing: 2 }}&gt;数字人技术背景&lt;/Text&gt;&#10;        &lt;Text style={{ fontSize: 22, color: '#475569', marginTop: 8 }}&gt;神经渲染 vs 3D 渲染 · 主流口型驱动方案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1" name="图片 97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972" name="文本框 971" descr="{&quot;isTemplate&quot;:true,&quot;type&quot;:&quot;text&quot;}"/>
          <p:cNvSpPr txBox="1"/>
          <p:nvPr/>
        </p:nvSpPr>
        <p:spPr>
          <a:xfrm>
            <a:off x="5514975" y="2447925"/>
            <a:ext cx="117157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 b="1" spc="450" dirty="0">
                <a:solidFill>
                  <a:srgbClr val="0891B2"/>
                </a:solidFill>
                <a:latin typeface="Microsoft YaHei"/>
                <a:ea typeface="Microsoft YaHei"/>
              </a:rPr>
              <a:t>PART 0</a:t>
            </a:r>
            <a:r>
              <a:rPr lang="en-US" altLang="zh-CN" sz="1500" b="1" spc="450" dirty="0">
                <a:solidFill>
                  <a:srgbClr val="0891B2"/>
                </a:solidFill>
                <a:latin typeface="Microsoft YaHei"/>
                <a:ea typeface="Microsoft YaHei"/>
              </a:rPr>
              <a:t>2</a:t>
            </a:r>
            <a:endParaRPr dirty="0"/>
          </a:p>
        </p:txBody>
      </p:sp>
      <p:sp>
        <p:nvSpPr>
          <p:cNvPr id="973" name="圆角矩形 972"/>
          <p:cNvSpPr/>
          <p:nvPr/>
        </p:nvSpPr>
        <p:spPr>
          <a:xfrm>
            <a:off x="5715000" y="2905125"/>
            <a:ext cx="7620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0891B2"/>
              </a:gs>
            </a:gsLst>
            <a:lin ang="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974" name="文本框 973" descr="{&quot;isTemplate&quot;:true,&quot;type&quot;:&quot;text&quot;}"/>
          <p:cNvSpPr txBox="1"/>
          <p:nvPr/>
        </p:nvSpPr>
        <p:spPr>
          <a:xfrm>
            <a:off x="3648075" y="3209925"/>
            <a:ext cx="4133850" cy="685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4500" b="1" spc="150" dirty="0" err="1">
                <a:solidFill>
                  <a:srgbClr val="1E293B"/>
                </a:solidFill>
                <a:latin typeface="Microsoft YaHei"/>
                <a:ea typeface="Microsoft YaHei"/>
              </a:rPr>
              <a:t>架构设计与关键技术</a:t>
            </a:r>
            <a:endParaRPr dirty="0"/>
          </a:p>
        </p:txBody>
      </p:sp>
      <p:sp>
        <p:nvSpPr>
          <p:cNvPr id="975" name="文本框 974" descr="{&quot;isTemplate&quot;:true,&quot;type&quot;:&quot;text&quot;}"/>
          <p:cNvSpPr txBox="1"/>
          <p:nvPr/>
        </p:nvSpPr>
        <p:spPr>
          <a:xfrm>
            <a:off x="4200525" y="4162425"/>
            <a:ext cx="37909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38944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transparent', padding: '80px 60px 16px', flexDirection: 'column' }}&gt;&#10;    &lt;Image src=&quot;resources/images/gvp_background.jpg&quot; style={{ position: 'absolute', top: 0, left: 0, width: 1280, height: 720, objectFit: 'cover', }} /&gt;&#10;    &lt;Box style={{ zIndex: 1, height: 44, flexDirection: 'column', gap: 2, justifyContent: 'center' }}&gt;&#10;        &lt;Box style={{ flexDirection: 'row', alignItems: 'center', gap: 10 }}&gt;&#10;            &lt;Text style={{ fontSize: 28, fontWeight: 'bold', color: '#1E293B' }}&gt;实时交互全链路 Pipeline&lt;/Text&gt;&#10;            &lt;Box style={{ background: 'rgba(37, 99, 235, 0.12)', borderRadius: 4, padding: '2px 10px' }}&gt;&#10;                &lt;Text style={{ fontSize: 12, color: '#2563EB', fontWeight: 'bold' }}&gt;流程图&lt;/Text&gt;&#10;            &lt;/Box&gt;&#10;        &lt;/Box&gt;&#10;        &lt;Text style={{ fontSize: 13, color: '#475569' }}&gt;从用户请求到浏览器渲染 · 音频直通 / 文本经 LLM+TTS · 全链路流式低延迟&lt;/Text&gt;&#10;    &lt;/Box&gt;&#10;&#10;    &lt;Box style={{ zIndex: 1, flex: 1, flexDirection: 'column', alignItems: 'center', justifyContent: 'center', gap: 4, marginTop: 4 }}&gt;&#10;&#10;        &lt;Box style={{ width: 180, height: 42, background: 'rgba(37, 99, 235, 0.1)', borderRadius: 8, flexDirection: 'row', alignItems: 'center', justifyContent: 'center', gap: 8, border: '2px solid rgba(37, 99, 235, 0.4)' }}&gt;&#10;            &lt;Box style={{ width: 22, height: 22, borderRadius: 11, background: '#2563EB', justifyContent: 'center', alignItems: 'center' }}&gt;&#10;                &lt;Text style={{ fontSize: 11, fontWeight: 'bold', color: '#FFFFFF' }}&gt;1&lt;/Text&gt;&#10;            &lt;/Box&gt;&#10;            &lt;Text style={{ fontSize: 16, fontWeight: 'bold', color: '#2563EB' }}&gt;Client&lt;/Text&gt;&#10;            &lt;Text style={{ fontSize: 13, color: '#475569' }}&gt;前端用户&lt;/Text&gt;&#10;        &lt;/Box&gt;&#10;&#10;        &lt;Box style={{ flexDirection: 'row', gap: 56, alignItems: 'flex-start' }}&gt;&#10;&#10;            &lt;Box style={{ flexDirection: 'column', alignItems: 'center', gap: 3 }}&gt;&#10;                &lt;Text style={{ fontSize: 13, color: '#0891B2', fontWeight: 'bold' }}&gt;音频流&lt;/Text&gt;&#10;                &lt;Text style={{ fontSize: 18, color: '#0891B2' }}&gt;↓&lt;/Text&gt;&#10;                &lt;Text style={{ fontSize: 12, color: '#0891B2' }}&gt;PCM 直通&lt;/Text&gt;&#10;                &lt;Text style={{ fontSize: 12, color: '#475569' }}&gt;(无 LLM/TTS)&lt;/Text&gt;&#10;                &lt;Text style={{ fontSize: 18, color: '#0891B2' }}&gt;↓&lt;/Text&gt;&#10;            &lt;/Box&gt;&#10;&#10;            &lt;Box style={{ flexDirection: 'column', alignItems: 'center', gap: 4 }}&gt;&#10;                &lt;Text style={{ fontSize: 13, color: '#2563EB', fontWeight: 'bold' }}&gt;文本&lt;/Text&gt;&#10;                &lt;Text style={{ fontSize: 18, color: '#2563EB' }}&gt;↓&lt;/Text&gt;&#10;                &lt;Box style={{ flexDirection: 'row', gap: 6, alignItems: 'center' }}&gt;&#10;&#10;                    &lt;Box style={{ width: 112, height: 44, background: 'rgba(37, 99, 235, 0.06)', borderRadius: 6, flexDirection: 'column', alignItems: 'center', justifyContent: 'center', gap: 2, border: '1px solid rgba(37, 99, 235, 0.3)' }}&gt;&#10;                        &lt;Box style={{ flexDirection: 'row', alignItems: 'center', gap: 4 }}&gt;&#10;                            &lt;Box style={{ width: 20, height: 20, borderRadius: 10, background: '#2563EB', justifyContent: 'center', alignItems: 'center' }}&gt;&#10;                                &lt;Text style={{ fontSize: 10, fontWeight: 'bold', color: '#FFFFFF' }}&gt;2&lt;/Text&gt;&#10;                            &lt;/Box&gt;&#10;                            &lt;Text style={{ fontSize: 16, fontWeight: 'bold', color: '#2563EB' }}&gt;LLM&lt;/Text&gt;&#10;                        &lt;/Box&gt;&#10;                        &lt;Text style={{ fontSize: 13, color: '#475569' }}&gt;yield chunk&lt;/Text&gt;&#10;                    &lt;/Box&gt;&#10;                    &lt;Text style={{ fontSize: 15, color: '#94A3B8' }}&gt;→&lt;/Text&gt;&#10;&#10;                    &lt;Box style={{ width: 112, height: 44, background: 'rgba(37, 99, 235, 0.06)', borderRadius: 6, flexDirection: 'column', alignItems: 'center', justifyContent: 'center', gap: 2, border: '1px solid rgba(37, 99, 235, 0.3)' }}&gt;&#10;                        &lt;Box style={{ flexDirection: 'row', alignItems: 'center', gap: 4 }}&gt;&#10;                            &lt;Box style={{ width: 20, height: 20, borderRadius: 10, background: '#2563EB', justifyContent: 'center', alignItems: 'center' }}&gt;&#10;                                &lt;Text style={{ fontSize: 10, fontWeight: 'bold', color: '#FFFFFF' }}&gt;3&lt;/Text&gt;&#10;                            &lt;/Box&gt;&#10;                            &lt;Text style={{ fontSize: 16, fontWeight: 'bold', color: '#2563EB' }}&gt;TTS&lt;/Text&gt;&#10;                        &lt;/Box&gt;&#10;                        &lt;Text style={{ fontSize: 13, color: '#475569' }}&gt;PCM 16KHz&lt;/Text&gt;&#10;                    &lt;/Box&gt;&#10;                &lt;/Box&gt;&#10;                &lt;Text style={{ fontSize: 18, color: '#2563EB' }}&gt;↓&lt;/Text&gt;&#10;            &lt;/Box&gt;&#10;        &lt;/Box&gt;&#10;&#10;        &lt;Box style={{ width: 280, height: 42, background: 'rgba(8, 145, 178, 0.1)', borderRadius: 8, flexDirection: 'row', alignItems: 'center', justifyContent: 'center', gap: 8, border: '2px solid rgba(8, 145, 178, 0.4)' }}&gt;&#10;            &lt;Box style={{ width: 22, height: 22, borderRadius: 11, background: '#0891B2', justifyContent: 'center', alignItems: 'center' }}&gt;&#10;                &lt;Text style={{ fontSize: 11, fontWeight: 'bold', color: '#FFFFFF' }}&gt;4&lt;/Text&gt;&#10;            &lt;/Box&gt;&#10;            &lt;Text style={{ fontSize: 16, fontWeight: 'bold', color: '#0891B2' }}&gt;Audio Feat&lt;/Text&gt;&#10;            &lt;Text style={{ fontSize: 13, color: '#475569' }}&gt;Mel / Whisper 特征提取&lt;/Text&gt;&#10;        &lt;/Box&gt;&#10;&#10;        &lt;Text style={{ fontSize: 18, color: '#94A3B8' }}&gt;↓&lt;/Text&gt;&#10;&#10;        &lt;Box style={{ width: 440, height: 42, background: 'rgba(255, 255, 255, 0.85)', borderRadius: 8, flexDirection: 'row', alignItems: 'center', gap: 10, border: '1px solid rgba(203, 213, 225, 0.5)', padding: '0 14px' }}&gt;&#10;            &lt;Box style={{ width: 22, height: 22, borderRadius: 11, background: '#2563EB', justifyContent: 'center', alignItems: 'center' }}&gt;&#10;                &lt;Text style={{ fontSize: 11, fontWeight: 'bold', color: '#FFFFFF' }}&gt;5&lt;/Text&gt;&#10;            &lt;/Box&gt;&#10;            &lt;Text style={{ fontSize: 16, fontWeight: 'bold', color: '#1E293B' }}&gt;GPU 推理&lt;/Text&gt;&#10;            &lt;Text style={{ fontSize: 13, color: '#475569' }}&gt;音频特征 + 静态图/帧 → Crop 面部区域&lt;/Text&gt;&#10;        &lt;/Box&gt;&#10;&#10;        &lt;Text style={{ fontSize: 18, color: '#94A3B8' }}&gt;↓&lt;/Text&gt;&#10;&#10;        &lt;Box style={{ width: 440, height: 42, background: 'rgba(255, 255, 255, 0.85)', borderRadius: 8, flexDirection: 'row', alignItems: 'center', gap: 10, border: '1px solid rgba(203, 213, 225, 0.5)', padding: '0 14px' }}&gt;&#10;            &lt;Box style={{ width: 22, height: 22, borderRadius: 11, background: '#0891B2', justifyContent: 'center', alignItems: 'center' }}&gt;&#10;                &lt;Text style={{ fontSize: 11, fontWeight: 'bold', color: '#FFFFFF' }}&gt;6&lt;/Text&gt;&#10;            &lt;/Box&gt;&#10;            &lt;Text style={{ fontSize: 16, fontWeight: 'bold', color: '#1E293B' }}&gt;合帧处理&lt;/Text&gt;&#10;            &lt;Text style={{ fontSize: 13, color: '#475569' }}&gt;贴回全尺寸背景 · Alpha 融合 · 防抖&lt;/Text&gt;&#10;        &lt;/Box&gt;&#10;&#10;        &lt;Text style={{ fontSize: 18, color: '#94A3B8' }}&gt;↓&lt;/Text&gt;&#10;&#10;        &lt;Box style={{ width: 440, height: 42, background: 'rgba(255, 255, 255, 0.85)', borderRadius: 8, flexDirection: 'row', alignItems: 'center', gap: 10, border: '1px solid rgba(203, 213, 225, 0.5)', padding: '0 14px' }}&gt;&#10;            &lt;Box style={{ width: 22, height: 22, borderRadius: 11, background: '#2563EB', justifyContent: 'center', alignItems: 'center' }}&gt;&#10;                &lt;Text style={{ fontSize: 11, fontWeight: 'bold', color: '#FFFFFF' }}&gt;7&lt;/Text&gt;&#10;            &lt;/Box&gt;&#10;            &lt;Text style={{ fontSize: 16, fontWeight: 'bold', color: '#1E293B' }}&gt;推流输出&lt;/Text&gt;&#10;            &lt;Text style={{ fontSize: 13, color: '#475569' }}&gt;每帧+40ms 音频 → RTP → WebRTC&lt;/Text&gt;&#10;        &lt;/Box&gt;&#10;&#10;        &lt;Text style={{ fontSize: 18, color: '#94A3B8' }}&gt;↓&lt;/Text&gt;&#10;&#10;        &lt;Box style={{ width: 180, height: 42, background: 'rgba(37, 99, 235, 0.1)', borderRadius: 8, flexDirection: 'row', alignItems: 'center', justifyContent: 'center', gap: 8, border: '2px solid rgba(37, 99, 235, 0.4)' }}&gt;&#10;            &lt;Text style={{ fontSize: 16, fontWeight: 'bold', color: '#2563EB' }}&gt;Client&lt;/Text&gt;&#10;            &lt;Text style={{ fontSize: 13, color: '#475569' }}&gt;浏览器渲染&lt;/Text&gt;&#10;        &lt;/Box&gt;&#10;    &lt;/Box&gt;&#10;&#10;    &lt;Box style={{ zIndex: 1, height: 24, flexDirection: 'row', justifyContent: 'center', alignItems: 'center', marginTop: 4 }}&gt;&#10;        &lt;Text style={{ fontSize: 13, color: '#475569' }}&gt;流式架构：边生成 · 边推理 · 边推流 · TTS 不等整句合成 · 推理按帧写入推流管道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0" name="图片 120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211" name="文本框 1210" descr="{&quot;isTemplate&quot;:true,&quot;type&quot;:&quot;text&quot;}"/>
          <p:cNvSpPr txBox="1"/>
          <p:nvPr/>
        </p:nvSpPr>
        <p:spPr>
          <a:xfrm>
            <a:off x="571500" y="723900"/>
            <a:ext cx="2962275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E293B"/>
                </a:solidFill>
                <a:latin typeface="Microsoft YaHei"/>
                <a:ea typeface="Microsoft YaHei"/>
              </a:rPr>
              <a:t>实时交互全链路</a:t>
            </a:r>
            <a:r>
              <a:rPr lang="en-US" sz="2100" b="1">
                <a:solidFill>
                  <a:srgbClr val="1E293B"/>
                </a:solidFill>
                <a:latin typeface="Microsoft YaHei"/>
                <a:ea typeface="Microsoft YaHei"/>
              </a:rPr>
              <a:t> Pipeline</a:t>
            </a:r>
            <a:endParaRPr/>
          </a:p>
        </p:txBody>
      </p:sp>
      <p:sp>
        <p:nvSpPr>
          <p:cNvPr id="1212" name="圆角矩形 1211"/>
          <p:cNvSpPr/>
          <p:nvPr/>
        </p:nvSpPr>
        <p:spPr>
          <a:xfrm>
            <a:off x="3629025" y="800100"/>
            <a:ext cx="533400" cy="180975"/>
          </a:xfrm>
          <a:prstGeom prst="roundRect">
            <a:avLst>
              <a:gd name="adj" fmla="val 21053"/>
            </a:avLst>
          </a:prstGeom>
          <a:solidFill>
            <a:srgbClr val="2563EB">
              <a:alpha val="1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13" name="文本框 1212" descr="{&quot;isTemplate&quot;:true,&quot;type&quot;:&quot;text&quot;}"/>
          <p:cNvSpPr txBox="1"/>
          <p:nvPr/>
        </p:nvSpPr>
        <p:spPr>
          <a:xfrm>
            <a:off x="3724275" y="819150"/>
            <a:ext cx="3429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2563EB"/>
                </a:solidFill>
                <a:latin typeface="Microsoft YaHei"/>
                <a:ea typeface="Microsoft YaHei"/>
              </a:rPr>
              <a:t>流程图</a:t>
            </a:r>
            <a:endParaRPr/>
          </a:p>
        </p:txBody>
      </p:sp>
      <p:sp>
        <p:nvSpPr>
          <p:cNvPr id="1214" name="文本框 1213" descr="{&quot;isTemplate&quot;:true,&quot;type&quot;:&quot;text&quot;}"/>
          <p:cNvSpPr txBox="1"/>
          <p:nvPr/>
        </p:nvSpPr>
        <p:spPr>
          <a:xfrm>
            <a:off x="571500" y="1066800"/>
            <a:ext cx="110490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从用户请求到浏览器渲染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音频直通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文本经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LLM+TTS ·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全链路流式低延迟</a:t>
            </a:r>
            <a:endParaRPr/>
          </a:p>
        </p:txBody>
      </p:sp>
      <p:sp>
        <p:nvSpPr>
          <p:cNvPr id="1215" name="圆角矩形 1214"/>
          <p:cNvSpPr/>
          <p:nvPr/>
        </p:nvSpPr>
        <p:spPr>
          <a:xfrm>
            <a:off x="5238750" y="1466850"/>
            <a:ext cx="1714500" cy="400050"/>
          </a:xfrm>
          <a:prstGeom prst="roundRect">
            <a:avLst>
              <a:gd name="adj" fmla="val 19048"/>
            </a:avLst>
          </a:prstGeom>
          <a:solidFill>
            <a:srgbClr val="2563EB">
              <a:alpha val="10000"/>
            </a:srgbClr>
          </a:solidFill>
          <a:ln w="25400">
            <a:solidFill>
              <a:srgbClr val="2563EB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16" name="圆角矩形 1215"/>
          <p:cNvSpPr/>
          <p:nvPr/>
        </p:nvSpPr>
        <p:spPr>
          <a:xfrm>
            <a:off x="5457825" y="156210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17" name="文本框 1216" descr="{&quot;isTemplate&quot;:true,&quot;type&quot;:&quot;text&quot;}"/>
          <p:cNvSpPr txBox="1"/>
          <p:nvPr/>
        </p:nvSpPr>
        <p:spPr>
          <a:xfrm>
            <a:off x="5534025" y="1600200"/>
            <a:ext cx="66675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218" name="文本框 1217" descr="{&quot;isTemplate&quot;:true,&quot;type&quot;:&quot;text&quot;}"/>
          <p:cNvSpPr txBox="1"/>
          <p:nvPr/>
        </p:nvSpPr>
        <p:spPr>
          <a:xfrm>
            <a:off x="5743575" y="1571625"/>
            <a:ext cx="42862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563EB"/>
                </a:solidFill>
                <a:latin typeface="Microsoft YaHei"/>
                <a:ea typeface="Microsoft YaHei"/>
              </a:rPr>
              <a:t>Client</a:t>
            </a:r>
            <a:endParaRPr/>
          </a:p>
        </p:txBody>
      </p:sp>
      <p:sp>
        <p:nvSpPr>
          <p:cNvPr id="1219" name="文本框 1218" descr="{&quot;isTemplate&quot;:true,&quot;type&quot;:&quot;text&quot;}"/>
          <p:cNvSpPr txBox="1"/>
          <p:nvPr/>
        </p:nvSpPr>
        <p:spPr>
          <a:xfrm>
            <a:off x="6248400" y="1590675"/>
            <a:ext cx="4953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前端用户</a:t>
            </a:r>
            <a:endParaRPr/>
          </a:p>
        </p:txBody>
      </p:sp>
      <p:sp>
        <p:nvSpPr>
          <p:cNvPr id="1220" name="文本框 1219" descr="{&quot;isTemplate&quot;:true,&quot;type&quot;:&quot;text&quot;}"/>
          <p:cNvSpPr txBox="1"/>
          <p:nvPr/>
        </p:nvSpPr>
        <p:spPr>
          <a:xfrm>
            <a:off x="4457700" y="1905000"/>
            <a:ext cx="3714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891B2"/>
                </a:solidFill>
                <a:latin typeface="Microsoft YaHei"/>
                <a:ea typeface="Microsoft YaHei"/>
              </a:rPr>
              <a:t>音频流</a:t>
            </a:r>
            <a:endParaRPr/>
          </a:p>
        </p:txBody>
      </p:sp>
      <p:sp>
        <p:nvSpPr>
          <p:cNvPr id="1221" name="文本框 1220" descr="{&quot;isTemplate&quot;:true,&quot;type&quot;:&quot;text&quot;}"/>
          <p:cNvSpPr txBox="1"/>
          <p:nvPr/>
        </p:nvSpPr>
        <p:spPr>
          <a:xfrm>
            <a:off x="4600575" y="2085975"/>
            <a:ext cx="8572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350">
                <a:solidFill>
                  <a:srgbClr val="0891B2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1222" name="文本框 1221" descr="{&quot;isTemplate&quot;:true,&quot;type&quot;:&quot;text&quot;}"/>
          <p:cNvSpPr txBox="1"/>
          <p:nvPr/>
        </p:nvSpPr>
        <p:spPr>
          <a:xfrm>
            <a:off x="4381500" y="2324100"/>
            <a:ext cx="52387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0891B2"/>
                </a:solidFill>
                <a:latin typeface="Microsoft YaHei"/>
                <a:ea typeface="Microsoft YaHei"/>
              </a:rPr>
              <a:t>PCM </a:t>
            </a:r>
            <a:r>
              <a:rPr lang="zh-CN" sz="900">
                <a:solidFill>
                  <a:srgbClr val="0891B2"/>
                </a:solidFill>
                <a:latin typeface="Microsoft YaHei"/>
                <a:ea typeface="Microsoft YaHei"/>
              </a:rPr>
              <a:t>直通</a:t>
            </a:r>
            <a:endParaRPr/>
          </a:p>
        </p:txBody>
      </p:sp>
      <p:sp>
        <p:nvSpPr>
          <p:cNvPr id="1223" name="文本框 1222" descr="{&quot;isTemplate&quot;:true,&quot;type&quot;:&quot;text&quot;}"/>
          <p:cNvSpPr txBox="1"/>
          <p:nvPr/>
        </p:nvSpPr>
        <p:spPr>
          <a:xfrm>
            <a:off x="4286250" y="2495550"/>
            <a:ext cx="70485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(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无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LLM/TTS)</a:t>
            </a:r>
            <a:endParaRPr/>
          </a:p>
        </p:txBody>
      </p:sp>
      <p:sp>
        <p:nvSpPr>
          <p:cNvPr id="1224" name="文本框 1223" descr="{&quot;isTemplate&quot;:true,&quot;type&quot;:&quot;text&quot;}"/>
          <p:cNvSpPr txBox="1"/>
          <p:nvPr/>
        </p:nvSpPr>
        <p:spPr>
          <a:xfrm>
            <a:off x="4600575" y="2667000"/>
            <a:ext cx="8572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350">
                <a:solidFill>
                  <a:srgbClr val="0891B2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1225" name="文本框 1224" descr="{&quot;isTemplate&quot;:true,&quot;type&quot;:&quot;text&quot;}"/>
          <p:cNvSpPr txBox="1"/>
          <p:nvPr/>
        </p:nvSpPr>
        <p:spPr>
          <a:xfrm>
            <a:off x="6600825" y="1905000"/>
            <a:ext cx="2476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2563EB"/>
                </a:solidFill>
                <a:latin typeface="Microsoft YaHei"/>
                <a:ea typeface="Microsoft YaHei"/>
              </a:rPr>
              <a:t>文本</a:t>
            </a:r>
            <a:endParaRPr/>
          </a:p>
        </p:txBody>
      </p:sp>
      <p:sp>
        <p:nvSpPr>
          <p:cNvPr id="1226" name="文本框 1225" descr="{&quot;isTemplate&quot;:true,&quot;type&quot;:&quot;text&quot;}"/>
          <p:cNvSpPr txBox="1"/>
          <p:nvPr/>
        </p:nvSpPr>
        <p:spPr>
          <a:xfrm>
            <a:off x="6677025" y="2095500"/>
            <a:ext cx="8572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350">
                <a:solidFill>
                  <a:srgbClr val="2563EB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1227" name="圆角矩形 1226"/>
          <p:cNvSpPr/>
          <p:nvPr/>
        </p:nvSpPr>
        <p:spPr>
          <a:xfrm>
            <a:off x="5524500" y="2343150"/>
            <a:ext cx="1066800" cy="419100"/>
          </a:xfrm>
          <a:prstGeom prst="roundRect">
            <a:avLst>
              <a:gd name="adj" fmla="val 13636"/>
            </a:avLst>
          </a:prstGeom>
          <a:solidFill>
            <a:srgbClr val="2563EB">
              <a:alpha val="6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28" name="圆角矩形 1227"/>
          <p:cNvSpPr/>
          <p:nvPr/>
        </p:nvSpPr>
        <p:spPr>
          <a:xfrm>
            <a:off x="5791200" y="23717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29" name="文本框 1228" descr="{&quot;isTemplate&quot;:true,&quot;type&quot;:&quot;text&quot;}"/>
          <p:cNvSpPr txBox="1"/>
          <p:nvPr/>
        </p:nvSpPr>
        <p:spPr>
          <a:xfrm>
            <a:off x="5857875" y="2409825"/>
            <a:ext cx="57150" cy="1143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75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230" name="文本框 1229" descr="{&quot;isTemplate&quot;:true,&quot;type&quot;:&quot;text&quot;}"/>
          <p:cNvSpPr txBox="1"/>
          <p:nvPr/>
        </p:nvSpPr>
        <p:spPr>
          <a:xfrm>
            <a:off x="6019800" y="2371725"/>
            <a:ext cx="31432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563EB"/>
                </a:solidFill>
                <a:latin typeface="Microsoft YaHei"/>
                <a:ea typeface="Microsoft YaHei"/>
              </a:rPr>
              <a:t>LLM</a:t>
            </a:r>
            <a:endParaRPr/>
          </a:p>
        </p:txBody>
      </p:sp>
      <p:sp>
        <p:nvSpPr>
          <p:cNvPr id="1231" name="文本框 1230" descr="{&quot;isTemplate&quot;:true,&quot;type&quot;:&quot;text&quot;}"/>
          <p:cNvSpPr txBox="1"/>
          <p:nvPr/>
        </p:nvSpPr>
        <p:spPr>
          <a:xfrm>
            <a:off x="5724525" y="2581275"/>
            <a:ext cx="6762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yield chunk</a:t>
            </a:r>
            <a:endParaRPr/>
          </a:p>
        </p:txBody>
      </p:sp>
      <p:sp>
        <p:nvSpPr>
          <p:cNvPr id="1232" name="文本框 1231" descr="{&quot;isTemplate&quot;:true,&quot;type&quot;:&quot;text&quot;}"/>
          <p:cNvSpPr txBox="1"/>
          <p:nvPr/>
        </p:nvSpPr>
        <p:spPr>
          <a:xfrm>
            <a:off x="6648450" y="2466975"/>
            <a:ext cx="14287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125">
                <a:solidFill>
                  <a:srgbClr val="94A3B8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233" name="圆角矩形 1232"/>
          <p:cNvSpPr/>
          <p:nvPr/>
        </p:nvSpPr>
        <p:spPr>
          <a:xfrm>
            <a:off x="6848475" y="2343150"/>
            <a:ext cx="1066800" cy="419100"/>
          </a:xfrm>
          <a:prstGeom prst="roundRect">
            <a:avLst>
              <a:gd name="adj" fmla="val 13636"/>
            </a:avLst>
          </a:prstGeom>
          <a:solidFill>
            <a:srgbClr val="2563EB">
              <a:alpha val="6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34" name="圆角矩形 1233"/>
          <p:cNvSpPr/>
          <p:nvPr/>
        </p:nvSpPr>
        <p:spPr>
          <a:xfrm>
            <a:off x="7134225" y="23717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35" name="文本框 1234" descr="{&quot;isTemplate&quot;:true,&quot;type&quot;:&quot;text&quot;}"/>
          <p:cNvSpPr txBox="1"/>
          <p:nvPr/>
        </p:nvSpPr>
        <p:spPr>
          <a:xfrm>
            <a:off x="7200900" y="2409825"/>
            <a:ext cx="57150" cy="1143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75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1236" name="文本框 1235" descr="{&quot;isTemplate&quot;:true,&quot;type&quot;:&quot;text&quot;}"/>
          <p:cNvSpPr txBox="1"/>
          <p:nvPr/>
        </p:nvSpPr>
        <p:spPr>
          <a:xfrm>
            <a:off x="7362825" y="2371725"/>
            <a:ext cx="2667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563EB"/>
                </a:solidFill>
                <a:latin typeface="Microsoft YaHei"/>
                <a:ea typeface="Microsoft YaHei"/>
              </a:rPr>
              <a:t>TTS</a:t>
            </a:r>
            <a:endParaRPr/>
          </a:p>
        </p:txBody>
      </p:sp>
      <p:sp>
        <p:nvSpPr>
          <p:cNvPr id="1237" name="文本框 1236" descr="{&quot;isTemplate&quot;:true,&quot;type&quot;:&quot;text&quot;}"/>
          <p:cNvSpPr txBox="1"/>
          <p:nvPr/>
        </p:nvSpPr>
        <p:spPr>
          <a:xfrm>
            <a:off x="7029450" y="2581275"/>
            <a:ext cx="7048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PCM 16KHz</a:t>
            </a:r>
            <a:endParaRPr/>
          </a:p>
        </p:txBody>
      </p:sp>
      <p:sp>
        <p:nvSpPr>
          <p:cNvPr id="1238" name="文本框 1237" descr="{&quot;isTemplate&quot;:true,&quot;type&quot;:&quot;text&quot;}"/>
          <p:cNvSpPr txBox="1"/>
          <p:nvPr/>
        </p:nvSpPr>
        <p:spPr>
          <a:xfrm>
            <a:off x="6677025" y="2800350"/>
            <a:ext cx="8572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350">
                <a:solidFill>
                  <a:srgbClr val="2563EB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1239" name="圆角矩形 1238"/>
          <p:cNvSpPr/>
          <p:nvPr/>
        </p:nvSpPr>
        <p:spPr>
          <a:xfrm>
            <a:off x="4762500" y="3048000"/>
            <a:ext cx="2667000" cy="400050"/>
          </a:xfrm>
          <a:prstGeom prst="roundRect">
            <a:avLst>
              <a:gd name="adj" fmla="val 19048"/>
            </a:avLst>
          </a:prstGeom>
          <a:solidFill>
            <a:srgbClr val="0891B2">
              <a:alpha val="10000"/>
            </a:srgbClr>
          </a:solidFill>
          <a:ln w="25400">
            <a:solidFill>
              <a:srgbClr val="0891B2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40" name="圆角矩形 1239"/>
          <p:cNvSpPr/>
          <p:nvPr/>
        </p:nvSpPr>
        <p:spPr>
          <a:xfrm>
            <a:off x="4838700" y="314325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41" name="文本框 1240" descr="{&quot;isTemplate&quot;:true,&quot;type&quot;:&quot;text&quot;}"/>
          <p:cNvSpPr txBox="1"/>
          <p:nvPr/>
        </p:nvSpPr>
        <p:spPr>
          <a:xfrm>
            <a:off x="4914900" y="3181350"/>
            <a:ext cx="66675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1242" name="文本框 1241" descr="{&quot;isTemplate&quot;:true,&quot;type&quot;:&quot;text&quot;}"/>
          <p:cNvSpPr txBox="1"/>
          <p:nvPr/>
        </p:nvSpPr>
        <p:spPr>
          <a:xfrm>
            <a:off x="5124450" y="3152775"/>
            <a:ext cx="7905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891B2"/>
                </a:solidFill>
                <a:latin typeface="Microsoft YaHei"/>
                <a:ea typeface="Microsoft YaHei"/>
              </a:rPr>
              <a:t>Audio Feat</a:t>
            </a:r>
            <a:endParaRPr/>
          </a:p>
        </p:txBody>
      </p:sp>
      <p:sp>
        <p:nvSpPr>
          <p:cNvPr id="1243" name="文本框 1242" descr="{&quot;isTemplate&quot;:true,&quot;type&quot;:&quot;text&quot;}"/>
          <p:cNvSpPr txBox="1"/>
          <p:nvPr/>
        </p:nvSpPr>
        <p:spPr>
          <a:xfrm>
            <a:off x="5991225" y="3171825"/>
            <a:ext cx="13716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Mel / Whisper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特征提取</a:t>
            </a:r>
            <a:endParaRPr/>
          </a:p>
        </p:txBody>
      </p:sp>
      <p:sp>
        <p:nvSpPr>
          <p:cNvPr id="1244" name="文本框 1243" descr="{&quot;isTemplate&quot;:true,&quot;type&quot;:&quot;text&quot;}"/>
          <p:cNvSpPr txBox="1"/>
          <p:nvPr/>
        </p:nvSpPr>
        <p:spPr>
          <a:xfrm>
            <a:off x="6057900" y="3486150"/>
            <a:ext cx="8572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350">
                <a:solidFill>
                  <a:srgbClr val="94A3B8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1245" name="圆角矩形 1244"/>
          <p:cNvSpPr/>
          <p:nvPr/>
        </p:nvSpPr>
        <p:spPr>
          <a:xfrm>
            <a:off x="4000500" y="3733800"/>
            <a:ext cx="4191000" cy="400050"/>
          </a:xfrm>
          <a:prstGeom prst="roundRect">
            <a:avLst>
              <a:gd name="adj" fmla="val 19048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CBD5E1">
                <a:alpha val="5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46" name="圆角矩形 1245"/>
          <p:cNvSpPr/>
          <p:nvPr/>
        </p:nvSpPr>
        <p:spPr>
          <a:xfrm>
            <a:off x="4133850" y="382905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47" name="文本框 1246" descr="{&quot;isTemplate&quot;:true,&quot;type&quot;:&quot;text&quot;}"/>
          <p:cNvSpPr txBox="1"/>
          <p:nvPr/>
        </p:nvSpPr>
        <p:spPr>
          <a:xfrm>
            <a:off x="4210050" y="3867150"/>
            <a:ext cx="66675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1248" name="文本框 1247" descr="{&quot;isTemplate&quot;:true,&quot;type&quot;:&quot;text&quot;}"/>
          <p:cNvSpPr txBox="1"/>
          <p:nvPr/>
        </p:nvSpPr>
        <p:spPr>
          <a:xfrm>
            <a:off x="4438650" y="3838575"/>
            <a:ext cx="6762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293B"/>
                </a:solidFill>
                <a:latin typeface="Microsoft YaHei"/>
                <a:ea typeface="Microsoft YaHei"/>
              </a:rPr>
              <a:t>GPU </a:t>
            </a:r>
            <a:r>
              <a:rPr lang="zh-CN" sz="1200" b="1">
                <a:solidFill>
                  <a:srgbClr val="1E293B"/>
                </a:solidFill>
                <a:latin typeface="Microsoft YaHei"/>
                <a:ea typeface="Microsoft YaHei"/>
              </a:rPr>
              <a:t>推理</a:t>
            </a:r>
            <a:endParaRPr/>
          </a:p>
        </p:txBody>
      </p:sp>
      <p:sp>
        <p:nvSpPr>
          <p:cNvPr id="1249" name="文本框 1248" descr="{&quot;isTemplate&quot;:true,&quot;type&quot;:&quot;text&quot;}"/>
          <p:cNvSpPr txBox="1"/>
          <p:nvPr/>
        </p:nvSpPr>
        <p:spPr>
          <a:xfrm>
            <a:off x="5210175" y="3857625"/>
            <a:ext cx="22288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音频特征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+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静态图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/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帧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→ Crop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面部区域</a:t>
            </a:r>
            <a:endParaRPr/>
          </a:p>
        </p:txBody>
      </p:sp>
      <p:sp>
        <p:nvSpPr>
          <p:cNvPr id="1250" name="文本框 1249" descr="{&quot;isTemplate&quot;:true,&quot;type&quot;:&quot;text&quot;}"/>
          <p:cNvSpPr txBox="1"/>
          <p:nvPr/>
        </p:nvSpPr>
        <p:spPr>
          <a:xfrm>
            <a:off x="6057900" y="4171950"/>
            <a:ext cx="8572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350">
                <a:solidFill>
                  <a:srgbClr val="94A3B8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1251" name="圆角矩形 1250"/>
          <p:cNvSpPr/>
          <p:nvPr/>
        </p:nvSpPr>
        <p:spPr>
          <a:xfrm>
            <a:off x="4000500" y="4419600"/>
            <a:ext cx="4191000" cy="400050"/>
          </a:xfrm>
          <a:prstGeom prst="roundRect">
            <a:avLst>
              <a:gd name="adj" fmla="val 19048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CBD5E1">
                <a:alpha val="5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52" name="圆角矩形 1251"/>
          <p:cNvSpPr/>
          <p:nvPr/>
        </p:nvSpPr>
        <p:spPr>
          <a:xfrm>
            <a:off x="4133850" y="451485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53" name="文本框 1252" descr="{&quot;isTemplate&quot;:true,&quot;type&quot;:&quot;text&quot;}"/>
          <p:cNvSpPr txBox="1"/>
          <p:nvPr/>
        </p:nvSpPr>
        <p:spPr>
          <a:xfrm>
            <a:off x="4210050" y="4552950"/>
            <a:ext cx="66675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6</a:t>
            </a:r>
            <a:endParaRPr/>
          </a:p>
        </p:txBody>
      </p:sp>
      <p:sp>
        <p:nvSpPr>
          <p:cNvPr id="1254" name="文本框 1253" descr="{&quot;isTemplate&quot;:true,&quot;type&quot;:&quot;text&quot;}"/>
          <p:cNvSpPr txBox="1"/>
          <p:nvPr/>
        </p:nvSpPr>
        <p:spPr>
          <a:xfrm>
            <a:off x="4438650" y="4524375"/>
            <a:ext cx="6096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293B"/>
                </a:solidFill>
                <a:latin typeface="Microsoft YaHei"/>
                <a:ea typeface="Microsoft YaHei"/>
              </a:rPr>
              <a:t>合帧处理</a:t>
            </a:r>
            <a:endParaRPr/>
          </a:p>
        </p:txBody>
      </p:sp>
      <p:sp>
        <p:nvSpPr>
          <p:cNvPr id="1255" name="文本框 1254" descr="{&quot;isTemplate&quot;:true,&quot;type&quot;:&quot;text&quot;}"/>
          <p:cNvSpPr txBox="1"/>
          <p:nvPr/>
        </p:nvSpPr>
        <p:spPr>
          <a:xfrm>
            <a:off x="5143500" y="4543425"/>
            <a:ext cx="19526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贴回全尺寸背景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· Alpha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融合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防抖</a:t>
            </a:r>
            <a:endParaRPr/>
          </a:p>
        </p:txBody>
      </p:sp>
      <p:sp>
        <p:nvSpPr>
          <p:cNvPr id="1256" name="文本框 1255" descr="{&quot;isTemplate&quot;:true,&quot;type&quot;:&quot;text&quot;}"/>
          <p:cNvSpPr txBox="1"/>
          <p:nvPr/>
        </p:nvSpPr>
        <p:spPr>
          <a:xfrm>
            <a:off x="6057900" y="4857750"/>
            <a:ext cx="8572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350">
                <a:solidFill>
                  <a:srgbClr val="94A3B8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1257" name="圆角矩形 1256"/>
          <p:cNvSpPr/>
          <p:nvPr/>
        </p:nvSpPr>
        <p:spPr>
          <a:xfrm>
            <a:off x="4000500" y="5105400"/>
            <a:ext cx="4191000" cy="400050"/>
          </a:xfrm>
          <a:prstGeom prst="roundRect">
            <a:avLst>
              <a:gd name="adj" fmla="val 19048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CBD5E1">
                <a:alpha val="5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58" name="圆角矩形 1257"/>
          <p:cNvSpPr/>
          <p:nvPr/>
        </p:nvSpPr>
        <p:spPr>
          <a:xfrm>
            <a:off x="4133850" y="520065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59" name="文本框 1258" descr="{&quot;isTemplate&quot;:true,&quot;type&quot;:&quot;text&quot;}"/>
          <p:cNvSpPr txBox="1"/>
          <p:nvPr/>
        </p:nvSpPr>
        <p:spPr>
          <a:xfrm>
            <a:off x="4210050" y="5238750"/>
            <a:ext cx="66675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7</a:t>
            </a:r>
            <a:endParaRPr/>
          </a:p>
        </p:txBody>
      </p:sp>
      <p:sp>
        <p:nvSpPr>
          <p:cNvPr id="1260" name="文本框 1259" descr="{&quot;isTemplate&quot;:true,&quot;type&quot;:&quot;text&quot;}"/>
          <p:cNvSpPr txBox="1"/>
          <p:nvPr/>
        </p:nvSpPr>
        <p:spPr>
          <a:xfrm>
            <a:off x="4438650" y="5210175"/>
            <a:ext cx="6096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293B"/>
                </a:solidFill>
                <a:latin typeface="Microsoft YaHei"/>
                <a:ea typeface="Microsoft YaHei"/>
              </a:rPr>
              <a:t>推流输出</a:t>
            </a:r>
            <a:endParaRPr/>
          </a:p>
        </p:txBody>
      </p:sp>
      <p:sp>
        <p:nvSpPr>
          <p:cNvPr id="1261" name="文本框 1260" descr="{&quot;isTemplate&quot;:true,&quot;type&quot;:&quot;text&quot;}"/>
          <p:cNvSpPr txBox="1"/>
          <p:nvPr/>
        </p:nvSpPr>
        <p:spPr>
          <a:xfrm>
            <a:off x="5143500" y="5229225"/>
            <a:ext cx="20669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每帧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+40ms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音频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→ RTP → WebRTC</a:t>
            </a:r>
            <a:endParaRPr/>
          </a:p>
        </p:txBody>
      </p:sp>
      <p:sp>
        <p:nvSpPr>
          <p:cNvPr id="1262" name="文本框 1261" descr="{&quot;isTemplate&quot;:true,&quot;type&quot;:&quot;text&quot;}"/>
          <p:cNvSpPr txBox="1"/>
          <p:nvPr/>
        </p:nvSpPr>
        <p:spPr>
          <a:xfrm>
            <a:off x="6057900" y="5543550"/>
            <a:ext cx="8572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350">
                <a:solidFill>
                  <a:srgbClr val="94A3B8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1263" name="圆角矩形 1262"/>
          <p:cNvSpPr/>
          <p:nvPr/>
        </p:nvSpPr>
        <p:spPr>
          <a:xfrm>
            <a:off x="5238750" y="5791200"/>
            <a:ext cx="1714500" cy="400050"/>
          </a:xfrm>
          <a:prstGeom prst="roundRect">
            <a:avLst>
              <a:gd name="adj" fmla="val 19048"/>
            </a:avLst>
          </a:prstGeom>
          <a:solidFill>
            <a:srgbClr val="2563EB">
              <a:alpha val="10000"/>
            </a:srgbClr>
          </a:solidFill>
          <a:ln w="25400">
            <a:solidFill>
              <a:srgbClr val="2563EB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64" name="文本框 1263" descr="{&quot;isTemplate&quot;:true,&quot;type&quot;:&quot;text&quot;}"/>
          <p:cNvSpPr txBox="1"/>
          <p:nvPr/>
        </p:nvSpPr>
        <p:spPr>
          <a:xfrm>
            <a:off x="5534025" y="5895975"/>
            <a:ext cx="42862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563EB"/>
                </a:solidFill>
                <a:latin typeface="Microsoft YaHei"/>
                <a:ea typeface="Microsoft YaHei"/>
              </a:rPr>
              <a:t>Client</a:t>
            </a:r>
            <a:endParaRPr/>
          </a:p>
        </p:txBody>
      </p:sp>
      <p:sp>
        <p:nvSpPr>
          <p:cNvPr id="1265" name="文本框 1264" descr="{&quot;isTemplate&quot;:true,&quot;type&quot;:&quot;text&quot;}"/>
          <p:cNvSpPr txBox="1"/>
          <p:nvPr/>
        </p:nvSpPr>
        <p:spPr>
          <a:xfrm>
            <a:off x="6038850" y="5915025"/>
            <a:ext cx="6191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浏览器渲染</a:t>
            </a:r>
            <a:endParaRPr/>
          </a:p>
        </p:txBody>
      </p:sp>
      <p:sp>
        <p:nvSpPr>
          <p:cNvPr id="1266" name="文本框 1265" descr="{&quot;isTemplate&quot;:true,&quot;type&quot;:&quot;text&quot;}"/>
          <p:cNvSpPr txBox="1"/>
          <p:nvPr/>
        </p:nvSpPr>
        <p:spPr>
          <a:xfrm>
            <a:off x="3905250" y="6515100"/>
            <a:ext cx="43815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流式架构：边生成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边推理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边推流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· TTS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不等整句合成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推理按帧写入推流管道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transparent', padding: '90px 72px 16px', flexDirection: 'column' }}&gt;&#10;    &lt;Image src=&quot;resources/images/gvp_background.jpg&quot; style={{ position: 'absolute', top: 0, left: 0, width: 1280, height: 720, objectFit: 'cover', }} /&gt;&#10;    &lt;Box style={{ zIndex: 1,  height: 100, flexDirection: 'column', gap: 4, justifyContent: 'center' }}&gt;&#10;        &lt;Text style={{ fontSize: 36, fontWeight: 'bold', color: '#1E293B' }}&gt;LiveTalking 项目概览&lt;/Text&gt;&#10;        &lt;Text style={{ fontSize: 16, color: '#475569' }}&gt;实时交互流式数字人引擎 · Apache 2.0 开源&lt;/Text&gt;&#10;    &lt;/Box&gt;&#10;    &lt;Box style={{ zIndex: 1,  flexDirection: 'row', gap: 16, marginTop: 16, flex: 1 }}&gt;&#10;        &lt;Box style={{ flex: 1, background: 'rgba(255, 255, 255, 0.78)', borderRadius: 12, padding: 18, flexDirection: 'column', gap: 8, border: '1px solid rgba(203, 213, 225, 0.4)' }}&gt;&#10;            &lt;Box style={{ flexDirection: 'row', alignItems: 'center', gap: 8 }}&gt;&#10;                &lt;Image src='resources/images/icons/icon_cog_2563EB.png' style={{ width: 18, height: 18 }} /&gt;&#10;                &lt;Text style={{ fontSize: 16, fontWeight: 'bold', color: '#1E293B' }}&gt;插件化系统&lt;/Text&gt;&#10;            &lt;/Box&gt;&#10;            &lt;Text style={{ fontSize: 13, color: '#475569', lineHeight: 1.5 }}&gt;registry.py 去中心化注册，新增模型无需修改主干代码，BaseAvatar 基类统一&lt;/Text&gt;&#10;        &lt;/Box&gt;&#10;        &lt;Box style={{ flex: 1, background: 'rgba(255, 255, 255, 0.78)', borderRadius: 12, padding: 18, flexDirection: 'column', gap: 8, border: '1px solid rgba(203, 213, 225, 0.4)' }}&gt;&#10;            &lt;Box style={{ flexDirection: 'row', alignItems: 'center', gap: 8 }}&gt;&#10;                &lt;Image src='resources/images/icons/icon_bolt_0891B2.png' style={{ width: 18, height: 18 }} /&gt;&#10;                &lt;Text style={{ fontSize: 16, fontWeight: 'bold', color: '#1E293B' }}&gt;实时打断&lt;/Text&gt;&#10;            &lt;/Box&gt;&#10;            &lt;Text style={{ fontSize: 13, color: '#475569', lineHeight: 1.5 }}&gt;全双工交互，支持随时打断数字人说话，清空 ASR 队列立即响应&lt;/Text&gt;&#10;        &lt;/Box&gt;&#10;        &lt;Box style={{ flex: 1, background: 'rgba(255, 255, 255, 0.78)', borderRadius: 12, padding: 18, flexDirection: 'column', gap: 8, border: '1px solid rgba(203, 213, 225, 0.4)' }}&gt;&#10;            &lt;Box style={{ flexDirection: 'row', alignItems: 'center', gap: 8 }}&gt;&#10;                &lt;Image src='resources/images/icons/icon_users_2563EB.png' style={{ width: 18, height: 18 }} /&gt;&#10;                &lt;Text style={{ fontSize: 16, fontWeight: 'bold', color: '#1E293B' }}&gt;多并发&lt;/Text&gt;&#10;            &lt;/Box&gt;&#10;            &lt;Text style={{ fontSize: 13, color: '#475569', lineHeight: 1.5 }}&gt;显存不随并发增加（权重共享），Wav2Lip 支持 30 路同时说话&lt;/Text&gt;&#10;        &lt;/Box&gt;&#10;    &lt;/Box&gt;&#10;    &lt;Box style={{ zIndex: 1,  flexDirection: 'row', gap: 16, marginTop: 12, flex: 1 }}&gt;&#10;        &lt;Box style={{ flex: 1, background: 'rgba(255, 255, 255, 0.78)', borderRadius: 12, padding: 18, flexDirection: 'column', gap: 8, border: '1px solid rgba(203, 213, 225, 0.4)' }}&gt;&#10;            &lt;Box style={{ flexDirection: 'row', alignItems: 'center', gap: 8 }}&gt;&#10;                &lt;Image src='resources/images/icons/icon_video_0891B2.png' style={{ width: 18, height: 18 }} /&gt;&#10;                &lt;Text style={{ fontSize: 16, fontWeight: 'bold', color: '#1E293B' }}&gt;多协议推流&lt;/Text&gt;&#10;            &lt;/Box&gt;&#10;            &lt;Text style={{ fontSize: 13, color: '#475569', lineHeight: 1.5 }}&gt;WebRTC 低延迟 / RTMP 直播标准 / 虚拟摄像头接入 OBS&lt;/Text&gt;&#10;        &lt;/Box&gt;&#10;        &lt;Box style={{ flex: 1, background: 'rgba(255, 255, 255, 0.78)', borderRadius: 12, padding: 18, flexDirection: 'column', gap: 8, border: '1px solid rgba(203, 213, 225, 0.4)' }}&gt;&#10;            &lt;Box style={{ flexDirection: 'row', alignItems: 'center', gap: 8 }}&gt;&#10;                &lt;Image src='resources/images/icons/icon_layer-group_2563EB.png' style={{ width: 18, height: 18 }} /&gt;&#10;                &lt;Text style={{ fontSize: 16, fontWeight: 'bold', color: '#1E293B' }}&gt;多模型融合&lt;/Text&gt;&#10;            &lt;/Box&gt;&#10;            &lt;Text style={{ fontSize: 13, color: '#475569', lineHeight: 1.5 }}&gt;MuseTalk / Wav2Lip / Ultralight-Digital-Human / NeRF 四种数字人模型灵活切换&lt;/Text&gt;&#10;        &lt;/Box&gt;&#10;        &lt;Box style={{ flex: 1, background: 'rgba(255, 255, 255, 0.78)', borderRadius: 12, padding: 18, flexDirection: 'column', gap: 8, border: '1px solid rgba(203, 213, 225, 0.4)' }}&gt;&#10;            &lt;Box style={{ flexDirection: 'row', alignItems: 'center', gap: 8 }}&gt;&#10;                &lt;Image src='resources/images/icons/icon_microphone_0891B2.png' style={{ width: 18, height: 18 }} /&gt;&#10;                &lt;Text style={{ fontSize: 16, fontWeight: 'bold', color: '#1E293B' }}&gt;TTS 引擎集成&lt;/Text&gt;&#10;            &lt;/Box&gt;&#10;            &lt;Text style={{ fontSize: 13, color: '#475569', lineHeight: 1.5 }}&gt;支持 GPT-SoVITS / CosyVoice / fish-speech 等 8+ TTS 方案一键接入&lt;/Text&gt;&#10;        &lt;/Box&gt;&#10;    &lt;/Box&gt;&#10;    &lt;Box style={{ zIndex: 1,  flexDirection: 'row', gap: 16, marginTop: 12, flex: 1 }}&gt;&#10;        &lt;Box style={{ flex: 1, background: 'rgba(255, 255, 255, 0.78)', borderRadius: 12, padding: 18, flexDirection: 'column', gap: 8, border: '1px solid rgba(203, 213, 225, 0.4)' }}&gt;&#10;            &lt;Box style={{ flexDirection: 'row', alignItems: 'center', gap: 8 }}&gt;&#10;                &lt;Image src='resources/images/icons/icon_running_0891B2.png' style={{ width: 18, height: 18 }} /&gt;&#10;                &lt;Text style={{ fontSize: 16, fontWeight: 'bold', color: '#1E293B' }}&gt;动作系统&lt;/Text&gt;&#10;            &lt;/Box&gt;&#10;            &lt;Text style={{ fontSize: 13, color: '#475569', lineHeight: 1.5 }}&gt;说话 / 空闲 / 自定义三种状态，支持动作类型扩展与回调通知&lt;/Text&gt;&#10;        &lt;/Box&gt;&#10;        &lt;Box style={{ flex: 1, background: 'rgba(255, 255, 255, 0.78)', borderRadius: 12, padding: 18, flexDirection: 'column', gap: 8, border: '1px solid rgba(203, 213, 225, 0.4)' }}&gt;&#10;            &lt;Box style={{ flexDirection: 'row', alignItems: 'center', gap: 8 }}&gt;&#10;                &lt;Image src='resources/images/icons/icon_bell_2563EB.png' style={{ width: 18, height: 18 }} /&gt;&#10;                &lt;Text style={{ fontSize: 16, fontWeight: 'bold', color: '#1E293B' }}&gt;事件通知&lt;/Text&gt;&#10;            &lt;/Box&gt;&#10;            &lt;Text style={{ fontSize: 13, color: '#475569', lineHeight: 1.5 }}&gt;eventpoint 标记音频流起止，speaking 状态经 SSE 实时推送说话开始/结束事件&lt;/Text&gt;&#10;        &lt;/Box&gt;&#10;        &lt;Box style={{ flex: 1, background: 'transparent', borderRadius: 12, padding: 18, flexDirection: 'column', gap: 8, border: 'none' }} /&gt;&#10;    &lt;/Box&gt;&#10;    &lt;Box style={{ zIndex: 1,  height: 30, flexDirection: 'row', justifyContent: 'space-between', alignItems: 'center', marginTop: 8 }}&gt;&#10;        &lt;Text style={{ fontSize: 14, color: '#475569' }}&gt;github.com/lipku/LiveTalking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图片 2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254" name="文本框 253" descr="{&quot;isTemplate&quot;:true,&quot;type&quot;:&quot;text&quot;}"/>
          <p:cNvSpPr txBox="1"/>
          <p:nvPr/>
        </p:nvSpPr>
        <p:spPr>
          <a:xfrm>
            <a:off x="685800" y="1009650"/>
            <a:ext cx="10820400" cy="4191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1E293B"/>
                </a:solidFill>
                <a:latin typeface="Microsoft YaHei"/>
                <a:ea typeface="Microsoft YaHei"/>
              </a:rPr>
              <a:t>LiveTalking </a:t>
            </a:r>
            <a:r>
              <a:rPr lang="zh-CN" sz="2700" b="1">
                <a:solidFill>
                  <a:srgbClr val="1E293B"/>
                </a:solidFill>
                <a:latin typeface="Microsoft YaHei"/>
                <a:ea typeface="Microsoft YaHei"/>
              </a:rPr>
              <a:t>项目概览</a:t>
            </a:r>
            <a:endParaRPr/>
          </a:p>
        </p:txBody>
      </p:sp>
      <p:sp>
        <p:nvSpPr>
          <p:cNvPr id="255" name="文本框 254" descr="{&quot;isTemplate&quot;:true,&quot;type&quot;:&quot;text&quot;}"/>
          <p:cNvSpPr txBox="1"/>
          <p:nvPr/>
        </p:nvSpPr>
        <p:spPr>
          <a:xfrm>
            <a:off x="685800" y="1466850"/>
            <a:ext cx="108204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实时交互流式数字人引擎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> · Apache 2.0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开源</a:t>
            </a:r>
            <a:endParaRPr/>
          </a:p>
        </p:txBody>
      </p:sp>
      <p:sp>
        <p:nvSpPr>
          <p:cNvPr id="256" name="圆角矩形 255"/>
          <p:cNvSpPr/>
          <p:nvPr/>
        </p:nvSpPr>
        <p:spPr>
          <a:xfrm>
            <a:off x="685800" y="1962150"/>
            <a:ext cx="3505200" cy="1381125"/>
          </a:xfrm>
          <a:prstGeom prst="roundRect">
            <a:avLst>
              <a:gd name="adj" fmla="val 8276"/>
            </a:avLst>
          </a:prstGeom>
          <a:solidFill>
            <a:srgbClr val="FFFFFF">
              <a:alpha val="78000"/>
            </a:srgbClr>
          </a:solidFill>
          <a:ln w="12700">
            <a:solidFill>
              <a:srgbClr val="CBD5E1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57" name="图片 25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2143125"/>
            <a:ext cx="171450" cy="171450"/>
          </a:xfrm>
          <a:prstGeom prst="rect">
            <a:avLst/>
          </a:prstGeom>
          <a:ln/>
        </p:spPr>
      </p:pic>
      <p:sp>
        <p:nvSpPr>
          <p:cNvPr id="258" name="文本框 257" descr="{&quot;isTemplate&quot;:true,&quot;type&quot;:&quot;text&quot;}"/>
          <p:cNvSpPr txBox="1"/>
          <p:nvPr/>
        </p:nvSpPr>
        <p:spPr>
          <a:xfrm>
            <a:off x="1104900" y="2133600"/>
            <a:ext cx="7620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293B"/>
                </a:solidFill>
                <a:latin typeface="Microsoft YaHei"/>
                <a:ea typeface="Microsoft YaHei"/>
              </a:rPr>
              <a:t>插件化系统</a:t>
            </a:r>
            <a:endParaRPr/>
          </a:p>
        </p:txBody>
      </p:sp>
      <p:sp>
        <p:nvSpPr>
          <p:cNvPr id="259" name="文本框 258" descr="{&quot;isTemplate&quot;:true,&quot;type&quot;:&quot;text&quot;}"/>
          <p:cNvSpPr txBox="1"/>
          <p:nvPr/>
        </p:nvSpPr>
        <p:spPr>
          <a:xfrm>
            <a:off x="857250" y="2400300"/>
            <a:ext cx="3162300" cy="447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registry.py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去中心化注册，新增模型无需修改主干代码，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BaseAvatar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基类统一</a:t>
            </a:r>
            <a:endParaRPr/>
          </a:p>
        </p:txBody>
      </p:sp>
      <p:sp>
        <p:nvSpPr>
          <p:cNvPr id="260" name="圆角矩形 259"/>
          <p:cNvSpPr/>
          <p:nvPr/>
        </p:nvSpPr>
        <p:spPr>
          <a:xfrm>
            <a:off x="4343400" y="1962150"/>
            <a:ext cx="3505200" cy="1381125"/>
          </a:xfrm>
          <a:prstGeom prst="roundRect">
            <a:avLst>
              <a:gd name="adj" fmla="val 8276"/>
            </a:avLst>
          </a:prstGeom>
          <a:solidFill>
            <a:srgbClr val="FFFFFF">
              <a:alpha val="78000"/>
            </a:srgbClr>
          </a:solidFill>
          <a:ln w="12700">
            <a:solidFill>
              <a:srgbClr val="CBD5E1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61" name="图片 26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4850" y="2143125"/>
            <a:ext cx="171450" cy="171450"/>
          </a:xfrm>
          <a:prstGeom prst="rect">
            <a:avLst/>
          </a:prstGeom>
          <a:ln/>
        </p:spPr>
      </p:pic>
      <p:sp>
        <p:nvSpPr>
          <p:cNvPr id="262" name="文本框 261" descr="{&quot;isTemplate&quot;:true,&quot;type&quot;:&quot;text&quot;}"/>
          <p:cNvSpPr txBox="1"/>
          <p:nvPr/>
        </p:nvSpPr>
        <p:spPr>
          <a:xfrm>
            <a:off x="4762500" y="2133600"/>
            <a:ext cx="6096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293B"/>
                </a:solidFill>
                <a:latin typeface="Microsoft YaHei"/>
                <a:ea typeface="Microsoft YaHei"/>
              </a:rPr>
              <a:t>实时打断</a:t>
            </a:r>
            <a:endParaRPr/>
          </a:p>
        </p:txBody>
      </p:sp>
      <p:sp>
        <p:nvSpPr>
          <p:cNvPr id="263" name="文本框 262" descr="{&quot;isTemplate&quot;:true,&quot;type&quot;:&quot;text&quot;}"/>
          <p:cNvSpPr txBox="1"/>
          <p:nvPr/>
        </p:nvSpPr>
        <p:spPr>
          <a:xfrm>
            <a:off x="4514850" y="2400300"/>
            <a:ext cx="3162300" cy="447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全双工交互，支持随时打断数字人说话，清空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ASR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队列立即响应</a:t>
            </a:r>
            <a:endParaRPr/>
          </a:p>
        </p:txBody>
      </p:sp>
      <p:sp>
        <p:nvSpPr>
          <p:cNvPr id="264" name="圆角矩形 263"/>
          <p:cNvSpPr/>
          <p:nvPr/>
        </p:nvSpPr>
        <p:spPr>
          <a:xfrm>
            <a:off x="8001000" y="1962150"/>
            <a:ext cx="3505200" cy="1381125"/>
          </a:xfrm>
          <a:prstGeom prst="roundRect">
            <a:avLst>
              <a:gd name="adj" fmla="val 8276"/>
            </a:avLst>
          </a:prstGeom>
          <a:solidFill>
            <a:srgbClr val="FFFFFF">
              <a:alpha val="78000"/>
            </a:srgbClr>
          </a:solidFill>
          <a:ln w="12700">
            <a:solidFill>
              <a:srgbClr val="CBD5E1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65" name="图片 26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2450" y="2143125"/>
            <a:ext cx="171450" cy="171450"/>
          </a:xfrm>
          <a:prstGeom prst="rect">
            <a:avLst/>
          </a:prstGeom>
          <a:ln/>
        </p:spPr>
      </p:pic>
      <p:sp>
        <p:nvSpPr>
          <p:cNvPr id="266" name="文本框 265" descr="{&quot;isTemplate&quot;:true,&quot;type&quot;:&quot;text&quot;}"/>
          <p:cNvSpPr txBox="1"/>
          <p:nvPr/>
        </p:nvSpPr>
        <p:spPr>
          <a:xfrm>
            <a:off x="8420100" y="2133600"/>
            <a:ext cx="4572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293B"/>
                </a:solidFill>
                <a:latin typeface="Microsoft YaHei"/>
                <a:ea typeface="Microsoft YaHei"/>
              </a:rPr>
              <a:t>多并发</a:t>
            </a:r>
            <a:endParaRPr/>
          </a:p>
        </p:txBody>
      </p:sp>
      <p:sp>
        <p:nvSpPr>
          <p:cNvPr id="267" name="文本框 266" descr="{&quot;isTemplate&quot;:true,&quot;type&quot;:&quot;text&quot;}"/>
          <p:cNvSpPr txBox="1"/>
          <p:nvPr/>
        </p:nvSpPr>
        <p:spPr>
          <a:xfrm>
            <a:off x="8172450" y="2400300"/>
            <a:ext cx="3162300" cy="447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显存不随并发增加（权重共享），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Wav2Lip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支持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30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路同时说话</a:t>
            </a:r>
            <a:endParaRPr/>
          </a:p>
        </p:txBody>
      </p:sp>
      <p:sp>
        <p:nvSpPr>
          <p:cNvPr id="268" name="圆角矩形 267"/>
          <p:cNvSpPr/>
          <p:nvPr/>
        </p:nvSpPr>
        <p:spPr>
          <a:xfrm>
            <a:off x="685800" y="3457575"/>
            <a:ext cx="3505200" cy="1390650"/>
          </a:xfrm>
          <a:prstGeom prst="roundRect">
            <a:avLst>
              <a:gd name="adj" fmla="val 8219"/>
            </a:avLst>
          </a:prstGeom>
          <a:solidFill>
            <a:srgbClr val="FFFFFF">
              <a:alpha val="78000"/>
            </a:srgbClr>
          </a:solidFill>
          <a:ln w="12700">
            <a:solidFill>
              <a:srgbClr val="CBD5E1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69" name="图片 26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3638550"/>
            <a:ext cx="171450" cy="171450"/>
          </a:xfrm>
          <a:prstGeom prst="rect">
            <a:avLst/>
          </a:prstGeom>
          <a:ln/>
        </p:spPr>
      </p:pic>
      <p:sp>
        <p:nvSpPr>
          <p:cNvPr id="270" name="文本框 269" descr="{&quot;isTemplate&quot;:true,&quot;type&quot;:&quot;text&quot;}"/>
          <p:cNvSpPr txBox="1"/>
          <p:nvPr/>
        </p:nvSpPr>
        <p:spPr>
          <a:xfrm>
            <a:off x="1104900" y="3629025"/>
            <a:ext cx="7620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293B"/>
                </a:solidFill>
                <a:latin typeface="Microsoft YaHei"/>
                <a:ea typeface="Microsoft YaHei"/>
              </a:rPr>
              <a:t>多协议推流</a:t>
            </a:r>
            <a:endParaRPr/>
          </a:p>
        </p:txBody>
      </p:sp>
      <p:sp>
        <p:nvSpPr>
          <p:cNvPr id="271" name="文本框 270" descr="{&quot;isTemplate&quot;:true,&quot;type&quot;:&quot;text&quot;}"/>
          <p:cNvSpPr txBox="1"/>
          <p:nvPr/>
        </p:nvSpPr>
        <p:spPr>
          <a:xfrm>
            <a:off x="857250" y="3895725"/>
            <a:ext cx="3162300" cy="447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WebRTC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低延迟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/ RTMP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直播标准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虚拟摄像头接入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OBS</a:t>
            </a:r>
            <a:endParaRPr/>
          </a:p>
        </p:txBody>
      </p:sp>
      <p:sp>
        <p:nvSpPr>
          <p:cNvPr id="272" name="圆角矩形 271"/>
          <p:cNvSpPr/>
          <p:nvPr/>
        </p:nvSpPr>
        <p:spPr>
          <a:xfrm>
            <a:off x="4343400" y="3457575"/>
            <a:ext cx="3505200" cy="1390650"/>
          </a:xfrm>
          <a:prstGeom prst="roundRect">
            <a:avLst>
              <a:gd name="adj" fmla="val 8219"/>
            </a:avLst>
          </a:prstGeom>
          <a:solidFill>
            <a:srgbClr val="FFFFFF">
              <a:alpha val="78000"/>
            </a:srgbClr>
          </a:solidFill>
          <a:ln w="12700">
            <a:solidFill>
              <a:srgbClr val="CBD5E1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73" name="图片 27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14850" y="3638550"/>
            <a:ext cx="171450" cy="171450"/>
          </a:xfrm>
          <a:prstGeom prst="rect">
            <a:avLst/>
          </a:prstGeom>
          <a:ln/>
        </p:spPr>
      </p:pic>
      <p:sp>
        <p:nvSpPr>
          <p:cNvPr id="274" name="文本框 273" descr="{&quot;isTemplate&quot;:true,&quot;type&quot;:&quot;text&quot;}"/>
          <p:cNvSpPr txBox="1"/>
          <p:nvPr/>
        </p:nvSpPr>
        <p:spPr>
          <a:xfrm>
            <a:off x="4762500" y="3629025"/>
            <a:ext cx="7620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293B"/>
                </a:solidFill>
                <a:latin typeface="Microsoft YaHei"/>
                <a:ea typeface="Microsoft YaHei"/>
              </a:rPr>
              <a:t>多模型融合</a:t>
            </a:r>
            <a:endParaRPr/>
          </a:p>
        </p:txBody>
      </p:sp>
      <p:sp>
        <p:nvSpPr>
          <p:cNvPr id="275" name="文本框 274" descr="{&quot;isTemplate&quot;:true,&quot;type&quot;:&quot;text&quot;}"/>
          <p:cNvSpPr txBox="1"/>
          <p:nvPr/>
        </p:nvSpPr>
        <p:spPr>
          <a:xfrm>
            <a:off x="4514850" y="3895725"/>
            <a:ext cx="3162300" cy="447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MuseTalk / Wav2Lip / Ultralight-Digital-Human / NeRF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四种数字人模型灵活切换</a:t>
            </a:r>
            <a:endParaRPr/>
          </a:p>
        </p:txBody>
      </p:sp>
      <p:sp>
        <p:nvSpPr>
          <p:cNvPr id="276" name="圆角矩形 275"/>
          <p:cNvSpPr/>
          <p:nvPr/>
        </p:nvSpPr>
        <p:spPr>
          <a:xfrm>
            <a:off x="8001000" y="3457575"/>
            <a:ext cx="3505200" cy="1390650"/>
          </a:xfrm>
          <a:prstGeom prst="roundRect">
            <a:avLst>
              <a:gd name="adj" fmla="val 8219"/>
            </a:avLst>
          </a:prstGeom>
          <a:solidFill>
            <a:srgbClr val="FFFFFF">
              <a:alpha val="78000"/>
            </a:srgbClr>
          </a:solidFill>
          <a:ln w="12700">
            <a:solidFill>
              <a:srgbClr val="CBD5E1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77" name="图片 27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72450" y="3638550"/>
            <a:ext cx="171450" cy="171450"/>
          </a:xfrm>
          <a:prstGeom prst="rect">
            <a:avLst/>
          </a:prstGeom>
          <a:ln/>
        </p:spPr>
      </p:pic>
      <p:sp>
        <p:nvSpPr>
          <p:cNvPr id="278" name="文本框 277" descr="{&quot;isTemplate&quot;:true,&quot;type&quot;:&quot;text&quot;}"/>
          <p:cNvSpPr txBox="1"/>
          <p:nvPr/>
        </p:nvSpPr>
        <p:spPr>
          <a:xfrm>
            <a:off x="8420100" y="3629025"/>
            <a:ext cx="92392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293B"/>
                </a:solidFill>
                <a:latin typeface="Microsoft YaHei"/>
                <a:ea typeface="Microsoft YaHei"/>
              </a:rPr>
              <a:t>TTS </a:t>
            </a:r>
            <a:r>
              <a:rPr lang="zh-CN" sz="1200" b="1">
                <a:solidFill>
                  <a:srgbClr val="1E293B"/>
                </a:solidFill>
                <a:latin typeface="Microsoft YaHei"/>
                <a:ea typeface="Microsoft YaHei"/>
              </a:rPr>
              <a:t>引擎集成</a:t>
            </a:r>
            <a:endParaRPr/>
          </a:p>
        </p:txBody>
      </p:sp>
      <p:sp>
        <p:nvSpPr>
          <p:cNvPr id="279" name="文本框 278" descr="{&quot;isTemplate&quot;:true,&quot;type&quot;:&quot;text&quot;}"/>
          <p:cNvSpPr txBox="1"/>
          <p:nvPr/>
        </p:nvSpPr>
        <p:spPr>
          <a:xfrm>
            <a:off x="8172450" y="3895725"/>
            <a:ext cx="3162300" cy="447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支持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GPT-SoVITS / CosyVoice / fish-speech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等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8+ TTS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方案一键接入</a:t>
            </a:r>
            <a:endParaRPr/>
          </a:p>
        </p:txBody>
      </p:sp>
      <p:sp>
        <p:nvSpPr>
          <p:cNvPr id="280" name="圆角矩形 279"/>
          <p:cNvSpPr/>
          <p:nvPr/>
        </p:nvSpPr>
        <p:spPr>
          <a:xfrm>
            <a:off x="685800" y="4962525"/>
            <a:ext cx="3505200" cy="1381125"/>
          </a:xfrm>
          <a:prstGeom prst="roundRect">
            <a:avLst>
              <a:gd name="adj" fmla="val 8276"/>
            </a:avLst>
          </a:prstGeom>
          <a:solidFill>
            <a:srgbClr val="FFFFFF">
              <a:alpha val="78000"/>
            </a:srgbClr>
          </a:solidFill>
          <a:ln w="12700">
            <a:solidFill>
              <a:srgbClr val="CBD5E1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81" name="图片 28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7250" y="5143500"/>
            <a:ext cx="171450" cy="171450"/>
          </a:xfrm>
          <a:prstGeom prst="rect">
            <a:avLst/>
          </a:prstGeom>
          <a:ln/>
        </p:spPr>
      </p:pic>
      <p:sp>
        <p:nvSpPr>
          <p:cNvPr id="282" name="文本框 281" descr="{&quot;isTemplate&quot;:true,&quot;type&quot;:&quot;text&quot;}"/>
          <p:cNvSpPr txBox="1"/>
          <p:nvPr/>
        </p:nvSpPr>
        <p:spPr>
          <a:xfrm>
            <a:off x="1104900" y="5133975"/>
            <a:ext cx="6096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293B"/>
                </a:solidFill>
                <a:latin typeface="Microsoft YaHei"/>
                <a:ea typeface="Microsoft YaHei"/>
              </a:rPr>
              <a:t>动作系统</a:t>
            </a:r>
            <a:endParaRPr/>
          </a:p>
        </p:txBody>
      </p:sp>
      <p:sp>
        <p:nvSpPr>
          <p:cNvPr id="283" name="文本框 282" descr="{&quot;isTemplate&quot;:true,&quot;type&quot;:&quot;text&quot;}"/>
          <p:cNvSpPr txBox="1"/>
          <p:nvPr/>
        </p:nvSpPr>
        <p:spPr>
          <a:xfrm>
            <a:off x="857250" y="5400675"/>
            <a:ext cx="3162300" cy="447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说话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空闲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自定义三种状态，支持动作类型扩展与回调通知</a:t>
            </a:r>
            <a:endParaRPr/>
          </a:p>
        </p:txBody>
      </p:sp>
      <p:sp>
        <p:nvSpPr>
          <p:cNvPr id="284" name="圆角矩形 283"/>
          <p:cNvSpPr/>
          <p:nvPr/>
        </p:nvSpPr>
        <p:spPr>
          <a:xfrm>
            <a:off x="4343400" y="4962525"/>
            <a:ext cx="3505200" cy="1381125"/>
          </a:xfrm>
          <a:prstGeom prst="roundRect">
            <a:avLst>
              <a:gd name="adj" fmla="val 8276"/>
            </a:avLst>
          </a:prstGeom>
          <a:solidFill>
            <a:srgbClr val="FFFFFF">
              <a:alpha val="78000"/>
            </a:srgbClr>
          </a:solidFill>
          <a:ln w="12700">
            <a:solidFill>
              <a:srgbClr val="CBD5E1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85" name="图片 28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14850" y="5143500"/>
            <a:ext cx="171450" cy="171450"/>
          </a:xfrm>
          <a:prstGeom prst="rect">
            <a:avLst/>
          </a:prstGeom>
          <a:ln/>
        </p:spPr>
      </p:pic>
      <p:sp>
        <p:nvSpPr>
          <p:cNvPr id="286" name="文本框 285" descr="{&quot;isTemplate&quot;:true,&quot;type&quot;:&quot;text&quot;}"/>
          <p:cNvSpPr txBox="1"/>
          <p:nvPr/>
        </p:nvSpPr>
        <p:spPr>
          <a:xfrm>
            <a:off x="4762500" y="5133975"/>
            <a:ext cx="6096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293B"/>
                </a:solidFill>
                <a:latin typeface="Microsoft YaHei"/>
                <a:ea typeface="Microsoft YaHei"/>
              </a:rPr>
              <a:t>事件通知</a:t>
            </a:r>
            <a:endParaRPr/>
          </a:p>
        </p:txBody>
      </p:sp>
      <p:sp>
        <p:nvSpPr>
          <p:cNvPr id="287" name="文本框 286" descr="{&quot;isTemplate&quot;:true,&quot;type&quot;:&quot;text&quot;}"/>
          <p:cNvSpPr txBox="1"/>
          <p:nvPr/>
        </p:nvSpPr>
        <p:spPr>
          <a:xfrm>
            <a:off x="4514850" y="5400675"/>
            <a:ext cx="3162300" cy="447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eventpoint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标记音频流起止，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speaking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状态经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SSE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实时推送说话开始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/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结束事件</a:t>
            </a:r>
            <a:endParaRPr/>
          </a:p>
        </p:txBody>
      </p:sp>
      <p:sp>
        <p:nvSpPr>
          <p:cNvPr id="288" name="圆角矩形 287"/>
          <p:cNvSpPr/>
          <p:nvPr/>
        </p:nvSpPr>
        <p:spPr>
          <a:xfrm>
            <a:off x="8001000" y="4962525"/>
            <a:ext cx="3505200" cy="1381125"/>
          </a:xfrm>
          <a:prstGeom prst="roundRect">
            <a:avLst>
              <a:gd name="adj" fmla="val 8276"/>
            </a:avLst>
          </a:prstGeom>
          <a:ln/>
        </p:spPr>
        <p:txBody>
          <a:bodyPr/>
          <a:lstStyle/>
          <a:p>
            <a:endParaRPr/>
          </a:p>
        </p:txBody>
      </p:sp>
      <p:sp>
        <p:nvSpPr>
          <p:cNvPr id="289" name="文本框 288" descr="{&quot;isTemplate&quot;:true,&quot;type&quot;:&quot;text&quot;}"/>
          <p:cNvSpPr txBox="1"/>
          <p:nvPr/>
        </p:nvSpPr>
        <p:spPr>
          <a:xfrm>
            <a:off x="685800" y="6486525"/>
            <a:ext cx="18573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dirty="0" err="1">
                <a:solidFill>
                  <a:srgbClr val="475569"/>
                </a:solidFill>
                <a:latin typeface="Microsoft YaHei"/>
                <a:ea typeface="Microsoft YaHei"/>
              </a:rPr>
              <a:t>gitee.com</a:t>
            </a:r>
            <a:r>
              <a:rPr lang="en-US" sz="1050" dirty="0">
                <a:solidFill>
                  <a:srgbClr val="475569"/>
                </a:solidFill>
                <a:latin typeface="Microsoft YaHei"/>
                <a:ea typeface="Microsoft YaHei"/>
              </a:rPr>
              <a:t>/</a:t>
            </a:r>
            <a:r>
              <a:rPr lang="en-US" sz="1050" dirty="0" err="1">
                <a:solidFill>
                  <a:srgbClr val="475569"/>
                </a:solidFill>
                <a:latin typeface="Microsoft YaHei"/>
                <a:ea typeface="Microsoft YaHei"/>
              </a:rPr>
              <a:t>lipku</a:t>
            </a:r>
            <a:r>
              <a:rPr lang="en-US" sz="1050" dirty="0">
                <a:solidFill>
                  <a:srgbClr val="475569"/>
                </a:solidFill>
                <a:latin typeface="Microsoft YaHei"/>
                <a:ea typeface="Microsoft YaHei"/>
              </a:rPr>
              <a:t>/</a:t>
            </a:r>
            <a:r>
              <a:rPr lang="en-US" sz="1050" dirty="0" err="1">
                <a:solidFill>
                  <a:srgbClr val="475569"/>
                </a:solidFill>
                <a:latin typeface="Microsoft YaHei"/>
                <a:ea typeface="Microsoft YaHei"/>
              </a:rPr>
              <a:t>LiveTalking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transparent', padding: '70px 60px 28px', flexDirection: 'column' }}&gt;&#10;    &lt;Image src=&quot;resources/images/gvp_background.jpg&quot; style={{ position: 'absolute', top: 0, left: 0, width: 1280, height: 720, objectFit: 'cover', }} /&gt;&#10;&#10;    &#10;    &lt;Box style={{ zIndex: 1, height: 46, flexDirection: 'column', gap: 2 }}&gt;&#10;        &lt;Box style={{ flexDirection: 'row', alignItems: 'center', gap: 10 }}&gt;&#10;            &lt;Text style={{ fontSize: 27, fontWeight: 'bold', color: '#1E293B' }}&gt;音频特征流式计算&lt;/Text&gt;&#10;            &lt;Box style={{ background: 'rgba(37, 99, 235, 0.12)', borderRadius: 4, padding: '2px 10px' }}&gt;&#10;                &lt;Text style={{ fontSize: 12, color: '#2563EB', fontWeight: 'bold' }}&gt;Audio Feat&lt;/Text&gt;&#10;            &lt;/Box&gt;&#10;        &lt;/Box&gt;&#10;        &lt;Text style={{ fontSize: 13, color: '#475569' }}&gt;Mel / Whisper / Hubert 特征的实时提取 · Embedding 切分与滑动窗口&lt;/Text&gt;&#10;    &lt;/Box&gt;&#10;&#10;    &#10;    &lt;Box style={{ zIndex: 1, flex: 1, flexDirection: 'row', gap: 36, marginTop: 14 }}&gt;&#10;&#10;        &#10;        &lt;Box style={{ width: 650, flexDirection: 'column', gap: 14 }}&gt;&#10;            &lt;Box style={{ background: 'rgba(255, 255, 255, 0.78)', borderRadius: 10, border: '1px solid rgba(203, 213, 225, 0.6)', padding: '16px 18px', flexDirection: 'column', gap: 12 }}&gt;&#10;                &lt;Text style={{ fontSize: 15, fontWeight: 'bold', color: '#1E293B' }}&gt;① 流式队列与前后缓存策略&lt;/Text&gt;&#10;                &lt;Text style={{ fontSize: 12.5, color: '#475569', lineHeight: 1.55 }}&gt;&#10;                    离线系统一次性提取全文件特征以利用长时序上下文；实时系统流式输入，无法获取完整音频，故采用&lt;Text style={{ color: '#2563EB', fontWeight: 'bold' }}&gt;前后缓存&lt;/Text&gt;仅保留当前帧附近数据来构建相关性，并严格控制缓存量以降低延时。&#10;                &lt;/Text&gt;&#10;                &#10;                &lt;Box style={{ flexDirection: 'row', gap: 10 }}&gt;&#10;                    {[&#10;                        { k: 'stride_left_size', v: 6, t: '前向缓存帧数' },&#10;                        { k: 'stride_right_size', v: 8, t: '后向缓存帧数' },&#10;                        { k: 'batch', v: 16, t: '每批处理帧数' }&#10;                    ].map((p, i) =&gt; (&#10;                        &lt;Box key={i} style={{ flex: 1, background: 'rgba(37, 99, 235, 0.06)', borderRadius: 6, padding: '8px 10px', border: '1px solid rgba(37, 99, 235, 0.2)' }}&gt;&#10;                            &lt;Text style={{ fontSize: 11, color: '#475569' }}&gt;{p.k}&lt;/Text&gt;&#10;                            &lt;Text style={{ fontSize: 18, fontWeight: 'bold', color: '#2563EB' }}&gt;={p.v}&lt;/Text&gt;&#10;                            &lt;Text style={{ fontSize: 10, color: '#64748B' }}&gt;{p.t}&lt;/Text&gt;&#10;                        &lt;/Box&gt;&#10;                    ))}&#10;                &lt;/Box&gt;&#10;                &lt;Text style={{ fontSize: 12, color: '#475569', lineHeight: 1.5 }}&gt;&#10;                    初始化时 frames 队列预插 &lt;span style={{ color: '#2563EB', fontWeight: 'bold' }}&gt;6+8=14&lt;/span&gt; 帧、output_queue 预插 8 帧；前 6 帧仅作上下文不参与驱动，后 8 帧衔接后续流式数据。&#10;                &lt;/Text&gt;&#10;            &lt;/Box&gt;&#10;&#10;            &#10;            &lt;Box style={{ background: 'rgba(255, 255, 255, 0.78)', borderRadius: 10, border: '1px solid rgba(203, 213, 225, 0.6)', padding: '14px 18px', flexDirection: 'column', gap: 8 }}&gt;&#10;                &lt;Text style={{ fontSize: 13, fontWeight: 'bold', color: '#1E293B' }}&gt;② 单批次处理流程（batch = 16）&lt;/Text&gt;&#10;                &lt;Box style={{ flexDirection: 'row', alignItems: 'center', justifyContent: 'space-between' }}&gt;&#10;                    {[&#10;                        { t: '输入 16 帧', c: '#0891B2' },&#10;                        { t: 'frames 队列\n14+16=30', c: '#2563EB' },&#10;                        { t: '特征计算\n取 [6,22) 16帧', c: '#2563EB' },&#10;                        { t: '左移 16 帧\n末8帧留缓存', c: '#0891B2' }&#10;                    ].map((b, i) =&gt; (&#10;                        &lt;Box key={i} style={{ flexDirection: 'row', alignItems: 'center', gap: 4 }}&gt;&#10;                            &lt;Box style={{ width: 132, minHeight: 46, background: i % 2 === 0 ? 'rgba(8, 145, 178, 0.08)' : 'rgba(37, 99, 235, 0.08)', borderRadius: 6, border: `1px solid ${b.c === '#0891B2' ? 'rgba(8,145,178,0.35)' : 'rgba(37,99,235,0.35)'}`, justifyContent: 'center', alignItems: 'center', padding: '4px 6px' }}&gt;&#10;                                &lt;Text style={{ fontSize: 11.5, fontWeight: 'bold', color: b.c, textAlign: 'center', lineHeight: 1.3 }}&gt;{b.t.split('\n').map((l, j) =&gt; &lt;span key={j}&gt;{l}{j &lt; b.t.split('\n').length - 1 ? &lt;br /&gt; : null}&lt;/span&gt;)}&lt;/Text&gt;&#10;                            &lt;/Box&gt;&#10;                            {i &lt; 3 ? &lt;Text style={{ fontSize: 18, color: '#94A3B8', fontWeight: 'bold' }}&gt;→&lt;/Text&gt; : null}&#10;                        &lt;/Box&gt;&#10;                    ))}&#10;                &lt;/Box&gt;&#10;            &lt;/Box&gt;&#10;        &lt;/Box&gt;&#10;&#10;        &#10;        &lt;Box style={{ flex: 1, background: 'rgba(255, 255, 255, 0.78)', borderRadius: 10, border: '1px solid rgba(203, 213, 225, 0.6)', padding: '16px 18px', flexDirection: 'column', gap: 10 }}&gt;&#10;            &lt;Text style={{ fontSize: 15, fontWeight: 'bold', color: '#1E293B' }}&gt;③ Embedding 切分示意图&lt;/Text&gt;&#10;            &lt;Text style={{ fontSize: 12, color: '#475569', lineHeight: 1.5 }}&gt;&#10;                embedding 按&quot;与音频帧数相关的维度&quot;切分，单帧片段 = 维度长度 / 输入音频帧总数。&#10;            &lt;/Text&gt;&#10;&#10;            &#10;            &lt;Box style={{ position: 'relative', width: 356, height: 56, marginTop: 14, marginLeft: 6 }}&gt;&#10;                &#10;                &lt;Box style={{ flexDirection: 'row', gap: 4 }}&gt;&#10;                    {Array.from({ length: 12 }).map((_, i) =&gt; {&#10;                        const inWin = i &gt;= 2 &amp;&amp; i &lt;= 7;&#10;                        const isVF = i === 4 || i === 5;&#10;                        let bg = '#E2E8F0', bd = 'rgba(148,163,184,0.5)';&#10;                        if (inWin) { bg = '#BFDBFE'; bd = 'rgba(37,99,235,0.4)'; }&#10;                        if (isVF) { bg = '#2563EB'; bd = '#1D4ED8'; }&#10;                        return (&#10;                            &lt;Box key={i} style={{ width: 26, height: 46, borderRadius: 3, background: bg, border: `1px solid ${bd}` }} /&gt;&#10;                        );&#10;                    })}&#10;                &lt;/Box&gt;&#10;                &#10;                &lt;Box style={{ position: 'absolute', left: 60, top: -2, width: 176, height: 50, borderRadius: 6, border: '2px dashed #2563EB', background: 'rgba(37, 99, 235, 0.07)' }} /&gt;&#10;                &#10;                &lt;Text style={{ position: 'absolute', left: 60, top: -20, width: 176, textAlign: 'center', fontSize: 11, fontWeight: 'bold', color: '#2563EB' }}&gt;特征窗口 winsize（滑动截取）&lt;/Text&gt;&#10;                &#10;                &lt;Text style={{ position: 'absolute', left: 95, top: 50, width: 110, textAlign: 'center', fontSize: 10.5, fontWeight: 'bold', color: '#1E293B' }}&gt;一帧视频 = 两帧音频&lt;/Text&gt;&#10;            &lt;/Box&gt;&#10;&#10;            &#10;            &lt;Box style={{ flexDirection: 'row', gap: 14, marginTop: 2 }}&gt;&#10;                &lt;Box style={{ flexDirection: 'row', alignItems: 'center', gap: 5 }}&gt;&#10;                    &lt;Box style={{ width: 14, height: 14, borderRadius: 3, background: '#2563EB' }} /&gt;&#10;                    &lt;Text style={{ fontSize: 11, color: '#475569' }}&gt;视频帧对应音频&lt;/Text&gt;&#10;                &lt;/Box&gt;&#10;                &lt;Box style={{ flexDirection: 'row', alignItems: 'center', gap: 5 }}&gt;&#10;                    &lt;Box style={{ width: 14, height: 14, borderRadius: 3, background: '#BFDBFE', border: '1px solid rgba(37,99,235,0.4)' }} /&gt;&#10;                    &lt;Text style={{ fontSize: 11, color: '#475569' }}&gt;窗口内上下文&lt;/Text&gt;&#10;                &lt;/Box&gt;&#10;                &lt;Box style={{ flexDirection: 'row', alignItems: 'center', gap: 5 }}&gt;&#10;                    &lt;Box style={{ width: 14, height: 14, borderRadius: 3, background: '#E2E8F0', border: '1px solid rgba(148,163,184,0.5)' }} /&gt;&#10;                    &lt;Text style={{ fontSize: 11, color: '#475569' }}&gt;音频帧序列&lt;/Text&gt;&#10;                &lt;/Box&gt;&#10;            &lt;/Box&gt;&#10;&#10;            &lt;Text style={{ fontSize: 11.5, color: '#475569', lineHeight: 1.5, marginTop: 4 }}&gt;&#10;                一帧视频对应两帧音频，取其 embedding 作基础特征；再以该中心&lt;span style={{ color: '#2563EB', fontWeight: 'bold' }}&gt;截取长度为 winsize 的滑动窗口&lt;/span&gt;，组合后作为当前视频帧的音频输入。&#10;            &lt;/Text&gt;&#10;        &lt;/Box&gt;&#10;    &lt;/Box&gt;&#10;&#10;    &#10;    &lt;Box style={{ zIndex: 1, marginTop: 14, background: 'rgba(255, 255, 255, 0.78)', borderRadius: 10, border: '1px solid rgba(203, 213, 225, 0.6)', padding: '10px 18px' }}&gt;&#10;        &lt;Box style={{ flexDirection: 'row', alignItems: 'center', marginBottom: 6 }}&gt;&#10;            &lt;Text style={{ fontSize: 13, fontWeight: 'bold', color: '#1E293B' }}&gt;④ 主流音频模型参数对比&lt;/Text&gt;&#10;            &lt;Text style={{ fontSize: 11.5, color: '#64748B', marginLeft: 12 }}&gt;一帧视频对应的 embedding 维度长度 · 特征窗口长度 winsize&lt;/Text&gt;&#10;        &lt;/Box&gt;&#10;        &lt;Box style={{ flexDirection: 'column' }}&gt;&#10;            &#10;            &lt;Box style={{ flexDirection: 'row', background: 'rgba(241, 245, 249, 0.85)', borderRadius: 4, padding: '6px 0' }}&gt;&#10;                {['音频模型', '每视频帧 embedding 维度', '特征窗口 winsize'].map((h, i) =&gt; (&#10;                    &lt;Text key={i} style={{ flex: i === 0 ? 1 : 1.3, textAlign: 'center', fontSize: 12.5, fontWeight: 'bold', color: '#334155' }}&gt;{h}&lt;/Text&gt;&#10;                ))}&#10;            &lt;/Box&gt;&#10;            {[&#10;                { m: 'Mel', d: '80 / 25', w: 16 },&#10;                { m: 'Whisper', d: '2', w: 10 },&#10;                { m: 'HuBert', d: '2', w: 10 }&#10;            ].map((r, i) =&gt; (&#10;                &lt;Box key={i} style={{ flexDirection: 'row', borderBottom: i &lt; 2 ? '1px solid #E2E8F0' : 'none', padding: '6px 0' }}&gt;&#10;                    &lt;Text style={{ flex: 1, textAlign: 'center', fontSize: 13, fontWeight: 'bold', color: '#2563EB' }}&gt;{r.m}&lt;/Text&gt;&#10;                    &lt;Text style={{ flex: 1.3, textAlign: 'center', fontSize: 13, color: '#1E293B' }}&gt;{r.d}&lt;/Text&gt;&#10;                    &lt;Text style={{ flex: 1.3, textAlign: 'center', fontSize: 13, color: '#1E293B' }}&gt;{r.w}&lt;/Text&gt;&#10;                &lt;/Box&gt;&#10;            ))}&#10;        &lt;/Box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3" name="文本框 12" descr="{&quot;isTemplate&quot;:true,&quot;type&quot;:&quot;text&quot;}"/>
          <p:cNvSpPr txBox="1"/>
          <p:nvPr/>
        </p:nvSpPr>
        <p:spPr>
          <a:xfrm>
            <a:off x="571500" y="666750"/>
            <a:ext cx="2057400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025" b="1">
                <a:solidFill>
                  <a:srgbClr val="1E293B"/>
                </a:solidFill>
                <a:latin typeface="Microsoft YaHei"/>
                <a:ea typeface="Microsoft YaHei"/>
              </a:rPr>
              <a:t>音频特征流式计算</a:t>
            </a:r>
            <a:endParaRPr/>
          </a:p>
        </p:txBody>
      </p:sp>
      <p:sp>
        <p:nvSpPr>
          <p:cNvPr id="14" name="圆角矩形 13"/>
          <p:cNvSpPr/>
          <p:nvPr/>
        </p:nvSpPr>
        <p:spPr>
          <a:xfrm>
            <a:off x="2724150" y="733425"/>
            <a:ext cx="790575" cy="180975"/>
          </a:xfrm>
          <a:prstGeom prst="roundRect">
            <a:avLst>
              <a:gd name="adj" fmla="val 21053"/>
            </a:avLst>
          </a:prstGeom>
          <a:solidFill>
            <a:srgbClr val="2563EB">
              <a:alpha val="1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文本框 14" descr="{&quot;isTemplate&quot;:true,&quot;type&quot;:&quot;text&quot;}"/>
          <p:cNvSpPr txBox="1"/>
          <p:nvPr/>
        </p:nvSpPr>
        <p:spPr>
          <a:xfrm>
            <a:off x="2819400" y="752475"/>
            <a:ext cx="60007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2563EB"/>
                </a:solidFill>
                <a:latin typeface="Microsoft YaHei"/>
                <a:ea typeface="Microsoft YaHei"/>
              </a:rPr>
              <a:t>Audio Feat</a:t>
            </a:r>
            <a:endParaRPr/>
          </a:p>
        </p:txBody>
      </p:sp>
      <p:sp>
        <p:nvSpPr>
          <p:cNvPr id="16" name="文本框 15" descr="{&quot;isTemplate&quot;:true,&quot;type&quot;:&quot;text&quot;}"/>
          <p:cNvSpPr txBox="1"/>
          <p:nvPr/>
        </p:nvSpPr>
        <p:spPr>
          <a:xfrm>
            <a:off x="571500" y="1000125"/>
            <a:ext cx="110490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Mel / Whisper / Hubert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特征的实时提取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· Embedding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切分与滑动窗口</a:t>
            </a:r>
            <a:endParaRPr/>
          </a:p>
        </p:txBody>
      </p:sp>
      <p:sp>
        <p:nvSpPr>
          <p:cNvPr id="17" name="圆角矩形 16"/>
          <p:cNvSpPr/>
          <p:nvPr/>
        </p:nvSpPr>
        <p:spPr>
          <a:xfrm>
            <a:off x="571500" y="1238250"/>
            <a:ext cx="6191250" cy="2295525"/>
          </a:xfrm>
          <a:prstGeom prst="roundRect">
            <a:avLst>
              <a:gd name="adj" fmla="val 4149"/>
            </a:avLst>
          </a:prstGeom>
          <a:solidFill>
            <a:srgbClr val="FFFFFF">
              <a:alpha val="78000"/>
            </a:srgbClr>
          </a:solidFill>
          <a:ln w="12700">
            <a:solidFill>
              <a:srgbClr val="CBD5E1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文本框 17" descr="{&quot;isTemplate&quot;:true,&quot;type&quot;:&quot;text&quot;}"/>
          <p:cNvSpPr txBox="1"/>
          <p:nvPr/>
        </p:nvSpPr>
        <p:spPr>
          <a:xfrm>
            <a:off x="742950" y="1390650"/>
            <a:ext cx="58483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293B"/>
                </a:solidFill>
                <a:latin typeface="Microsoft YaHei"/>
                <a:ea typeface="Microsoft YaHei"/>
              </a:rPr>
              <a:t>① </a:t>
            </a:r>
            <a:r>
              <a:rPr lang="zh-CN" sz="1125" b="1">
                <a:solidFill>
                  <a:srgbClr val="1E293B"/>
                </a:solidFill>
                <a:latin typeface="Microsoft YaHei"/>
                <a:ea typeface="Microsoft YaHei"/>
              </a:rPr>
              <a:t>流式队列与前后缓存策略</a:t>
            </a:r>
            <a:endParaRPr/>
          </a:p>
        </p:txBody>
      </p:sp>
      <p:sp>
        <p:nvSpPr>
          <p:cNvPr id="19" name="文本框 18" descr="{&quot;isTemplate&quot;:true,&quot;type&quot;:&quot;text&quot;}"/>
          <p:cNvSpPr txBox="1"/>
          <p:nvPr/>
        </p:nvSpPr>
        <p:spPr>
          <a:xfrm>
            <a:off x="742950" y="1676400"/>
            <a:ext cx="5848350" cy="447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938">
                <a:solidFill>
                  <a:srgbClr val="475569"/>
                </a:solidFill>
                <a:latin typeface="Microsoft YaHei"/>
                <a:ea typeface="Microsoft YaHei"/>
              </a:rPr>
              <a:t>离线系统一次性提取全文件特征以利用长时序上下文；实时系统流式输入，无法获取完整音频，故采用前后缓存仅保留当前帧附近数据来构建相关性，并严格控制缓存量以降低延时。</a:t>
            </a:r>
            <a:endParaRPr/>
          </a:p>
        </p:txBody>
      </p:sp>
      <p:sp>
        <p:nvSpPr>
          <p:cNvPr id="20" name="圆角矩形 19"/>
          <p:cNvSpPr/>
          <p:nvPr/>
        </p:nvSpPr>
        <p:spPr>
          <a:xfrm>
            <a:off x="742950" y="2238375"/>
            <a:ext cx="1885950" cy="609600"/>
          </a:xfrm>
          <a:prstGeom prst="roundRect">
            <a:avLst>
              <a:gd name="adj" fmla="val 9375"/>
            </a:avLst>
          </a:prstGeom>
          <a:solidFill>
            <a:srgbClr val="2563EB">
              <a:alpha val="6000"/>
            </a:srgbClr>
          </a:solidFill>
          <a:ln w="12700">
            <a:solidFill>
              <a:srgbClr val="2563EB">
                <a:alpha val="2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文本框 20" descr="{&quot;isTemplate&quot;:true,&quot;type&quot;:&quot;text&quot;}"/>
          <p:cNvSpPr txBox="1"/>
          <p:nvPr/>
        </p:nvSpPr>
        <p:spPr>
          <a:xfrm>
            <a:off x="838200" y="2314575"/>
            <a:ext cx="16954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stride_left_size</a:t>
            </a:r>
            <a:endParaRPr/>
          </a:p>
        </p:txBody>
      </p:sp>
      <p:sp>
        <p:nvSpPr>
          <p:cNvPr id="22" name="文本框 21" descr="{&quot;isTemplate&quot;:true,&quot;type&quot;:&quot;text&quot;}"/>
          <p:cNvSpPr txBox="1"/>
          <p:nvPr/>
        </p:nvSpPr>
        <p:spPr>
          <a:xfrm>
            <a:off x="838200" y="2447925"/>
            <a:ext cx="16954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 dirty="0">
                <a:solidFill>
                  <a:srgbClr val="2563EB"/>
                </a:solidFill>
                <a:latin typeface="Microsoft YaHei"/>
                <a:ea typeface="Microsoft YaHei"/>
              </a:rPr>
              <a:t>=</a:t>
            </a:r>
            <a:r>
              <a:rPr lang="en-US" altLang="zh-CN" sz="1350" b="1" dirty="0">
                <a:solidFill>
                  <a:srgbClr val="2563EB"/>
                </a:solidFill>
                <a:latin typeface="Microsoft YaHei"/>
                <a:ea typeface="Microsoft YaHei"/>
              </a:rPr>
              <a:t>10</a:t>
            </a:r>
            <a:endParaRPr dirty="0"/>
          </a:p>
        </p:txBody>
      </p:sp>
      <p:sp>
        <p:nvSpPr>
          <p:cNvPr id="23" name="文本框 22" descr="{&quot;isTemplate&quot;:true,&quot;type&quot;:&quot;text&quot;}"/>
          <p:cNvSpPr txBox="1"/>
          <p:nvPr/>
        </p:nvSpPr>
        <p:spPr>
          <a:xfrm>
            <a:off x="838200" y="2657475"/>
            <a:ext cx="1695450" cy="1143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750">
                <a:solidFill>
                  <a:srgbClr val="64748B"/>
                </a:solidFill>
                <a:latin typeface="Microsoft YaHei"/>
                <a:ea typeface="Microsoft YaHei"/>
              </a:rPr>
              <a:t>前向缓存帧数</a:t>
            </a:r>
            <a:endParaRPr/>
          </a:p>
        </p:txBody>
      </p:sp>
      <p:sp>
        <p:nvSpPr>
          <p:cNvPr id="24" name="圆角矩形 23"/>
          <p:cNvSpPr/>
          <p:nvPr/>
        </p:nvSpPr>
        <p:spPr>
          <a:xfrm>
            <a:off x="2724150" y="2238375"/>
            <a:ext cx="1885950" cy="609600"/>
          </a:xfrm>
          <a:prstGeom prst="roundRect">
            <a:avLst>
              <a:gd name="adj" fmla="val 9375"/>
            </a:avLst>
          </a:prstGeom>
          <a:solidFill>
            <a:srgbClr val="2563EB">
              <a:alpha val="6000"/>
            </a:srgbClr>
          </a:solidFill>
          <a:ln w="12700">
            <a:solidFill>
              <a:srgbClr val="2563EB">
                <a:alpha val="2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文本框 24" descr="{&quot;isTemplate&quot;:true,&quot;type&quot;:&quot;text&quot;}"/>
          <p:cNvSpPr txBox="1"/>
          <p:nvPr/>
        </p:nvSpPr>
        <p:spPr>
          <a:xfrm>
            <a:off x="2819400" y="2314575"/>
            <a:ext cx="16954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stride_right_size</a:t>
            </a:r>
            <a:endParaRPr/>
          </a:p>
        </p:txBody>
      </p:sp>
      <p:sp>
        <p:nvSpPr>
          <p:cNvPr id="26" name="文本框 25" descr="{&quot;isTemplate&quot;:true,&quot;type&quot;:&quot;text&quot;}"/>
          <p:cNvSpPr txBox="1"/>
          <p:nvPr/>
        </p:nvSpPr>
        <p:spPr>
          <a:xfrm>
            <a:off x="2819400" y="2447925"/>
            <a:ext cx="16954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 dirty="0">
                <a:solidFill>
                  <a:srgbClr val="2563EB"/>
                </a:solidFill>
                <a:latin typeface="Microsoft YaHei"/>
                <a:ea typeface="Microsoft YaHei"/>
              </a:rPr>
              <a:t>=</a:t>
            </a:r>
            <a:r>
              <a:rPr lang="en-US" altLang="zh-CN" sz="1350" b="1" dirty="0">
                <a:solidFill>
                  <a:srgbClr val="2563EB"/>
                </a:solidFill>
                <a:latin typeface="Microsoft YaHei"/>
                <a:ea typeface="Microsoft YaHei"/>
              </a:rPr>
              <a:t>10</a:t>
            </a:r>
            <a:endParaRPr dirty="0"/>
          </a:p>
        </p:txBody>
      </p:sp>
      <p:sp>
        <p:nvSpPr>
          <p:cNvPr id="27" name="文本框 26" descr="{&quot;isTemplate&quot;:true,&quot;type&quot;:&quot;text&quot;}"/>
          <p:cNvSpPr txBox="1"/>
          <p:nvPr/>
        </p:nvSpPr>
        <p:spPr>
          <a:xfrm>
            <a:off x="2819400" y="2657475"/>
            <a:ext cx="1695450" cy="1143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750">
                <a:solidFill>
                  <a:srgbClr val="64748B"/>
                </a:solidFill>
                <a:latin typeface="Microsoft YaHei"/>
                <a:ea typeface="Microsoft YaHei"/>
              </a:rPr>
              <a:t>后向缓存帧数</a:t>
            </a:r>
            <a:endParaRPr/>
          </a:p>
        </p:txBody>
      </p:sp>
      <p:sp>
        <p:nvSpPr>
          <p:cNvPr id="28" name="圆角矩形 27"/>
          <p:cNvSpPr/>
          <p:nvPr/>
        </p:nvSpPr>
        <p:spPr>
          <a:xfrm>
            <a:off x="4705350" y="2238375"/>
            <a:ext cx="1885950" cy="609600"/>
          </a:xfrm>
          <a:prstGeom prst="roundRect">
            <a:avLst>
              <a:gd name="adj" fmla="val 9375"/>
            </a:avLst>
          </a:prstGeom>
          <a:solidFill>
            <a:srgbClr val="2563EB">
              <a:alpha val="6000"/>
            </a:srgbClr>
          </a:solidFill>
          <a:ln w="12700">
            <a:solidFill>
              <a:srgbClr val="2563EB">
                <a:alpha val="2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文本框 28" descr="{&quot;isTemplate&quot;:true,&quot;type&quot;:&quot;text&quot;}"/>
          <p:cNvSpPr txBox="1"/>
          <p:nvPr/>
        </p:nvSpPr>
        <p:spPr>
          <a:xfrm>
            <a:off x="4800600" y="2314575"/>
            <a:ext cx="16954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batch</a:t>
            </a:r>
            <a:endParaRPr/>
          </a:p>
        </p:txBody>
      </p:sp>
      <p:sp>
        <p:nvSpPr>
          <p:cNvPr id="30" name="文本框 29" descr="{&quot;isTemplate&quot;:true,&quot;type&quot;:&quot;text&quot;}"/>
          <p:cNvSpPr txBox="1"/>
          <p:nvPr/>
        </p:nvSpPr>
        <p:spPr>
          <a:xfrm>
            <a:off x="4800600" y="2447925"/>
            <a:ext cx="16954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 dirty="0">
                <a:solidFill>
                  <a:srgbClr val="2563EB"/>
                </a:solidFill>
                <a:latin typeface="Microsoft YaHei"/>
                <a:ea typeface="Microsoft YaHei"/>
              </a:rPr>
              <a:t>=</a:t>
            </a:r>
            <a:r>
              <a:rPr lang="en-US" altLang="zh-CN" sz="1350" b="1" dirty="0">
                <a:solidFill>
                  <a:srgbClr val="2563EB"/>
                </a:solidFill>
                <a:latin typeface="Microsoft YaHei"/>
                <a:ea typeface="Microsoft YaHei"/>
              </a:rPr>
              <a:t>32</a:t>
            </a:r>
            <a:endParaRPr dirty="0"/>
          </a:p>
        </p:txBody>
      </p:sp>
      <p:sp>
        <p:nvSpPr>
          <p:cNvPr id="31" name="文本框 30" descr="{&quot;isTemplate&quot;:true,&quot;type&quot;:&quot;text&quot;}"/>
          <p:cNvSpPr txBox="1"/>
          <p:nvPr/>
        </p:nvSpPr>
        <p:spPr>
          <a:xfrm>
            <a:off x="4800600" y="2657475"/>
            <a:ext cx="1695450" cy="1143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750">
                <a:solidFill>
                  <a:srgbClr val="64748B"/>
                </a:solidFill>
                <a:latin typeface="Microsoft YaHei"/>
                <a:ea typeface="Microsoft YaHei"/>
              </a:rPr>
              <a:t>每批处理帧数</a:t>
            </a:r>
            <a:endParaRPr/>
          </a:p>
        </p:txBody>
      </p:sp>
      <p:sp>
        <p:nvSpPr>
          <p:cNvPr id="32" name="文本框 31" descr="{&quot;isTemplate&quot;:true,&quot;type&quot;:&quot;text&quot;}"/>
          <p:cNvSpPr txBox="1"/>
          <p:nvPr/>
        </p:nvSpPr>
        <p:spPr>
          <a:xfrm>
            <a:off x="742950" y="2962275"/>
            <a:ext cx="5848350" cy="4191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900" dirty="0">
                <a:solidFill>
                  <a:srgbClr val="475569"/>
                </a:solidFill>
                <a:latin typeface="Microsoft YaHei"/>
                <a:ea typeface="Microsoft YaHei"/>
              </a:rPr>
              <a:t>初始化时</a:t>
            </a:r>
            <a:r>
              <a:rPr lang="en-US" sz="900" dirty="0">
                <a:solidFill>
                  <a:srgbClr val="475569"/>
                </a:solidFill>
                <a:latin typeface="Microsoft YaHei"/>
                <a:ea typeface="Microsoft YaHei"/>
              </a:rPr>
              <a:t> frames </a:t>
            </a:r>
            <a:r>
              <a:rPr lang="zh-CN" sz="900" dirty="0">
                <a:solidFill>
                  <a:srgbClr val="475569"/>
                </a:solidFill>
                <a:latin typeface="Microsoft YaHei"/>
                <a:ea typeface="Microsoft YaHei"/>
              </a:rPr>
              <a:t>队列预插</a:t>
            </a:r>
            <a:r>
              <a:rPr lang="en-US" sz="900" dirty="0">
                <a:solidFill>
                  <a:srgbClr val="475569"/>
                </a:solidFill>
                <a:latin typeface="Microsoft YaHei"/>
                <a:ea typeface="Microsoft YaHei"/>
              </a:rPr>
              <a:t> </a:t>
            </a:r>
            <a:r>
              <a:rPr lang="en-US" altLang="zh-CN" sz="900" b="1" dirty="0">
                <a:solidFill>
                  <a:srgbClr val="2563EB"/>
                </a:solidFill>
                <a:latin typeface="Microsoft YaHei"/>
                <a:ea typeface="Microsoft YaHei"/>
              </a:rPr>
              <a:t>10</a:t>
            </a:r>
            <a:r>
              <a:rPr lang="en-US" sz="900" b="1" dirty="0">
                <a:solidFill>
                  <a:srgbClr val="2563EB"/>
                </a:solidFill>
                <a:latin typeface="Microsoft YaHei"/>
                <a:ea typeface="Microsoft YaHei"/>
              </a:rPr>
              <a:t>+</a:t>
            </a:r>
            <a:r>
              <a:rPr lang="en-US" altLang="zh-CN" sz="900" b="1" dirty="0">
                <a:solidFill>
                  <a:srgbClr val="2563EB"/>
                </a:solidFill>
                <a:latin typeface="Microsoft YaHei"/>
                <a:ea typeface="Microsoft YaHei"/>
              </a:rPr>
              <a:t>10</a:t>
            </a:r>
            <a:r>
              <a:rPr lang="en-US" sz="900" b="1" dirty="0">
                <a:solidFill>
                  <a:srgbClr val="2563EB"/>
                </a:solidFill>
                <a:latin typeface="Microsoft YaHei"/>
                <a:ea typeface="Microsoft YaHei"/>
              </a:rPr>
              <a:t>=</a:t>
            </a:r>
            <a:r>
              <a:rPr lang="en-US" altLang="zh-CN" sz="900" b="1" dirty="0">
                <a:solidFill>
                  <a:srgbClr val="2563EB"/>
                </a:solidFill>
                <a:latin typeface="Microsoft YaHei"/>
                <a:ea typeface="Microsoft YaHei"/>
              </a:rPr>
              <a:t>20</a:t>
            </a:r>
            <a:r>
              <a:rPr lang="en-US" sz="900" dirty="0">
                <a:solidFill>
                  <a:srgbClr val="475569"/>
                </a:solidFill>
                <a:latin typeface="Microsoft YaHei"/>
                <a:ea typeface="Microsoft YaHei"/>
              </a:rPr>
              <a:t> </a:t>
            </a:r>
            <a:r>
              <a:rPr lang="zh-CN" sz="900" dirty="0">
                <a:solidFill>
                  <a:srgbClr val="475569"/>
                </a:solidFill>
                <a:latin typeface="Microsoft YaHei"/>
                <a:ea typeface="Microsoft YaHei"/>
              </a:rPr>
              <a:t>帧、</a:t>
            </a:r>
            <a:r>
              <a:rPr lang="en-US" sz="900" dirty="0" err="1">
                <a:solidFill>
                  <a:srgbClr val="475569"/>
                </a:solidFill>
                <a:latin typeface="Microsoft YaHei"/>
                <a:ea typeface="Microsoft YaHei"/>
              </a:rPr>
              <a:t>output_queue</a:t>
            </a:r>
            <a:r>
              <a:rPr lang="en-US" sz="900" dirty="0">
                <a:solidFill>
                  <a:srgbClr val="475569"/>
                </a:solidFill>
                <a:latin typeface="Microsoft YaHei"/>
                <a:ea typeface="Microsoft YaHei"/>
              </a:rPr>
              <a:t> </a:t>
            </a:r>
            <a:r>
              <a:rPr lang="zh-CN" sz="900" dirty="0">
                <a:solidFill>
                  <a:srgbClr val="475569"/>
                </a:solidFill>
                <a:latin typeface="Microsoft YaHei"/>
                <a:ea typeface="Microsoft YaHei"/>
              </a:rPr>
              <a:t>预插</a:t>
            </a:r>
            <a:r>
              <a:rPr lang="en-US" sz="900" dirty="0">
                <a:solidFill>
                  <a:srgbClr val="475569"/>
                </a:solidFill>
                <a:latin typeface="Microsoft YaHei"/>
                <a:ea typeface="Microsoft YaHei"/>
              </a:rPr>
              <a:t> </a:t>
            </a:r>
            <a:r>
              <a:rPr lang="en-US" altLang="zh-CN" sz="900" dirty="0">
                <a:solidFill>
                  <a:srgbClr val="475569"/>
                </a:solidFill>
                <a:latin typeface="Microsoft YaHei"/>
                <a:ea typeface="Microsoft YaHei"/>
              </a:rPr>
              <a:t>10</a:t>
            </a:r>
            <a:r>
              <a:rPr lang="en-US" sz="900" dirty="0">
                <a:solidFill>
                  <a:srgbClr val="475569"/>
                </a:solidFill>
                <a:latin typeface="Microsoft YaHei"/>
                <a:ea typeface="Microsoft YaHei"/>
              </a:rPr>
              <a:t> </a:t>
            </a:r>
            <a:r>
              <a:rPr lang="zh-CN" sz="900" dirty="0">
                <a:solidFill>
                  <a:srgbClr val="475569"/>
                </a:solidFill>
                <a:latin typeface="Microsoft YaHei"/>
                <a:ea typeface="Microsoft YaHei"/>
              </a:rPr>
              <a:t>帧；前</a:t>
            </a:r>
            <a:r>
              <a:rPr lang="en-US" sz="900" dirty="0">
                <a:solidFill>
                  <a:srgbClr val="475569"/>
                </a:solidFill>
                <a:latin typeface="Microsoft YaHei"/>
                <a:ea typeface="Microsoft YaHei"/>
              </a:rPr>
              <a:t> </a:t>
            </a:r>
            <a:r>
              <a:rPr lang="en-US" altLang="zh-CN" sz="900" dirty="0">
                <a:solidFill>
                  <a:srgbClr val="475569"/>
                </a:solidFill>
                <a:latin typeface="Microsoft YaHei"/>
                <a:ea typeface="Microsoft YaHei"/>
              </a:rPr>
              <a:t>10</a:t>
            </a:r>
            <a:r>
              <a:rPr lang="zh-CN" altLang="en-US" sz="900" dirty="0">
                <a:solidFill>
                  <a:srgbClr val="475569"/>
                </a:solidFill>
                <a:latin typeface="Microsoft YaHei"/>
                <a:ea typeface="Microsoft YaHei"/>
              </a:rPr>
              <a:t> </a:t>
            </a:r>
            <a:r>
              <a:rPr lang="zh-CN" sz="900" dirty="0">
                <a:solidFill>
                  <a:srgbClr val="475569"/>
                </a:solidFill>
                <a:latin typeface="Microsoft YaHei"/>
                <a:ea typeface="Microsoft YaHei"/>
              </a:rPr>
              <a:t>帧仅作上下文不参与驱动，后</a:t>
            </a:r>
            <a:r>
              <a:rPr lang="en-US" sz="900" dirty="0">
                <a:solidFill>
                  <a:srgbClr val="475569"/>
                </a:solidFill>
                <a:latin typeface="Microsoft YaHei"/>
                <a:ea typeface="Microsoft YaHei"/>
              </a:rPr>
              <a:t> </a:t>
            </a:r>
            <a:r>
              <a:rPr lang="en-US" altLang="zh-CN" sz="900" dirty="0">
                <a:solidFill>
                  <a:srgbClr val="475569"/>
                </a:solidFill>
                <a:latin typeface="Microsoft YaHei"/>
                <a:ea typeface="Microsoft YaHei"/>
              </a:rPr>
              <a:t>10</a:t>
            </a:r>
            <a:r>
              <a:rPr lang="en-US" sz="900" dirty="0">
                <a:solidFill>
                  <a:srgbClr val="475569"/>
                </a:solidFill>
                <a:latin typeface="Microsoft YaHei"/>
                <a:ea typeface="Microsoft YaHei"/>
              </a:rPr>
              <a:t> </a:t>
            </a:r>
            <a:r>
              <a:rPr lang="zh-CN" sz="900" dirty="0">
                <a:solidFill>
                  <a:srgbClr val="475569"/>
                </a:solidFill>
                <a:latin typeface="Microsoft YaHei"/>
                <a:ea typeface="Microsoft YaHei"/>
              </a:rPr>
              <a:t>帧衔接后续流式数据。</a:t>
            </a:r>
            <a:endParaRPr dirty="0"/>
          </a:p>
        </p:txBody>
      </p:sp>
      <p:sp>
        <p:nvSpPr>
          <p:cNvPr id="33" name="圆角矩形 32"/>
          <p:cNvSpPr/>
          <p:nvPr/>
        </p:nvSpPr>
        <p:spPr>
          <a:xfrm>
            <a:off x="571500" y="3667125"/>
            <a:ext cx="6191250" cy="1028700"/>
          </a:xfrm>
          <a:prstGeom prst="roundRect">
            <a:avLst>
              <a:gd name="adj" fmla="val 10204"/>
            </a:avLst>
          </a:prstGeom>
          <a:solidFill>
            <a:srgbClr val="FFFFFF">
              <a:alpha val="78000"/>
            </a:srgbClr>
          </a:solidFill>
          <a:ln w="12700">
            <a:solidFill>
              <a:srgbClr val="CBD5E1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文本框 33" descr="{&quot;isTemplate&quot;:true,&quot;type&quot;:&quot;text&quot;}"/>
          <p:cNvSpPr txBox="1"/>
          <p:nvPr/>
        </p:nvSpPr>
        <p:spPr>
          <a:xfrm>
            <a:off x="742950" y="3800475"/>
            <a:ext cx="58483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 dirty="0">
                <a:solidFill>
                  <a:srgbClr val="1E293B"/>
                </a:solidFill>
                <a:latin typeface="Microsoft YaHei"/>
                <a:ea typeface="Microsoft YaHei"/>
              </a:rPr>
              <a:t>② </a:t>
            </a:r>
            <a:r>
              <a:rPr lang="zh-CN" sz="975" b="1" dirty="0">
                <a:solidFill>
                  <a:srgbClr val="1E293B"/>
                </a:solidFill>
                <a:latin typeface="Microsoft YaHei"/>
                <a:ea typeface="Microsoft YaHei"/>
              </a:rPr>
              <a:t>单批次处理流程（</a:t>
            </a:r>
            <a:r>
              <a:rPr lang="en-US" sz="975" b="1" dirty="0">
                <a:solidFill>
                  <a:srgbClr val="1E293B"/>
                </a:solidFill>
                <a:latin typeface="Microsoft YaHei"/>
                <a:ea typeface="Microsoft YaHei"/>
              </a:rPr>
              <a:t>batch = </a:t>
            </a:r>
            <a:r>
              <a:rPr lang="en-US" altLang="zh-CN" sz="975" b="1" dirty="0">
                <a:solidFill>
                  <a:srgbClr val="1E293B"/>
                </a:solidFill>
                <a:latin typeface="Microsoft YaHei"/>
                <a:ea typeface="Microsoft YaHei"/>
              </a:rPr>
              <a:t>32</a:t>
            </a:r>
            <a:r>
              <a:rPr lang="zh-CN" sz="975" b="1" dirty="0">
                <a:solidFill>
                  <a:srgbClr val="1E293B"/>
                </a:solidFill>
                <a:latin typeface="Microsoft YaHei"/>
                <a:ea typeface="Microsoft YaHei"/>
              </a:rPr>
              <a:t>）</a:t>
            </a:r>
            <a:endParaRPr dirty="0"/>
          </a:p>
        </p:txBody>
      </p:sp>
      <p:sp>
        <p:nvSpPr>
          <p:cNvPr id="35" name="圆角矩形 34"/>
          <p:cNvSpPr/>
          <p:nvPr/>
        </p:nvSpPr>
        <p:spPr>
          <a:xfrm>
            <a:off x="742950" y="4029075"/>
            <a:ext cx="1257300" cy="438150"/>
          </a:xfrm>
          <a:prstGeom prst="roundRect">
            <a:avLst>
              <a:gd name="adj" fmla="val 13043"/>
            </a:avLst>
          </a:prstGeom>
          <a:solidFill>
            <a:srgbClr val="0891B2">
              <a:alpha val="8000"/>
            </a:srgbClr>
          </a:solidFill>
          <a:ln w="12700">
            <a:solidFill>
              <a:srgbClr val="0891B2">
                <a:alpha val="3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文本框 35" descr="{&quot;isTemplate&quot;:true,&quot;type&quot;:&quot;text&quot;}"/>
          <p:cNvSpPr txBox="1"/>
          <p:nvPr/>
        </p:nvSpPr>
        <p:spPr>
          <a:xfrm>
            <a:off x="1114425" y="4162425"/>
            <a:ext cx="52387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30000"/>
              </a:lnSpc>
            </a:pPr>
            <a:r>
              <a:rPr lang="zh-CN" sz="863" b="1" dirty="0">
                <a:solidFill>
                  <a:srgbClr val="0891B2"/>
                </a:solidFill>
                <a:latin typeface="Microsoft YaHei"/>
                <a:ea typeface="Microsoft YaHei"/>
              </a:rPr>
              <a:t>输入</a:t>
            </a:r>
            <a:r>
              <a:rPr lang="en-US" sz="863" b="1" dirty="0">
                <a:solidFill>
                  <a:srgbClr val="0891B2"/>
                </a:solidFill>
                <a:latin typeface="Microsoft YaHei"/>
                <a:ea typeface="Microsoft YaHei"/>
              </a:rPr>
              <a:t> </a:t>
            </a:r>
            <a:r>
              <a:rPr lang="en-US" altLang="zh-CN" sz="863" b="1" dirty="0">
                <a:solidFill>
                  <a:srgbClr val="0891B2"/>
                </a:solidFill>
                <a:latin typeface="Microsoft YaHei"/>
                <a:ea typeface="Microsoft YaHei"/>
              </a:rPr>
              <a:t>32</a:t>
            </a:r>
            <a:r>
              <a:rPr lang="en-US" sz="863" b="1" dirty="0">
                <a:solidFill>
                  <a:srgbClr val="0891B2"/>
                </a:solidFill>
                <a:latin typeface="Microsoft YaHei"/>
                <a:ea typeface="Microsoft YaHei"/>
              </a:rPr>
              <a:t> </a:t>
            </a:r>
            <a:r>
              <a:rPr lang="zh-CN" sz="863" b="1" dirty="0">
                <a:solidFill>
                  <a:srgbClr val="0891B2"/>
                </a:solidFill>
                <a:latin typeface="Microsoft YaHei"/>
                <a:ea typeface="Microsoft YaHei"/>
              </a:rPr>
              <a:t>帧</a:t>
            </a:r>
            <a:endParaRPr dirty="0"/>
          </a:p>
        </p:txBody>
      </p:sp>
      <p:sp>
        <p:nvSpPr>
          <p:cNvPr id="37" name="文本框 36" descr="{&quot;isTemplate&quot;:true,&quot;type&quot;:&quot;text&quot;}"/>
          <p:cNvSpPr txBox="1"/>
          <p:nvPr/>
        </p:nvSpPr>
        <p:spPr>
          <a:xfrm>
            <a:off x="2038350" y="4143375"/>
            <a:ext cx="1714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350" b="1">
                <a:solidFill>
                  <a:srgbClr val="94A3B8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38" name="圆角矩形 37"/>
          <p:cNvSpPr/>
          <p:nvPr/>
        </p:nvSpPr>
        <p:spPr>
          <a:xfrm>
            <a:off x="2276475" y="4029075"/>
            <a:ext cx="1257300" cy="438150"/>
          </a:xfrm>
          <a:prstGeom prst="roundRect">
            <a:avLst>
              <a:gd name="adj" fmla="val 13043"/>
            </a:avLst>
          </a:prstGeom>
          <a:solidFill>
            <a:srgbClr val="2563EB">
              <a:alpha val="8000"/>
            </a:srgbClr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文本框 38" descr="{&quot;isTemplate&quot;:true,&quot;type&quot;:&quot;text&quot;}"/>
          <p:cNvSpPr txBox="1"/>
          <p:nvPr/>
        </p:nvSpPr>
        <p:spPr>
          <a:xfrm>
            <a:off x="2600325" y="4076700"/>
            <a:ext cx="60960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30000"/>
              </a:lnSpc>
            </a:pPr>
            <a:r>
              <a:rPr lang="en-US" sz="863" b="1" dirty="0">
                <a:solidFill>
                  <a:srgbClr val="2563EB"/>
                </a:solidFill>
                <a:latin typeface="Microsoft YaHei"/>
                <a:ea typeface="Microsoft YaHei"/>
              </a:rPr>
              <a:t>frames </a:t>
            </a:r>
            <a:r>
              <a:rPr lang="zh-CN" sz="863" b="1" dirty="0">
                <a:solidFill>
                  <a:srgbClr val="2563EB"/>
                </a:solidFill>
                <a:latin typeface="Microsoft YaHei"/>
                <a:ea typeface="Microsoft YaHei"/>
              </a:rPr>
              <a:t>队列</a:t>
            </a:r>
            <a:r>
              <a:rPr sz="863" b="1" dirty="0">
                <a:solidFill>
                  <a:srgbClr val="2563EB"/>
                </a:solidFill>
                <a:latin typeface="Microsoft YaHei"/>
                <a:ea typeface="Microsoft YaHei"/>
              </a:rPr>
              <a:t>
</a:t>
            </a:r>
            <a:r>
              <a:rPr lang="en-US" altLang="zh-CN" sz="863" b="1" dirty="0">
                <a:solidFill>
                  <a:srgbClr val="2563EB"/>
                </a:solidFill>
                <a:latin typeface="Microsoft YaHei"/>
                <a:ea typeface="Microsoft YaHei"/>
              </a:rPr>
              <a:t>20</a:t>
            </a:r>
            <a:r>
              <a:rPr lang="en-US" sz="863" b="1" dirty="0">
                <a:solidFill>
                  <a:srgbClr val="2563EB"/>
                </a:solidFill>
                <a:latin typeface="Microsoft YaHei"/>
                <a:ea typeface="Microsoft YaHei"/>
              </a:rPr>
              <a:t>+</a:t>
            </a:r>
            <a:r>
              <a:rPr lang="en-US" altLang="zh-CN" sz="863" b="1" dirty="0">
                <a:solidFill>
                  <a:srgbClr val="2563EB"/>
                </a:solidFill>
                <a:latin typeface="Microsoft YaHei"/>
                <a:ea typeface="Microsoft YaHei"/>
              </a:rPr>
              <a:t>32</a:t>
            </a:r>
            <a:r>
              <a:rPr lang="en-US" sz="863" b="1" dirty="0">
                <a:solidFill>
                  <a:srgbClr val="2563EB"/>
                </a:solidFill>
                <a:latin typeface="Microsoft YaHei"/>
                <a:ea typeface="Microsoft YaHei"/>
              </a:rPr>
              <a:t>=</a:t>
            </a:r>
            <a:r>
              <a:rPr lang="en-US" altLang="zh-CN" sz="863" b="1" dirty="0">
                <a:solidFill>
                  <a:srgbClr val="2563EB"/>
                </a:solidFill>
                <a:latin typeface="Microsoft YaHei"/>
                <a:ea typeface="Microsoft YaHei"/>
              </a:rPr>
              <a:t>52</a:t>
            </a:r>
            <a:endParaRPr dirty="0"/>
          </a:p>
        </p:txBody>
      </p:sp>
      <p:sp>
        <p:nvSpPr>
          <p:cNvPr id="40" name="文本框 39" descr="{&quot;isTemplate&quot;:true,&quot;type&quot;:&quot;text&quot;}"/>
          <p:cNvSpPr txBox="1"/>
          <p:nvPr/>
        </p:nvSpPr>
        <p:spPr>
          <a:xfrm>
            <a:off x="3571875" y="4143375"/>
            <a:ext cx="1714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350" b="1">
                <a:solidFill>
                  <a:srgbClr val="94A3B8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41" name="圆角矩形 40"/>
          <p:cNvSpPr/>
          <p:nvPr/>
        </p:nvSpPr>
        <p:spPr>
          <a:xfrm>
            <a:off x="3800475" y="4029075"/>
            <a:ext cx="1257300" cy="438150"/>
          </a:xfrm>
          <a:prstGeom prst="roundRect">
            <a:avLst>
              <a:gd name="adj" fmla="val 13043"/>
            </a:avLst>
          </a:prstGeom>
          <a:solidFill>
            <a:srgbClr val="0891B2">
              <a:alpha val="8000"/>
            </a:srgbClr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文本框 41" descr="{&quot;isTemplate&quot;:true,&quot;type&quot;:&quot;text&quot;}"/>
          <p:cNvSpPr txBox="1"/>
          <p:nvPr/>
        </p:nvSpPr>
        <p:spPr>
          <a:xfrm>
            <a:off x="4076700" y="4076700"/>
            <a:ext cx="70485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30000"/>
              </a:lnSpc>
            </a:pPr>
            <a:r>
              <a:rPr lang="zh-CN" sz="863" b="1" dirty="0">
                <a:solidFill>
                  <a:srgbClr val="2563EB"/>
                </a:solidFill>
                <a:latin typeface="Microsoft YaHei"/>
                <a:ea typeface="Microsoft YaHei"/>
              </a:rPr>
              <a:t>特征计算</a:t>
            </a:r>
            <a:r>
              <a:rPr sz="863" b="1" dirty="0">
                <a:solidFill>
                  <a:srgbClr val="2563EB"/>
                </a:solidFill>
                <a:latin typeface="Microsoft YaHei"/>
                <a:ea typeface="Microsoft YaHei"/>
              </a:rPr>
              <a:t>
</a:t>
            </a:r>
            <a:r>
              <a:rPr lang="zh-CN" sz="863" b="1" dirty="0">
                <a:solidFill>
                  <a:srgbClr val="2563EB"/>
                </a:solidFill>
                <a:latin typeface="Microsoft YaHei"/>
                <a:ea typeface="Microsoft YaHei"/>
              </a:rPr>
              <a:t>取</a:t>
            </a:r>
            <a:r>
              <a:rPr lang="en-US" sz="863" b="1" dirty="0">
                <a:solidFill>
                  <a:srgbClr val="2563EB"/>
                </a:solidFill>
                <a:latin typeface="Microsoft YaHei"/>
                <a:ea typeface="Microsoft YaHei"/>
              </a:rPr>
              <a:t> [</a:t>
            </a:r>
            <a:r>
              <a:rPr lang="en-US" altLang="zh-CN" sz="863" b="1" dirty="0">
                <a:solidFill>
                  <a:srgbClr val="2563EB"/>
                </a:solidFill>
                <a:latin typeface="Microsoft YaHei"/>
                <a:ea typeface="Microsoft YaHei"/>
              </a:rPr>
              <a:t>10</a:t>
            </a:r>
            <a:r>
              <a:rPr lang="en-US" sz="863" b="1" dirty="0">
                <a:solidFill>
                  <a:srgbClr val="2563EB"/>
                </a:solidFill>
                <a:latin typeface="Microsoft YaHei"/>
                <a:ea typeface="Microsoft YaHei"/>
              </a:rPr>
              <a:t>,</a:t>
            </a:r>
            <a:r>
              <a:rPr lang="en-US" altLang="zh-CN" sz="863" b="1" dirty="0">
                <a:solidFill>
                  <a:srgbClr val="2563EB"/>
                </a:solidFill>
                <a:latin typeface="Microsoft YaHei"/>
                <a:ea typeface="Microsoft YaHei"/>
              </a:rPr>
              <a:t>42</a:t>
            </a:r>
            <a:r>
              <a:rPr lang="en-US" sz="863" b="1" dirty="0">
                <a:solidFill>
                  <a:srgbClr val="2563EB"/>
                </a:solidFill>
                <a:latin typeface="Microsoft YaHei"/>
                <a:ea typeface="Microsoft YaHei"/>
              </a:rPr>
              <a:t>) </a:t>
            </a:r>
            <a:r>
              <a:rPr lang="en-US" altLang="zh-CN" sz="863" b="1" dirty="0">
                <a:solidFill>
                  <a:srgbClr val="2563EB"/>
                </a:solidFill>
                <a:latin typeface="Microsoft YaHei"/>
                <a:ea typeface="Microsoft YaHei"/>
              </a:rPr>
              <a:t>32</a:t>
            </a:r>
            <a:r>
              <a:rPr lang="zh-CN" sz="863" b="1" dirty="0">
                <a:solidFill>
                  <a:srgbClr val="2563EB"/>
                </a:solidFill>
                <a:latin typeface="Microsoft YaHei"/>
                <a:ea typeface="Microsoft YaHei"/>
              </a:rPr>
              <a:t>帧</a:t>
            </a:r>
            <a:endParaRPr dirty="0"/>
          </a:p>
        </p:txBody>
      </p:sp>
      <p:sp>
        <p:nvSpPr>
          <p:cNvPr id="43" name="文本框 42" descr="{&quot;isTemplate&quot;:true,&quot;type&quot;:&quot;text&quot;}"/>
          <p:cNvSpPr txBox="1"/>
          <p:nvPr/>
        </p:nvSpPr>
        <p:spPr>
          <a:xfrm>
            <a:off x="5095875" y="4143375"/>
            <a:ext cx="1714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350" b="1">
                <a:solidFill>
                  <a:srgbClr val="94A3B8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44" name="圆角矩形 43"/>
          <p:cNvSpPr/>
          <p:nvPr/>
        </p:nvSpPr>
        <p:spPr>
          <a:xfrm>
            <a:off x="5334000" y="4029075"/>
            <a:ext cx="1257300" cy="438150"/>
          </a:xfrm>
          <a:prstGeom prst="roundRect">
            <a:avLst>
              <a:gd name="adj" fmla="val 13043"/>
            </a:avLst>
          </a:prstGeom>
          <a:solidFill>
            <a:srgbClr val="2563EB">
              <a:alpha val="8000"/>
            </a:srgbClr>
          </a:solidFill>
          <a:ln w="12700">
            <a:solidFill>
              <a:srgbClr val="0891B2">
                <a:alpha val="3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文本框 44" descr="{&quot;isTemplate&quot;:true,&quot;type&quot;:&quot;text&quot;}"/>
          <p:cNvSpPr txBox="1"/>
          <p:nvPr/>
        </p:nvSpPr>
        <p:spPr>
          <a:xfrm>
            <a:off x="5657850" y="4076700"/>
            <a:ext cx="619125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30000"/>
              </a:lnSpc>
            </a:pPr>
            <a:r>
              <a:rPr lang="zh-CN" sz="863" b="1" dirty="0">
                <a:solidFill>
                  <a:srgbClr val="0891B2"/>
                </a:solidFill>
                <a:latin typeface="Microsoft YaHei"/>
                <a:ea typeface="Microsoft YaHei"/>
              </a:rPr>
              <a:t>左移</a:t>
            </a:r>
            <a:r>
              <a:rPr lang="en-US" sz="863" b="1" dirty="0">
                <a:solidFill>
                  <a:srgbClr val="0891B2"/>
                </a:solidFill>
                <a:latin typeface="Microsoft YaHei"/>
                <a:ea typeface="Microsoft YaHei"/>
              </a:rPr>
              <a:t> </a:t>
            </a:r>
            <a:r>
              <a:rPr lang="en-US" altLang="zh-CN" sz="863" b="1" dirty="0">
                <a:solidFill>
                  <a:srgbClr val="0891B2"/>
                </a:solidFill>
                <a:latin typeface="Microsoft YaHei"/>
                <a:ea typeface="Microsoft YaHei"/>
              </a:rPr>
              <a:t>32</a:t>
            </a:r>
            <a:r>
              <a:rPr lang="zh-CN" sz="863" b="1" dirty="0">
                <a:solidFill>
                  <a:srgbClr val="0891B2"/>
                </a:solidFill>
                <a:latin typeface="Microsoft YaHei"/>
                <a:ea typeface="Microsoft YaHei"/>
              </a:rPr>
              <a:t>帧</a:t>
            </a:r>
            <a:r>
              <a:rPr sz="863" b="1" dirty="0">
                <a:solidFill>
                  <a:srgbClr val="0891B2"/>
                </a:solidFill>
                <a:latin typeface="Microsoft YaHei"/>
                <a:ea typeface="Microsoft YaHei"/>
              </a:rPr>
              <a:t>
</a:t>
            </a:r>
            <a:r>
              <a:rPr lang="zh-CN" sz="863" b="1" dirty="0">
                <a:solidFill>
                  <a:srgbClr val="0891B2"/>
                </a:solidFill>
                <a:latin typeface="Microsoft YaHei"/>
                <a:ea typeface="Microsoft YaHei"/>
              </a:rPr>
              <a:t>末</a:t>
            </a:r>
            <a:r>
              <a:rPr lang="en-US" altLang="zh-CN" sz="863" b="1" dirty="0">
                <a:solidFill>
                  <a:srgbClr val="0891B2"/>
                </a:solidFill>
                <a:latin typeface="Microsoft YaHei"/>
                <a:ea typeface="Microsoft YaHei"/>
              </a:rPr>
              <a:t>10</a:t>
            </a:r>
            <a:r>
              <a:rPr lang="zh-CN" sz="863" b="1" dirty="0">
                <a:solidFill>
                  <a:srgbClr val="0891B2"/>
                </a:solidFill>
                <a:latin typeface="Microsoft YaHei"/>
                <a:ea typeface="Microsoft YaHei"/>
              </a:rPr>
              <a:t>帧留缓存</a:t>
            </a:r>
            <a:endParaRPr dirty="0"/>
          </a:p>
        </p:txBody>
      </p:sp>
      <p:sp>
        <p:nvSpPr>
          <p:cNvPr id="46" name="圆角矩形 45"/>
          <p:cNvSpPr/>
          <p:nvPr/>
        </p:nvSpPr>
        <p:spPr>
          <a:xfrm>
            <a:off x="7105650" y="1238250"/>
            <a:ext cx="4514850" cy="3743325"/>
          </a:xfrm>
          <a:prstGeom prst="roundRect">
            <a:avLst>
              <a:gd name="adj" fmla="val 2545"/>
            </a:avLst>
          </a:prstGeom>
          <a:solidFill>
            <a:srgbClr val="FFFFFF">
              <a:alpha val="78000"/>
            </a:srgbClr>
          </a:solidFill>
          <a:ln w="12700">
            <a:solidFill>
              <a:srgbClr val="CBD5E1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文本框 46" descr="{&quot;isTemplate&quot;:true,&quot;type&quot;:&quot;text&quot;}"/>
          <p:cNvSpPr txBox="1"/>
          <p:nvPr/>
        </p:nvSpPr>
        <p:spPr>
          <a:xfrm>
            <a:off x="7277100" y="1390650"/>
            <a:ext cx="41719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293B"/>
                </a:solidFill>
                <a:latin typeface="Microsoft YaHei"/>
                <a:ea typeface="Microsoft YaHei"/>
              </a:rPr>
              <a:t>③ Embedding </a:t>
            </a:r>
            <a:r>
              <a:rPr lang="zh-CN" sz="1125" b="1">
                <a:solidFill>
                  <a:srgbClr val="1E293B"/>
                </a:solidFill>
                <a:latin typeface="Microsoft YaHei"/>
                <a:ea typeface="Microsoft YaHei"/>
              </a:rPr>
              <a:t>切分示意图</a:t>
            </a:r>
            <a:endParaRPr/>
          </a:p>
        </p:txBody>
      </p:sp>
      <p:sp>
        <p:nvSpPr>
          <p:cNvPr id="48" name="文本框 47" descr="{&quot;isTemplate&quot;:true,&quot;type&quot;:&quot;text&quot;}"/>
          <p:cNvSpPr txBox="1"/>
          <p:nvPr/>
        </p:nvSpPr>
        <p:spPr>
          <a:xfrm>
            <a:off x="7277100" y="1657350"/>
            <a:ext cx="4171950" cy="4191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embedding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按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与音频帧数相关的维度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切分，单帧片段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=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维度长度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/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输入音频帧总数。</a:t>
            </a:r>
            <a:endParaRPr/>
          </a:p>
        </p:txBody>
      </p:sp>
      <p:sp>
        <p:nvSpPr>
          <p:cNvPr id="49" name="圆角矩形 48"/>
          <p:cNvSpPr/>
          <p:nvPr/>
        </p:nvSpPr>
        <p:spPr>
          <a:xfrm>
            <a:off x="7277100" y="2952750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0" name="文本框 49" descr="{&quot;isTemplate&quot;:true,&quot;type&quot;:&quot;text&quot;}"/>
          <p:cNvSpPr txBox="1"/>
          <p:nvPr/>
        </p:nvSpPr>
        <p:spPr>
          <a:xfrm>
            <a:off x="7458075" y="2952750"/>
            <a:ext cx="733425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视频帧对应音频</a:t>
            </a:r>
            <a:endParaRPr/>
          </a:p>
        </p:txBody>
      </p:sp>
      <p:sp>
        <p:nvSpPr>
          <p:cNvPr id="51" name="圆角矩形 50"/>
          <p:cNvSpPr/>
          <p:nvPr/>
        </p:nvSpPr>
        <p:spPr>
          <a:xfrm>
            <a:off x="8324850" y="2952750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BFDBFE"/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文本框 51" descr="{&quot;isTemplate&quot;:true,&quot;type&quot;:&quot;text&quot;}"/>
          <p:cNvSpPr txBox="1"/>
          <p:nvPr/>
        </p:nvSpPr>
        <p:spPr>
          <a:xfrm>
            <a:off x="8505825" y="2952750"/>
            <a:ext cx="6286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窗口内上下文</a:t>
            </a:r>
            <a:endParaRPr/>
          </a:p>
        </p:txBody>
      </p:sp>
      <p:sp>
        <p:nvSpPr>
          <p:cNvPr id="53" name="圆角矩形 52"/>
          <p:cNvSpPr/>
          <p:nvPr/>
        </p:nvSpPr>
        <p:spPr>
          <a:xfrm>
            <a:off x="9267825" y="2952750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E2E8F0"/>
          </a:solidFill>
          <a:ln w="12700">
            <a:solidFill>
              <a:srgbClr val="94A3B8">
                <a:alpha val="5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文本框 53" descr="{&quot;isTemplate&quot;:true,&quot;type&quot;:&quot;text&quot;}"/>
          <p:cNvSpPr txBox="1"/>
          <p:nvPr/>
        </p:nvSpPr>
        <p:spPr>
          <a:xfrm>
            <a:off x="9448800" y="2952750"/>
            <a:ext cx="523875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音频帧序列</a:t>
            </a:r>
            <a:endParaRPr/>
          </a:p>
        </p:txBody>
      </p:sp>
      <p:sp>
        <p:nvSpPr>
          <p:cNvPr id="55" name="文本框 54" descr="{&quot;isTemplate&quot;:true,&quot;type&quot;:&quot;text&quot;}"/>
          <p:cNvSpPr txBox="1"/>
          <p:nvPr/>
        </p:nvSpPr>
        <p:spPr>
          <a:xfrm>
            <a:off x="7277100" y="3219450"/>
            <a:ext cx="4171950" cy="4000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863">
                <a:solidFill>
                  <a:srgbClr val="475569"/>
                </a:solidFill>
                <a:latin typeface="Microsoft YaHei"/>
                <a:ea typeface="Microsoft YaHei"/>
              </a:rPr>
              <a:t>一帧视频对应两帧音频，取其</a:t>
            </a:r>
            <a:r>
              <a:rPr lang="en-US" sz="863">
                <a:solidFill>
                  <a:srgbClr val="475569"/>
                </a:solidFill>
                <a:latin typeface="Microsoft YaHei"/>
                <a:ea typeface="Microsoft YaHei"/>
              </a:rPr>
              <a:t> embedding </a:t>
            </a:r>
            <a:r>
              <a:rPr lang="zh-CN" sz="863">
                <a:solidFill>
                  <a:srgbClr val="475569"/>
                </a:solidFill>
                <a:latin typeface="Microsoft YaHei"/>
                <a:ea typeface="Microsoft YaHei"/>
              </a:rPr>
              <a:t>作基础特征；再以该中心</a:t>
            </a:r>
            <a:r>
              <a:rPr lang="zh-CN" sz="863" b="1">
                <a:solidFill>
                  <a:srgbClr val="2563EB"/>
                </a:solidFill>
                <a:latin typeface="Microsoft YaHei"/>
                <a:ea typeface="Microsoft YaHei"/>
              </a:rPr>
              <a:t>截取长度为</a:t>
            </a:r>
            <a:r>
              <a:rPr lang="en-US" sz="863" b="1">
                <a:solidFill>
                  <a:srgbClr val="2563EB"/>
                </a:solidFill>
                <a:latin typeface="Microsoft YaHei"/>
                <a:ea typeface="Microsoft YaHei"/>
              </a:rPr>
              <a:t> winsize </a:t>
            </a:r>
            <a:r>
              <a:rPr lang="zh-CN" sz="863" b="1">
                <a:solidFill>
                  <a:srgbClr val="2563EB"/>
                </a:solidFill>
                <a:latin typeface="Microsoft YaHei"/>
                <a:ea typeface="Microsoft YaHei"/>
              </a:rPr>
              <a:t>的滑动窗口</a:t>
            </a:r>
            <a:r>
              <a:rPr lang="zh-CN" sz="863">
                <a:solidFill>
                  <a:srgbClr val="475569"/>
                </a:solidFill>
                <a:latin typeface="Microsoft YaHei"/>
                <a:ea typeface="Microsoft YaHei"/>
              </a:rPr>
              <a:t>，组合后作为当前视频帧的音频输入。</a:t>
            </a:r>
            <a:endParaRPr/>
          </a:p>
        </p:txBody>
      </p:sp>
      <p:sp>
        <p:nvSpPr>
          <p:cNvPr id="56" name="圆角矩形 55"/>
          <p:cNvSpPr/>
          <p:nvPr/>
        </p:nvSpPr>
        <p:spPr>
          <a:xfrm>
            <a:off x="7334250" y="2305050"/>
            <a:ext cx="247650" cy="438150"/>
          </a:xfrm>
          <a:prstGeom prst="roundRect">
            <a:avLst>
              <a:gd name="adj" fmla="val 11538"/>
            </a:avLst>
          </a:prstGeom>
          <a:solidFill>
            <a:srgbClr val="E2E8F0"/>
          </a:solidFill>
          <a:ln w="12700">
            <a:solidFill>
              <a:srgbClr val="94A3B8">
                <a:alpha val="5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圆角矩形 56"/>
          <p:cNvSpPr/>
          <p:nvPr/>
        </p:nvSpPr>
        <p:spPr>
          <a:xfrm>
            <a:off x="7620000" y="2305050"/>
            <a:ext cx="247650" cy="438150"/>
          </a:xfrm>
          <a:prstGeom prst="roundRect">
            <a:avLst>
              <a:gd name="adj" fmla="val 11538"/>
            </a:avLst>
          </a:prstGeom>
          <a:solidFill>
            <a:srgbClr val="E2E8F0"/>
          </a:solidFill>
          <a:ln w="12700">
            <a:solidFill>
              <a:srgbClr val="94A3B8">
                <a:alpha val="5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圆角矩形 57"/>
          <p:cNvSpPr/>
          <p:nvPr/>
        </p:nvSpPr>
        <p:spPr>
          <a:xfrm>
            <a:off x="7905750" y="2305050"/>
            <a:ext cx="247650" cy="438150"/>
          </a:xfrm>
          <a:prstGeom prst="roundRect">
            <a:avLst>
              <a:gd name="adj" fmla="val 11538"/>
            </a:avLst>
          </a:prstGeom>
          <a:solidFill>
            <a:srgbClr val="BFDBFE"/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圆角矩形 58"/>
          <p:cNvSpPr/>
          <p:nvPr/>
        </p:nvSpPr>
        <p:spPr>
          <a:xfrm>
            <a:off x="8191500" y="2305050"/>
            <a:ext cx="247650" cy="438150"/>
          </a:xfrm>
          <a:prstGeom prst="roundRect">
            <a:avLst>
              <a:gd name="adj" fmla="val 11538"/>
            </a:avLst>
          </a:prstGeom>
          <a:solidFill>
            <a:srgbClr val="BFDBFE"/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圆角矩形 59"/>
          <p:cNvSpPr/>
          <p:nvPr/>
        </p:nvSpPr>
        <p:spPr>
          <a:xfrm>
            <a:off x="8477250" y="2305050"/>
            <a:ext cx="247650" cy="438150"/>
          </a:xfrm>
          <a:prstGeom prst="roundRect">
            <a:avLst>
              <a:gd name="adj" fmla="val 11538"/>
            </a:avLst>
          </a:prstGeom>
          <a:solidFill>
            <a:srgbClr val="2563EB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圆角矩形 60"/>
          <p:cNvSpPr/>
          <p:nvPr/>
        </p:nvSpPr>
        <p:spPr>
          <a:xfrm>
            <a:off x="8763000" y="2305050"/>
            <a:ext cx="247650" cy="438150"/>
          </a:xfrm>
          <a:prstGeom prst="roundRect">
            <a:avLst>
              <a:gd name="adj" fmla="val 11538"/>
            </a:avLst>
          </a:prstGeom>
          <a:solidFill>
            <a:srgbClr val="2563EB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圆角矩形 61"/>
          <p:cNvSpPr/>
          <p:nvPr/>
        </p:nvSpPr>
        <p:spPr>
          <a:xfrm>
            <a:off x="9048750" y="2305050"/>
            <a:ext cx="247650" cy="438150"/>
          </a:xfrm>
          <a:prstGeom prst="roundRect">
            <a:avLst>
              <a:gd name="adj" fmla="val 11538"/>
            </a:avLst>
          </a:prstGeom>
          <a:solidFill>
            <a:srgbClr val="BFDBFE"/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圆角矩形 62"/>
          <p:cNvSpPr/>
          <p:nvPr/>
        </p:nvSpPr>
        <p:spPr>
          <a:xfrm>
            <a:off x="9334500" y="2305050"/>
            <a:ext cx="247650" cy="438150"/>
          </a:xfrm>
          <a:prstGeom prst="roundRect">
            <a:avLst>
              <a:gd name="adj" fmla="val 11538"/>
            </a:avLst>
          </a:prstGeom>
          <a:solidFill>
            <a:srgbClr val="BFDBFE"/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圆角矩形 63"/>
          <p:cNvSpPr/>
          <p:nvPr/>
        </p:nvSpPr>
        <p:spPr>
          <a:xfrm>
            <a:off x="9620250" y="2305050"/>
            <a:ext cx="247650" cy="438150"/>
          </a:xfrm>
          <a:prstGeom prst="roundRect">
            <a:avLst>
              <a:gd name="adj" fmla="val 11538"/>
            </a:avLst>
          </a:prstGeom>
          <a:solidFill>
            <a:srgbClr val="E2E8F0"/>
          </a:solidFill>
          <a:ln w="12700">
            <a:solidFill>
              <a:srgbClr val="94A3B8">
                <a:alpha val="5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" name="圆角矩形 64"/>
          <p:cNvSpPr/>
          <p:nvPr/>
        </p:nvSpPr>
        <p:spPr>
          <a:xfrm>
            <a:off x="9906000" y="2305050"/>
            <a:ext cx="247650" cy="438150"/>
          </a:xfrm>
          <a:prstGeom prst="roundRect">
            <a:avLst>
              <a:gd name="adj" fmla="val 11538"/>
            </a:avLst>
          </a:prstGeom>
          <a:solidFill>
            <a:srgbClr val="E2E8F0"/>
          </a:solidFill>
          <a:ln w="12700">
            <a:solidFill>
              <a:srgbClr val="94A3B8">
                <a:alpha val="5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" name="圆角矩形 65"/>
          <p:cNvSpPr/>
          <p:nvPr/>
        </p:nvSpPr>
        <p:spPr>
          <a:xfrm>
            <a:off x="10191750" y="2305050"/>
            <a:ext cx="247650" cy="438150"/>
          </a:xfrm>
          <a:prstGeom prst="roundRect">
            <a:avLst>
              <a:gd name="adj" fmla="val 11538"/>
            </a:avLst>
          </a:prstGeom>
          <a:solidFill>
            <a:srgbClr val="E2E8F0"/>
          </a:solidFill>
          <a:ln w="12700">
            <a:solidFill>
              <a:srgbClr val="94A3B8">
                <a:alpha val="5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" name="圆角矩形 66"/>
          <p:cNvSpPr/>
          <p:nvPr/>
        </p:nvSpPr>
        <p:spPr>
          <a:xfrm>
            <a:off x="10477500" y="2305050"/>
            <a:ext cx="247650" cy="438150"/>
          </a:xfrm>
          <a:prstGeom prst="roundRect">
            <a:avLst>
              <a:gd name="adj" fmla="val 11538"/>
            </a:avLst>
          </a:prstGeom>
          <a:solidFill>
            <a:srgbClr val="E2E8F0"/>
          </a:solidFill>
          <a:ln w="12700">
            <a:solidFill>
              <a:srgbClr val="94A3B8">
                <a:alpha val="5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圆角矩形 67"/>
          <p:cNvSpPr/>
          <p:nvPr/>
        </p:nvSpPr>
        <p:spPr>
          <a:xfrm>
            <a:off x="7905750" y="2286000"/>
            <a:ext cx="1676400" cy="476250"/>
          </a:xfrm>
          <a:prstGeom prst="roundRect">
            <a:avLst>
              <a:gd name="adj" fmla="val 12000"/>
            </a:avLst>
          </a:prstGeom>
          <a:solidFill>
            <a:srgbClr val="2563EB">
              <a:alpha val="7000"/>
            </a:srgbClr>
          </a:solidFill>
          <a:ln w="25400">
            <a:solidFill>
              <a:srgbClr val="2563EB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69" name="文本框 68" descr="{&quot;isTemplate&quot;:true,&quot;type&quot;:&quot;text&quot;}"/>
          <p:cNvSpPr txBox="1"/>
          <p:nvPr/>
        </p:nvSpPr>
        <p:spPr>
          <a:xfrm>
            <a:off x="7905750" y="2114550"/>
            <a:ext cx="167640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825" b="1">
                <a:solidFill>
                  <a:srgbClr val="2563EB"/>
                </a:solidFill>
                <a:latin typeface="Microsoft YaHei"/>
                <a:ea typeface="Microsoft YaHei"/>
              </a:rPr>
              <a:t>特征窗口</a:t>
            </a:r>
            <a:r>
              <a:rPr lang="en-US" sz="825" b="1">
                <a:solidFill>
                  <a:srgbClr val="2563EB"/>
                </a:solidFill>
                <a:latin typeface="Microsoft YaHei"/>
                <a:ea typeface="Microsoft YaHei"/>
              </a:rPr>
              <a:t> winsize</a:t>
            </a:r>
            <a:r>
              <a:rPr lang="zh-CN" sz="825" b="1">
                <a:solidFill>
                  <a:srgbClr val="2563EB"/>
                </a:solidFill>
                <a:latin typeface="Microsoft YaHei"/>
                <a:ea typeface="Microsoft YaHei"/>
              </a:rPr>
              <a:t>（滑动截取）</a:t>
            </a:r>
            <a:endParaRPr/>
          </a:p>
        </p:txBody>
      </p:sp>
      <p:sp>
        <p:nvSpPr>
          <p:cNvPr id="70" name="文本框 69" descr="{&quot;isTemplate&quot;:true,&quot;type&quot;:&quot;text&quot;}"/>
          <p:cNvSpPr txBox="1"/>
          <p:nvPr/>
        </p:nvSpPr>
        <p:spPr>
          <a:xfrm>
            <a:off x="8239125" y="2781300"/>
            <a:ext cx="1047750" cy="12382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788" b="1">
                <a:solidFill>
                  <a:srgbClr val="1E293B"/>
                </a:solidFill>
                <a:latin typeface="Microsoft YaHei"/>
                <a:ea typeface="Microsoft YaHei"/>
              </a:rPr>
              <a:t>一帧视频</a:t>
            </a:r>
            <a:r>
              <a:rPr lang="en-US" sz="788" b="1">
                <a:solidFill>
                  <a:srgbClr val="1E293B"/>
                </a:solidFill>
                <a:latin typeface="Microsoft YaHei"/>
                <a:ea typeface="Microsoft YaHei"/>
              </a:rPr>
              <a:t> = </a:t>
            </a:r>
            <a:r>
              <a:rPr lang="zh-CN" sz="788" b="1">
                <a:solidFill>
                  <a:srgbClr val="1E293B"/>
                </a:solidFill>
                <a:latin typeface="Microsoft YaHei"/>
                <a:ea typeface="Microsoft YaHei"/>
              </a:rPr>
              <a:t>两帧音频</a:t>
            </a:r>
            <a:endParaRPr/>
          </a:p>
        </p:txBody>
      </p:sp>
      <p:sp>
        <p:nvSpPr>
          <p:cNvPr id="71" name="圆角矩形 70"/>
          <p:cNvSpPr/>
          <p:nvPr/>
        </p:nvSpPr>
        <p:spPr>
          <a:xfrm>
            <a:off x="571500" y="5114925"/>
            <a:ext cx="11049000" cy="1476375"/>
          </a:xfrm>
          <a:prstGeom prst="roundRect">
            <a:avLst>
              <a:gd name="adj" fmla="val 6452"/>
            </a:avLst>
          </a:prstGeom>
          <a:solidFill>
            <a:srgbClr val="FFFFFF">
              <a:alpha val="78000"/>
            </a:srgbClr>
          </a:solidFill>
          <a:ln w="12700">
            <a:solidFill>
              <a:srgbClr val="CBD5E1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2" name="文本框 71" descr="{&quot;isTemplate&quot;:true,&quot;type&quot;:&quot;text&quot;}"/>
          <p:cNvSpPr txBox="1"/>
          <p:nvPr/>
        </p:nvSpPr>
        <p:spPr>
          <a:xfrm>
            <a:off x="742950" y="5210175"/>
            <a:ext cx="14001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E293B"/>
                </a:solidFill>
                <a:latin typeface="Microsoft YaHei"/>
                <a:ea typeface="Microsoft YaHei"/>
              </a:rPr>
              <a:t>④ </a:t>
            </a:r>
            <a:r>
              <a:rPr lang="zh-CN" sz="975" b="1">
                <a:solidFill>
                  <a:srgbClr val="1E293B"/>
                </a:solidFill>
                <a:latin typeface="Microsoft YaHei"/>
                <a:ea typeface="Microsoft YaHei"/>
              </a:rPr>
              <a:t>主流音频模型参数对比</a:t>
            </a:r>
            <a:endParaRPr/>
          </a:p>
        </p:txBody>
      </p:sp>
      <p:sp>
        <p:nvSpPr>
          <p:cNvPr id="73" name="文本框 72" descr="{&quot;isTemplate&quot;:true,&quot;type&quot;:&quot;text&quot;}"/>
          <p:cNvSpPr txBox="1"/>
          <p:nvPr/>
        </p:nvSpPr>
        <p:spPr>
          <a:xfrm>
            <a:off x="2257425" y="5219700"/>
            <a:ext cx="3038475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63">
                <a:solidFill>
                  <a:srgbClr val="64748B"/>
                </a:solidFill>
                <a:latin typeface="Microsoft YaHei"/>
                <a:ea typeface="Microsoft YaHei"/>
              </a:rPr>
              <a:t>一帧视频对应的</a:t>
            </a:r>
            <a:r>
              <a:rPr lang="en-US" sz="863">
                <a:solidFill>
                  <a:srgbClr val="64748B"/>
                </a:solidFill>
                <a:latin typeface="Microsoft YaHei"/>
                <a:ea typeface="Microsoft YaHei"/>
              </a:rPr>
              <a:t> embedding </a:t>
            </a:r>
            <a:r>
              <a:rPr lang="zh-CN" sz="863">
                <a:solidFill>
                  <a:srgbClr val="64748B"/>
                </a:solidFill>
                <a:latin typeface="Microsoft YaHei"/>
                <a:ea typeface="Microsoft YaHei"/>
              </a:rPr>
              <a:t>维度长度</a:t>
            </a:r>
            <a:r>
              <a:rPr lang="en-US" sz="863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863">
                <a:solidFill>
                  <a:srgbClr val="64748B"/>
                </a:solidFill>
                <a:latin typeface="Microsoft YaHei"/>
                <a:ea typeface="Microsoft YaHei"/>
              </a:rPr>
              <a:t>特征窗口长度</a:t>
            </a:r>
            <a:r>
              <a:rPr lang="en-US" sz="863">
                <a:solidFill>
                  <a:srgbClr val="64748B"/>
                </a:solidFill>
                <a:latin typeface="Microsoft YaHei"/>
                <a:ea typeface="Microsoft YaHei"/>
              </a:rPr>
              <a:t> winsize</a:t>
            </a:r>
            <a:endParaRPr/>
          </a:p>
        </p:txBody>
      </p:sp>
      <p:sp>
        <p:nvSpPr>
          <p:cNvPr id="74" name="圆角矩形 73"/>
          <p:cNvSpPr/>
          <p:nvPr/>
        </p:nvSpPr>
        <p:spPr>
          <a:xfrm>
            <a:off x="742950" y="5419725"/>
            <a:ext cx="10706100" cy="257175"/>
          </a:xfrm>
          <a:prstGeom prst="roundRect">
            <a:avLst>
              <a:gd name="adj" fmla="val 14815"/>
            </a:avLst>
          </a:prstGeom>
          <a:solidFill>
            <a:srgbClr val="F1F5F9">
              <a:alpha val="8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5" name="文本框 74" descr="{&quot;isTemplate&quot;:true,&quot;type&quot;:&quot;text&quot;}"/>
          <p:cNvSpPr txBox="1"/>
          <p:nvPr/>
        </p:nvSpPr>
        <p:spPr>
          <a:xfrm>
            <a:off x="742950" y="5476875"/>
            <a:ext cx="29718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938" b="1">
                <a:solidFill>
                  <a:srgbClr val="334155"/>
                </a:solidFill>
                <a:latin typeface="Microsoft YaHei"/>
                <a:ea typeface="Microsoft YaHei"/>
              </a:rPr>
              <a:t>音频模型</a:t>
            </a:r>
            <a:endParaRPr/>
          </a:p>
        </p:txBody>
      </p:sp>
      <p:sp>
        <p:nvSpPr>
          <p:cNvPr id="76" name="文本框 75" descr="{&quot;isTemplate&quot;:true,&quot;type&quot;:&quot;text&quot;}"/>
          <p:cNvSpPr txBox="1"/>
          <p:nvPr/>
        </p:nvSpPr>
        <p:spPr>
          <a:xfrm>
            <a:off x="3714750" y="5476875"/>
            <a:ext cx="386715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938" b="1">
                <a:solidFill>
                  <a:srgbClr val="334155"/>
                </a:solidFill>
                <a:latin typeface="Microsoft YaHei"/>
                <a:ea typeface="Microsoft YaHei"/>
              </a:rPr>
              <a:t>每视频帧</a:t>
            </a:r>
            <a:r>
              <a:rPr lang="en-US" sz="938" b="1">
                <a:solidFill>
                  <a:srgbClr val="334155"/>
                </a:solidFill>
                <a:latin typeface="Microsoft YaHei"/>
                <a:ea typeface="Microsoft YaHei"/>
              </a:rPr>
              <a:t> embedding </a:t>
            </a:r>
            <a:r>
              <a:rPr lang="zh-CN" sz="938" b="1">
                <a:solidFill>
                  <a:srgbClr val="334155"/>
                </a:solidFill>
                <a:latin typeface="Microsoft YaHei"/>
                <a:ea typeface="Microsoft YaHei"/>
              </a:rPr>
              <a:t>维度</a:t>
            </a:r>
            <a:endParaRPr/>
          </a:p>
        </p:txBody>
      </p:sp>
      <p:sp>
        <p:nvSpPr>
          <p:cNvPr id="77" name="文本框 76" descr="{&quot;isTemplate&quot;:true,&quot;type&quot;:&quot;text&quot;}"/>
          <p:cNvSpPr txBox="1"/>
          <p:nvPr/>
        </p:nvSpPr>
        <p:spPr>
          <a:xfrm>
            <a:off x="7581900" y="5476875"/>
            <a:ext cx="386715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938" b="1">
                <a:solidFill>
                  <a:srgbClr val="334155"/>
                </a:solidFill>
                <a:latin typeface="Microsoft YaHei"/>
                <a:ea typeface="Microsoft YaHei"/>
              </a:rPr>
              <a:t>特征窗口</a:t>
            </a:r>
            <a:r>
              <a:rPr lang="en-US" sz="938" b="1">
                <a:solidFill>
                  <a:srgbClr val="334155"/>
                </a:solidFill>
                <a:latin typeface="Microsoft YaHei"/>
                <a:ea typeface="Microsoft YaHei"/>
              </a:rPr>
              <a:t> winsize</a:t>
            </a:r>
            <a:endParaRPr/>
          </a:p>
        </p:txBody>
      </p:sp>
      <p:sp>
        <p:nvSpPr>
          <p:cNvPr id="78" name="任意形状 77"/>
          <p:cNvSpPr/>
          <p:nvPr/>
        </p:nvSpPr>
        <p:spPr>
          <a:xfrm>
            <a:off x="742950" y="5676900"/>
            <a:ext cx="10706100" cy="285750"/>
          </a:xfrm>
          <a:custGeom>
            <a:avLst/>
            <a:gdLst/>
            <a:ahLst/>
            <a:cxnLst/>
            <a:rect l="0" t="0" r="0" b="0"/>
            <a:pathLst>
              <a:path w="1124" h="30">
                <a:moveTo>
                  <a:pt x="0" y="29"/>
                </a:moveTo>
                <a:lnTo>
                  <a:pt x="1124" y="29"/>
                </a:lnTo>
                <a:lnTo>
                  <a:pt x="1124" y="30"/>
                </a:lnTo>
                <a:lnTo>
                  <a:pt x="0" y="30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9" name="文本框 78" descr="{&quot;isTemplate&quot;:true,&quot;type&quot;:&quot;text&quot;}"/>
          <p:cNvSpPr txBox="1"/>
          <p:nvPr/>
        </p:nvSpPr>
        <p:spPr>
          <a:xfrm>
            <a:off x="742950" y="5734050"/>
            <a:ext cx="29718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en-US" sz="975" b="1">
                <a:solidFill>
                  <a:srgbClr val="2563EB"/>
                </a:solidFill>
                <a:latin typeface="Microsoft YaHei"/>
                <a:ea typeface="Microsoft YaHei"/>
              </a:rPr>
              <a:t>Mel</a:t>
            </a:r>
            <a:endParaRPr/>
          </a:p>
        </p:txBody>
      </p:sp>
      <p:sp>
        <p:nvSpPr>
          <p:cNvPr id="80" name="文本框 79" descr="{&quot;isTemplate&quot;:true,&quot;type&quot;:&quot;text&quot;}"/>
          <p:cNvSpPr txBox="1"/>
          <p:nvPr/>
        </p:nvSpPr>
        <p:spPr>
          <a:xfrm>
            <a:off x="3714750" y="5734050"/>
            <a:ext cx="38671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en-US" sz="975">
                <a:solidFill>
                  <a:srgbClr val="1E293B"/>
                </a:solidFill>
                <a:latin typeface="Microsoft YaHei"/>
                <a:ea typeface="Microsoft YaHei"/>
              </a:rPr>
              <a:t>80 / 25</a:t>
            </a:r>
            <a:endParaRPr/>
          </a:p>
        </p:txBody>
      </p:sp>
      <p:sp>
        <p:nvSpPr>
          <p:cNvPr id="81" name="文本框 80" descr="{&quot;isTemplate&quot;:true,&quot;type&quot;:&quot;text&quot;}"/>
          <p:cNvSpPr txBox="1"/>
          <p:nvPr/>
        </p:nvSpPr>
        <p:spPr>
          <a:xfrm>
            <a:off x="7581900" y="5734050"/>
            <a:ext cx="38671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en-US" sz="975">
                <a:solidFill>
                  <a:srgbClr val="1E293B"/>
                </a:solidFill>
                <a:latin typeface="Microsoft YaHei"/>
                <a:ea typeface="Microsoft YaHei"/>
              </a:rPr>
              <a:t>16</a:t>
            </a:r>
            <a:endParaRPr/>
          </a:p>
        </p:txBody>
      </p:sp>
      <p:sp>
        <p:nvSpPr>
          <p:cNvPr id="82" name="任意形状 81"/>
          <p:cNvSpPr/>
          <p:nvPr/>
        </p:nvSpPr>
        <p:spPr>
          <a:xfrm>
            <a:off x="742950" y="5953125"/>
            <a:ext cx="10706100" cy="285750"/>
          </a:xfrm>
          <a:custGeom>
            <a:avLst/>
            <a:gdLst/>
            <a:ahLst/>
            <a:cxnLst/>
            <a:rect l="0" t="0" r="0" b="0"/>
            <a:pathLst>
              <a:path w="1124" h="30">
                <a:moveTo>
                  <a:pt x="0" y="29"/>
                </a:moveTo>
                <a:lnTo>
                  <a:pt x="1124" y="29"/>
                </a:lnTo>
                <a:lnTo>
                  <a:pt x="1124" y="30"/>
                </a:lnTo>
                <a:lnTo>
                  <a:pt x="0" y="30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3" name="文本框 82" descr="{&quot;isTemplate&quot;:true,&quot;type&quot;:&quot;text&quot;}"/>
          <p:cNvSpPr txBox="1"/>
          <p:nvPr/>
        </p:nvSpPr>
        <p:spPr>
          <a:xfrm>
            <a:off x="742950" y="6010275"/>
            <a:ext cx="29718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en-US" sz="975" b="1">
                <a:solidFill>
                  <a:srgbClr val="2563EB"/>
                </a:solidFill>
                <a:latin typeface="Microsoft YaHei"/>
                <a:ea typeface="Microsoft YaHei"/>
              </a:rPr>
              <a:t>Whisper</a:t>
            </a:r>
            <a:endParaRPr/>
          </a:p>
        </p:txBody>
      </p:sp>
      <p:sp>
        <p:nvSpPr>
          <p:cNvPr id="84" name="文本框 83" descr="{&quot;isTemplate&quot;:true,&quot;type&quot;:&quot;text&quot;}"/>
          <p:cNvSpPr txBox="1"/>
          <p:nvPr/>
        </p:nvSpPr>
        <p:spPr>
          <a:xfrm>
            <a:off x="3714750" y="6010275"/>
            <a:ext cx="38671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en-US" sz="975">
                <a:solidFill>
                  <a:srgbClr val="1E293B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85" name="文本框 84" descr="{&quot;isTemplate&quot;:true,&quot;type&quot;:&quot;text&quot;}"/>
          <p:cNvSpPr txBox="1"/>
          <p:nvPr/>
        </p:nvSpPr>
        <p:spPr>
          <a:xfrm>
            <a:off x="7581900" y="6010275"/>
            <a:ext cx="38671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en-US" sz="975">
                <a:solidFill>
                  <a:srgbClr val="1E293B"/>
                </a:solidFill>
                <a:latin typeface="Microsoft YaHei"/>
                <a:ea typeface="Microsoft YaHei"/>
              </a:rPr>
              <a:t>10</a:t>
            </a:r>
            <a:endParaRPr/>
          </a:p>
        </p:txBody>
      </p:sp>
      <p:sp>
        <p:nvSpPr>
          <p:cNvPr id="86" name="文本框 85" descr="{&quot;isTemplate&quot;:true,&quot;type&quot;:&quot;text&quot;}"/>
          <p:cNvSpPr txBox="1"/>
          <p:nvPr/>
        </p:nvSpPr>
        <p:spPr>
          <a:xfrm>
            <a:off x="742950" y="6286500"/>
            <a:ext cx="29718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en-US" sz="975" b="1">
                <a:solidFill>
                  <a:srgbClr val="2563EB"/>
                </a:solidFill>
                <a:latin typeface="Microsoft YaHei"/>
                <a:ea typeface="Microsoft YaHei"/>
              </a:rPr>
              <a:t>HuBert</a:t>
            </a:r>
            <a:endParaRPr/>
          </a:p>
        </p:txBody>
      </p:sp>
      <p:sp>
        <p:nvSpPr>
          <p:cNvPr id="87" name="文本框 86" descr="{&quot;isTemplate&quot;:true,&quot;type&quot;:&quot;text&quot;}"/>
          <p:cNvSpPr txBox="1"/>
          <p:nvPr/>
        </p:nvSpPr>
        <p:spPr>
          <a:xfrm>
            <a:off x="3714750" y="6286500"/>
            <a:ext cx="38671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en-US" sz="975">
                <a:solidFill>
                  <a:srgbClr val="1E293B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88" name="文本框 87" descr="{&quot;isTemplate&quot;:true,&quot;type&quot;:&quot;text&quot;}"/>
          <p:cNvSpPr txBox="1"/>
          <p:nvPr/>
        </p:nvSpPr>
        <p:spPr>
          <a:xfrm>
            <a:off x="7581900" y="6286500"/>
            <a:ext cx="38671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en-US" sz="975">
                <a:solidFill>
                  <a:srgbClr val="1E293B"/>
                </a:solidFill>
                <a:latin typeface="Microsoft YaHei"/>
                <a:ea typeface="Microsoft YaHei"/>
              </a:rPr>
              <a:t>10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transparent', padding: '70px 60px 28px', flexDirection: 'column' }}&gt;&#10;    &lt;Image src=&quot;resources/images/gvp_background.jpg&quot; style={{ position: 'absolute', top: 0, left: 0, width: 1280, height: 720, objectFit: 'cover', }} /&gt;&#10;&#10;    &#10;    &lt;Box style={{ zIndex: 1, height: 46, flexDirection: 'column', gap: 2 }}&gt;&#10;        &lt;Box style={{ flexDirection: 'row', alignItems: 'center', gap: 10 }}&gt;&#10;            &lt;Text style={{ fontSize: 27, fontWeight: 'bold', color: '#1E293B' }}&gt;音频特征流式计算&lt;/Text&gt;&#10;            &lt;Box style={{ background: 'rgba(37, 99, 235, 0.12)', borderRadius: 4, padding: '2px 10px' }}&gt;&#10;                &lt;Text style={{ fontSize: 12, color: '#2563EB', fontWeight: 'bold' }}&gt;Audio Feat&lt;/Text&gt;&#10;            &lt;/Box&gt;&#10;        &lt;/Box&gt;&#10;        &lt;Text style={{ fontSize: 13, color: '#475569' }}&gt;Mel / Whisper / Hubert 特征的实时提取 · Embedding 切分与滑动窗口&lt;/Text&gt;&#10;    &lt;/Box&gt;&#10;&#10;    &#10;    &lt;Box style={{ zIndex: 1, flex: 1, flexDirection: 'row', gap: 36, marginTop: 14 }}&gt;&#10;&#10;        &#10;        &lt;Box style={{ width: 650, flexDirection: 'column', gap: 14 }}&gt;&#10;            &lt;Box style={{ background: 'rgba(255, 255, 255, 0.78)', borderRadius: 10, border: '1px solid rgba(203, 213, 225, 0.6)', padding: '16px 18px', flexDirection: 'column', gap: 12 }}&gt;&#10;                &lt;Text style={{ fontSize: 15, fontWeight: 'bold', color: '#1E293B' }}&gt;① 流式队列与前后缓存策略&lt;/Text&gt;&#10;                &lt;Text style={{ fontSize: 12.5, color: '#475569', lineHeight: 1.55 }}&gt;&#10;                    离线系统一次性提取全文件特征以利用长时序上下文；实时系统流式输入，无法获取完整音频，故采用&lt;Text style={{ color: '#2563EB', fontWeight: 'bold' }}&gt;前后缓存&lt;/Text&gt;仅保留当前帧附近数据来构建相关性，并严格控制缓存量以降低延时。&#10;                &lt;/Text&gt;&#10;                &#10;                &lt;Box style={{ flexDirection: 'row', gap: 10 }}&gt;&#10;                    {[&#10;                        { k: 'stride_left_size', v: 6, t: '前向缓存帧数' },&#10;                        { k: 'stride_right_size', v: 8, t: '后向缓存帧数' },&#10;                        { k: 'batch', v: 16, t: '每批处理帧数' }&#10;                    ].map((p, i) =&gt; (&#10;                        &lt;Box key={i} style={{ flex: 1, background: 'rgba(37, 99, 235, 0.06)', borderRadius: 6, padding: '8px 10px', border: '1px solid rgba(37, 99, 235, 0.2)' }}&gt;&#10;                            &lt;Text style={{ fontSize: 11, color: '#475569' }}&gt;{p.k}&lt;/Text&gt;&#10;                            &lt;Text style={{ fontSize: 18, fontWeight: 'bold', color: '#2563EB' }}&gt;={p.v}&lt;/Text&gt;&#10;                            &lt;Text style={{ fontSize: 10, color: '#64748B' }}&gt;{p.t}&lt;/Text&gt;&#10;                        &lt;/Box&gt;&#10;                    ))}&#10;                &lt;/Box&gt;&#10;                &lt;Text style={{ fontSize: 12, color: '#475569', lineHeight: 1.5 }}&gt;&#10;                    初始化时 frames 队列预插 &lt;span style={{ color: '#2563EB', fontWeight: 'bold' }}&gt;6+8=14&lt;/span&gt; 帧、output_queue 预插 8 帧；前 6 帧仅作上下文不参与驱动，后 8 帧衔接后续流式数据。&#10;                &lt;/Text&gt;&#10;            &lt;/Box&gt;&#10;&#10;            &#10;            &lt;Box style={{ background: 'rgba(255, 255, 255, 0.78)', borderRadius: 10, border: '1px solid rgba(203, 213, 225, 0.6)', padding: '14px 18px', flexDirection: 'column', gap: 8 }}&gt;&#10;                &lt;Text style={{ fontSize: 13, fontWeight: 'bold', color: '#1E293B' }}&gt;② 单批次处理流程（batch = 16）&lt;/Text&gt;&#10;                &lt;Box style={{ flexDirection: 'row', alignItems: 'center', justifyContent: 'space-between' }}&gt;&#10;                    {[&#10;                        { t: '输入 16 帧', c: '#0891B2' },&#10;                        { t: 'frames 队列\n14+16=30', c: '#2563EB' },&#10;                        { t: '特征计算\n取 [6,22) 16帧', c: '#2563EB' },&#10;                        { t: '左移 16 帧\n末8帧留缓存', c: '#0891B2' }&#10;                    ].map((b, i) =&gt; (&#10;                        &lt;Box key={i} style={{ flexDirection: 'row', alignItems: 'center', gap: 4 }}&gt;&#10;                            &lt;Box style={{ width: 132, minHeight: 46, background: i % 2 === 0 ? 'rgba(8, 145, 178, 0.08)' : 'rgba(37, 99, 235, 0.08)', borderRadius: 6, border: `1px solid ${b.c === '#0891B2' ? 'rgba(8,145,178,0.35)' : 'rgba(37,99,235,0.35)'}`, justifyContent: 'center', alignItems: 'center', padding: '4px 6px' }}&gt;&#10;                                &lt;Text style={{ fontSize: 11.5, fontWeight: 'bold', color: b.c, textAlign: 'center', lineHeight: 1.3 }}&gt;{b.t.split('\n').map((l, j) =&gt; &lt;span key={j}&gt;{l}{j &lt; b.t.split('\n').length - 1 ? &lt;br /&gt; : null}&lt;/span&gt;)}&lt;/Text&gt;&#10;                            &lt;/Box&gt;&#10;                            {i &lt; 3 ? &lt;Text style={{ fontSize: 18, color: '#94A3B8', fontWeight: 'bold' }}&gt;→&lt;/Text&gt; : null}&#10;                        &lt;/Box&gt;&#10;                    ))}&#10;                &lt;/Box&gt;&#10;            &lt;/Box&gt;&#10;        &lt;/Box&gt;&#10;&#10;        &#10;        &lt;Box style={{ flex: 1, background: 'rgba(255, 255, 255, 0.78)', borderRadius: 10, border: '1px solid rgba(203, 213, 225, 0.6)', padding: '16px 18px', flexDirection: 'column', gap: 10 }}&gt;&#10;            &lt;Text style={{ fontSize: 15, fontWeight: 'bold', color: '#1E293B' }}&gt;③ Embedding 切分示意图&lt;/Text&gt;&#10;            &lt;Text style={{ fontSize: 12, color: '#475569', lineHeight: 1.5 }}&gt;&#10;                embedding 按&quot;与音频帧数相关的维度&quot;切分，单帧片段 = 维度长度 / 输入音频帧总数。&#10;            &lt;/Text&gt;&#10;&#10;            &#10;            &lt;Box style={{ position: 'relative', width: 356, height: 56, marginTop: 14, marginLeft: 6 }}&gt;&#10;                &#10;                &lt;Box style={{ flexDirection: 'row', gap: 4 }}&gt;&#10;                    {Array.from({ length: 12 }).map((_, i) =&gt; {&#10;                        const inWin = i &gt;= 2 &amp;&amp; i &lt;= 7;&#10;                        const isVF = i === 4 || i === 5;&#10;                        let bg = '#E2E8F0', bd = 'rgba(148,163,184,0.5)';&#10;                        if (inWin) { bg = '#BFDBFE'; bd = 'rgba(37,99,235,0.4)'; }&#10;                        if (isVF) { bg = '#2563EB'; bd = '#1D4ED8'; }&#10;                        return (&#10;                            &lt;Box key={i} style={{ width: 26, height: 46, borderRadius: 3, background: bg, border: `1px solid ${bd}` }} /&gt;&#10;                        );&#10;                    })}&#10;                &lt;/Box&gt;&#10;                &#10;                &lt;Box style={{ position: 'absolute', left: 60, top: -2, width: 176, height: 50, borderRadius: 6, border: '2px dashed #2563EB', background: 'rgba(37, 99, 235, 0.07)' }} /&gt;&#10;                &#10;                &lt;Text style={{ position: 'absolute', left: 60, top: -20, width: 176, textAlign: 'center', fontSize: 11, fontWeight: 'bold', color: '#2563EB' }}&gt;特征窗口 winsize（滑动截取）&lt;/Text&gt;&#10;                &#10;                &lt;Text style={{ position: 'absolute', left: 95, top: 50, width: 110, textAlign: 'center', fontSize: 10.5, fontWeight: 'bold', color: '#1E293B' }}&gt;一帧视频 = 两帧音频&lt;/Text&gt;&#10;            &lt;/Box&gt;&#10;&#10;            &#10;            &lt;Box style={{ flexDirection: 'row', gap: 14, marginTop: 2 }}&gt;&#10;                &lt;Box style={{ flexDirection: 'row', alignItems: 'center', gap: 5 }}&gt;&#10;                    &lt;Box style={{ width: 14, height: 14, borderRadius: 3, background: '#2563EB' }} /&gt;&#10;                    &lt;Text style={{ fontSize: 11, color: '#475569' }}&gt;视频帧对应音频&lt;/Text&gt;&#10;                &lt;/Box&gt;&#10;                &lt;Box style={{ flexDirection: 'row', alignItems: 'center', gap: 5 }}&gt;&#10;                    &lt;Box style={{ width: 14, height: 14, borderRadius: 3, background: '#BFDBFE', border: '1px solid rgba(37,99,235,0.4)' }} /&gt;&#10;                    &lt;Text style={{ fontSize: 11, color: '#475569' }}&gt;窗口内上下文&lt;/Text&gt;&#10;                &lt;/Box&gt;&#10;                &lt;Box style={{ flexDirection: 'row', alignItems: 'center', gap: 5 }}&gt;&#10;                    &lt;Box style={{ width: 14, height: 14, borderRadius: 3, background: '#E2E8F0', border: '1px solid rgba(148,163,184,0.5)' }} /&gt;&#10;                    &lt;Text style={{ fontSize: 11, color: '#475569' }}&gt;音频帧序列&lt;/Text&gt;&#10;                &lt;/Box&gt;&#10;            &lt;/Box&gt;&#10;&#10;            &lt;Text style={{ fontSize: 11.5, color: '#475569', lineHeight: 1.5, marginTop: 4 }}&gt;&#10;                一帧视频对应两帧音频，取其 embedding 作基础特征；再以该中心&lt;span style={{ color: '#2563EB', fontWeight: 'bold' }}&gt;截取长度为 winsize 的滑动窗口&lt;/span&gt;，组合后作为当前视频帧的音频输入。&#10;            &lt;/Text&gt;&#10;        &lt;/Box&gt;&#10;    &lt;/Box&gt;&#10;&#10;    &#10;    &lt;Box style={{ zIndex: 1, marginTop: 14, background: 'rgba(255, 255, 255, 0.78)', borderRadius: 10, border: '1px solid rgba(203, 213, 225, 0.6)', padding: '10px 18px' }}&gt;&#10;        &lt;Box style={{ flexDirection: 'row', alignItems: 'center', marginBottom: 6 }}&gt;&#10;            &lt;Text style={{ fontSize: 13, fontWeight: 'bold', color: '#1E293B' }}&gt;④ 主流音频模型参数对比&lt;/Text&gt;&#10;            &lt;Text style={{ fontSize: 11.5, color: '#64748B', marginLeft: 12 }}&gt;一帧视频对应的 embedding 维度长度 · 特征窗口长度 winsize&lt;/Text&gt;&#10;        &lt;/Box&gt;&#10;        &lt;Box style={{ flexDirection: 'column' }}&gt;&#10;            &#10;            &lt;Box style={{ flexDirection: 'row', background: 'rgba(241, 245, 249, 0.85)', borderRadius: 4, padding: '6px 0' }}&gt;&#10;                {['音频模型', '每视频帧 embedding 维度', '特征窗口 winsize'].map((h, i) =&gt; (&#10;                    &lt;Text key={i} style={{ flex: i === 0 ? 1 : 1.3, textAlign: 'center', fontSize: 12.5, fontWeight: 'bold', color: '#334155' }}&gt;{h}&lt;/Text&gt;&#10;                ))}&#10;            &lt;/Box&gt;&#10;            {[&#10;                { m: 'Mel', d: '80 / 25', w: 16 },&#10;                { m: 'Whisper', d: '2', w: 10 },&#10;                { m: 'HuBert', d: '2', w: 10 }&#10;            ].map((r, i) =&gt; (&#10;                &lt;Box key={i} style={{ flexDirection: 'row', borderBottom: i &lt; 2 ? '1px solid #E2E8F0' : 'none', padding: '6px 0' }}&gt;&#10;                    &lt;Text style={{ flex: 1, textAlign: 'center', fontSize: 13, fontWeight: 'bold', color: '#2563EB' }}&gt;{r.m}&lt;/Text&gt;&#10;                    &lt;Text style={{ flex: 1.3, textAlign: 'center', fontSize: 13, color: '#1E293B' }}&gt;{r.d}&lt;/Text&gt;&#10;                    &lt;Text style={{ flex: 1.3, textAlign: 'center', fontSize: 13, color: '#1E293B' }}&gt;{r.w}&lt;/Text&gt;&#10;                &lt;/Box&gt;&#10;            ))}&#10;        &lt;/Box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3" name="文本框 12" descr="{&quot;isTemplate&quot;:true,&quot;type&quot;:&quot;text&quot;}"/>
          <p:cNvSpPr txBox="1"/>
          <p:nvPr/>
        </p:nvSpPr>
        <p:spPr>
          <a:xfrm>
            <a:off x="571500" y="666750"/>
            <a:ext cx="2057400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025" b="1">
                <a:solidFill>
                  <a:srgbClr val="1E293B"/>
                </a:solidFill>
                <a:latin typeface="Microsoft YaHei"/>
                <a:ea typeface="Microsoft YaHei"/>
              </a:rPr>
              <a:t>音频特征流式计算</a:t>
            </a:r>
            <a:endParaRPr/>
          </a:p>
        </p:txBody>
      </p:sp>
      <p:sp>
        <p:nvSpPr>
          <p:cNvPr id="14" name="圆角矩形 13"/>
          <p:cNvSpPr/>
          <p:nvPr/>
        </p:nvSpPr>
        <p:spPr>
          <a:xfrm>
            <a:off x="2724150" y="733425"/>
            <a:ext cx="790575" cy="180975"/>
          </a:xfrm>
          <a:prstGeom prst="roundRect">
            <a:avLst>
              <a:gd name="adj" fmla="val 21053"/>
            </a:avLst>
          </a:prstGeom>
          <a:solidFill>
            <a:srgbClr val="2563EB">
              <a:alpha val="1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文本框 14" descr="{&quot;isTemplate&quot;:true,&quot;type&quot;:&quot;text&quot;}"/>
          <p:cNvSpPr txBox="1"/>
          <p:nvPr/>
        </p:nvSpPr>
        <p:spPr>
          <a:xfrm>
            <a:off x="2819400" y="752475"/>
            <a:ext cx="60007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2563EB"/>
                </a:solidFill>
                <a:latin typeface="Microsoft YaHei"/>
                <a:ea typeface="Microsoft YaHei"/>
              </a:rPr>
              <a:t>Audio Feat</a:t>
            </a:r>
            <a:endParaRPr/>
          </a:p>
        </p:txBody>
      </p:sp>
      <p:sp>
        <p:nvSpPr>
          <p:cNvPr id="16" name="文本框 15" descr="{&quot;isTemplate&quot;:true,&quot;type&quot;:&quot;text&quot;}"/>
          <p:cNvSpPr txBox="1"/>
          <p:nvPr/>
        </p:nvSpPr>
        <p:spPr>
          <a:xfrm>
            <a:off x="571500" y="1000125"/>
            <a:ext cx="110490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Mel / Whisper / Hubert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特征的实时提取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· Embedding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切分与滑动窗口</a:t>
            </a:r>
            <a:endParaRPr/>
          </a:p>
        </p:txBody>
      </p:sp>
      <p:sp>
        <p:nvSpPr>
          <p:cNvPr id="78" name="任意形状 77"/>
          <p:cNvSpPr/>
          <p:nvPr/>
        </p:nvSpPr>
        <p:spPr>
          <a:xfrm>
            <a:off x="742950" y="5676900"/>
            <a:ext cx="10706100" cy="285750"/>
          </a:xfrm>
          <a:custGeom>
            <a:avLst/>
            <a:gdLst/>
            <a:ahLst/>
            <a:cxnLst/>
            <a:rect l="0" t="0" r="0" b="0"/>
            <a:pathLst>
              <a:path w="1124" h="30">
                <a:moveTo>
                  <a:pt x="0" y="29"/>
                </a:moveTo>
                <a:lnTo>
                  <a:pt x="1124" y="29"/>
                </a:lnTo>
                <a:lnTo>
                  <a:pt x="1124" y="30"/>
                </a:lnTo>
                <a:lnTo>
                  <a:pt x="0" y="30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2" name="任意形状 81"/>
          <p:cNvSpPr/>
          <p:nvPr/>
        </p:nvSpPr>
        <p:spPr>
          <a:xfrm>
            <a:off x="742950" y="5953125"/>
            <a:ext cx="10706100" cy="285750"/>
          </a:xfrm>
          <a:custGeom>
            <a:avLst/>
            <a:gdLst/>
            <a:ahLst/>
            <a:cxnLst/>
            <a:rect l="0" t="0" r="0" b="0"/>
            <a:pathLst>
              <a:path w="1124" h="30">
                <a:moveTo>
                  <a:pt x="0" y="29"/>
                </a:moveTo>
                <a:lnTo>
                  <a:pt x="1124" y="29"/>
                </a:lnTo>
                <a:lnTo>
                  <a:pt x="1124" y="30"/>
                </a:lnTo>
                <a:lnTo>
                  <a:pt x="0" y="30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D4C2645-B5D7-5D48-88F3-56E57604D4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1252" y="1647825"/>
            <a:ext cx="7556500" cy="389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6559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transparent', padding: '90px 72px 16px', flexDirection: 'column' }}&gt;&#10;    &lt;Image src=&quot;resources/images/gvp_background.jpg&quot; style={{ position: 'absolute', top: 0, left: 0, width: 1280, height: 720, objectFit: 'cover', }} /&gt;&#10;    &lt;Box style={{ zIndex: 1,  height: 80, flexDirection: 'column', gap: 4, justifyContent: 'center' }}&gt;&#10;        &lt;Text style={{ fontSize: 36, fontWeight: 'bold', color: '#1E293B' }}&gt;四线程 + 一协程并发架构&lt;/Text&gt;&#10;        &lt;Text style={{ fontSize: 16, color: '#475569' }}&gt;TTS 合成 / GPU 推理 / CPU 贴图 / 网络拉流隔离，最大化硬件利用率&lt;/Text&gt;&#10;    &lt;/Box&gt;&#10;    &lt;Box style={{ zIndex: 1,  flexDirection: 'row', gap: 12, marginTop: 12, height: 340 }}&gt;&#10;        &lt;Box style={{ flex: 1, background: 'transparent', borderRadius: 12, padding: 16, flexDirection: 'column', gap: 10, border: '1px solid #2563EB' }}&gt;&#10;            &lt;Box style={{ flexDirection: 'row', alignItems: 'center', gap: 10 }}&gt;&#10;                &lt;Box style={{ width: 40, height: 40, borderRadius: 10, background: 'rgba(37, 99, 235,0.15)', justifyContent: 'center', alignItems: 'center' }}&gt;&#10;                    &lt;Image src='resources/images/icons/icon_cog_2563EB.png' style={{ width: 22, height: 22 }} /&gt;&#10;                &lt;/Box&gt;&#10;                &lt;Box style={{ flexDirection: 'column' }}&gt;&#10;                    &lt;Text style={{ fontSize: 13, color: '#0891B2', fontWeight: '600' }}&gt;Thread 1&lt;/Text&gt;&#10;                    &lt;Text style={{ fontSize: 18, fontWeight: 'bold', color: '#1E293B' }}&gt;Render 主控&lt;/Text&gt;&#10;                &lt;/Box&gt;&#10;            &lt;/Box&gt;&#10;            &lt;Text style={{ fontSize: 13, color: '#475569', lineHeight: 1.5 }}&gt;执行 asr.run_step() 音频特征提取，监控缓冲区状态，发现下游过载时 sleep 等待（背压控制）&lt;/Text&gt;&#10;            &lt;Box style={{ marginTop: 6, padding: 10, background: 'transparent', borderRadius: 8 }}&gt;&#10;                &lt;Text style={{ fontSize: 12, color: '#2563EB' }}&gt;核心职责&lt;/Text&gt;&#10;                &lt;Text style={{ fontSize: 12, color: '#1E293B', marginTop: 2 }}&gt;调度协调 · 背压控制&lt;/Text&gt;&#10;            &lt;/Box&gt;&#10;        &lt;/Box&gt;&#10;        &lt;Box style={{ flex: 1, background: 'transparent', borderRadius: 12, padding: 16, flexDirection: 'column', gap: 10, border: '1px solid #0891B2' }}&gt;&#10;            &lt;Box style={{ flexDirection: 'row', alignItems: 'center', gap: 10 }}&gt;&#10;                &lt;Box style={{ width: 40, height: 40, borderRadius: 10, background: 'rgba(8, 145, 178,0.15)', justifyContent: 'center', alignItems: 'center' }}&gt;&#10;                    &lt;Image src='resources/images/icons/icon_microphone_0891B2.png' style={{ width: 22, height: 22 }} /&gt;&#10;                &lt;/Box&gt;&#10;                &lt;Box style={{ flexDirection: 'column' }}&gt;&#10;                    &lt;Text style={{ fontSize: 13, color: '#EA580C', fontWeight: '600' }}&gt;Thread TTS&lt;/Text&gt;&#10;                    &lt;Text style={{ fontSize: 18, fontWeight: 'bold', color: '#1E293B' }}&gt;TTS 合成&lt;/Text&gt;&#10;                &lt;/Box&gt;&#10;            &lt;/Box&gt;&#10;            &lt;Text style={{ fontSize: 13, color: '#475569', lineHeight: 1.5 }}&gt;tts.render() 起的独立线程：从 msgqueue 取文本 → txt_to_audio 合成 16k PCM → 切片后 put_audio_frame 推音频帧&lt;/Text&gt;&#10;            &lt;Box style={{ marginTop: 6, padding: 10, background: 'transparent', borderRadius: 8 }}&gt;&#10;                &lt;Text style={{ fontSize: 12, color: '#0891B2' }}&gt;核心职责&lt;/Text&gt;&#10;                &lt;Text style={{ fontSize: 12, color: '#1E293B', marginTop: 2 }}&gt;文本合成 · 音频产出&lt;/Text&gt;&#10;            &lt;/Box&gt;&#10;        &lt;/Box&gt;&#10;        &lt;Box style={{ flex: 1, background: 'transparent', borderRadius: 12, padding: 16, flexDirection: 'column', gap: 10, border: '1px solid #0891B2' }}&gt;&#10;            &lt;Box style={{ flexDirection: 'row', alignItems: 'center', gap: 10 }}&gt;&#10;                &lt;Box style={{ width: 40, height: 40, borderRadius: 10, background: 'rgba(8, 145, 178,0.15)', justifyContent: 'center', alignItems: 'center' }}&gt;&#10;                    &lt;Image src='resources/images/icons/icon_bolt_0891B2.png' style={{ width: 22, height: 22 }} /&gt;&#10;                &lt;/Box&gt;&#10;                &lt;Box style={{ flexDirection: 'column' }}&gt;&#10;                    &lt;Text style={{ fontSize: 13, color: '#0891B2', fontWeight: '600' }}&gt;Thread 2&lt;/Text&gt;&#10;                    &lt;Text style={{ fontSize: 18, fontWeight: 'bold', color: '#1E293B' }}&gt;Inference GPU&lt;/Text&gt;&#10;                &lt;/Box&gt;&#10;            &lt;/Box&gt;&#10;            &lt;Text style={{ fontSize: 13, color: '#475569', lineHeight: 1.5 }}&gt;阻塞队列等待音频特征 → 批量前向传播（batch=16），一次推理产出 16 帧，保障 GPU 发挥最大算力&lt;/Text&gt;&#10;            &lt;Box style={{ marginTop: 6, padding: 10, background: 'transparent', borderRadius: 8 }}&gt;&#10;                &lt;Text style={{ fontSize: 12, color: '#0891B2' }}&gt;核心职责&lt;/Text&gt;&#10;                &lt;Text style={{ fontSize: 12, color: '#1E293B', marginTop: 2 }}&gt;批量推理 · GPU 最大化&lt;/Text&gt;&#10;            &lt;/Box&gt;&#10;        &lt;/Box&gt;&#10;        &lt;Box style={{ flex: 1, background: 'transparent', borderRadius: 12, padding: 16, flexDirection: 'column', gap: 10, border: '1px solid #2563EB' }}&gt;&#10;            &lt;Box style={{ flexDirection: 'row', alignItems: 'center', gap: 10 }}&gt;&#10;                &lt;Box style={{ width: 40, height: 40, borderRadius: 10, background: 'rgba(37, 99, 235,0.15)', justifyContent: 'center', alignItems: 'center' }}&gt;&#10;                    &lt;Image src='resources/images/icons/icon_layer-group_2563EB.png' style={{ width: 22, height: 22 }} /&gt;&#10;                &lt;/Box&gt;&#10;                &lt;Box style={{ flexDirection: 'column' }}&gt;&#10;                    &lt;Text style={{ fontSize: 13, color: '#0891B2', fontWeight: '600' }}&gt;Thread 3&lt;/Text&gt;&#10;                    &lt;Text style={{ fontSize: 18, fontWeight: 'bold', color: '#1E293B' }}&gt;Process CPU&lt;/Text&gt;&#10;                &lt;/Box&gt;&#10;            &lt;/Box&gt;&#10;            &lt;Text style={{ fontSize: 13, color: '#475569', lineHeight: 1.5 }}&gt;OpenCV 贴图拼合、Alpha 融合、画面过渡，隔离 CPU 操作不拖慢 GPU 推理&lt;/Text&gt;&#10;            &lt;Box style={{ marginTop: 6, padding: 10, background: 'transparent', borderRadius: 8 }}&gt;&#10;                &lt;Text style={{ fontSize: 12, color: '#2563EB' }}&gt;核心职责&lt;/Text&gt;&#10;                &lt;Text style={{ fontSize: 12, color: '#1E293B', marginTop: 2 }}&gt;贴图合帧 · 视频后处理&lt;/Text&gt;&#10;            &lt;/Box&gt;&#10;        &lt;/Box&gt;&#10;        &lt;Box style={{ flex: 1, background: 'transparent', borderRadius: 12, padding: 16, flexDirection: 'column', gap: 10, border: '1px solid #0891B2' }}&gt;&#10;            &lt;Box style={{ flexDirection: 'row', alignItems: 'center', gap: 10 }}&gt;&#10;                &lt;Box style={{ width: 40, height: 40, borderRadius: 10, background: 'rgba(8, 145, 178,0.15)', justifyContent: 'center', alignItems: 'center' }}&gt;&#10;                    &lt;Image src='resources/images/icons/icon_network-wired_0891B2.png' style={{ width: 22, height: 22 }} /&gt;&#10;                &lt;/Box&gt;&#10;                &lt;Box style={{ flexDirection: 'column' }}&gt;&#10;                    &lt;Text style={{ fontSize: 13, color: '#0891B2', fontWeight: '600' }}&gt;Async&lt;/Text&gt;&#10;                    &lt;Text style={{ fontSize: 18, fontWeight: 'bold', color: '#1E293B' }}&gt;WebRTC IO&lt;/Text&gt;&#10;                &lt;/Box&gt;&#10;            &lt;/Box&gt;&#10;            &lt;Text style={{ fontSize: 13, color: '#475569', lineHeight: 1.5 }}&gt;aiortc Event Loop 驱动，音频 20ms / 视频 40ms (25fps) 严格时钟触发，统一推送音视频帧&lt;/Text&gt;&#10;            &lt;Box style={{ marginTop: 6, padding: 10, background: 'transparent', borderRadius: 8 }}&gt;&#10;                &lt;Text style={{ fontSize: 12, color: '#0891B2' }}&gt;核心职责&lt;/Text&gt;&#10;                &lt;Text style={{ fontSize: 12, color: '#1E293B', marginTop: 2 }}&gt;时钟触发 · 平滑推流&lt;/Text&gt;&#10;            &lt;/Box&gt;&#10;        &lt;/Box&gt;&#10;    &lt;/Box&gt;&#10;    &lt;Box style={{ zIndex: 1,  marginTop: 16, padding: 16, background: 'transparent', borderRadius: 8, flexDirection: 'row', gap: 16, alignItems: 'center' }}&gt;&#10;        &lt;Image src='resources/images/icons/icon_lightbulb_0891B2.png' style={{ width: 24, height: 24 }} /&gt;&#10;        &lt;Text style={{ fontSize: 15, color: '#475569', lineHeight: 1.5 }}&gt;&#10;            &lt;span style={{ fontWeight: 'bold', color: '#1E293B' }}&gt;设计亮点&lt;/span&gt;：分库清晰（每线程独立职责）、流式到底（全链路无阻塞）、动静分离（GPU计算与CPU IO隔离）、管线化并流（多线程并行流水线）&#10;        &lt;/Text&gt;&#10;    &lt;/Box&gt;&#10;    &lt;Box style={{ zIndex: 1,  height: 30, flexDirection: 'row', justifyContent: 'space-between', alignItems: 'center', marginTop: 8 }}&gt;&#10;        &lt;Text style={{ fontSize: 14, color: '#475569' }}&gt;TTS 合成作为独立线程，语音产出与画面推理互不阻塞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0" name="图片 38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391" name="文本框 390" descr="{&quot;isTemplate&quot;:true,&quot;type&quot;:&quot;text&quot;}"/>
          <p:cNvSpPr txBox="1"/>
          <p:nvPr/>
        </p:nvSpPr>
        <p:spPr>
          <a:xfrm>
            <a:off x="685800" y="914400"/>
            <a:ext cx="10820400" cy="4191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E293B"/>
                </a:solidFill>
                <a:latin typeface="Microsoft YaHei"/>
                <a:ea typeface="Microsoft YaHei"/>
              </a:rPr>
              <a:t>四线程</a:t>
            </a:r>
            <a:r>
              <a:rPr lang="en-US" sz="2700" b="1">
                <a:solidFill>
                  <a:srgbClr val="1E293B"/>
                </a:solidFill>
                <a:latin typeface="Microsoft YaHei"/>
                <a:ea typeface="Microsoft YaHei"/>
              </a:rPr>
              <a:t> + </a:t>
            </a:r>
            <a:r>
              <a:rPr lang="zh-CN" sz="2700" b="1">
                <a:solidFill>
                  <a:srgbClr val="1E293B"/>
                </a:solidFill>
                <a:latin typeface="Microsoft YaHei"/>
                <a:ea typeface="Microsoft YaHei"/>
              </a:rPr>
              <a:t>一协程并发架构</a:t>
            </a:r>
            <a:endParaRPr/>
          </a:p>
        </p:txBody>
      </p:sp>
      <p:sp>
        <p:nvSpPr>
          <p:cNvPr id="392" name="文本框 391" descr="{&quot;isTemplate&quot;:true,&quot;type&quot;:&quot;text&quot;}"/>
          <p:cNvSpPr txBox="1"/>
          <p:nvPr/>
        </p:nvSpPr>
        <p:spPr>
          <a:xfrm>
            <a:off x="685800" y="1371600"/>
            <a:ext cx="108204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>TTS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合成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> / GPU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推理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> / CPU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贴图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网络拉流隔离，最大化硬件利用率</a:t>
            </a:r>
            <a:endParaRPr/>
          </a:p>
        </p:txBody>
      </p:sp>
      <p:sp>
        <p:nvSpPr>
          <p:cNvPr id="393" name="圆角矩形 392"/>
          <p:cNvSpPr/>
          <p:nvPr/>
        </p:nvSpPr>
        <p:spPr>
          <a:xfrm>
            <a:off x="685800" y="1733550"/>
            <a:ext cx="2076450" cy="3238500"/>
          </a:xfrm>
          <a:prstGeom prst="roundRect">
            <a:avLst>
              <a:gd name="adj" fmla="val 5505"/>
            </a:avLst>
          </a:prstGeom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4" name="圆角矩形 393"/>
          <p:cNvSpPr/>
          <p:nvPr/>
        </p:nvSpPr>
        <p:spPr>
          <a:xfrm>
            <a:off x="838200" y="188595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2563EB">
              <a:alpha val="15000"/>
            </a:srgbClr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95" name="图片 39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25" y="1971675"/>
            <a:ext cx="209550" cy="209550"/>
          </a:xfrm>
          <a:prstGeom prst="rect">
            <a:avLst/>
          </a:prstGeom>
          <a:ln/>
        </p:spPr>
      </p:pic>
      <p:sp>
        <p:nvSpPr>
          <p:cNvPr id="396" name="文本框 395" descr="{&quot;isTemplate&quot;:true,&quot;type&quot;:&quot;text&quot;}"/>
          <p:cNvSpPr txBox="1"/>
          <p:nvPr/>
        </p:nvSpPr>
        <p:spPr>
          <a:xfrm>
            <a:off x="1314450" y="1895475"/>
            <a:ext cx="9810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 dirty="0">
                <a:solidFill>
                  <a:srgbClr val="0891B2"/>
                </a:solidFill>
                <a:latin typeface="Microsoft YaHei"/>
                <a:ea typeface="Microsoft YaHei"/>
              </a:rPr>
              <a:t>Thread 1</a:t>
            </a:r>
            <a:endParaRPr dirty="0"/>
          </a:p>
        </p:txBody>
      </p:sp>
      <p:sp>
        <p:nvSpPr>
          <p:cNvPr id="397" name="文本框 396" descr="{&quot;isTemplate&quot;:true,&quot;type&quot;:&quot;text&quot;}"/>
          <p:cNvSpPr txBox="1"/>
          <p:nvPr/>
        </p:nvSpPr>
        <p:spPr>
          <a:xfrm>
            <a:off x="1314450" y="2047875"/>
            <a:ext cx="98107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E293B"/>
                </a:solidFill>
                <a:latin typeface="Microsoft YaHei"/>
                <a:ea typeface="Microsoft YaHei"/>
              </a:rPr>
              <a:t>Render </a:t>
            </a:r>
            <a:r>
              <a:rPr lang="zh-CN" sz="1350" b="1">
                <a:solidFill>
                  <a:srgbClr val="1E293B"/>
                </a:solidFill>
                <a:latin typeface="Microsoft YaHei"/>
                <a:ea typeface="Microsoft YaHei"/>
              </a:rPr>
              <a:t>主控</a:t>
            </a:r>
            <a:endParaRPr/>
          </a:p>
        </p:txBody>
      </p:sp>
      <p:sp>
        <p:nvSpPr>
          <p:cNvPr id="398" name="文本框 397" descr="{&quot;isTemplate&quot;:true,&quot;type&quot;:&quot;text&quot;}"/>
          <p:cNvSpPr txBox="1"/>
          <p:nvPr/>
        </p:nvSpPr>
        <p:spPr>
          <a:xfrm>
            <a:off x="838200" y="2362200"/>
            <a:ext cx="1771650" cy="6762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执行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asr.run_step()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音频特征提取，监控缓冲区状态，发现下游过载时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sleep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等待（背压控制）</a:t>
            </a:r>
            <a:endParaRPr/>
          </a:p>
        </p:txBody>
      </p:sp>
      <p:sp>
        <p:nvSpPr>
          <p:cNvPr id="399" name="圆角矩形 398"/>
          <p:cNvSpPr/>
          <p:nvPr/>
        </p:nvSpPr>
        <p:spPr>
          <a:xfrm>
            <a:off x="838200" y="3190875"/>
            <a:ext cx="1771650" cy="495300"/>
          </a:xfrm>
          <a:prstGeom prst="roundRect">
            <a:avLst>
              <a:gd name="adj" fmla="val 15385"/>
            </a:avLst>
          </a:prstGeom>
          <a:ln/>
        </p:spPr>
        <p:txBody>
          <a:bodyPr/>
          <a:lstStyle/>
          <a:p>
            <a:endParaRPr/>
          </a:p>
        </p:txBody>
      </p:sp>
      <p:sp>
        <p:nvSpPr>
          <p:cNvPr id="400" name="文本框 399" descr="{&quot;isTemplate&quot;:true,&quot;type&quot;:&quot;text&quot;}"/>
          <p:cNvSpPr txBox="1"/>
          <p:nvPr/>
        </p:nvSpPr>
        <p:spPr>
          <a:xfrm>
            <a:off x="933450" y="3286125"/>
            <a:ext cx="158115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2563EB"/>
                </a:solidFill>
                <a:latin typeface="Microsoft YaHei"/>
                <a:ea typeface="Microsoft YaHei"/>
              </a:rPr>
              <a:t>核心职责</a:t>
            </a:r>
            <a:endParaRPr/>
          </a:p>
        </p:txBody>
      </p:sp>
      <p:sp>
        <p:nvSpPr>
          <p:cNvPr id="401" name="文本框 400" descr="{&quot;isTemplate&quot;:true,&quot;type&quot;:&quot;text&quot;}"/>
          <p:cNvSpPr txBox="1"/>
          <p:nvPr/>
        </p:nvSpPr>
        <p:spPr>
          <a:xfrm>
            <a:off x="933450" y="3448050"/>
            <a:ext cx="158115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调度协调</a:t>
            </a:r>
            <a:r>
              <a:rPr lang="en-US" sz="900">
                <a:solidFill>
                  <a:srgbClr val="1E293B"/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背压控制</a:t>
            </a:r>
            <a:endParaRPr/>
          </a:p>
        </p:txBody>
      </p:sp>
      <p:sp>
        <p:nvSpPr>
          <p:cNvPr id="402" name="圆角矩形 401"/>
          <p:cNvSpPr/>
          <p:nvPr/>
        </p:nvSpPr>
        <p:spPr>
          <a:xfrm>
            <a:off x="2876550" y="1733550"/>
            <a:ext cx="2066925" cy="3238500"/>
          </a:xfrm>
          <a:prstGeom prst="roundRect">
            <a:avLst>
              <a:gd name="adj" fmla="val 5530"/>
            </a:avLst>
          </a:prstGeom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3" name="圆角矩形 402"/>
          <p:cNvSpPr/>
          <p:nvPr/>
        </p:nvSpPr>
        <p:spPr>
          <a:xfrm>
            <a:off x="3028950" y="188595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0891B2">
              <a:alpha val="15000"/>
            </a:srgbClr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04" name="图片 40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4675" y="1971675"/>
            <a:ext cx="209550" cy="209550"/>
          </a:xfrm>
          <a:prstGeom prst="rect">
            <a:avLst/>
          </a:prstGeom>
          <a:ln/>
        </p:spPr>
      </p:pic>
      <p:sp>
        <p:nvSpPr>
          <p:cNvPr id="405" name="文本框 404" descr="{&quot;isTemplate&quot;:true,&quot;type&quot;:&quot;text&quot;}"/>
          <p:cNvSpPr txBox="1"/>
          <p:nvPr/>
        </p:nvSpPr>
        <p:spPr>
          <a:xfrm>
            <a:off x="3505200" y="1895475"/>
            <a:ext cx="6953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 dirty="0">
                <a:solidFill>
                  <a:schemeClr val="accent5">
                    <a:lumMod val="75000"/>
                  </a:schemeClr>
                </a:solidFill>
                <a:latin typeface="Microsoft YaHei"/>
                <a:ea typeface="Microsoft YaHei"/>
              </a:rPr>
              <a:t>Thread 2</a:t>
            </a:r>
            <a:endParaRPr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06" name="文本框 405" descr="{&quot;isTemplate&quot;:true,&quot;type&quot;:&quot;text&quot;}"/>
          <p:cNvSpPr txBox="1"/>
          <p:nvPr/>
        </p:nvSpPr>
        <p:spPr>
          <a:xfrm>
            <a:off x="3505200" y="2047875"/>
            <a:ext cx="69532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 dirty="0">
                <a:solidFill>
                  <a:srgbClr val="1E293B"/>
                </a:solidFill>
                <a:latin typeface="Microsoft YaHei"/>
                <a:ea typeface="Microsoft YaHei"/>
              </a:rPr>
              <a:t>TTS </a:t>
            </a:r>
            <a:r>
              <a:rPr lang="zh-CN" sz="1350" b="1" dirty="0">
                <a:solidFill>
                  <a:srgbClr val="1E293B"/>
                </a:solidFill>
                <a:latin typeface="Microsoft YaHei"/>
                <a:ea typeface="Microsoft YaHei"/>
              </a:rPr>
              <a:t>合成</a:t>
            </a:r>
            <a:endParaRPr dirty="0"/>
          </a:p>
        </p:txBody>
      </p:sp>
      <p:sp>
        <p:nvSpPr>
          <p:cNvPr id="407" name="文本框 406" descr="{&quot;isTemplate&quot;:true,&quot;type&quot;:&quot;text&quot;}"/>
          <p:cNvSpPr txBox="1"/>
          <p:nvPr/>
        </p:nvSpPr>
        <p:spPr>
          <a:xfrm>
            <a:off x="3028950" y="2362200"/>
            <a:ext cx="1762125" cy="11144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975" dirty="0" err="1">
                <a:solidFill>
                  <a:srgbClr val="475569"/>
                </a:solidFill>
                <a:latin typeface="Microsoft YaHei"/>
                <a:ea typeface="Microsoft YaHei"/>
              </a:rPr>
              <a:t>tts.render</a:t>
            </a:r>
            <a:r>
              <a:rPr lang="en-US" sz="975" dirty="0">
                <a:solidFill>
                  <a:srgbClr val="475569"/>
                </a:solidFill>
                <a:latin typeface="Microsoft YaHei"/>
                <a:ea typeface="Microsoft YaHei"/>
              </a:rPr>
              <a:t>() </a:t>
            </a:r>
            <a:r>
              <a:rPr lang="zh-CN" sz="975" dirty="0">
                <a:solidFill>
                  <a:srgbClr val="475569"/>
                </a:solidFill>
                <a:latin typeface="Microsoft YaHei"/>
                <a:ea typeface="Microsoft YaHei"/>
              </a:rPr>
              <a:t>起的独立线程：从</a:t>
            </a:r>
            <a:r>
              <a:rPr lang="en-US" sz="975" dirty="0">
                <a:solidFill>
                  <a:srgbClr val="475569"/>
                </a:solidFill>
                <a:latin typeface="Microsoft YaHei"/>
                <a:ea typeface="Microsoft YaHei"/>
              </a:rPr>
              <a:t> </a:t>
            </a:r>
            <a:r>
              <a:rPr lang="en-US" sz="975" dirty="0" err="1">
                <a:solidFill>
                  <a:srgbClr val="475569"/>
                </a:solidFill>
                <a:latin typeface="Microsoft YaHei"/>
                <a:ea typeface="Microsoft YaHei"/>
              </a:rPr>
              <a:t>msgqueue</a:t>
            </a:r>
            <a:r>
              <a:rPr lang="en-US" sz="975" dirty="0">
                <a:solidFill>
                  <a:srgbClr val="475569"/>
                </a:solidFill>
                <a:latin typeface="Microsoft YaHei"/>
                <a:ea typeface="Microsoft YaHei"/>
              </a:rPr>
              <a:t> </a:t>
            </a:r>
            <a:r>
              <a:rPr lang="zh-CN" sz="975" dirty="0">
                <a:solidFill>
                  <a:srgbClr val="475569"/>
                </a:solidFill>
                <a:latin typeface="Microsoft YaHei"/>
                <a:ea typeface="Microsoft YaHei"/>
              </a:rPr>
              <a:t>取文本</a:t>
            </a:r>
            <a:r>
              <a:rPr lang="en-US" sz="975" dirty="0">
                <a:solidFill>
                  <a:srgbClr val="475569"/>
                </a:solidFill>
                <a:latin typeface="Microsoft YaHei"/>
                <a:ea typeface="Microsoft YaHei"/>
              </a:rPr>
              <a:t> → </a:t>
            </a:r>
            <a:r>
              <a:rPr lang="en-US" sz="975" dirty="0" err="1">
                <a:solidFill>
                  <a:srgbClr val="475569"/>
                </a:solidFill>
                <a:latin typeface="Microsoft YaHei"/>
                <a:ea typeface="Microsoft YaHei"/>
              </a:rPr>
              <a:t>txt_to_audio</a:t>
            </a:r>
            <a:r>
              <a:rPr lang="en-US" sz="975" dirty="0">
                <a:solidFill>
                  <a:srgbClr val="475569"/>
                </a:solidFill>
                <a:latin typeface="Microsoft YaHei"/>
                <a:ea typeface="Microsoft YaHei"/>
              </a:rPr>
              <a:t> </a:t>
            </a:r>
            <a:r>
              <a:rPr lang="zh-CN" sz="975" dirty="0">
                <a:solidFill>
                  <a:srgbClr val="475569"/>
                </a:solidFill>
                <a:latin typeface="Microsoft YaHei"/>
                <a:ea typeface="Microsoft YaHei"/>
              </a:rPr>
              <a:t>合成</a:t>
            </a:r>
            <a:r>
              <a:rPr lang="en-US" sz="975" dirty="0">
                <a:solidFill>
                  <a:srgbClr val="475569"/>
                </a:solidFill>
                <a:latin typeface="Microsoft YaHei"/>
                <a:ea typeface="Microsoft YaHei"/>
              </a:rPr>
              <a:t> 16k PCM → </a:t>
            </a:r>
            <a:r>
              <a:rPr lang="zh-CN" sz="975" dirty="0">
                <a:solidFill>
                  <a:srgbClr val="475569"/>
                </a:solidFill>
                <a:latin typeface="Microsoft YaHei"/>
                <a:ea typeface="Microsoft YaHei"/>
              </a:rPr>
              <a:t>切片后</a:t>
            </a:r>
            <a:r>
              <a:rPr lang="en-US" sz="975" dirty="0">
                <a:solidFill>
                  <a:srgbClr val="475569"/>
                </a:solidFill>
                <a:latin typeface="Microsoft YaHei"/>
                <a:ea typeface="Microsoft YaHei"/>
              </a:rPr>
              <a:t> </a:t>
            </a:r>
            <a:r>
              <a:rPr lang="en-US" sz="975" dirty="0" err="1">
                <a:solidFill>
                  <a:srgbClr val="475569"/>
                </a:solidFill>
                <a:latin typeface="Microsoft YaHei"/>
                <a:ea typeface="Microsoft YaHei"/>
              </a:rPr>
              <a:t>put_audio_frame</a:t>
            </a:r>
            <a:r>
              <a:rPr lang="en-US" sz="975" dirty="0">
                <a:solidFill>
                  <a:srgbClr val="475569"/>
                </a:solidFill>
                <a:latin typeface="Microsoft YaHei"/>
                <a:ea typeface="Microsoft YaHei"/>
              </a:rPr>
              <a:t> </a:t>
            </a:r>
            <a:r>
              <a:rPr lang="zh-CN" sz="975" dirty="0">
                <a:solidFill>
                  <a:srgbClr val="475569"/>
                </a:solidFill>
                <a:latin typeface="Microsoft YaHei"/>
                <a:ea typeface="Microsoft YaHei"/>
              </a:rPr>
              <a:t>推音频帧</a:t>
            </a:r>
            <a:endParaRPr dirty="0"/>
          </a:p>
        </p:txBody>
      </p:sp>
      <p:sp>
        <p:nvSpPr>
          <p:cNvPr id="408" name="圆角矩形 407"/>
          <p:cNvSpPr/>
          <p:nvPr/>
        </p:nvSpPr>
        <p:spPr>
          <a:xfrm>
            <a:off x="3028950" y="3629025"/>
            <a:ext cx="1762125" cy="495300"/>
          </a:xfrm>
          <a:prstGeom prst="roundRect">
            <a:avLst>
              <a:gd name="adj" fmla="val 15385"/>
            </a:avLst>
          </a:prstGeom>
          <a:ln/>
        </p:spPr>
        <p:txBody>
          <a:bodyPr/>
          <a:lstStyle/>
          <a:p>
            <a:endParaRPr/>
          </a:p>
        </p:txBody>
      </p:sp>
      <p:sp>
        <p:nvSpPr>
          <p:cNvPr id="409" name="文本框 408" descr="{&quot;isTemplate&quot;:true,&quot;type&quot;:&quot;text&quot;}"/>
          <p:cNvSpPr txBox="1"/>
          <p:nvPr/>
        </p:nvSpPr>
        <p:spPr>
          <a:xfrm>
            <a:off x="3124200" y="3724275"/>
            <a:ext cx="157162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0891B2"/>
                </a:solidFill>
                <a:latin typeface="Microsoft YaHei"/>
                <a:ea typeface="Microsoft YaHei"/>
              </a:rPr>
              <a:t>核心职责</a:t>
            </a:r>
            <a:endParaRPr/>
          </a:p>
        </p:txBody>
      </p:sp>
      <p:sp>
        <p:nvSpPr>
          <p:cNvPr id="410" name="文本框 409" descr="{&quot;isTemplate&quot;:true,&quot;type&quot;:&quot;text&quot;}"/>
          <p:cNvSpPr txBox="1"/>
          <p:nvPr/>
        </p:nvSpPr>
        <p:spPr>
          <a:xfrm>
            <a:off x="3124200" y="3886200"/>
            <a:ext cx="157162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文本合成</a:t>
            </a:r>
            <a:r>
              <a:rPr lang="en-US" sz="900">
                <a:solidFill>
                  <a:srgbClr val="1E293B"/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音频产出</a:t>
            </a:r>
            <a:endParaRPr/>
          </a:p>
        </p:txBody>
      </p:sp>
      <p:sp>
        <p:nvSpPr>
          <p:cNvPr id="411" name="圆角矩形 410"/>
          <p:cNvSpPr/>
          <p:nvPr/>
        </p:nvSpPr>
        <p:spPr>
          <a:xfrm>
            <a:off x="5057775" y="1733550"/>
            <a:ext cx="2076450" cy="3238500"/>
          </a:xfrm>
          <a:prstGeom prst="roundRect">
            <a:avLst>
              <a:gd name="adj" fmla="val 5505"/>
            </a:avLst>
          </a:prstGeom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2" name="圆角矩形 411"/>
          <p:cNvSpPr/>
          <p:nvPr/>
        </p:nvSpPr>
        <p:spPr>
          <a:xfrm>
            <a:off x="5210175" y="188595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0891B2">
              <a:alpha val="15000"/>
            </a:srgbClr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13" name="图片 4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5900" y="1971675"/>
            <a:ext cx="209550" cy="209550"/>
          </a:xfrm>
          <a:prstGeom prst="rect">
            <a:avLst/>
          </a:prstGeom>
          <a:ln/>
        </p:spPr>
      </p:pic>
      <p:sp>
        <p:nvSpPr>
          <p:cNvPr id="414" name="文本框 413" descr="{&quot;isTemplate&quot;:true,&quot;type&quot;:&quot;text&quot;}"/>
          <p:cNvSpPr txBox="1"/>
          <p:nvPr/>
        </p:nvSpPr>
        <p:spPr>
          <a:xfrm>
            <a:off x="5686425" y="1895475"/>
            <a:ext cx="11811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 dirty="0">
                <a:solidFill>
                  <a:srgbClr val="0891B2"/>
                </a:solidFill>
                <a:latin typeface="Microsoft YaHei"/>
                <a:ea typeface="Microsoft YaHei"/>
              </a:rPr>
              <a:t>Thread 3</a:t>
            </a:r>
            <a:endParaRPr dirty="0"/>
          </a:p>
        </p:txBody>
      </p:sp>
      <p:sp>
        <p:nvSpPr>
          <p:cNvPr id="415" name="文本框 414" descr="{&quot;isTemplate&quot;:true,&quot;type&quot;:&quot;text&quot;}"/>
          <p:cNvSpPr txBox="1"/>
          <p:nvPr/>
        </p:nvSpPr>
        <p:spPr>
          <a:xfrm>
            <a:off x="5686425" y="2047875"/>
            <a:ext cx="11811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E293B"/>
                </a:solidFill>
                <a:latin typeface="Microsoft YaHei"/>
                <a:ea typeface="Microsoft YaHei"/>
              </a:rPr>
              <a:t>Inference GPU</a:t>
            </a:r>
            <a:endParaRPr/>
          </a:p>
        </p:txBody>
      </p:sp>
      <p:sp>
        <p:nvSpPr>
          <p:cNvPr id="416" name="文本框 415" descr="{&quot;isTemplate&quot;:true,&quot;type&quot;:&quot;text&quot;}"/>
          <p:cNvSpPr txBox="1"/>
          <p:nvPr/>
        </p:nvSpPr>
        <p:spPr>
          <a:xfrm>
            <a:off x="5210175" y="2362200"/>
            <a:ext cx="1771650" cy="895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阻塞队列等待音频特征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→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批量前向传播（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batch=16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），一次推理产出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16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帧，保障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GPU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发挥最大算力</a:t>
            </a:r>
            <a:endParaRPr/>
          </a:p>
        </p:txBody>
      </p:sp>
      <p:sp>
        <p:nvSpPr>
          <p:cNvPr id="417" name="圆角矩形 416"/>
          <p:cNvSpPr/>
          <p:nvPr/>
        </p:nvSpPr>
        <p:spPr>
          <a:xfrm>
            <a:off x="5210175" y="3409950"/>
            <a:ext cx="1771650" cy="495300"/>
          </a:xfrm>
          <a:prstGeom prst="roundRect">
            <a:avLst>
              <a:gd name="adj" fmla="val 15385"/>
            </a:avLst>
          </a:prstGeom>
          <a:ln/>
        </p:spPr>
        <p:txBody>
          <a:bodyPr/>
          <a:lstStyle/>
          <a:p>
            <a:endParaRPr/>
          </a:p>
        </p:txBody>
      </p:sp>
      <p:sp>
        <p:nvSpPr>
          <p:cNvPr id="418" name="文本框 417" descr="{&quot;isTemplate&quot;:true,&quot;type&quot;:&quot;text&quot;}"/>
          <p:cNvSpPr txBox="1"/>
          <p:nvPr/>
        </p:nvSpPr>
        <p:spPr>
          <a:xfrm>
            <a:off x="5305425" y="3505200"/>
            <a:ext cx="158115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0891B2"/>
                </a:solidFill>
                <a:latin typeface="Microsoft YaHei"/>
                <a:ea typeface="Microsoft YaHei"/>
              </a:rPr>
              <a:t>核心职责</a:t>
            </a:r>
            <a:endParaRPr/>
          </a:p>
        </p:txBody>
      </p:sp>
      <p:sp>
        <p:nvSpPr>
          <p:cNvPr id="419" name="文本框 418" descr="{&quot;isTemplate&quot;:true,&quot;type&quot;:&quot;text&quot;}"/>
          <p:cNvSpPr txBox="1"/>
          <p:nvPr/>
        </p:nvSpPr>
        <p:spPr>
          <a:xfrm>
            <a:off x="5305425" y="3667125"/>
            <a:ext cx="158115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批量推理</a:t>
            </a:r>
            <a:r>
              <a:rPr lang="en-US" sz="900">
                <a:solidFill>
                  <a:srgbClr val="1E293B"/>
                </a:solidFill>
                <a:latin typeface="Microsoft YaHei"/>
                <a:ea typeface="Microsoft YaHei"/>
              </a:rPr>
              <a:t> · GPU </a:t>
            </a:r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最大化</a:t>
            </a:r>
            <a:endParaRPr/>
          </a:p>
        </p:txBody>
      </p:sp>
      <p:sp>
        <p:nvSpPr>
          <p:cNvPr id="420" name="圆角矩形 419"/>
          <p:cNvSpPr/>
          <p:nvPr/>
        </p:nvSpPr>
        <p:spPr>
          <a:xfrm>
            <a:off x="7248525" y="1733550"/>
            <a:ext cx="2066925" cy="3238500"/>
          </a:xfrm>
          <a:prstGeom prst="roundRect">
            <a:avLst>
              <a:gd name="adj" fmla="val 5530"/>
            </a:avLst>
          </a:prstGeom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1" name="圆角矩形 420"/>
          <p:cNvSpPr/>
          <p:nvPr/>
        </p:nvSpPr>
        <p:spPr>
          <a:xfrm>
            <a:off x="7400925" y="188595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2563EB">
              <a:alpha val="15000"/>
            </a:srgbClr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22" name="图片 4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6650" y="1971675"/>
            <a:ext cx="209550" cy="209550"/>
          </a:xfrm>
          <a:prstGeom prst="rect">
            <a:avLst/>
          </a:prstGeom>
          <a:ln/>
        </p:spPr>
      </p:pic>
      <p:sp>
        <p:nvSpPr>
          <p:cNvPr id="423" name="文本框 422" descr="{&quot;isTemplate&quot;:true,&quot;type&quot;:&quot;text&quot;}"/>
          <p:cNvSpPr txBox="1"/>
          <p:nvPr/>
        </p:nvSpPr>
        <p:spPr>
          <a:xfrm>
            <a:off x="7877175" y="1895475"/>
            <a:ext cx="10191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 dirty="0">
                <a:solidFill>
                  <a:srgbClr val="0891B2"/>
                </a:solidFill>
                <a:latin typeface="Microsoft YaHei"/>
                <a:ea typeface="Microsoft YaHei"/>
              </a:rPr>
              <a:t>Thread 4</a:t>
            </a:r>
            <a:endParaRPr dirty="0"/>
          </a:p>
        </p:txBody>
      </p:sp>
      <p:sp>
        <p:nvSpPr>
          <p:cNvPr id="424" name="文本框 423" descr="{&quot;isTemplate&quot;:true,&quot;type&quot;:&quot;text&quot;}"/>
          <p:cNvSpPr txBox="1"/>
          <p:nvPr/>
        </p:nvSpPr>
        <p:spPr>
          <a:xfrm>
            <a:off x="7877175" y="2047875"/>
            <a:ext cx="101917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E293B"/>
                </a:solidFill>
                <a:latin typeface="Microsoft YaHei"/>
                <a:ea typeface="Microsoft YaHei"/>
              </a:rPr>
              <a:t>Process CPU</a:t>
            </a:r>
            <a:endParaRPr/>
          </a:p>
        </p:txBody>
      </p:sp>
      <p:sp>
        <p:nvSpPr>
          <p:cNvPr id="425" name="文本框 424" descr="{&quot;isTemplate&quot;:true,&quot;type&quot;:&quot;text&quot;}"/>
          <p:cNvSpPr txBox="1"/>
          <p:nvPr/>
        </p:nvSpPr>
        <p:spPr>
          <a:xfrm>
            <a:off x="7400925" y="2362200"/>
            <a:ext cx="1762125" cy="6762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975" dirty="0">
                <a:solidFill>
                  <a:srgbClr val="475569"/>
                </a:solidFill>
                <a:latin typeface="Microsoft YaHei"/>
                <a:ea typeface="Microsoft YaHei"/>
              </a:rPr>
              <a:t>OpenCV </a:t>
            </a:r>
            <a:r>
              <a:rPr lang="zh-CN" sz="975" dirty="0">
                <a:solidFill>
                  <a:srgbClr val="475569"/>
                </a:solidFill>
                <a:latin typeface="Microsoft YaHei"/>
                <a:ea typeface="Microsoft YaHei"/>
              </a:rPr>
              <a:t>贴图拼合、</a:t>
            </a:r>
            <a:r>
              <a:rPr lang="en-US" sz="975" dirty="0">
                <a:solidFill>
                  <a:srgbClr val="475569"/>
                </a:solidFill>
                <a:latin typeface="Microsoft YaHei"/>
                <a:ea typeface="Microsoft YaHei"/>
              </a:rPr>
              <a:t>Alpha </a:t>
            </a:r>
            <a:r>
              <a:rPr lang="zh-CN" sz="975" dirty="0">
                <a:solidFill>
                  <a:srgbClr val="475569"/>
                </a:solidFill>
                <a:latin typeface="Microsoft YaHei"/>
                <a:ea typeface="Microsoft YaHei"/>
              </a:rPr>
              <a:t>融合、画面过渡，隔离</a:t>
            </a:r>
            <a:r>
              <a:rPr lang="en-US" sz="975" dirty="0">
                <a:solidFill>
                  <a:srgbClr val="475569"/>
                </a:solidFill>
                <a:latin typeface="Microsoft YaHei"/>
                <a:ea typeface="Microsoft YaHei"/>
              </a:rPr>
              <a:t> CPU </a:t>
            </a:r>
            <a:r>
              <a:rPr lang="zh-CN" sz="975" dirty="0">
                <a:solidFill>
                  <a:srgbClr val="475569"/>
                </a:solidFill>
                <a:latin typeface="Microsoft YaHei"/>
                <a:ea typeface="Microsoft YaHei"/>
              </a:rPr>
              <a:t>操作不拖慢</a:t>
            </a:r>
            <a:r>
              <a:rPr lang="en-US" sz="975" dirty="0">
                <a:solidFill>
                  <a:srgbClr val="475569"/>
                </a:solidFill>
                <a:latin typeface="Microsoft YaHei"/>
                <a:ea typeface="Microsoft YaHei"/>
              </a:rPr>
              <a:t> GPU </a:t>
            </a:r>
            <a:r>
              <a:rPr lang="zh-CN" sz="975" dirty="0">
                <a:solidFill>
                  <a:srgbClr val="475569"/>
                </a:solidFill>
                <a:latin typeface="Microsoft YaHei"/>
                <a:ea typeface="Microsoft YaHei"/>
              </a:rPr>
              <a:t>推理</a:t>
            </a:r>
            <a:endParaRPr dirty="0"/>
          </a:p>
        </p:txBody>
      </p:sp>
      <p:sp>
        <p:nvSpPr>
          <p:cNvPr id="426" name="圆角矩形 425"/>
          <p:cNvSpPr/>
          <p:nvPr/>
        </p:nvSpPr>
        <p:spPr>
          <a:xfrm>
            <a:off x="7400925" y="3190875"/>
            <a:ext cx="1762125" cy="495300"/>
          </a:xfrm>
          <a:prstGeom prst="roundRect">
            <a:avLst>
              <a:gd name="adj" fmla="val 15385"/>
            </a:avLst>
          </a:prstGeom>
          <a:ln/>
        </p:spPr>
        <p:txBody>
          <a:bodyPr/>
          <a:lstStyle/>
          <a:p>
            <a:endParaRPr/>
          </a:p>
        </p:txBody>
      </p:sp>
      <p:sp>
        <p:nvSpPr>
          <p:cNvPr id="427" name="文本框 426" descr="{&quot;isTemplate&quot;:true,&quot;type&quot;:&quot;text&quot;}"/>
          <p:cNvSpPr txBox="1"/>
          <p:nvPr/>
        </p:nvSpPr>
        <p:spPr>
          <a:xfrm>
            <a:off x="7496175" y="3286125"/>
            <a:ext cx="157162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2563EB"/>
                </a:solidFill>
                <a:latin typeface="Microsoft YaHei"/>
                <a:ea typeface="Microsoft YaHei"/>
              </a:rPr>
              <a:t>核心职责</a:t>
            </a:r>
            <a:endParaRPr/>
          </a:p>
        </p:txBody>
      </p:sp>
      <p:sp>
        <p:nvSpPr>
          <p:cNvPr id="428" name="文本框 427" descr="{&quot;isTemplate&quot;:true,&quot;type&quot;:&quot;text&quot;}"/>
          <p:cNvSpPr txBox="1"/>
          <p:nvPr/>
        </p:nvSpPr>
        <p:spPr>
          <a:xfrm>
            <a:off x="7496175" y="3448050"/>
            <a:ext cx="157162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贴图合帧</a:t>
            </a:r>
            <a:r>
              <a:rPr lang="en-US" sz="900">
                <a:solidFill>
                  <a:srgbClr val="1E293B"/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视频后处理</a:t>
            </a:r>
            <a:endParaRPr/>
          </a:p>
        </p:txBody>
      </p:sp>
      <p:sp>
        <p:nvSpPr>
          <p:cNvPr id="429" name="圆角矩形 428"/>
          <p:cNvSpPr/>
          <p:nvPr/>
        </p:nvSpPr>
        <p:spPr>
          <a:xfrm>
            <a:off x="9429750" y="1733550"/>
            <a:ext cx="2076450" cy="3238500"/>
          </a:xfrm>
          <a:prstGeom prst="roundRect">
            <a:avLst>
              <a:gd name="adj" fmla="val 5505"/>
            </a:avLst>
          </a:prstGeom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0" name="圆角矩形 429"/>
          <p:cNvSpPr/>
          <p:nvPr/>
        </p:nvSpPr>
        <p:spPr>
          <a:xfrm>
            <a:off x="9582150" y="188595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0891B2">
              <a:alpha val="15000"/>
            </a:srgbClr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31" name="图片 43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67875" y="1971675"/>
            <a:ext cx="209550" cy="209550"/>
          </a:xfrm>
          <a:prstGeom prst="rect">
            <a:avLst/>
          </a:prstGeom>
          <a:ln/>
        </p:spPr>
      </p:pic>
      <p:sp>
        <p:nvSpPr>
          <p:cNvPr id="432" name="文本框 431" descr="{&quot;isTemplate&quot;:true,&quot;type&quot;:&quot;text&quot;}"/>
          <p:cNvSpPr txBox="1"/>
          <p:nvPr/>
        </p:nvSpPr>
        <p:spPr>
          <a:xfrm>
            <a:off x="10058400" y="1895475"/>
            <a:ext cx="9334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0891B2"/>
                </a:solidFill>
                <a:latin typeface="Microsoft YaHei"/>
                <a:ea typeface="Microsoft YaHei"/>
              </a:rPr>
              <a:t>Async</a:t>
            </a:r>
            <a:endParaRPr/>
          </a:p>
        </p:txBody>
      </p:sp>
      <p:sp>
        <p:nvSpPr>
          <p:cNvPr id="433" name="文本框 432" descr="{&quot;isTemplate&quot;:true,&quot;type&quot;:&quot;text&quot;}"/>
          <p:cNvSpPr txBox="1"/>
          <p:nvPr/>
        </p:nvSpPr>
        <p:spPr>
          <a:xfrm>
            <a:off x="10058400" y="2047875"/>
            <a:ext cx="9334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E293B"/>
                </a:solidFill>
                <a:latin typeface="Microsoft YaHei"/>
                <a:ea typeface="Microsoft YaHei"/>
              </a:rPr>
              <a:t>WebRTC IO</a:t>
            </a:r>
            <a:endParaRPr/>
          </a:p>
        </p:txBody>
      </p:sp>
      <p:sp>
        <p:nvSpPr>
          <p:cNvPr id="434" name="文本框 433" descr="{&quot;isTemplate&quot;:true,&quot;type&quot;:&quot;text&quot;}"/>
          <p:cNvSpPr txBox="1"/>
          <p:nvPr/>
        </p:nvSpPr>
        <p:spPr>
          <a:xfrm>
            <a:off x="9582150" y="2362200"/>
            <a:ext cx="1771650" cy="6762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aiortc Event Loop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驱动，音频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20ms /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视频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40ms (25fps)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严格时钟触发，统一推送音视频帧</a:t>
            </a:r>
            <a:endParaRPr/>
          </a:p>
        </p:txBody>
      </p:sp>
      <p:sp>
        <p:nvSpPr>
          <p:cNvPr id="435" name="圆角矩形 434"/>
          <p:cNvSpPr/>
          <p:nvPr/>
        </p:nvSpPr>
        <p:spPr>
          <a:xfrm>
            <a:off x="9582150" y="3190875"/>
            <a:ext cx="1771650" cy="495300"/>
          </a:xfrm>
          <a:prstGeom prst="roundRect">
            <a:avLst>
              <a:gd name="adj" fmla="val 15385"/>
            </a:avLst>
          </a:prstGeom>
          <a:ln/>
        </p:spPr>
        <p:txBody>
          <a:bodyPr/>
          <a:lstStyle/>
          <a:p>
            <a:endParaRPr/>
          </a:p>
        </p:txBody>
      </p:sp>
      <p:sp>
        <p:nvSpPr>
          <p:cNvPr id="436" name="文本框 435" descr="{&quot;isTemplate&quot;:true,&quot;type&quot;:&quot;text&quot;}"/>
          <p:cNvSpPr txBox="1"/>
          <p:nvPr/>
        </p:nvSpPr>
        <p:spPr>
          <a:xfrm>
            <a:off x="9677400" y="3286125"/>
            <a:ext cx="158115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0891B2"/>
                </a:solidFill>
                <a:latin typeface="Microsoft YaHei"/>
                <a:ea typeface="Microsoft YaHei"/>
              </a:rPr>
              <a:t>核心职责</a:t>
            </a:r>
            <a:endParaRPr/>
          </a:p>
        </p:txBody>
      </p:sp>
      <p:sp>
        <p:nvSpPr>
          <p:cNvPr id="437" name="文本框 436" descr="{&quot;isTemplate&quot;:true,&quot;type&quot;:&quot;text&quot;}"/>
          <p:cNvSpPr txBox="1"/>
          <p:nvPr/>
        </p:nvSpPr>
        <p:spPr>
          <a:xfrm>
            <a:off x="9677400" y="3448050"/>
            <a:ext cx="158115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时钟触发</a:t>
            </a:r>
            <a:r>
              <a:rPr lang="en-US" sz="900">
                <a:solidFill>
                  <a:srgbClr val="1E293B"/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平滑推流</a:t>
            </a:r>
            <a:endParaRPr/>
          </a:p>
        </p:txBody>
      </p:sp>
      <p:sp>
        <p:nvSpPr>
          <p:cNvPr id="438" name="圆角矩形 437"/>
          <p:cNvSpPr/>
          <p:nvPr/>
        </p:nvSpPr>
        <p:spPr>
          <a:xfrm>
            <a:off x="685800" y="5124450"/>
            <a:ext cx="10820400" cy="561975"/>
          </a:xfrm>
          <a:prstGeom prst="roundRect">
            <a:avLst>
              <a:gd name="adj" fmla="val 13559"/>
            </a:avLst>
          </a:prstGeom>
          <a:ln/>
        </p:spPr>
        <p:txBody>
          <a:bodyPr/>
          <a:lstStyle/>
          <a:p>
            <a:endParaRPr/>
          </a:p>
        </p:txBody>
      </p:sp>
      <p:pic>
        <p:nvPicPr>
          <p:cNvPr id="439" name="图片 43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" y="5295900"/>
            <a:ext cx="228600" cy="228600"/>
          </a:xfrm>
          <a:prstGeom prst="rect">
            <a:avLst/>
          </a:prstGeom>
          <a:ln/>
        </p:spPr>
      </p:pic>
      <p:sp>
        <p:nvSpPr>
          <p:cNvPr id="440" name="文本框 439" descr="{&quot;isTemplate&quot;:true,&quot;type&quot;:&quot;text&quot;}"/>
          <p:cNvSpPr txBox="1"/>
          <p:nvPr/>
        </p:nvSpPr>
        <p:spPr>
          <a:xfrm>
            <a:off x="1219200" y="5276850"/>
            <a:ext cx="922972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125" b="1">
                <a:solidFill>
                  <a:srgbClr val="1E293B"/>
                </a:solidFill>
                <a:latin typeface="Microsoft YaHei"/>
                <a:ea typeface="Microsoft YaHei"/>
              </a:rPr>
              <a:t>设计亮点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：分库清晰（每线程独立职责）、流式到底（全链路无阻塞）、动静分离（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>GPU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计算与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>CPU IO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隔离）、管线化并流（多线程并行流水线）</a:t>
            </a:r>
            <a:endParaRPr/>
          </a:p>
        </p:txBody>
      </p:sp>
      <p:sp>
        <p:nvSpPr>
          <p:cNvPr id="441" name="文本框 440" descr="{&quot;isTemplate&quot;:true,&quot;type&quot;:&quot;text&quot;}"/>
          <p:cNvSpPr txBox="1"/>
          <p:nvPr/>
        </p:nvSpPr>
        <p:spPr>
          <a:xfrm>
            <a:off x="685800" y="5829300"/>
            <a:ext cx="32099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TTS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合成作为独立线程，语音产出与画面推理互不阻塞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132967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transparent', padding: '90px 72px 16px', flexDirection: 'column' }}&gt;&#10;    &lt;Image src=&quot;resources/images/gvp_background.jpg&quot; style={{ position: 'absolute', top: 0, left: 0, width: 1280, height: 720, objectFit: 'cover' }} /&gt;&#10;    &lt;Box style={{ height: 76, flexDirection: 'column', gap: 4, justifyContent: 'center', zIndex: 1 }}&gt;&#10;        &lt;Text style={{ fontSize: 34, fontWeight: 'bold', color: '#1E293B' }}&gt;线程间队列流向：数据如何在四线程间流转&lt;/Text&gt;&#10;        &lt;Text style={{ fontSize: 16, color: '#475569' }}&gt;各线程通过阻塞队列解耦，生产者-消费者模型实现全链路无阻塞流水线&lt;/Text&gt;&#10;    &lt;/Box&gt;&#10;&#10;    &lt;Box style={{ position: 'relative', height: 430, marginTop: 8, zIndex: 1 }}&gt;&#10;        {/* ===== 外部输入源：TTS 线程（替代麦克风，输入 msgqueue）===== */}&#10;        &lt;Box style={{ position: 'absolute', top: 20, left: 216, width: 140, height: 52, background: 'rgba(255,255,255,0.92)', border: '1px solid #EA580C', borderRadius: 10, flexDirection: 'row', alignItems: 'center', justifyContent: 'center', gap: 8 }}&gt;&#10;            &lt;Image src='resources/images/icons/icon_comments_0891B2.png' style={{ width: 20, height: 20 }} /&gt;&#10;            &lt;Text style={{ fontSize: 14, fontWeight: 'bold', color: '#1E293B' }}&gt;TTS 线程&lt;/Text&gt;&#10;        &lt;/Box&gt;&#10;&#10;        {/* ===== 四线程节点（居中均衡排版）===== */}&#10;        &lt;Box style={{ position: 'absolute', top: 100, left: 216, width: 140, height: 88, background: 'rgba(255,255,255,0.92)', border: '1px solid #2563EB', borderRadius: 10, flexDirection: 'column', alignItems: 'center', justifyContent: 'center', gap: 4 }}&gt;&#10;            &lt;Image src='resources/images/icons/icon_cog_2563EB.png' style={{ width: 24, height: 24 }} /&gt;&#10;            &lt;Text style={{ fontSize: 15, fontWeight: 'bold', color: '#1E293B' }}&gt;主控 / ASR&lt;/Text&gt;&#10;            &lt;Text style={{ fontSize: 11, color: '#0891B2' }}&gt;Thread 1&lt;/Text&gt;&#10;        &lt;/Box&gt;&#10;        &lt;Box style={{ position: 'absolute', top: 100, left: 452, width: 140, height: 88, background: 'rgba(255,255,255,0.92)', border: '1px solid #0891B2', borderRadius: 10, flexDirection: 'column', alignItems: 'center', justifyContent: 'center', gap: 4 }}&gt;&#10;            &lt;Image src='resources/images/icons/icon_bolt_0891B2.png' style={{ width: 24, height: 24 }} /&gt;&#10;            &lt;Text style={{ fontSize: 15, fontWeight: 'bold', color: '#1E293B' }}&gt;Inference GPU&lt;/Text&gt;&#10;            &lt;Text style={{ fontSize: 11, color: '#0891B2' }}&gt;Thread 2&lt;/Text&gt;&#10;        &lt;/Box&gt;&#10;        &lt;Box style={{ position: 'absolute', top: 100, left: 688, width: 140, height: 88, background: 'rgba(255,255,255,0.92)', border: '1px solid #2563EB', borderRadius: 10, flexDirection: 'column', alignItems: 'center', justifyContent: 'center', gap: 4 }}&gt;&#10;            &lt;Image src='resources/images/icons/icon_layer-group_2563EB.png' style={{ width: 24, height: 24 }} /&gt;&#10;            &lt;Text style={{ fontSize: 15, fontWeight: 'bold', color: '#1E293B' }}&gt;Process CPU&lt;/Text&gt;&#10;            &lt;Text style={{ fontSize: 11, color: '#0891B2' }}&gt;Thread 3&lt;/Text&gt;&#10;        &lt;/Box&gt;&#10;        &lt;Box style={{ position: 'absolute', top: 100, left: 924, width: 140, height: 88, background: 'rgba(255,255,255,0.92)', border: '1px solid #0891B2', borderRadius: 10, flexDirection: 'column', alignItems: 'center', justifyContent: 'center', gap: 4 }}&gt;&#10;            &lt;Image src='resources/images/icons/icon_network-wired_0891B2.png' style={{ width: 24, height: 24 }} /&gt;&#10;            &lt;Text style={{ fontSize: 15, fontWeight: 'bold', color: '#1E293B' }}&gt;WebRTC IO&lt;/Text&gt;&#10;            &lt;Text style={{ fontSize: 11, color: '#0891B2' }}&gt;Async&lt;/Text&gt;&#10;        &lt;/Box&gt;&#10;&#10;        {/* ===== 水平箭头：线程间队列 ===== */}&#10;        &lt;Box style={{ position: 'absolute', top: 143, left: 356, width: 96, height: 2, background: '#2563EB' }} /&gt;&#10;        &lt;Text style={{ position: 'absolute', top: 135, left: 442, fontSize: 16, color: '#2563EB' }}&gt;▶&lt;/Text&gt;&#10;        &lt;Text style={{ position: 'absolute', top: 116, left: 356, width: 96, textAlign: 'center', fontSize: 11, color: '#334155' }}&gt;feat_queue&lt;/Text&gt;&#10;&#10;        &lt;Box style={{ position: 'absolute', top: 143, left: 592, width: 96, height: 2, background: '#0891B2' }} /&gt;&#10;        &lt;Text style={{ position: 'absolute', top: 135, left: 678, fontSize: 16, color: '#0891B2' }}&gt;▶&lt;/Text&gt;&#10;        &lt;Text style={{ position: 'absolute', top: 116, left: 592, width: 96, textAlign: 'center', fontSize: 11, color: '#334155' }}&gt;res_frame_queue&lt;/Text&gt;&#10;&#10;        &lt;Box style={{ position: 'absolute', top: 143, left: 828, width: 96, height: 2, background: '#2563EB' }} /&gt;&#10;        &lt;Text style={{ position: 'absolute', top: 135, left: 914, fontSize: 16, color: '#2563EB' }}&gt;▶&lt;/Text&gt;&#10;        &lt;Text style={{ position: 'absolute', top: 116, left: 828, width: 96, textAlign: 'center', fontSize: 11, color: '#334155' }}&gt;output&lt;/Text&gt;&#10;&#10;        {/* ===== 左侧外部输入：LLM 文本（虚线/小字，不画成框）-&gt; msgqueue -&gt; TTS 线程 ===== */}&#10;        &lt;Text style={{ position: 'absolute', top: 0, left: 0, width: 80, fontSize: 11, color: '#7C3AED' }}&gt;LLM 文本&lt;/Text&gt;&#10;        &lt;Text style={{ position: 'absolute', top: 30, left: 86, fontSize: 11, color: '#334155' }}&gt;msgqueue&lt;/Text&gt;&#10;        &lt;Box style={{ position: 'absolute', top: 44, left: 0, width: 216, height: 2, borderTop: '1px dashed #7C3AED' }} /&gt;&#10;        &lt;Text style={{ position: 'absolute', top: 36, left: 202, fontSize: 16, color: '#7C3AED' }}&gt;▶&lt;/Text&gt;&#10;&#10;        {/* ===== 垂直箭头：TTS 线程 -&gt; 主控/ASR (audio) ===== */}&#10;        &lt;Box style={{ position: 'absolute', top: 72, left: 285, width: 2, height: 28, background: '#EA580C' }} /&gt;&#10;        &lt;Text style={{ position: 'absolute', top: 90, left: 280, fontSize: 16, color: '#EA580C' }}&gt;▼&lt;/Text&gt;&#10;        &lt;Text style={{ position: 'absolute', top: 74, left: 294, fontSize: 11, color: '#334155' }}&gt;audio&lt;/Text&gt;&#10;    &lt;/Box&gt;&#10;&#10;    &lt;Box style={{ height: 64, flexDirection: 'row', gap: 12, marginTop: 6, alignItems: 'center', zIndex: 1, background: 'rgba(255,255,255,0.7)', borderRadius: 8, padding: '0 14px' }}&gt;&#10;        &lt;Image src='resources/images/icons/icon_lightbulb_0891B2.png' style={{ width: 22, height: 22 }} /&gt;&#10;        &lt;Text style={{ fontSize: 13.5, color: '#475569', lineHeight: 1.5 }}&gt;&#10;            &lt;span style={{ fontWeight: 'bold', color: '#1E293B' }}&gt;队列解耦&lt;/span&gt;：msgqueue（LLM 文本→TTS 线程）、feat_queue（ASR→推理）、res_frame_queue（推理→合帧）均为阻塞队列；TTS 线程合成的音频经回采（put_audio_frame）汇入 output，由 WebRTC IO 按严格时钟推送至客户端浏览器&#10;        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3" name="图片 4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44" name="文本框 443" descr="{&quot;isTemplate&quot;:true,&quot;type&quot;:&quot;text&quot;}"/>
          <p:cNvSpPr txBox="1"/>
          <p:nvPr/>
        </p:nvSpPr>
        <p:spPr>
          <a:xfrm>
            <a:off x="685800" y="914400"/>
            <a:ext cx="1082040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线程间队列流向：数据如何在四线程间流转</a:t>
            </a:r>
            <a:endParaRPr/>
          </a:p>
        </p:txBody>
      </p:sp>
      <p:sp>
        <p:nvSpPr>
          <p:cNvPr id="445" name="文本框 444" descr="{&quot;isTemplate&quot;:true,&quot;type&quot;:&quot;text&quot;}"/>
          <p:cNvSpPr txBox="1"/>
          <p:nvPr/>
        </p:nvSpPr>
        <p:spPr>
          <a:xfrm>
            <a:off x="685800" y="1343025"/>
            <a:ext cx="108204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各线程通过阻塞队列解耦，生产者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>-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消费者模型实现全链路无阻塞流水线</a:t>
            </a:r>
            <a:endParaRPr/>
          </a:p>
        </p:txBody>
      </p:sp>
      <p:sp>
        <p:nvSpPr>
          <p:cNvPr id="446" name="圆角矩形 445"/>
          <p:cNvSpPr/>
          <p:nvPr/>
        </p:nvSpPr>
        <p:spPr>
          <a:xfrm>
            <a:off x="2743200" y="1847850"/>
            <a:ext cx="1333500" cy="495300"/>
          </a:xfrm>
          <a:prstGeom prst="roundRect">
            <a:avLst>
              <a:gd name="adj" fmla="val 19231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47" name="图片 4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9900" y="2000250"/>
            <a:ext cx="190500" cy="190500"/>
          </a:xfrm>
          <a:prstGeom prst="rect">
            <a:avLst/>
          </a:prstGeom>
          <a:ln/>
        </p:spPr>
      </p:pic>
      <p:sp>
        <p:nvSpPr>
          <p:cNvPr id="448" name="文本框 447" descr="{&quot;isTemplate&quot;:true,&quot;type&quot;:&quot;text&quot;}"/>
          <p:cNvSpPr txBox="1"/>
          <p:nvPr/>
        </p:nvSpPr>
        <p:spPr>
          <a:xfrm>
            <a:off x="3276600" y="2019300"/>
            <a:ext cx="5429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293B"/>
                </a:solidFill>
                <a:latin typeface="Microsoft YaHei"/>
                <a:ea typeface="Microsoft YaHei"/>
              </a:rPr>
              <a:t>TTS </a:t>
            </a:r>
            <a:r>
              <a:rPr lang="zh-CN" sz="1050" b="1">
                <a:solidFill>
                  <a:srgbClr val="1E293B"/>
                </a:solidFill>
                <a:latin typeface="Microsoft YaHei"/>
                <a:ea typeface="Microsoft YaHei"/>
              </a:rPr>
              <a:t>线程</a:t>
            </a:r>
            <a:endParaRPr/>
          </a:p>
        </p:txBody>
      </p:sp>
      <p:sp>
        <p:nvSpPr>
          <p:cNvPr id="449" name="圆角矩形 448"/>
          <p:cNvSpPr/>
          <p:nvPr/>
        </p:nvSpPr>
        <p:spPr>
          <a:xfrm>
            <a:off x="2743200" y="2609850"/>
            <a:ext cx="1333500" cy="838200"/>
          </a:xfrm>
          <a:prstGeom prst="roundRect">
            <a:avLst>
              <a:gd name="adj" fmla="val 11364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50" name="图片 44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5650" y="2724150"/>
            <a:ext cx="228600" cy="228600"/>
          </a:xfrm>
          <a:prstGeom prst="rect">
            <a:avLst/>
          </a:prstGeom>
          <a:ln/>
        </p:spPr>
      </p:pic>
      <p:sp>
        <p:nvSpPr>
          <p:cNvPr id="451" name="文本框 450" descr="{&quot;isTemplate&quot;:true,&quot;type&quot;:&quot;text&quot;}"/>
          <p:cNvSpPr txBox="1"/>
          <p:nvPr/>
        </p:nvSpPr>
        <p:spPr>
          <a:xfrm>
            <a:off x="3057525" y="2990850"/>
            <a:ext cx="71437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b="1" dirty="0">
                <a:solidFill>
                  <a:srgbClr val="1E293B"/>
                </a:solidFill>
                <a:latin typeface="Microsoft YaHei"/>
                <a:ea typeface="Microsoft YaHei"/>
              </a:rPr>
              <a:t>主控</a:t>
            </a:r>
            <a:r>
              <a:rPr lang="en-US" sz="1125" b="1" dirty="0">
                <a:solidFill>
                  <a:srgbClr val="1E293B"/>
                </a:solidFill>
                <a:latin typeface="Microsoft YaHei"/>
                <a:ea typeface="Microsoft YaHei"/>
              </a:rPr>
              <a:t> / </a:t>
            </a:r>
            <a:r>
              <a:rPr lang="en-US" sz="1125" b="1" dirty="0" err="1">
                <a:solidFill>
                  <a:srgbClr val="1E293B"/>
                </a:solidFill>
                <a:latin typeface="Microsoft YaHei"/>
                <a:ea typeface="Microsoft YaHei"/>
              </a:rPr>
              <a:t>音频特征</a:t>
            </a:r>
            <a:endParaRPr dirty="0"/>
          </a:p>
        </p:txBody>
      </p:sp>
      <p:sp>
        <p:nvSpPr>
          <p:cNvPr id="452" name="文本框 451" descr="{&quot;isTemplate&quot;:true,&quot;type&quot;:&quot;text&quot;}"/>
          <p:cNvSpPr txBox="1"/>
          <p:nvPr/>
        </p:nvSpPr>
        <p:spPr>
          <a:xfrm>
            <a:off x="3190875" y="3200400"/>
            <a:ext cx="447675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>
                <a:solidFill>
                  <a:srgbClr val="0891B2"/>
                </a:solidFill>
                <a:latin typeface="Microsoft YaHei"/>
                <a:ea typeface="Microsoft YaHei"/>
              </a:rPr>
              <a:t>Thread 1</a:t>
            </a:r>
            <a:endParaRPr/>
          </a:p>
        </p:txBody>
      </p:sp>
      <p:sp>
        <p:nvSpPr>
          <p:cNvPr id="453" name="圆角矩形 452"/>
          <p:cNvSpPr/>
          <p:nvPr/>
        </p:nvSpPr>
        <p:spPr>
          <a:xfrm>
            <a:off x="4991100" y="2609850"/>
            <a:ext cx="1333500" cy="838200"/>
          </a:xfrm>
          <a:prstGeom prst="roundRect">
            <a:avLst>
              <a:gd name="adj" fmla="val 11364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54" name="图片 45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3550" y="2724150"/>
            <a:ext cx="228600" cy="228600"/>
          </a:xfrm>
          <a:prstGeom prst="rect">
            <a:avLst/>
          </a:prstGeom>
          <a:ln/>
        </p:spPr>
      </p:pic>
      <p:sp>
        <p:nvSpPr>
          <p:cNvPr id="455" name="文本框 454" descr="{&quot;isTemplate&quot;:true,&quot;type&quot;:&quot;text&quot;}"/>
          <p:cNvSpPr txBox="1"/>
          <p:nvPr/>
        </p:nvSpPr>
        <p:spPr>
          <a:xfrm>
            <a:off x="5172075" y="2990850"/>
            <a:ext cx="98107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293B"/>
                </a:solidFill>
                <a:latin typeface="Microsoft YaHei"/>
                <a:ea typeface="Microsoft YaHei"/>
              </a:rPr>
              <a:t>Inference GPU</a:t>
            </a:r>
            <a:endParaRPr/>
          </a:p>
        </p:txBody>
      </p:sp>
      <p:sp>
        <p:nvSpPr>
          <p:cNvPr id="456" name="文本框 455" descr="{&quot;isTemplate&quot;:true,&quot;type&quot;:&quot;text&quot;}"/>
          <p:cNvSpPr txBox="1"/>
          <p:nvPr/>
        </p:nvSpPr>
        <p:spPr>
          <a:xfrm>
            <a:off x="5438775" y="3200400"/>
            <a:ext cx="447675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>
                <a:solidFill>
                  <a:srgbClr val="0891B2"/>
                </a:solidFill>
                <a:latin typeface="Microsoft YaHei"/>
                <a:ea typeface="Microsoft YaHei"/>
              </a:rPr>
              <a:t>Thread 2</a:t>
            </a:r>
            <a:endParaRPr/>
          </a:p>
        </p:txBody>
      </p:sp>
      <p:sp>
        <p:nvSpPr>
          <p:cNvPr id="457" name="圆角矩形 456"/>
          <p:cNvSpPr/>
          <p:nvPr/>
        </p:nvSpPr>
        <p:spPr>
          <a:xfrm>
            <a:off x="7239000" y="2609850"/>
            <a:ext cx="1333500" cy="838200"/>
          </a:xfrm>
          <a:prstGeom prst="roundRect">
            <a:avLst>
              <a:gd name="adj" fmla="val 11364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58" name="图片 45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91450" y="2724150"/>
            <a:ext cx="228600" cy="228600"/>
          </a:xfrm>
          <a:prstGeom prst="rect">
            <a:avLst/>
          </a:prstGeom>
          <a:ln/>
        </p:spPr>
      </p:pic>
      <p:sp>
        <p:nvSpPr>
          <p:cNvPr id="459" name="文本框 458" descr="{&quot;isTemplate&quot;:true,&quot;type&quot;:&quot;text&quot;}"/>
          <p:cNvSpPr txBox="1"/>
          <p:nvPr/>
        </p:nvSpPr>
        <p:spPr>
          <a:xfrm>
            <a:off x="7486650" y="2990850"/>
            <a:ext cx="84772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293B"/>
                </a:solidFill>
                <a:latin typeface="Microsoft YaHei"/>
                <a:ea typeface="Microsoft YaHei"/>
              </a:rPr>
              <a:t>Process CPU</a:t>
            </a:r>
            <a:endParaRPr/>
          </a:p>
        </p:txBody>
      </p:sp>
      <p:sp>
        <p:nvSpPr>
          <p:cNvPr id="460" name="文本框 459" descr="{&quot;isTemplate&quot;:true,&quot;type&quot;:&quot;text&quot;}"/>
          <p:cNvSpPr txBox="1"/>
          <p:nvPr/>
        </p:nvSpPr>
        <p:spPr>
          <a:xfrm>
            <a:off x="7686675" y="3200400"/>
            <a:ext cx="447675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>
                <a:solidFill>
                  <a:srgbClr val="0891B2"/>
                </a:solidFill>
                <a:latin typeface="Microsoft YaHei"/>
                <a:ea typeface="Microsoft YaHei"/>
              </a:rPr>
              <a:t>Thread 3</a:t>
            </a:r>
            <a:endParaRPr/>
          </a:p>
        </p:txBody>
      </p:sp>
      <p:sp>
        <p:nvSpPr>
          <p:cNvPr id="461" name="圆角矩形 460"/>
          <p:cNvSpPr/>
          <p:nvPr/>
        </p:nvSpPr>
        <p:spPr>
          <a:xfrm>
            <a:off x="9486900" y="2609850"/>
            <a:ext cx="1333500" cy="838200"/>
          </a:xfrm>
          <a:prstGeom prst="roundRect">
            <a:avLst>
              <a:gd name="adj" fmla="val 11364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62" name="图片 46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39350" y="2724150"/>
            <a:ext cx="228600" cy="228600"/>
          </a:xfrm>
          <a:prstGeom prst="rect">
            <a:avLst/>
          </a:prstGeom>
          <a:ln/>
        </p:spPr>
      </p:pic>
      <p:sp>
        <p:nvSpPr>
          <p:cNvPr id="463" name="文本框 462" descr="{&quot;isTemplate&quot;:true,&quot;type&quot;:&quot;text&quot;}"/>
          <p:cNvSpPr txBox="1"/>
          <p:nvPr/>
        </p:nvSpPr>
        <p:spPr>
          <a:xfrm>
            <a:off x="9763125" y="2990850"/>
            <a:ext cx="7810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293B"/>
                </a:solidFill>
                <a:latin typeface="Microsoft YaHei"/>
                <a:ea typeface="Microsoft YaHei"/>
              </a:rPr>
              <a:t>WebRTC IO</a:t>
            </a:r>
            <a:endParaRPr/>
          </a:p>
        </p:txBody>
      </p:sp>
      <p:sp>
        <p:nvSpPr>
          <p:cNvPr id="464" name="文本框 463" descr="{&quot;isTemplate&quot;:true,&quot;type&quot;:&quot;text&quot;}"/>
          <p:cNvSpPr txBox="1"/>
          <p:nvPr/>
        </p:nvSpPr>
        <p:spPr>
          <a:xfrm>
            <a:off x="10010775" y="3200400"/>
            <a:ext cx="295275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>
                <a:solidFill>
                  <a:srgbClr val="0891B2"/>
                </a:solidFill>
                <a:latin typeface="Microsoft YaHei"/>
                <a:ea typeface="Microsoft YaHei"/>
              </a:rPr>
              <a:t>Async</a:t>
            </a:r>
            <a:endParaRPr/>
          </a:p>
        </p:txBody>
      </p:sp>
      <p:sp>
        <p:nvSpPr>
          <p:cNvPr id="465" name="矩形 464"/>
          <p:cNvSpPr/>
          <p:nvPr/>
        </p:nvSpPr>
        <p:spPr>
          <a:xfrm>
            <a:off x="4076700" y="3019425"/>
            <a:ext cx="914400" cy="1905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6" name="文本框 465" descr="{&quot;isTemplate&quot;:true,&quot;type&quot;:&quot;text&quot;}"/>
          <p:cNvSpPr txBox="1"/>
          <p:nvPr/>
        </p:nvSpPr>
        <p:spPr>
          <a:xfrm>
            <a:off x="4895850" y="2943225"/>
            <a:ext cx="1428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200">
                <a:solidFill>
                  <a:srgbClr val="2563EB"/>
                </a:solidFill>
                <a:latin typeface="Microsoft YaHei"/>
                <a:ea typeface="Microsoft YaHei"/>
              </a:rPr>
              <a:t>▶</a:t>
            </a:r>
            <a:endParaRPr/>
          </a:p>
        </p:txBody>
      </p:sp>
      <p:sp>
        <p:nvSpPr>
          <p:cNvPr id="467" name="文本框 466" descr="{&quot;isTemplate&quot;:true,&quot;type&quot;:&quot;text&quot;}"/>
          <p:cNvSpPr txBox="1"/>
          <p:nvPr/>
        </p:nvSpPr>
        <p:spPr>
          <a:xfrm>
            <a:off x="4076700" y="2762250"/>
            <a:ext cx="91440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en-US" sz="825">
                <a:solidFill>
                  <a:srgbClr val="334155"/>
                </a:solidFill>
                <a:latin typeface="Microsoft YaHei"/>
                <a:ea typeface="Microsoft YaHei"/>
              </a:rPr>
              <a:t>feat_queue</a:t>
            </a:r>
            <a:endParaRPr/>
          </a:p>
        </p:txBody>
      </p:sp>
      <p:sp>
        <p:nvSpPr>
          <p:cNvPr id="468" name="矩形 467"/>
          <p:cNvSpPr/>
          <p:nvPr/>
        </p:nvSpPr>
        <p:spPr>
          <a:xfrm>
            <a:off x="6324600" y="3019425"/>
            <a:ext cx="914400" cy="1905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9" name="文本框 468" descr="{&quot;isTemplate&quot;:true,&quot;type&quot;:&quot;text&quot;}"/>
          <p:cNvSpPr txBox="1"/>
          <p:nvPr/>
        </p:nvSpPr>
        <p:spPr>
          <a:xfrm>
            <a:off x="7143750" y="2943225"/>
            <a:ext cx="1428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200">
                <a:solidFill>
                  <a:srgbClr val="0891B2"/>
                </a:solidFill>
                <a:latin typeface="Microsoft YaHei"/>
                <a:ea typeface="Microsoft YaHei"/>
              </a:rPr>
              <a:t>▶</a:t>
            </a:r>
            <a:endParaRPr/>
          </a:p>
        </p:txBody>
      </p:sp>
      <p:sp>
        <p:nvSpPr>
          <p:cNvPr id="470" name="文本框 469" descr="{&quot;isTemplate&quot;:true,&quot;type&quot;:&quot;text&quot;}"/>
          <p:cNvSpPr txBox="1"/>
          <p:nvPr/>
        </p:nvSpPr>
        <p:spPr>
          <a:xfrm>
            <a:off x="6324600" y="2762250"/>
            <a:ext cx="91440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en-US" sz="825">
                <a:solidFill>
                  <a:srgbClr val="334155"/>
                </a:solidFill>
                <a:latin typeface="Microsoft YaHei"/>
                <a:ea typeface="Microsoft YaHei"/>
              </a:rPr>
              <a:t>res_frame_queue</a:t>
            </a:r>
            <a:endParaRPr/>
          </a:p>
        </p:txBody>
      </p:sp>
      <p:sp>
        <p:nvSpPr>
          <p:cNvPr id="471" name="矩形 470"/>
          <p:cNvSpPr/>
          <p:nvPr/>
        </p:nvSpPr>
        <p:spPr>
          <a:xfrm>
            <a:off x="8572500" y="3019425"/>
            <a:ext cx="914400" cy="1905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72" name="文本框 471" descr="{&quot;isTemplate&quot;:true,&quot;type&quot;:&quot;text&quot;}"/>
          <p:cNvSpPr txBox="1"/>
          <p:nvPr/>
        </p:nvSpPr>
        <p:spPr>
          <a:xfrm>
            <a:off x="9391650" y="2943225"/>
            <a:ext cx="1428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200">
                <a:solidFill>
                  <a:srgbClr val="2563EB"/>
                </a:solidFill>
                <a:latin typeface="Microsoft YaHei"/>
                <a:ea typeface="Microsoft YaHei"/>
              </a:rPr>
              <a:t>▶</a:t>
            </a:r>
            <a:endParaRPr/>
          </a:p>
        </p:txBody>
      </p:sp>
      <p:sp>
        <p:nvSpPr>
          <p:cNvPr id="473" name="文本框 472" descr="{&quot;isTemplate&quot;:true,&quot;type&quot;:&quot;text&quot;}"/>
          <p:cNvSpPr txBox="1"/>
          <p:nvPr/>
        </p:nvSpPr>
        <p:spPr>
          <a:xfrm>
            <a:off x="8572500" y="2762250"/>
            <a:ext cx="91440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en-US" sz="825">
                <a:solidFill>
                  <a:srgbClr val="334155"/>
                </a:solidFill>
                <a:latin typeface="Microsoft YaHei"/>
                <a:ea typeface="Microsoft YaHei"/>
              </a:rPr>
              <a:t>output</a:t>
            </a:r>
            <a:endParaRPr/>
          </a:p>
        </p:txBody>
      </p:sp>
      <p:sp>
        <p:nvSpPr>
          <p:cNvPr id="474" name="文本框 473" descr="{&quot;isTemplate&quot;:true,&quot;type&quot;:&quot;text&quot;}"/>
          <p:cNvSpPr txBox="1"/>
          <p:nvPr/>
        </p:nvSpPr>
        <p:spPr>
          <a:xfrm>
            <a:off x="685800" y="1657350"/>
            <a:ext cx="76200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>
                <a:solidFill>
                  <a:srgbClr val="7C3AED"/>
                </a:solidFill>
                <a:latin typeface="Microsoft YaHei"/>
                <a:ea typeface="Microsoft YaHei"/>
              </a:rPr>
              <a:t>LLM </a:t>
            </a:r>
            <a:r>
              <a:rPr lang="zh-CN" sz="825">
                <a:solidFill>
                  <a:srgbClr val="7C3AED"/>
                </a:solidFill>
                <a:latin typeface="Microsoft YaHei"/>
                <a:ea typeface="Microsoft YaHei"/>
              </a:rPr>
              <a:t>文本</a:t>
            </a:r>
            <a:endParaRPr/>
          </a:p>
        </p:txBody>
      </p:sp>
      <p:sp>
        <p:nvSpPr>
          <p:cNvPr id="475" name="文本框 474" descr="{&quot;isTemplate&quot;:true,&quot;type&quot;:&quot;text&quot;}"/>
          <p:cNvSpPr txBox="1"/>
          <p:nvPr/>
        </p:nvSpPr>
        <p:spPr>
          <a:xfrm>
            <a:off x="1504950" y="1943100"/>
            <a:ext cx="53340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>
                <a:solidFill>
                  <a:srgbClr val="334155"/>
                </a:solidFill>
                <a:latin typeface="Microsoft YaHei"/>
                <a:ea typeface="Microsoft YaHei"/>
              </a:rPr>
              <a:t>msgqueue</a:t>
            </a:r>
            <a:endParaRPr/>
          </a:p>
        </p:txBody>
      </p:sp>
      <p:sp>
        <p:nvSpPr>
          <p:cNvPr id="476" name="任意形状 475"/>
          <p:cNvSpPr/>
          <p:nvPr/>
        </p:nvSpPr>
        <p:spPr>
          <a:xfrm>
            <a:off x="685800" y="2076450"/>
            <a:ext cx="2057400" cy="19050"/>
          </a:xfrm>
          <a:custGeom>
            <a:avLst/>
            <a:gdLst/>
            <a:ahLst/>
            <a:cxnLst/>
            <a:rect l="0" t="0" r="0" b="0"/>
            <a:pathLst>
              <a:path w="216" h="2">
                <a:moveTo>
                  <a:pt x="0" y="0"/>
                </a:moveTo>
                <a:lnTo>
                  <a:pt x="216" y="0"/>
                </a:lnTo>
                <a:lnTo>
                  <a:pt x="216" y="1"/>
                </a:lnTo>
                <a:lnTo>
                  <a:pt x="0" y="1"/>
                </a:lnTo>
                <a:close/>
              </a:path>
            </a:pathLst>
          </a:custGeom>
          <a:solidFill>
            <a:srgbClr val="7C3AE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77" name="文本框 476" descr="{&quot;isTemplate&quot;:true,&quot;type&quot;:&quot;text&quot;}"/>
          <p:cNvSpPr txBox="1"/>
          <p:nvPr/>
        </p:nvSpPr>
        <p:spPr>
          <a:xfrm>
            <a:off x="2609850" y="2000250"/>
            <a:ext cx="1428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200">
                <a:solidFill>
                  <a:srgbClr val="7C3AED"/>
                </a:solidFill>
                <a:latin typeface="Microsoft YaHei"/>
                <a:ea typeface="Microsoft YaHei"/>
              </a:rPr>
              <a:t>▶</a:t>
            </a:r>
            <a:endParaRPr/>
          </a:p>
        </p:txBody>
      </p:sp>
      <p:sp>
        <p:nvSpPr>
          <p:cNvPr id="478" name="矩形 477"/>
          <p:cNvSpPr/>
          <p:nvPr/>
        </p:nvSpPr>
        <p:spPr>
          <a:xfrm>
            <a:off x="3400425" y="2343150"/>
            <a:ext cx="19050" cy="26670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79" name="文本框 478" descr="{&quot;isTemplate&quot;:true,&quot;type&quot;:&quot;text&quot;}"/>
          <p:cNvSpPr txBox="1"/>
          <p:nvPr/>
        </p:nvSpPr>
        <p:spPr>
          <a:xfrm>
            <a:off x="3352800" y="2514600"/>
            <a:ext cx="1524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200">
                <a:solidFill>
                  <a:srgbClr val="EA580C"/>
                </a:solidFill>
                <a:latin typeface="Microsoft YaHei"/>
                <a:ea typeface="Microsoft YaHei"/>
              </a:rPr>
              <a:t>▼</a:t>
            </a:r>
            <a:endParaRPr/>
          </a:p>
        </p:txBody>
      </p:sp>
      <p:sp>
        <p:nvSpPr>
          <p:cNvPr id="480" name="文本框 479" descr="{&quot;isTemplate&quot;:true,&quot;type&quot;:&quot;text&quot;}"/>
          <p:cNvSpPr txBox="1"/>
          <p:nvPr/>
        </p:nvSpPr>
        <p:spPr>
          <a:xfrm>
            <a:off x="3486150" y="2362200"/>
            <a:ext cx="2857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dirty="0" err="1">
                <a:solidFill>
                  <a:srgbClr val="334155"/>
                </a:solidFill>
                <a:latin typeface="Microsoft YaHei"/>
                <a:ea typeface="Microsoft YaHei"/>
              </a:rPr>
              <a:t>Audio_queue</a:t>
            </a:r>
            <a:endParaRPr dirty="0"/>
          </a:p>
        </p:txBody>
      </p:sp>
      <p:sp>
        <p:nvSpPr>
          <p:cNvPr id="481" name="圆角矩形 480"/>
          <p:cNvSpPr/>
          <p:nvPr/>
        </p:nvSpPr>
        <p:spPr>
          <a:xfrm>
            <a:off x="685800" y="5810250"/>
            <a:ext cx="10820400" cy="609600"/>
          </a:xfrm>
          <a:prstGeom prst="roundRect">
            <a:avLst>
              <a:gd name="adj" fmla="val 12500"/>
            </a:avLst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82" name="图片 481"/>
          <p:cNvPicPr>
            <a:picLocks noChangeAspect="1"/>
          </p:cNvPicPr>
          <p:nvPr/>
        </p:nvPicPr>
        <p:blipFill>
          <a:blip r:embed="rId8"/>
          <a:srcRect l="2272" r="2272"/>
          <a:stretch>
            <a:fillRect/>
          </a:stretch>
        </p:blipFill>
        <p:spPr>
          <a:xfrm>
            <a:off x="819150" y="6010275"/>
            <a:ext cx="209550" cy="209550"/>
          </a:xfrm>
          <a:prstGeom prst="rect">
            <a:avLst/>
          </a:prstGeom>
          <a:ln/>
        </p:spPr>
      </p:pic>
      <p:sp>
        <p:nvSpPr>
          <p:cNvPr id="483" name="文本框 482" descr="{&quot;isTemplate&quot;:true,&quot;type&quot;:&quot;text&quot;}"/>
          <p:cNvSpPr txBox="1"/>
          <p:nvPr/>
        </p:nvSpPr>
        <p:spPr>
          <a:xfrm>
            <a:off x="1133475" y="5886450"/>
            <a:ext cx="10239375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013" b="1">
                <a:solidFill>
                  <a:srgbClr val="1E293B"/>
                </a:solidFill>
                <a:latin typeface="Microsoft YaHei"/>
                <a:ea typeface="Microsoft YaHei"/>
              </a:rPr>
              <a:t>队列解耦</a:t>
            </a:r>
            <a:r>
              <a:rPr lang="zh-CN" sz="1013">
                <a:solidFill>
                  <a:srgbClr val="475569"/>
                </a:solidFill>
                <a:latin typeface="Microsoft YaHei"/>
                <a:ea typeface="Microsoft YaHei"/>
              </a:rPr>
              <a:t>：</a:t>
            </a:r>
            <a:r>
              <a:rPr lang="en-US" sz="1013">
                <a:solidFill>
                  <a:srgbClr val="475569"/>
                </a:solidFill>
                <a:latin typeface="Microsoft YaHei"/>
                <a:ea typeface="Microsoft YaHei"/>
              </a:rPr>
              <a:t>msgqueue</a:t>
            </a:r>
            <a:r>
              <a:rPr lang="zh-CN" sz="1013">
                <a:solidFill>
                  <a:srgbClr val="475569"/>
                </a:solidFill>
                <a:latin typeface="Microsoft YaHei"/>
                <a:ea typeface="Microsoft YaHei"/>
              </a:rPr>
              <a:t>（</a:t>
            </a:r>
            <a:r>
              <a:rPr lang="en-US" sz="1013">
                <a:solidFill>
                  <a:srgbClr val="475569"/>
                </a:solidFill>
                <a:latin typeface="Microsoft YaHei"/>
                <a:ea typeface="Microsoft YaHei"/>
              </a:rPr>
              <a:t>LLM </a:t>
            </a:r>
            <a:r>
              <a:rPr lang="zh-CN" sz="1013">
                <a:solidFill>
                  <a:srgbClr val="475569"/>
                </a:solidFill>
                <a:latin typeface="Microsoft YaHei"/>
                <a:ea typeface="Microsoft YaHei"/>
              </a:rPr>
              <a:t>文本→</a:t>
            </a:r>
            <a:r>
              <a:rPr lang="en-US" sz="1013">
                <a:solidFill>
                  <a:srgbClr val="475569"/>
                </a:solidFill>
                <a:latin typeface="Microsoft YaHei"/>
                <a:ea typeface="Microsoft YaHei"/>
              </a:rPr>
              <a:t>TTS </a:t>
            </a:r>
            <a:r>
              <a:rPr lang="zh-CN" sz="1013">
                <a:solidFill>
                  <a:srgbClr val="475569"/>
                </a:solidFill>
                <a:latin typeface="Microsoft YaHei"/>
                <a:ea typeface="Microsoft YaHei"/>
              </a:rPr>
              <a:t>线程）、</a:t>
            </a:r>
            <a:r>
              <a:rPr lang="en-US" sz="1013">
                <a:solidFill>
                  <a:srgbClr val="475569"/>
                </a:solidFill>
                <a:latin typeface="Microsoft YaHei"/>
                <a:ea typeface="Microsoft YaHei"/>
              </a:rPr>
              <a:t>feat_queue</a:t>
            </a:r>
            <a:r>
              <a:rPr lang="zh-CN" sz="1013">
                <a:solidFill>
                  <a:srgbClr val="475569"/>
                </a:solidFill>
                <a:latin typeface="Microsoft YaHei"/>
                <a:ea typeface="Microsoft YaHei"/>
              </a:rPr>
              <a:t>（</a:t>
            </a:r>
            <a:r>
              <a:rPr lang="en-US" sz="1013">
                <a:solidFill>
                  <a:srgbClr val="475569"/>
                </a:solidFill>
                <a:latin typeface="Microsoft YaHei"/>
                <a:ea typeface="Microsoft YaHei"/>
              </a:rPr>
              <a:t>ASR→</a:t>
            </a:r>
            <a:r>
              <a:rPr lang="zh-CN" sz="1013">
                <a:solidFill>
                  <a:srgbClr val="475569"/>
                </a:solidFill>
                <a:latin typeface="Microsoft YaHei"/>
                <a:ea typeface="Microsoft YaHei"/>
              </a:rPr>
              <a:t>推理）、</a:t>
            </a:r>
            <a:r>
              <a:rPr lang="en-US" sz="1013">
                <a:solidFill>
                  <a:srgbClr val="475569"/>
                </a:solidFill>
                <a:latin typeface="Microsoft YaHei"/>
                <a:ea typeface="Microsoft YaHei"/>
              </a:rPr>
              <a:t>res_frame_queue</a:t>
            </a:r>
            <a:r>
              <a:rPr lang="zh-CN" sz="1013">
                <a:solidFill>
                  <a:srgbClr val="475569"/>
                </a:solidFill>
                <a:latin typeface="Microsoft YaHei"/>
                <a:ea typeface="Microsoft YaHei"/>
              </a:rPr>
              <a:t>（推理→合帧）均为阻塞队列；</a:t>
            </a:r>
            <a:r>
              <a:rPr lang="en-US" sz="1013">
                <a:solidFill>
                  <a:srgbClr val="475569"/>
                </a:solidFill>
                <a:latin typeface="Microsoft YaHei"/>
                <a:ea typeface="Microsoft YaHei"/>
              </a:rPr>
              <a:t>TTS </a:t>
            </a:r>
            <a:r>
              <a:rPr lang="zh-CN" sz="1013">
                <a:solidFill>
                  <a:srgbClr val="475569"/>
                </a:solidFill>
                <a:latin typeface="Microsoft YaHei"/>
                <a:ea typeface="Microsoft YaHei"/>
              </a:rPr>
              <a:t>线程合成的音频经回采（</a:t>
            </a:r>
            <a:r>
              <a:rPr lang="en-US" sz="1013">
                <a:solidFill>
                  <a:srgbClr val="475569"/>
                </a:solidFill>
                <a:latin typeface="Microsoft YaHei"/>
                <a:ea typeface="Microsoft YaHei"/>
              </a:rPr>
              <a:t>put_audio_frame</a:t>
            </a:r>
            <a:r>
              <a:rPr lang="zh-CN" sz="1013">
                <a:solidFill>
                  <a:srgbClr val="475569"/>
                </a:solidFill>
                <a:latin typeface="Microsoft YaHei"/>
                <a:ea typeface="Microsoft YaHei"/>
              </a:rPr>
              <a:t>）汇入</a:t>
            </a:r>
            <a:r>
              <a:rPr lang="en-US" sz="1013">
                <a:solidFill>
                  <a:srgbClr val="475569"/>
                </a:solidFill>
                <a:latin typeface="Microsoft YaHei"/>
                <a:ea typeface="Microsoft YaHei"/>
              </a:rPr>
              <a:t> output</a:t>
            </a:r>
            <a:r>
              <a:rPr lang="zh-CN" sz="1013">
                <a:solidFill>
                  <a:srgbClr val="475569"/>
                </a:solidFill>
                <a:latin typeface="Microsoft YaHei"/>
                <a:ea typeface="Microsoft YaHei"/>
              </a:rPr>
              <a:t>，由</a:t>
            </a:r>
            <a:r>
              <a:rPr lang="en-US" sz="1013">
                <a:solidFill>
                  <a:srgbClr val="475569"/>
                </a:solidFill>
                <a:latin typeface="Microsoft YaHei"/>
                <a:ea typeface="Microsoft YaHei"/>
              </a:rPr>
              <a:t> WebRTC IO </a:t>
            </a:r>
            <a:r>
              <a:rPr lang="zh-CN" sz="1013">
                <a:solidFill>
                  <a:srgbClr val="475569"/>
                </a:solidFill>
                <a:latin typeface="Microsoft YaHei"/>
                <a:ea typeface="Microsoft YaHei"/>
              </a:rPr>
              <a:t>按严格时钟推送至客户端浏览器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472871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transparent', padding: '70px 60px 30px', flexDirection: 'column' }}&gt;&#10;    &lt;Image src=&quot;resources/images/gvp_background.jpg&quot; style={{ position: 'absolute', top: 0, left: 0, width: 1280, height: 720, objectFit: 'cover' }} /&gt;&#10;&#10;    &lt;Box style={{ zIndex: 1, height: 50, flexDirection: 'column', gap: 3 }}&gt;&#10;        &lt;Box style={{ flexDirection: 'row', alignItems: 'center', gap: 10 }}&gt;&#10;            &lt;Text style={{ fontSize: 30, fontWeight: 'bold', color: '#1E293B' }}&gt;缓存队列与打断实现&lt;/Text&gt;&#10;            &lt;Box style={{ background: 'rgba(37, 99, 235, 0.12)', borderRadius: 4, padding: '3px 12px' }}&gt;&#10;                &lt;Text style={{ fontSize: 13, color: '#2563EB', fontWeight: 'bold' }}&gt;Queue &amp; Interrupt&lt;/Text&gt;&#10;            &lt;/Box&gt;&#10;        &lt;/Box&gt;&#10;        &lt;Text style={{ fontSize: 15, color: '#475569' }}&gt;有界队列背压防止 OOM · flush_talk() 状态机实现随时打断&lt;/Text&gt;&#10;    &lt;/Box&gt;&#10;&#10;    &lt;Box style={{ zIndex: 1, flex: 1, flexDirection: 'row', gap: 40, marginTop: 16 }}&gt;&#10;&#10;        &lt;Box style={{ width: 648, flexDirection: 'column', gap: 18 }}&gt;&#10;&#10;            &lt;Box style={{ flex: 1, background: 'rgba(255, 255, 255, 0.78)', borderRadius: 10, border: '1px solid rgba(203, 213, 225, 0.6)', padding: '18px 20px', flexDirection: 'column', gap: 12 }}&gt;&#10;                &lt;Text style={{ fontSize: 17, fontWeight: 'bold', color: '#1E293B' }}&gt;① 有界缓存队列与背压&lt;/Text&gt;&#10;                &lt;Box style={{ flexDirection: 'column', gap: 9 }}&gt;&#10;                    {[&#10;                        { n: 'res_frame_queue', d: '推理结果帧队列', c: '#2563EB', s: 'maxsize = batch_size × 2' },&#10;                        { n: 'asr.output_queue', d: '音频帧队列', c: '#0891B2', s: '推理消费 · block=True' },&#10;                        { n: 'asr.feat_queue', d: '特征队列', c: '#0891B2', s: '推理消费 · timeout=1' },&#10;                        { n: 'tts.msgqueue', d: '待合成文本队列', c: '#7C3AED', s: '文本 chunk 缓冲' }&#10;                    ].map((q, i) =&gt; (&#10;                        &lt;Box key={i} style={{ flexDirection: 'row', alignItems: 'center', gap: 12, background: 'rgba(37, 99, 235, 0.05)', borderRadius: 6, padding: '9px 12px', borderLeft: `3px solid ${q.c}` }}&gt;&#10;                            &lt;Text style={{ fontSize: 14, fontWeight: 'bold', color: q.c, width: 168 }}&gt;{q.n}&lt;/Text&gt;&#10;                            &lt;Text style={{ fontSize: 13, color: '#475569', flex: 1 }}&gt;{q.d}&lt;/Text&gt;&#10;                            &lt;Text style={{ fontSize: 12, color: '#64748B' }}&gt;{q.s}&lt;/Text&gt;&#10;                        &lt;/Box&gt;&#10;                    ))}&#10;                &lt;/Box&gt;&#10;                &lt;Text style={{ fontSize: 13, color: '#475569', lineHeight: 1.6 }}&gt;&#10;                    队列满时 &lt;span style={{ color: '#2563EB', fontWeight: 'bold' }}&gt;put 阻塞&lt;/span&gt; 形成天然背压，推理线程被安全挂起，避免海量帧堆积撑爆内存；渲染侧若 &lt;span style={{ color: '#2563EB', fontWeight: 'bold' }}&gt;buffer_size ≥ 5&lt;/span&gt; 则 sleep 节流。&#10;                &lt;/Text&gt;&#10;            &lt;/Box&gt;&#10;&#10;            &lt;Box style={{ flex: 1, background: 'rgba(255, 255, 255, 0.78)', borderRadius: 10, border: '1px solid rgba(203, 213, 225, 0.6)', padding: '18px 20px', flexDirection: 'column', gap: 12 }}&gt;&#10;                &lt;Text style={{ fontSize: 17, fontWeight: 'bold', color: '#1E293B' }}&gt;② 打断触发入口&lt;/Text&gt;&#10;                {[&#10;                    { t: '/human 带 interrupt=true', d: '先调用 flush_talk() 清空旧状态，再 put 新文本' },&#10;                    { t: '/interrupt_talk 专用端点', d: '直接 flush_talk()，前端&quot;打断&quot;按钮即走此路' },&#10;                    { t: '唤醒词 / 自然对话（企业版）', d: '监听 VAD 与 ASR，自动触发打断接管' }&#10;                ].map((x, i) =&gt; (&#10;                    &lt;Box key={i} style={{ flexDirection: 'row', gap: 12, alignItems: 'flex-start' }}&gt;&#10;                        &lt;Box style={{ width: 22, height: 22, borderRadius: 11, background: '#2563EB', alignItems: 'center', justifyContent: 'center', marginTop: 1 }}&gt;&#10;                            &lt;Text style={{ fontSize: 12, color: '#fff', fontWeight: 'bold' }}&gt;{i + 1}&lt;/Text&gt;&#10;                        &lt;/Box&gt;&#10;                        &lt;Box style={{ flex: 1, flexDirection: 'column' }}&gt;&#10;                            &lt;Text style={{ fontSize: 14.5, fontWeight: 'bold', color: '#1E293B' }}&gt;{x.t}&lt;/Text&gt;&#10;                            &lt;Text style={{ fontSize: 12.5, color: '#64748B', lineHeight: 1.5 }}&gt;{x.d}&lt;/Text&gt;&#10;                        &lt;/Box&gt;&#10;                    &lt;/Box&gt;&#10;                ))}&#10;            &lt;/Box&gt;&#10;        &lt;/Box&gt;&#10;&#10;        &lt;Box style={{ flex: 1, background: 'rgba(255, 255, 255, 0.78)', borderRadius: 10, border: '1px solid rgba(203, 213, 225, 0.6)', padding: '18px 20px', flexDirection: 'column', gap: 10 }}&gt;&#10;            &lt;Text style={{ fontSize: 17, fontWeight: 'bold', color: '#1E293B' }}&gt;③ 打断状态机流程&lt;/Text&gt;&#10;            &lt;Box style={{ flex: 1, flexDirection: 'column', alignItems: 'center', gap: 0, marginTop: 6, justifyContent: 'space-around' }}&gt;&#10;                {[&#10;                    { t: '数字人正在说话', s: 'State.RUNNING', c: '#0891B2', sub: '流式 TTS 逐 20ms 吐 PCM' },&#10;                    { t: '收到打断信号', s: 'interrupt / 唤醒词', c: '#F59E0B', sub: '调用 flush_talk()' },&#10;                    { t: '清空并暂停', s: 'msgqueue.clear() · State.PAUSE', c: '#EF4444', sub: 'while(state==RUNNING) 立即退出' },&#10;                    { t: '新回复接管', s: 'State.RUNNING', c: '#2563EB', sub: 'put_msg_txt 重启会话' }&#10;                ].map((st, i) =&gt; (&#10;                    &lt;Box key={i} style={{ flexDirection: 'column', alignItems: 'center' }}&gt;&#10;                        &lt;Box style={{ width: 280, background: `${st.c}14`, border: `1px solid ${st.c}66`, borderRadius: 8, padding: '11px 14px', alignItems: 'center' }}&gt;&#10;                            &lt;Text style={{ fontSize: 14.5, fontWeight: 'bold', color: st.c }}&gt;{st.t}&lt;/Text&gt;&#10;                            &lt;Text style={{ fontSize: 12.5, color: '#64748B', marginTop: 2 }}&gt;{st.s}&lt;/Text&gt;&#10;                            &lt;Text style={{ fontSize: 11.5, color: '#94A3B8', marginTop: 2 }}&gt;{st.sub}&lt;/Text&gt;&#10;                        &lt;/Box&gt;&#10;                        {i &lt; 3 ? &lt;Text style={{ fontSize: 18, color: '#94A3B8', fontWeight: 'bold', lineHeight: 1.1 }}&gt;▼&lt;/Text&gt; : null}&#10;                    &lt;/Box&gt;&#10;                ))}&#10;            &lt;/Box&gt;&#10;        &lt;/Box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图片 8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91" name="文本框 90" descr="{&quot;isTemplate&quot;:true,&quot;type&quot;:&quot;text&quot;}"/>
          <p:cNvSpPr txBox="1"/>
          <p:nvPr/>
        </p:nvSpPr>
        <p:spPr>
          <a:xfrm>
            <a:off x="571500" y="666750"/>
            <a:ext cx="257175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E293B"/>
                </a:solidFill>
                <a:latin typeface="Microsoft YaHei"/>
                <a:ea typeface="Microsoft YaHei"/>
              </a:rPr>
              <a:t>缓存队列与打断实现</a:t>
            </a:r>
            <a:endParaRPr/>
          </a:p>
        </p:txBody>
      </p:sp>
      <p:sp>
        <p:nvSpPr>
          <p:cNvPr id="92" name="圆角矩形 91"/>
          <p:cNvSpPr/>
          <p:nvPr/>
        </p:nvSpPr>
        <p:spPr>
          <a:xfrm>
            <a:off x="3238500" y="733425"/>
            <a:ext cx="1333500" cy="209550"/>
          </a:xfrm>
          <a:prstGeom prst="roundRect">
            <a:avLst>
              <a:gd name="adj" fmla="val 18182"/>
            </a:avLst>
          </a:prstGeom>
          <a:solidFill>
            <a:srgbClr val="2563EB">
              <a:alpha val="1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93" name="文本框 92" descr="{&quot;isTemplate&quot;:true,&quot;type&quot;:&quot;text&quot;}"/>
          <p:cNvSpPr txBox="1"/>
          <p:nvPr/>
        </p:nvSpPr>
        <p:spPr>
          <a:xfrm>
            <a:off x="3352800" y="762000"/>
            <a:ext cx="11049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563EB"/>
                </a:solidFill>
                <a:latin typeface="Microsoft YaHei"/>
                <a:ea typeface="Microsoft YaHei"/>
              </a:rPr>
              <a:t>Queue &amp; Interrupt</a:t>
            </a:r>
            <a:endParaRPr/>
          </a:p>
        </p:txBody>
      </p:sp>
      <p:sp>
        <p:nvSpPr>
          <p:cNvPr id="94" name="文本框 93" descr="{&quot;isTemplate&quot;:true,&quot;type&quot;:&quot;text&quot;}"/>
          <p:cNvSpPr txBox="1"/>
          <p:nvPr/>
        </p:nvSpPr>
        <p:spPr>
          <a:xfrm>
            <a:off x="571500" y="1038225"/>
            <a:ext cx="110490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有界队列背压防止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> OOM · flush_talk()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状态机实现随时打断</a:t>
            </a:r>
            <a:endParaRPr/>
          </a:p>
        </p:txBody>
      </p:sp>
      <p:sp>
        <p:nvSpPr>
          <p:cNvPr id="95" name="圆角矩形 94"/>
          <p:cNvSpPr/>
          <p:nvPr/>
        </p:nvSpPr>
        <p:spPr>
          <a:xfrm>
            <a:off x="571500" y="1295400"/>
            <a:ext cx="6172200" cy="2943225"/>
          </a:xfrm>
          <a:prstGeom prst="roundRect">
            <a:avLst>
              <a:gd name="adj" fmla="val 3236"/>
            </a:avLst>
          </a:prstGeom>
          <a:solidFill>
            <a:srgbClr val="FFFFFF">
              <a:alpha val="78000"/>
            </a:srgbClr>
          </a:solidFill>
          <a:ln w="12700">
            <a:solidFill>
              <a:srgbClr val="CBD5E1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6" name="文本框 95" descr="{&quot;isTemplate&quot;:true,&quot;type&quot;:&quot;text&quot;}"/>
          <p:cNvSpPr txBox="1"/>
          <p:nvPr/>
        </p:nvSpPr>
        <p:spPr>
          <a:xfrm>
            <a:off x="762000" y="1466850"/>
            <a:ext cx="57912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E293B"/>
                </a:solidFill>
                <a:latin typeface="Microsoft YaHei"/>
                <a:ea typeface="Microsoft YaHei"/>
              </a:rPr>
              <a:t>① </a:t>
            </a:r>
            <a:r>
              <a:rPr lang="zh-CN" sz="1275" b="1">
                <a:solidFill>
                  <a:srgbClr val="1E293B"/>
                </a:solidFill>
                <a:latin typeface="Microsoft YaHei"/>
                <a:ea typeface="Microsoft YaHei"/>
              </a:rPr>
              <a:t>有界缓存队列与背压</a:t>
            </a:r>
            <a:endParaRPr/>
          </a:p>
        </p:txBody>
      </p:sp>
      <p:sp>
        <p:nvSpPr>
          <p:cNvPr id="97" name="圆角矩形 96"/>
          <p:cNvSpPr/>
          <p:nvPr/>
        </p:nvSpPr>
        <p:spPr>
          <a:xfrm>
            <a:off x="790575" y="1781175"/>
            <a:ext cx="5791200" cy="333375"/>
          </a:xfrm>
          <a:prstGeom prst="roundRect">
            <a:avLst>
              <a:gd name="adj" fmla="val 17143"/>
            </a:avLst>
          </a:prstGeom>
          <a:solidFill>
            <a:srgbClr val="2563EB">
              <a:alpha val="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98" name="任意形状 97"/>
          <p:cNvSpPr/>
          <p:nvPr/>
        </p:nvSpPr>
        <p:spPr>
          <a:xfrm>
            <a:off x="790575" y="1781175"/>
            <a:ext cx="5791200" cy="333375"/>
          </a:xfrm>
          <a:custGeom>
            <a:avLst/>
            <a:gdLst/>
            <a:ahLst/>
            <a:cxnLst/>
            <a:rect l="0" t="0" r="0" b="0"/>
            <a:pathLst>
              <a:path w="608" h="35">
                <a:moveTo>
                  <a:pt x="6" y="0"/>
                </a:moveTo>
                <a:cubicBezTo>
                  <a:pt x="4" y="0"/>
                  <a:pt x="3" y="1"/>
                  <a:pt x="3" y="3"/>
                </a:cubicBezTo>
                <a:lnTo>
                  <a:pt x="3" y="32"/>
                </a:lnTo>
                <a:cubicBezTo>
                  <a:pt x="3" y="33"/>
                  <a:pt x="4" y="35"/>
                  <a:pt x="5" y="35"/>
                </a:cubicBezTo>
                <a:cubicBezTo>
                  <a:pt x="2" y="35"/>
                  <a:pt x="0" y="32"/>
                  <a:pt x="0" y="29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9" name="文本框 98" descr="{&quot;isTemplate&quot;:true,&quot;type&quot;:&quot;text&quot;}"/>
          <p:cNvSpPr txBox="1"/>
          <p:nvPr/>
        </p:nvSpPr>
        <p:spPr>
          <a:xfrm>
            <a:off x="904875" y="1866900"/>
            <a:ext cx="1600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563EB"/>
                </a:solidFill>
                <a:latin typeface="Microsoft YaHei"/>
                <a:ea typeface="Microsoft YaHei"/>
              </a:rPr>
              <a:t>res_frame_queue</a:t>
            </a:r>
            <a:endParaRPr/>
          </a:p>
        </p:txBody>
      </p:sp>
      <p:sp>
        <p:nvSpPr>
          <p:cNvPr id="100" name="文本框 99" descr="{&quot;isTemplate&quot;:true,&quot;type&quot;:&quot;text&quot;}"/>
          <p:cNvSpPr txBox="1"/>
          <p:nvPr/>
        </p:nvSpPr>
        <p:spPr>
          <a:xfrm>
            <a:off x="2619375" y="1876425"/>
            <a:ext cx="23336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推理结果帧队列</a:t>
            </a:r>
            <a:endParaRPr/>
          </a:p>
        </p:txBody>
      </p:sp>
      <p:sp>
        <p:nvSpPr>
          <p:cNvPr id="101" name="文本框 100" descr="{&quot;isTemplate&quot;:true,&quot;type&quot;:&quot;text&quot;}"/>
          <p:cNvSpPr txBox="1"/>
          <p:nvPr/>
        </p:nvSpPr>
        <p:spPr>
          <a:xfrm>
            <a:off x="5067300" y="1876425"/>
            <a:ext cx="13716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maxsize = batch_size × 2</a:t>
            </a:r>
            <a:endParaRPr/>
          </a:p>
        </p:txBody>
      </p:sp>
      <p:sp>
        <p:nvSpPr>
          <p:cNvPr id="102" name="圆角矩形 101"/>
          <p:cNvSpPr/>
          <p:nvPr/>
        </p:nvSpPr>
        <p:spPr>
          <a:xfrm>
            <a:off x="790575" y="2200275"/>
            <a:ext cx="5791200" cy="333375"/>
          </a:xfrm>
          <a:prstGeom prst="roundRect">
            <a:avLst>
              <a:gd name="adj" fmla="val 17143"/>
            </a:avLst>
          </a:prstGeom>
          <a:solidFill>
            <a:srgbClr val="2563EB">
              <a:alpha val="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3" name="任意形状 102"/>
          <p:cNvSpPr/>
          <p:nvPr/>
        </p:nvSpPr>
        <p:spPr>
          <a:xfrm>
            <a:off x="790575" y="2200275"/>
            <a:ext cx="5791200" cy="333375"/>
          </a:xfrm>
          <a:custGeom>
            <a:avLst/>
            <a:gdLst/>
            <a:ahLst/>
            <a:cxnLst/>
            <a:rect l="0" t="0" r="0" b="0"/>
            <a:pathLst>
              <a:path w="608" h="35">
                <a:moveTo>
                  <a:pt x="6" y="0"/>
                </a:moveTo>
                <a:cubicBezTo>
                  <a:pt x="4" y="0"/>
                  <a:pt x="3" y="1"/>
                  <a:pt x="3" y="3"/>
                </a:cubicBezTo>
                <a:lnTo>
                  <a:pt x="3" y="32"/>
                </a:lnTo>
                <a:cubicBezTo>
                  <a:pt x="3" y="33"/>
                  <a:pt x="4" y="35"/>
                  <a:pt x="5" y="35"/>
                </a:cubicBezTo>
                <a:cubicBezTo>
                  <a:pt x="2" y="35"/>
                  <a:pt x="0" y="32"/>
                  <a:pt x="0" y="29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0891B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4" name="文本框 103" descr="{&quot;isTemplate&quot;:true,&quot;type&quot;:&quot;text&quot;}"/>
          <p:cNvSpPr txBox="1"/>
          <p:nvPr/>
        </p:nvSpPr>
        <p:spPr>
          <a:xfrm>
            <a:off x="904875" y="2286000"/>
            <a:ext cx="1600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891B2"/>
                </a:solidFill>
                <a:latin typeface="Microsoft YaHei"/>
                <a:ea typeface="Microsoft YaHei"/>
              </a:rPr>
              <a:t>asr.output_queue</a:t>
            </a:r>
            <a:endParaRPr/>
          </a:p>
        </p:txBody>
      </p:sp>
      <p:sp>
        <p:nvSpPr>
          <p:cNvPr id="105" name="文本框 104" descr="{&quot;isTemplate&quot;:true,&quot;type&quot;:&quot;text&quot;}"/>
          <p:cNvSpPr txBox="1"/>
          <p:nvPr/>
        </p:nvSpPr>
        <p:spPr>
          <a:xfrm>
            <a:off x="2619375" y="2295525"/>
            <a:ext cx="25336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音频帧队列</a:t>
            </a:r>
            <a:endParaRPr/>
          </a:p>
        </p:txBody>
      </p:sp>
      <p:sp>
        <p:nvSpPr>
          <p:cNvPr id="106" name="文本框 105" descr="{&quot;isTemplate&quot;:true,&quot;type&quot;:&quot;text&quot;}"/>
          <p:cNvSpPr txBox="1"/>
          <p:nvPr/>
        </p:nvSpPr>
        <p:spPr>
          <a:xfrm>
            <a:off x="5267325" y="2295525"/>
            <a:ext cx="117157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推理消费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· block=True</a:t>
            </a:r>
            <a:endParaRPr/>
          </a:p>
        </p:txBody>
      </p:sp>
      <p:sp>
        <p:nvSpPr>
          <p:cNvPr id="107" name="圆角矩形 106"/>
          <p:cNvSpPr/>
          <p:nvPr/>
        </p:nvSpPr>
        <p:spPr>
          <a:xfrm>
            <a:off x="790575" y="2619375"/>
            <a:ext cx="5791200" cy="333375"/>
          </a:xfrm>
          <a:prstGeom prst="roundRect">
            <a:avLst>
              <a:gd name="adj" fmla="val 17143"/>
            </a:avLst>
          </a:prstGeom>
          <a:solidFill>
            <a:srgbClr val="2563EB">
              <a:alpha val="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8" name="任意形状 107"/>
          <p:cNvSpPr/>
          <p:nvPr/>
        </p:nvSpPr>
        <p:spPr>
          <a:xfrm>
            <a:off x="790575" y="2619375"/>
            <a:ext cx="5791200" cy="333375"/>
          </a:xfrm>
          <a:custGeom>
            <a:avLst/>
            <a:gdLst/>
            <a:ahLst/>
            <a:cxnLst/>
            <a:rect l="0" t="0" r="0" b="0"/>
            <a:pathLst>
              <a:path w="608" h="35">
                <a:moveTo>
                  <a:pt x="6" y="0"/>
                </a:moveTo>
                <a:cubicBezTo>
                  <a:pt x="4" y="0"/>
                  <a:pt x="3" y="1"/>
                  <a:pt x="3" y="3"/>
                </a:cubicBezTo>
                <a:lnTo>
                  <a:pt x="3" y="32"/>
                </a:lnTo>
                <a:cubicBezTo>
                  <a:pt x="3" y="33"/>
                  <a:pt x="4" y="35"/>
                  <a:pt x="5" y="35"/>
                </a:cubicBezTo>
                <a:cubicBezTo>
                  <a:pt x="2" y="35"/>
                  <a:pt x="0" y="32"/>
                  <a:pt x="0" y="29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0891B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9" name="文本框 108" descr="{&quot;isTemplate&quot;:true,&quot;type&quot;:&quot;text&quot;}"/>
          <p:cNvSpPr txBox="1"/>
          <p:nvPr/>
        </p:nvSpPr>
        <p:spPr>
          <a:xfrm>
            <a:off x="904875" y="2705100"/>
            <a:ext cx="1600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891B2"/>
                </a:solidFill>
                <a:latin typeface="Microsoft YaHei"/>
                <a:ea typeface="Microsoft YaHei"/>
              </a:rPr>
              <a:t>asr.feat_queue</a:t>
            </a:r>
            <a:endParaRPr/>
          </a:p>
        </p:txBody>
      </p:sp>
      <p:sp>
        <p:nvSpPr>
          <p:cNvPr id="110" name="文本框 109" descr="{&quot;isTemplate&quot;:true,&quot;type&quot;:&quot;text&quot;}"/>
          <p:cNvSpPr txBox="1"/>
          <p:nvPr/>
        </p:nvSpPr>
        <p:spPr>
          <a:xfrm>
            <a:off x="2619375" y="2714625"/>
            <a:ext cx="25622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特征队列</a:t>
            </a:r>
            <a:endParaRPr/>
          </a:p>
        </p:txBody>
      </p:sp>
      <p:sp>
        <p:nvSpPr>
          <p:cNvPr id="111" name="文本框 110" descr="{&quot;isTemplate&quot;:true,&quot;type&quot;:&quot;text&quot;}"/>
          <p:cNvSpPr txBox="1"/>
          <p:nvPr/>
        </p:nvSpPr>
        <p:spPr>
          <a:xfrm>
            <a:off x="5295900" y="2714625"/>
            <a:ext cx="11430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推理消费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· timeout=1</a:t>
            </a:r>
            <a:endParaRPr/>
          </a:p>
        </p:txBody>
      </p:sp>
      <p:sp>
        <p:nvSpPr>
          <p:cNvPr id="112" name="圆角矩形 111"/>
          <p:cNvSpPr/>
          <p:nvPr/>
        </p:nvSpPr>
        <p:spPr>
          <a:xfrm>
            <a:off x="790575" y="3038475"/>
            <a:ext cx="5791200" cy="333375"/>
          </a:xfrm>
          <a:prstGeom prst="roundRect">
            <a:avLst>
              <a:gd name="adj" fmla="val 17143"/>
            </a:avLst>
          </a:prstGeom>
          <a:solidFill>
            <a:srgbClr val="2563EB">
              <a:alpha val="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3" name="任意形状 112"/>
          <p:cNvSpPr/>
          <p:nvPr/>
        </p:nvSpPr>
        <p:spPr>
          <a:xfrm>
            <a:off x="790575" y="3038475"/>
            <a:ext cx="5791200" cy="333375"/>
          </a:xfrm>
          <a:custGeom>
            <a:avLst/>
            <a:gdLst/>
            <a:ahLst/>
            <a:cxnLst/>
            <a:rect l="0" t="0" r="0" b="0"/>
            <a:pathLst>
              <a:path w="608" h="35">
                <a:moveTo>
                  <a:pt x="6" y="0"/>
                </a:moveTo>
                <a:cubicBezTo>
                  <a:pt x="4" y="0"/>
                  <a:pt x="3" y="1"/>
                  <a:pt x="3" y="3"/>
                </a:cubicBezTo>
                <a:lnTo>
                  <a:pt x="3" y="32"/>
                </a:lnTo>
                <a:cubicBezTo>
                  <a:pt x="3" y="33"/>
                  <a:pt x="4" y="35"/>
                  <a:pt x="5" y="35"/>
                </a:cubicBezTo>
                <a:cubicBezTo>
                  <a:pt x="2" y="35"/>
                  <a:pt x="0" y="32"/>
                  <a:pt x="0" y="29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7C3AE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4" name="文本框 113" descr="{&quot;isTemplate&quot;:true,&quot;type&quot;:&quot;text&quot;}"/>
          <p:cNvSpPr txBox="1"/>
          <p:nvPr/>
        </p:nvSpPr>
        <p:spPr>
          <a:xfrm>
            <a:off x="904875" y="3124200"/>
            <a:ext cx="1600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7C3AED"/>
                </a:solidFill>
                <a:latin typeface="Microsoft YaHei"/>
                <a:ea typeface="Microsoft YaHei"/>
              </a:rPr>
              <a:t>tts.msgqueue</a:t>
            </a:r>
            <a:endParaRPr/>
          </a:p>
        </p:txBody>
      </p:sp>
      <p:sp>
        <p:nvSpPr>
          <p:cNvPr id="115" name="文本框 114" descr="{&quot;isTemplate&quot;:true,&quot;type&quot;:&quot;text&quot;}"/>
          <p:cNvSpPr txBox="1"/>
          <p:nvPr/>
        </p:nvSpPr>
        <p:spPr>
          <a:xfrm>
            <a:off x="2619375" y="3133725"/>
            <a:ext cx="28479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待合成文本队列</a:t>
            </a:r>
            <a:endParaRPr/>
          </a:p>
        </p:txBody>
      </p:sp>
      <p:sp>
        <p:nvSpPr>
          <p:cNvPr id="116" name="文本框 115" descr="{&quot;isTemplate&quot;:true,&quot;type&quot;:&quot;text&quot;}"/>
          <p:cNvSpPr txBox="1"/>
          <p:nvPr/>
        </p:nvSpPr>
        <p:spPr>
          <a:xfrm>
            <a:off x="5581650" y="3133725"/>
            <a:ext cx="85725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文本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chunk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缓冲</a:t>
            </a:r>
            <a:endParaRPr/>
          </a:p>
        </p:txBody>
      </p:sp>
      <p:sp>
        <p:nvSpPr>
          <p:cNvPr id="117" name="文本框 116" descr="{&quot;isTemplate&quot;:true,&quot;type&quot;:&quot;text&quot;}"/>
          <p:cNvSpPr txBox="1"/>
          <p:nvPr/>
        </p:nvSpPr>
        <p:spPr>
          <a:xfrm>
            <a:off x="762000" y="3486150"/>
            <a:ext cx="5791200" cy="4762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队列满时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</a:t>
            </a:r>
            <a:r>
              <a:rPr lang="en-US" sz="975" b="1">
                <a:solidFill>
                  <a:srgbClr val="2563EB"/>
                </a:solidFill>
                <a:latin typeface="Microsoft YaHei"/>
                <a:ea typeface="Microsoft YaHei"/>
              </a:rPr>
              <a:t>put </a:t>
            </a:r>
            <a:r>
              <a:rPr lang="zh-CN" sz="975" b="1">
                <a:solidFill>
                  <a:srgbClr val="2563EB"/>
                </a:solidFill>
                <a:latin typeface="Microsoft YaHei"/>
                <a:ea typeface="Microsoft YaHei"/>
              </a:rPr>
              <a:t>阻塞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形成天然背压，推理线程被安全挂起，避免海量帧堆积撑爆内存；渲染侧若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</a:t>
            </a:r>
            <a:r>
              <a:rPr lang="en-US" sz="975" b="1">
                <a:solidFill>
                  <a:srgbClr val="2563EB"/>
                </a:solidFill>
                <a:latin typeface="Microsoft YaHei"/>
                <a:ea typeface="Microsoft YaHei"/>
              </a:rPr>
              <a:t>buffer_size ≥ 5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则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sleep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节流。</a:t>
            </a:r>
            <a:endParaRPr/>
          </a:p>
        </p:txBody>
      </p:sp>
      <p:sp>
        <p:nvSpPr>
          <p:cNvPr id="118" name="圆角矩形 117"/>
          <p:cNvSpPr/>
          <p:nvPr/>
        </p:nvSpPr>
        <p:spPr>
          <a:xfrm>
            <a:off x="571500" y="4410075"/>
            <a:ext cx="6172200" cy="2162175"/>
          </a:xfrm>
          <a:prstGeom prst="roundRect">
            <a:avLst>
              <a:gd name="adj" fmla="val 4405"/>
            </a:avLst>
          </a:prstGeom>
          <a:solidFill>
            <a:srgbClr val="FFFFFF">
              <a:alpha val="78000"/>
            </a:srgbClr>
          </a:solidFill>
          <a:ln w="12700">
            <a:solidFill>
              <a:srgbClr val="CBD5E1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9" name="文本框 118" descr="{&quot;isTemplate&quot;:true,&quot;type&quot;:&quot;text&quot;}"/>
          <p:cNvSpPr txBox="1"/>
          <p:nvPr/>
        </p:nvSpPr>
        <p:spPr>
          <a:xfrm>
            <a:off x="762000" y="4581525"/>
            <a:ext cx="57912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E293B"/>
                </a:solidFill>
                <a:latin typeface="Microsoft YaHei"/>
                <a:ea typeface="Microsoft YaHei"/>
              </a:rPr>
              <a:t>② </a:t>
            </a:r>
            <a:r>
              <a:rPr lang="zh-CN" sz="1275" b="1">
                <a:solidFill>
                  <a:srgbClr val="1E293B"/>
                </a:solidFill>
                <a:latin typeface="Microsoft YaHei"/>
                <a:ea typeface="Microsoft YaHei"/>
              </a:rPr>
              <a:t>打断触发入口</a:t>
            </a:r>
            <a:endParaRPr/>
          </a:p>
        </p:txBody>
      </p:sp>
      <p:sp>
        <p:nvSpPr>
          <p:cNvPr id="120" name="圆角矩形 119"/>
          <p:cNvSpPr/>
          <p:nvPr/>
        </p:nvSpPr>
        <p:spPr>
          <a:xfrm>
            <a:off x="762000" y="49053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1" name="文本框 120" descr="{&quot;isTemplate&quot;:true,&quot;type&quot;:&quot;text&quot;}"/>
          <p:cNvSpPr txBox="1"/>
          <p:nvPr/>
        </p:nvSpPr>
        <p:spPr>
          <a:xfrm>
            <a:off x="828675" y="4943475"/>
            <a:ext cx="762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22" name="文本框 121" descr="{&quot;isTemplate&quot;:true,&quot;type&quot;:&quot;text&quot;}"/>
          <p:cNvSpPr txBox="1"/>
          <p:nvPr/>
        </p:nvSpPr>
        <p:spPr>
          <a:xfrm>
            <a:off x="1085850" y="4895850"/>
            <a:ext cx="54673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88" b="1">
                <a:solidFill>
                  <a:srgbClr val="1E293B"/>
                </a:solidFill>
                <a:latin typeface="Microsoft YaHei"/>
                <a:ea typeface="Microsoft YaHei"/>
              </a:rPr>
              <a:t>/human </a:t>
            </a:r>
            <a:r>
              <a:rPr lang="zh-CN" sz="1088" b="1">
                <a:solidFill>
                  <a:srgbClr val="1E293B"/>
                </a:solidFill>
                <a:latin typeface="Microsoft YaHei"/>
                <a:ea typeface="Microsoft YaHei"/>
              </a:rPr>
              <a:t>带</a:t>
            </a:r>
            <a:r>
              <a:rPr lang="en-US" sz="1088" b="1">
                <a:solidFill>
                  <a:srgbClr val="1E293B"/>
                </a:solidFill>
                <a:latin typeface="Microsoft YaHei"/>
                <a:ea typeface="Microsoft YaHei"/>
              </a:rPr>
              <a:t> interrupt=true</a:t>
            </a:r>
            <a:endParaRPr/>
          </a:p>
        </p:txBody>
      </p:sp>
      <p:sp>
        <p:nvSpPr>
          <p:cNvPr id="123" name="文本框 122" descr="{&quot;isTemplate&quot;:true,&quot;type&quot;:&quot;text&quot;}"/>
          <p:cNvSpPr txBox="1"/>
          <p:nvPr/>
        </p:nvSpPr>
        <p:spPr>
          <a:xfrm>
            <a:off x="1085850" y="5067300"/>
            <a:ext cx="546735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938">
                <a:solidFill>
                  <a:srgbClr val="64748B"/>
                </a:solidFill>
                <a:latin typeface="Microsoft YaHei"/>
                <a:ea typeface="Microsoft YaHei"/>
              </a:rPr>
              <a:t>先调用</a:t>
            </a:r>
            <a:r>
              <a:rPr lang="en-US" sz="938">
                <a:solidFill>
                  <a:srgbClr val="64748B"/>
                </a:solidFill>
                <a:latin typeface="Microsoft YaHei"/>
                <a:ea typeface="Microsoft YaHei"/>
              </a:rPr>
              <a:t> flush_talk() </a:t>
            </a:r>
            <a:r>
              <a:rPr lang="zh-CN" sz="938">
                <a:solidFill>
                  <a:srgbClr val="64748B"/>
                </a:solidFill>
                <a:latin typeface="Microsoft YaHei"/>
                <a:ea typeface="Microsoft YaHei"/>
              </a:rPr>
              <a:t>清空旧状态，再</a:t>
            </a:r>
            <a:r>
              <a:rPr lang="en-US" sz="938">
                <a:solidFill>
                  <a:srgbClr val="64748B"/>
                </a:solidFill>
                <a:latin typeface="Microsoft YaHei"/>
                <a:ea typeface="Microsoft YaHei"/>
              </a:rPr>
              <a:t> put </a:t>
            </a:r>
            <a:r>
              <a:rPr lang="zh-CN" sz="938">
                <a:solidFill>
                  <a:srgbClr val="64748B"/>
                </a:solidFill>
                <a:latin typeface="Microsoft YaHei"/>
                <a:ea typeface="Microsoft YaHei"/>
              </a:rPr>
              <a:t>新文本</a:t>
            </a:r>
            <a:endParaRPr/>
          </a:p>
        </p:txBody>
      </p:sp>
      <p:sp>
        <p:nvSpPr>
          <p:cNvPr id="124" name="圆角矩形 123"/>
          <p:cNvSpPr/>
          <p:nvPr/>
        </p:nvSpPr>
        <p:spPr>
          <a:xfrm>
            <a:off x="762000" y="541020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5" name="文本框 124" descr="{&quot;isTemplate&quot;:true,&quot;type&quot;:&quot;text&quot;}"/>
          <p:cNvSpPr txBox="1"/>
          <p:nvPr/>
        </p:nvSpPr>
        <p:spPr>
          <a:xfrm>
            <a:off x="828675" y="5448300"/>
            <a:ext cx="762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26" name="文本框 125" descr="{&quot;isTemplate&quot;:true,&quot;type&quot;:&quot;text&quot;}"/>
          <p:cNvSpPr txBox="1"/>
          <p:nvPr/>
        </p:nvSpPr>
        <p:spPr>
          <a:xfrm>
            <a:off x="1085850" y="5400675"/>
            <a:ext cx="54673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88" b="1">
                <a:solidFill>
                  <a:srgbClr val="1E293B"/>
                </a:solidFill>
                <a:latin typeface="Microsoft YaHei"/>
                <a:ea typeface="Microsoft YaHei"/>
              </a:rPr>
              <a:t>/interrupt_talk </a:t>
            </a:r>
            <a:r>
              <a:rPr lang="zh-CN" sz="1088" b="1">
                <a:solidFill>
                  <a:srgbClr val="1E293B"/>
                </a:solidFill>
                <a:latin typeface="Microsoft YaHei"/>
                <a:ea typeface="Microsoft YaHei"/>
              </a:rPr>
              <a:t>专用端点</a:t>
            </a:r>
            <a:endParaRPr/>
          </a:p>
        </p:txBody>
      </p:sp>
      <p:sp>
        <p:nvSpPr>
          <p:cNvPr id="127" name="文本框 126" descr="{&quot;isTemplate&quot;:true,&quot;type&quot;:&quot;text&quot;}"/>
          <p:cNvSpPr txBox="1"/>
          <p:nvPr/>
        </p:nvSpPr>
        <p:spPr>
          <a:xfrm>
            <a:off x="1085850" y="5572125"/>
            <a:ext cx="546735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938">
                <a:solidFill>
                  <a:srgbClr val="64748B"/>
                </a:solidFill>
                <a:latin typeface="Microsoft YaHei"/>
                <a:ea typeface="Microsoft YaHei"/>
              </a:rPr>
              <a:t>直接</a:t>
            </a:r>
            <a:r>
              <a:rPr lang="en-US" sz="938">
                <a:solidFill>
                  <a:srgbClr val="64748B"/>
                </a:solidFill>
                <a:latin typeface="Microsoft YaHei"/>
                <a:ea typeface="Microsoft YaHei"/>
              </a:rPr>
              <a:t> flush_talk()</a:t>
            </a:r>
            <a:r>
              <a:rPr lang="zh-CN" sz="938">
                <a:solidFill>
                  <a:srgbClr val="64748B"/>
                </a:solidFill>
                <a:latin typeface="Microsoft YaHei"/>
                <a:ea typeface="Microsoft YaHei"/>
              </a:rPr>
              <a:t>，前端</a:t>
            </a:r>
            <a:r>
              <a:rPr lang="en-US" sz="938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938">
                <a:solidFill>
                  <a:srgbClr val="64748B"/>
                </a:solidFill>
                <a:latin typeface="Microsoft YaHei"/>
                <a:ea typeface="Microsoft YaHei"/>
              </a:rPr>
              <a:t>打断</a:t>
            </a:r>
            <a:r>
              <a:rPr lang="en-US" sz="938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938">
                <a:solidFill>
                  <a:srgbClr val="64748B"/>
                </a:solidFill>
                <a:latin typeface="Microsoft YaHei"/>
                <a:ea typeface="Microsoft YaHei"/>
              </a:rPr>
              <a:t>按钮即走此路</a:t>
            </a:r>
            <a:endParaRPr/>
          </a:p>
        </p:txBody>
      </p:sp>
      <p:sp>
        <p:nvSpPr>
          <p:cNvPr id="129" name="文本框 128" descr="{&quot;isTemplate&quot;:true,&quot;type&quot;:&quot;text&quot;}"/>
          <p:cNvSpPr txBox="1"/>
          <p:nvPr/>
        </p:nvSpPr>
        <p:spPr>
          <a:xfrm>
            <a:off x="828675" y="5953125"/>
            <a:ext cx="762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 b="1" dirty="0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 dirty="0"/>
          </a:p>
        </p:txBody>
      </p:sp>
      <p:sp>
        <p:nvSpPr>
          <p:cNvPr id="132" name="圆角矩形 131"/>
          <p:cNvSpPr/>
          <p:nvPr/>
        </p:nvSpPr>
        <p:spPr>
          <a:xfrm>
            <a:off x="7124700" y="1295400"/>
            <a:ext cx="4495800" cy="5276850"/>
          </a:xfrm>
          <a:prstGeom prst="roundRect">
            <a:avLst>
              <a:gd name="adj" fmla="val 2119"/>
            </a:avLst>
          </a:prstGeom>
          <a:solidFill>
            <a:srgbClr val="FFFFFF">
              <a:alpha val="78000"/>
            </a:srgbClr>
          </a:solidFill>
          <a:ln w="12700">
            <a:solidFill>
              <a:srgbClr val="CBD5E1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3" name="文本框 132" descr="{&quot;isTemplate&quot;:true,&quot;type&quot;:&quot;text&quot;}"/>
          <p:cNvSpPr txBox="1"/>
          <p:nvPr/>
        </p:nvSpPr>
        <p:spPr>
          <a:xfrm>
            <a:off x="7315200" y="1466850"/>
            <a:ext cx="41148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E293B"/>
                </a:solidFill>
                <a:latin typeface="Microsoft YaHei"/>
                <a:ea typeface="Microsoft YaHei"/>
              </a:rPr>
              <a:t>③ </a:t>
            </a:r>
            <a:r>
              <a:rPr lang="zh-CN" sz="1275" b="1">
                <a:solidFill>
                  <a:srgbClr val="1E293B"/>
                </a:solidFill>
                <a:latin typeface="Microsoft YaHei"/>
                <a:ea typeface="Microsoft YaHei"/>
              </a:rPr>
              <a:t>打断状态机流程</a:t>
            </a:r>
            <a:endParaRPr/>
          </a:p>
        </p:txBody>
      </p:sp>
      <p:sp>
        <p:nvSpPr>
          <p:cNvPr id="134" name="圆角矩形 133"/>
          <p:cNvSpPr/>
          <p:nvPr/>
        </p:nvSpPr>
        <p:spPr>
          <a:xfrm>
            <a:off x="8039100" y="1962150"/>
            <a:ext cx="2667000" cy="695325"/>
          </a:xfrm>
          <a:prstGeom prst="roundRect">
            <a:avLst>
              <a:gd name="adj" fmla="val 10959"/>
            </a:avLst>
          </a:prstGeom>
          <a:solidFill>
            <a:srgbClr val="0891B2">
              <a:alpha val="7843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5" name="文本框 134" descr="{&quot;isTemplate&quot;:true,&quot;type&quot;:&quot;text&quot;}"/>
          <p:cNvSpPr txBox="1"/>
          <p:nvPr/>
        </p:nvSpPr>
        <p:spPr>
          <a:xfrm>
            <a:off x="8886825" y="2066925"/>
            <a:ext cx="9715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0891B2"/>
                </a:solidFill>
                <a:latin typeface="Microsoft YaHei"/>
                <a:ea typeface="Microsoft YaHei"/>
              </a:rPr>
              <a:t>数字人正在说话</a:t>
            </a:r>
            <a:endParaRPr/>
          </a:p>
        </p:txBody>
      </p:sp>
      <p:sp>
        <p:nvSpPr>
          <p:cNvPr id="136" name="文本框 135" descr="{&quot;isTemplate&quot;:true,&quot;type&quot;:&quot;text&quot;}"/>
          <p:cNvSpPr txBox="1"/>
          <p:nvPr/>
        </p:nvSpPr>
        <p:spPr>
          <a:xfrm>
            <a:off x="8924925" y="2257425"/>
            <a:ext cx="89535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38">
                <a:solidFill>
                  <a:srgbClr val="64748B"/>
                </a:solidFill>
                <a:latin typeface="Microsoft YaHei"/>
                <a:ea typeface="Microsoft YaHei"/>
              </a:rPr>
              <a:t>State.RUNNING</a:t>
            </a:r>
            <a:endParaRPr/>
          </a:p>
        </p:txBody>
      </p:sp>
      <p:sp>
        <p:nvSpPr>
          <p:cNvPr id="137" name="文本框 136" descr="{&quot;isTemplate&quot;:true,&quot;type&quot;:&quot;text&quot;}"/>
          <p:cNvSpPr txBox="1"/>
          <p:nvPr/>
        </p:nvSpPr>
        <p:spPr>
          <a:xfrm>
            <a:off x="8715375" y="2419350"/>
            <a:ext cx="1323975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63">
                <a:solidFill>
                  <a:srgbClr val="94A3B8"/>
                </a:solidFill>
                <a:latin typeface="Microsoft YaHei"/>
                <a:ea typeface="Microsoft YaHei"/>
              </a:rPr>
              <a:t>流式</a:t>
            </a:r>
            <a:r>
              <a:rPr lang="en-US" sz="863">
                <a:solidFill>
                  <a:srgbClr val="94A3B8"/>
                </a:solidFill>
                <a:latin typeface="Microsoft YaHei"/>
                <a:ea typeface="Microsoft YaHei"/>
              </a:rPr>
              <a:t> TTS </a:t>
            </a:r>
            <a:r>
              <a:rPr lang="zh-CN" sz="863">
                <a:solidFill>
                  <a:srgbClr val="94A3B8"/>
                </a:solidFill>
                <a:latin typeface="Microsoft YaHei"/>
                <a:ea typeface="Microsoft YaHei"/>
              </a:rPr>
              <a:t>逐</a:t>
            </a:r>
            <a:r>
              <a:rPr lang="en-US" sz="863">
                <a:solidFill>
                  <a:srgbClr val="94A3B8"/>
                </a:solidFill>
                <a:latin typeface="Microsoft YaHei"/>
                <a:ea typeface="Microsoft YaHei"/>
              </a:rPr>
              <a:t> 20ms </a:t>
            </a:r>
            <a:r>
              <a:rPr lang="zh-CN" sz="863">
                <a:solidFill>
                  <a:srgbClr val="94A3B8"/>
                </a:solidFill>
                <a:latin typeface="Microsoft YaHei"/>
                <a:ea typeface="Microsoft YaHei"/>
              </a:rPr>
              <a:t>吐</a:t>
            </a:r>
            <a:r>
              <a:rPr lang="en-US" sz="863">
                <a:solidFill>
                  <a:srgbClr val="94A3B8"/>
                </a:solidFill>
                <a:latin typeface="Microsoft YaHei"/>
                <a:ea typeface="Microsoft YaHei"/>
              </a:rPr>
              <a:t> PCM</a:t>
            </a:r>
            <a:endParaRPr/>
          </a:p>
        </p:txBody>
      </p:sp>
      <p:sp>
        <p:nvSpPr>
          <p:cNvPr id="138" name="文本框 137" descr="{&quot;isTemplate&quot;:true,&quot;type&quot;:&quot;text&quot;}"/>
          <p:cNvSpPr txBox="1"/>
          <p:nvPr/>
        </p:nvSpPr>
        <p:spPr>
          <a:xfrm>
            <a:off x="9286875" y="2657475"/>
            <a:ext cx="17145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10000"/>
              </a:lnSpc>
            </a:pPr>
            <a:r>
              <a:rPr sz="1350" b="1">
                <a:solidFill>
                  <a:srgbClr val="94A3B8"/>
                </a:solidFill>
                <a:latin typeface="Microsoft YaHei"/>
                <a:ea typeface="Microsoft YaHei"/>
              </a:rPr>
              <a:t>▼</a:t>
            </a:r>
            <a:endParaRPr/>
          </a:p>
        </p:txBody>
      </p:sp>
      <p:sp>
        <p:nvSpPr>
          <p:cNvPr id="139" name="圆角矩形 138"/>
          <p:cNvSpPr/>
          <p:nvPr/>
        </p:nvSpPr>
        <p:spPr>
          <a:xfrm>
            <a:off x="8039100" y="3162300"/>
            <a:ext cx="2667000" cy="695325"/>
          </a:xfrm>
          <a:prstGeom prst="roundRect">
            <a:avLst>
              <a:gd name="adj" fmla="val 10959"/>
            </a:avLst>
          </a:prstGeom>
          <a:solidFill>
            <a:srgbClr val="F59E0B">
              <a:alpha val="7843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0" name="文本框 139" descr="{&quot;isTemplate&quot;:true,&quot;type&quot;:&quot;text&quot;}"/>
          <p:cNvSpPr txBox="1"/>
          <p:nvPr/>
        </p:nvSpPr>
        <p:spPr>
          <a:xfrm>
            <a:off x="8963025" y="3267075"/>
            <a:ext cx="82867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F59E0B"/>
                </a:solidFill>
                <a:latin typeface="Microsoft YaHei"/>
                <a:ea typeface="Microsoft YaHei"/>
              </a:rPr>
              <a:t>收到打断信号</a:t>
            </a:r>
            <a:endParaRPr/>
          </a:p>
        </p:txBody>
      </p:sp>
      <p:sp>
        <p:nvSpPr>
          <p:cNvPr id="141" name="文本框 140" descr="{&quot;isTemplate&quot;:true,&quot;type&quot;:&quot;text&quot;}"/>
          <p:cNvSpPr txBox="1"/>
          <p:nvPr/>
        </p:nvSpPr>
        <p:spPr>
          <a:xfrm>
            <a:off x="8886825" y="3457575"/>
            <a:ext cx="98107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38">
                <a:solidFill>
                  <a:srgbClr val="64748B"/>
                </a:solidFill>
                <a:latin typeface="Microsoft YaHei"/>
                <a:ea typeface="Microsoft YaHei"/>
              </a:rPr>
              <a:t>interrupt / </a:t>
            </a:r>
            <a:r>
              <a:rPr lang="zh-CN" sz="938">
                <a:solidFill>
                  <a:srgbClr val="64748B"/>
                </a:solidFill>
                <a:latin typeface="Microsoft YaHei"/>
                <a:ea typeface="Microsoft YaHei"/>
              </a:rPr>
              <a:t>唤醒词</a:t>
            </a:r>
            <a:endParaRPr/>
          </a:p>
        </p:txBody>
      </p:sp>
      <p:sp>
        <p:nvSpPr>
          <p:cNvPr id="142" name="文本框 141" descr="{&quot;isTemplate&quot;:true,&quot;type&quot;:&quot;text&quot;}"/>
          <p:cNvSpPr txBox="1"/>
          <p:nvPr/>
        </p:nvSpPr>
        <p:spPr>
          <a:xfrm>
            <a:off x="8963025" y="3619500"/>
            <a:ext cx="8191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63">
                <a:solidFill>
                  <a:srgbClr val="94A3B8"/>
                </a:solidFill>
                <a:latin typeface="Microsoft YaHei"/>
                <a:ea typeface="Microsoft YaHei"/>
              </a:rPr>
              <a:t>调用</a:t>
            </a:r>
            <a:r>
              <a:rPr lang="en-US" sz="863">
                <a:solidFill>
                  <a:srgbClr val="94A3B8"/>
                </a:solidFill>
                <a:latin typeface="Microsoft YaHei"/>
                <a:ea typeface="Microsoft YaHei"/>
              </a:rPr>
              <a:t> flush_talk()</a:t>
            </a:r>
            <a:endParaRPr/>
          </a:p>
        </p:txBody>
      </p:sp>
      <p:sp>
        <p:nvSpPr>
          <p:cNvPr id="143" name="文本框 142" descr="{&quot;isTemplate&quot;:true,&quot;type&quot;:&quot;text&quot;}"/>
          <p:cNvSpPr txBox="1"/>
          <p:nvPr/>
        </p:nvSpPr>
        <p:spPr>
          <a:xfrm>
            <a:off x="9286875" y="3857625"/>
            <a:ext cx="17145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10000"/>
              </a:lnSpc>
            </a:pPr>
            <a:r>
              <a:rPr sz="1350" b="1">
                <a:solidFill>
                  <a:srgbClr val="94A3B8"/>
                </a:solidFill>
                <a:latin typeface="Microsoft YaHei"/>
                <a:ea typeface="Microsoft YaHei"/>
              </a:rPr>
              <a:t>▼</a:t>
            </a:r>
            <a:endParaRPr/>
          </a:p>
        </p:txBody>
      </p:sp>
      <p:sp>
        <p:nvSpPr>
          <p:cNvPr id="144" name="圆角矩形 143"/>
          <p:cNvSpPr/>
          <p:nvPr/>
        </p:nvSpPr>
        <p:spPr>
          <a:xfrm>
            <a:off x="8039100" y="4362450"/>
            <a:ext cx="2667000" cy="695325"/>
          </a:xfrm>
          <a:prstGeom prst="roundRect">
            <a:avLst>
              <a:gd name="adj" fmla="val 10959"/>
            </a:avLst>
          </a:prstGeom>
          <a:solidFill>
            <a:srgbClr val="EF4444">
              <a:alpha val="7843"/>
            </a:srgbClr>
          </a:solidFill>
          <a:ln w="12700">
            <a:solidFill>
              <a:srgbClr val="EF4444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5" name="文本框 144" descr="{&quot;isTemplate&quot;:true,&quot;type&quot;:&quot;text&quot;}"/>
          <p:cNvSpPr txBox="1"/>
          <p:nvPr/>
        </p:nvSpPr>
        <p:spPr>
          <a:xfrm>
            <a:off x="9029700" y="4467225"/>
            <a:ext cx="69532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EF4444"/>
                </a:solidFill>
                <a:latin typeface="Microsoft YaHei"/>
                <a:ea typeface="Microsoft YaHei"/>
              </a:rPr>
              <a:t>清空并暂停</a:t>
            </a:r>
            <a:endParaRPr/>
          </a:p>
        </p:txBody>
      </p:sp>
      <p:sp>
        <p:nvSpPr>
          <p:cNvPr id="146" name="文本框 145" descr="{&quot;isTemplate&quot;:true,&quot;type&quot;:&quot;text&quot;}"/>
          <p:cNvSpPr txBox="1"/>
          <p:nvPr/>
        </p:nvSpPr>
        <p:spPr>
          <a:xfrm>
            <a:off x="8496300" y="4657725"/>
            <a:ext cx="176212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38">
                <a:solidFill>
                  <a:srgbClr val="64748B"/>
                </a:solidFill>
                <a:latin typeface="Microsoft YaHei"/>
                <a:ea typeface="Microsoft YaHei"/>
              </a:rPr>
              <a:t>msgqueue.clear() · State.PAUSE</a:t>
            </a:r>
            <a:endParaRPr/>
          </a:p>
        </p:txBody>
      </p:sp>
      <p:sp>
        <p:nvSpPr>
          <p:cNvPr id="147" name="文本框 146" descr="{&quot;isTemplate&quot;:true,&quot;type&quot;:&quot;text&quot;}"/>
          <p:cNvSpPr txBox="1"/>
          <p:nvPr/>
        </p:nvSpPr>
        <p:spPr>
          <a:xfrm>
            <a:off x="8486775" y="4819650"/>
            <a:ext cx="17716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63">
                <a:solidFill>
                  <a:srgbClr val="94A3B8"/>
                </a:solidFill>
                <a:latin typeface="Microsoft YaHei"/>
                <a:ea typeface="Microsoft YaHei"/>
              </a:rPr>
              <a:t>while(state==RUNNING) </a:t>
            </a:r>
            <a:r>
              <a:rPr lang="zh-CN" sz="863">
                <a:solidFill>
                  <a:srgbClr val="94A3B8"/>
                </a:solidFill>
                <a:latin typeface="Microsoft YaHei"/>
                <a:ea typeface="Microsoft YaHei"/>
              </a:rPr>
              <a:t>立即退出</a:t>
            </a:r>
            <a:endParaRPr/>
          </a:p>
        </p:txBody>
      </p:sp>
      <p:sp>
        <p:nvSpPr>
          <p:cNvPr id="148" name="文本框 147" descr="{&quot;isTemplate&quot;:true,&quot;type&quot;:&quot;text&quot;}"/>
          <p:cNvSpPr txBox="1"/>
          <p:nvPr/>
        </p:nvSpPr>
        <p:spPr>
          <a:xfrm>
            <a:off x="9286875" y="5057775"/>
            <a:ext cx="17145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10000"/>
              </a:lnSpc>
            </a:pPr>
            <a:r>
              <a:rPr sz="1350" b="1">
                <a:solidFill>
                  <a:srgbClr val="94A3B8"/>
                </a:solidFill>
                <a:latin typeface="Microsoft YaHei"/>
                <a:ea typeface="Microsoft YaHei"/>
              </a:rPr>
              <a:t>▼</a:t>
            </a:r>
            <a:endParaRPr/>
          </a:p>
        </p:txBody>
      </p:sp>
      <p:sp>
        <p:nvSpPr>
          <p:cNvPr id="149" name="圆角矩形 148"/>
          <p:cNvSpPr/>
          <p:nvPr/>
        </p:nvSpPr>
        <p:spPr>
          <a:xfrm>
            <a:off x="8039100" y="5562600"/>
            <a:ext cx="2667000" cy="695325"/>
          </a:xfrm>
          <a:prstGeom prst="roundRect">
            <a:avLst>
              <a:gd name="adj" fmla="val 10959"/>
            </a:avLst>
          </a:prstGeom>
          <a:solidFill>
            <a:srgbClr val="2563EB">
              <a:alpha val="7843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0" name="文本框 149" descr="{&quot;isTemplate&quot;:true,&quot;type&quot;:&quot;text&quot;}"/>
          <p:cNvSpPr txBox="1"/>
          <p:nvPr/>
        </p:nvSpPr>
        <p:spPr>
          <a:xfrm>
            <a:off x="9029700" y="5667375"/>
            <a:ext cx="69532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2563EB"/>
                </a:solidFill>
                <a:latin typeface="Microsoft YaHei"/>
                <a:ea typeface="Microsoft YaHei"/>
              </a:rPr>
              <a:t>新回复接管</a:t>
            </a:r>
            <a:endParaRPr/>
          </a:p>
        </p:txBody>
      </p:sp>
      <p:sp>
        <p:nvSpPr>
          <p:cNvPr id="151" name="文本框 150" descr="{&quot;isTemplate&quot;:true,&quot;type&quot;:&quot;text&quot;}"/>
          <p:cNvSpPr txBox="1"/>
          <p:nvPr/>
        </p:nvSpPr>
        <p:spPr>
          <a:xfrm>
            <a:off x="8924925" y="5857875"/>
            <a:ext cx="89535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38">
                <a:solidFill>
                  <a:srgbClr val="64748B"/>
                </a:solidFill>
                <a:latin typeface="Microsoft YaHei"/>
                <a:ea typeface="Microsoft YaHei"/>
              </a:rPr>
              <a:t>State.RUNNING</a:t>
            </a:r>
            <a:endParaRPr/>
          </a:p>
        </p:txBody>
      </p:sp>
      <p:sp>
        <p:nvSpPr>
          <p:cNvPr id="152" name="文本框 151" descr="{&quot;isTemplate&quot;:true,&quot;type&quot;:&quot;text&quot;}"/>
          <p:cNvSpPr txBox="1"/>
          <p:nvPr/>
        </p:nvSpPr>
        <p:spPr>
          <a:xfrm>
            <a:off x="8820150" y="6019800"/>
            <a:ext cx="1114425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63">
                <a:solidFill>
                  <a:srgbClr val="94A3B8"/>
                </a:solidFill>
                <a:latin typeface="Microsoft YaHei"/>
                <a:ea typeface="Microsoft YaHei"/>
              </a:rPr>
              <a:t>put_msg_txt </a:t>
            </a:r>
            <a:r>
              <a:rPr lang="zh-CN" sz="863">
                <a:solidFill>
                  <a:srgbClr val="94A3B8"/>
                </a:solidFill>
                <a:latin typeface="Microsoft YaHei"/>
                <a:ea typeface="Microsoft YaHei"/>
              </a:rPr>
              <a:t>重启会话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transparent', padding: '90px 72px 16px', flexDirection: 'column' }}&gt;&#10;    &lt;Image src=&quot;resources/images/gvp_background.jpg&quot; style={{ position: 'absolute', top: 0, left: 0, width: 1280, height: 720, objectFit: 'cover' }} /&gt;&#10;    &lt;Box style={{ height: 80, flexDirection: 'column', gap: 4, justifyContent: 'center', zIndex: 1 }}&gt;&#10;        &lt;Text style={{ fontSize: 36, fontWeight: 'bold', color: '#1E293B' }}&gt;动作编排：状态机原理&lt;/Text&gt;&#10;        &lt;Text style={{ fontSize: 16, color: '#475569' }}&gt;音频帧 type 标记驱动 · 镜像索引消除循环闪烁 · Alpha 帧间融合平滑过渡&lt;/Text&gt;&#10;    &lt;/Box&gt;&#10;&#10;    &lt;Box style={{ flexDirection: 'row', gap: 20, flex: 1, marginTop: 8, zIndex: 1 }}&gt;&#10;        &#10;        &lt;Box style={{ width: '52%', background: 'rgba(255, 255, 255, 0.55)', borderRadius: 14, padding: 20, flexDirection: 'column', justifyContent: 'flex-start', border: '1px solid rgba(203, 213, 225, 0.6)' }}&gt;&#10;            &lt;Box style={{ flexDirection: 'row', alignItems: 'center', gap: 6, padding: '6px 12px', background: 'rgba(239, 68, 68, 0.08)', borderRadius: 8, border: '1px solid rgba(239, 68, 68, 0.3)', alignSelf: 'stretch', marginBottom: 14 }}&gt;&#10;                &lt;Text style={{ fontSize: 12, fontWeight: 'bold', color: '#DC2626' }}&gt;interrupt 指令&lt;/Text&gt;&#10;                &lt;Text style={{ fontSize: 12, color: '#475569' }}&gt;：任意状态触发 → 清空缓存，强制重置为 Type 0&lt;/Text&gt;&#10;            &lt;/Box&gt;&#10;&#10;            &lt;Box style={{ alignSelf: 'center', width: 240, height: 58, borderRadius: 14, background: 'linear-gradient(135deg, #2563EB 0%, #0891B2 100%)', justifyContent: 'center', alignItems: 'center', flexDirection: 'column' }}&gt;&#10;                &lt;Text style={{ fontSize: 17, fontWeight: 'bold', color: '#FFFFFF' }}&gt;Type 0 · 说话中&lt;/Text&gt;&#10;                &lt;Text style={{ fontSize: 11, color: 'rgba(255, 255, 255, 0.85)' }}&gt;type=0 · GPU 推理生成口型帧&lt;/Text&gt;&#10;            &lt;/Box&gt;&#10;            &lt;Box style={{ alignSelf: 'center', flexDirection: 'row', alignItems: 'center', gap: 6, marginVertical: 4 }}&gt;&#10;                &lt;Text style={{ fontSize: 15, color: '#94A3B8' }}&gt;▼&lt;/Text&gt;&#10;                &lt;Text style={{ fontSize: 11.5, color: '#64748B' }}&gt;音频流结束&lt;/Text&gt;&#10;            &lt;/Box&gt;&#10;            &lt;Box style={{ alignSelf: 'center', width: 240, height: 58, borderRadius: 14, background: 'rgba(8, 145, 178, 0.12)', border: '2px solid #0891B2', justifyContent: 'center', alignItems: 'center', flexDirection: 'column' }}&gt;&#10;                &lt;Text style={{ fontSize: 17, fontWeight: 'bold', color: '#0891B2' }}&gt;Type 1 · 静音待机&lt;/Text&gt;&#10;                &lt;Text style={{ fontSize: 11, color: '#475569' }}&gt;LoopImages 镜像循环播放&lt;/Text&gt;&#10;            &lt;/Box&gt;&#10;&#10;            &lt;Box style={{ flexDirection: 'row', justifyContent: 'space-between', marginTop: 8, paddingHorizontal: 4 }}&gt;&#10;                &lt;Box style={{ flexDirection: 'row', alignItems: 'center', gap: 4 }}&gt;&#10;                    &lt;Text style={{ fontSize: 13, color: '#2563EB' }}&gt;▶&lt;/Text&gt;&#10;                    &lt;Text style={{ fontSize: 11, color: '#2563EB', fontWeight: 'bold' }}&gt;新音频 → Type 0&lt;/Text&gt;&#10;                &lt;/Box&gt;&#10;                &lt;Box style={{ flexDirection: 'row', alignItems: 'center', gap: 4 }}&gt;&#10;                    &lt;Text style={{ fontSize: 11, color: '#B45309', fontWeight: 'bold' }}&gt;type&amp;gt;1 自定义 ↓&lt;/Text&gt;&#10;                    &lt;Text style={{ fontSize: 13, color: '#F59E0B' }}&gt;◀&lt;/Text&gt;&#10;                &lt;/Box&gt;&#10;            &lt;/Box&gt;&#10;&#10;            &lt;Box style={{ alignSelf: 'flex-end', marginRight: 36, flexDirection: 'row', alignItems: 'center', gap: 6, marginVertical: 4 }}&gt;&#10;                &lt;Text style={{ fontSize: 15, color: '#94A3B8' }}&gt;▼&lt;/Text&gt;&#10;                &lt;Text style={{ fontSize: 11, color: '#64748B' }}&gt;自定义动作&lt;/Text&gt;&#10;            &lt;/Box&gt;&#10;            &lt;Box style={{ alignSelf: 'center', width: 240, height: 56, borderRadius: 14, background: 'rgba(245, 158, 11, 0.12)', border: '2px solid #F59E0B', justifyContent: 'center', alignItems: 'center', flexDirection: 'column' }}&gt;&#10;                &lt;Text style={{ fontSize: 16, fontWeight: 'bold', color: '#B45309' }}&gt;Type 2+ · 自定义动作&lt;/Text&gt;&#10;                &lt;Text style={{ fontSize: 11, color: '#475569' }}&gt;大笑 / 挥手 / 指定情绪…&lt;/Text&gt;&#10;            &lt;/Box&gt;&#10;            &lt;Box style={{ alignSelf: 'center', flexDirection: 'row', alignItems: 'center', gap: 6, marginVertical: 4 }}&gt;&#10;                &lt;Text style={{ fontSize: 15, color: '#94A3B8' }}&gt;▲&lt;/Text&gt;&#10;                &lt;Text style={{ fontSize: 11, color: '#64748B' }}&gt;播放完毕 → 自动降级 Type 1&lt;/Text&gt;&#10;            &lt;/Box&gt;&#10;        &lt;/Box&gt;&#10;&#10;        &#10;        &lt;Box style={{ flex: 1, flexDirection: 'column', gap: 10, justifyContent: 'center' }}&gt;&#10;            &lt;Box style={{ flexDirection: 'column', gap: 6, padding: 14, background: 'rgba(255, 255, 255, 0.7)', borderRadius: 10, borderLeft: '3px solid #2563EB' }}&gt;&#10;                &lt;Text style={{ fontSize: 14.5, fontWeight: 'bold', color: '#2563EB' }}&gt;Type 0 · 正常语音&lt;/Text&gt;&#10;                &lt;Text style={{ fontSize: 12.5, color: '#475569', lineHeight: 1.4 }}&gt;数字人正在说话，GPU 推理生成口型帧；speaking 置为 True，SSE 推送「开始说话」事件&lt;/Text&gt;&#10;            &lt;/Box&gt;&#10;            &lt;Box style={{ flexDirection: 'column', gap: 6, padding: 14, background: 'rgba(255, 255, 255, 0.7)', borderRadius: 10, borderLeft: '3px solid #0891B2' }}&gt;&#10;                &lt;Text style={{ fontSize: 14.5, fontWeight: 'bold', color: '#0891B2' }}&gt;Type 1 · 静音待机&lt;/Text&gt;&#10;                &lt;Text style={{ fontSize: 12.5, color: '#475569', lineHeight: 1.4 }}&gt;跳过 GPU 推理，循环播放 LoopImages；镜像索引消除闪烁，speaking 置 False&lt;/Text&gt;&#10;            &lt;/Box&gt;&#10;            &lt;Box style={{ flexDirection: 'column', gap: 6, padding: 14, background: 'rgba(255, 255, 255, 0.7)', borderRadius: 10, borderLeft: '3px solid #F59E0B' }}&gt;&#10;                &lt;Text style={{ fontSize: 14.5, fontWeight: 'bold', color: '#B45309' }}&gt;Type &amp;gt; 1 · 自定义动作&lt;/Text&gt;&#10;                &lt;Text style={{ fontSize: 12.5, color: '#475569', lineHeight: 1.4 }}&gt;直接提取 custom_img_cycle 图片序列，伴随自定义音频，不打断对话链路&lt;/Text&gt;&#10;            &lt;/Box&gt;&#10;&#10;            &lt;Box style={{ flexDirection: 'column', gap: 6, padding: 14, background: 'rgba(241, 245, 249, 0.8)', borderRadius: 10 }}&gt;&#10;                &lt;Text style={{ fontSize: 14, fontWeight: 'bold', color: '#1E293B' }}&gt;视觉优化技术&lt;/Text&gt;&#10;                &lt;Text style={{ fontSize: 12, color: '#475569', lineHeight: 1.45 }}&gt;· 镜像索引：0 → 1 → … → 99 → 98 → … → 1 → 0 往复播放，首尾帧连续消除循环跳变&lt;/Text&gt;&#10;                &lt;Text style={{ fontSize: 12, color: '#475569', lineHeight: 1.45 }}&gt;· Alpha 融合：状态切换时保留上一帧，cv2.addWeighted 在 100ms 内像素级线性过渡&lt;/Text&gt;&#10;                &lt;Text style={{ fontSize: 12, color: '#475569', lineHeight: 1.45 }}&gt;· 配置方式：初始化 custom_config JSON 指定各状态图片序列与音频&lt;/Text&gt;&#10;            &lt;/Box&gt;&#10;        &lt;/Box&gt;&#10;    &lt;/Box&gt;&#10;&#10;    &lt;Box style={{ height: 30, flexDirection: 'row', justifyContent: 'space-between', alignItems: 'center', zIndex: 1 }}&gt;&#10;        &lt;Text style={{ fontSize: 13, color: '#475569' }}&gt;动作时长由音频文件长度决定 · 播放完毕自动降级为 Type 1&lt;/Text&gt;&#10;        &lt;Text style={{ fontSize: 13, color: '#475569' }}&gt;状态切换经 logger 记录，可由 SSE 实时通知前端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图片 4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35" name="文本框 434" descr="{&quot;isTemplate&quot;:true,&quot;type&quot;:&quot;text&quot;}"/>
          <p:cNvSpPr txBox="1"/>
          <p:nvPr/>
        </p:nvSpPr>
        <p:spPr>
          <a:xfrm>
            <a:off x="685800" y="914400"/>
            <a:ext cx="10820400" cy="4191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E293B"/>
                </a:solidFill>
                <a:latin typeface="Microsoft YaHei"/>
                <a:ea typeface="Microsoft YaHei"/>
              </a:rPr>
              <a:t>动作编排：状态机原理</a:t>
            </a:r>
            <a:endParaRPr/>
          </a:p>
        </p:txBody>
      </p:sp>
      <p:sp>
        <p:nvSpPr>
          <p:cNvPr id="436" name="文本框 435" descr="{&quot;isTemplate&quot;:true,&quot;type&quot;:&quot;text&quot;}"/>
          <p:cNvSpPr txBox="1"/>
          <p:nvPr/>
        </p:nvSpPr>
        <p:spPr>
          <a:xfrm>
            <a:off x="685800" y="1371600"/>
            <a:ext cx="108204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音频帧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> type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标记驱动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镜像索引消除循环闪烁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> · Alpha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帧间融合平滑过渡</a:t>
            </a:r>
            <a:endParaRPr/>
          </a:p>
        </p:txBody>
      </p:sp>
      <p:sp>
        <p:nvSpPr>
          <p:cNvPr id="437" name="圆角矩形 436"/>
          <p:cNvSpPr/>
          <p:nvPr/>
        </p:nvSpPr>
        <p:spPr>
          <a:xfrm>
            <a:off x="685800" y="1695450"/>
            <a:ext cx="5629275" cy="4724400"/>
          </a:xfrm>
          <a:prstGeom prst="roundRect">
            <a:avLst>
              <a:gd name="adj" fmla="val 2823"/>
            </a:avLst>
          </a:prstGeom>
          <a:solidFill>
            <a:srgbClr val="FFFFFF">
              <a:alpha val="55000"/>
            </a:srgbClr>
          </a:solidFill>
          <a:ln w="12700">
            <a:solidFill>
              <a:srgbClr val="CBD5E1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8" name="圆角矩形 437"/>
          <p:cNvSpPr/>
          <p:nvPr/>
        </p:nvSpPr>
        <p:spPr>
          <a:xfrm>
            <a:off x="876300" y="1885950"/>
            <a:ext cx="5248275" cy="257175"/>
          </a:xfrm>
          <a:prstGeom prst="roundRect">
            <a:avLst>
              <a:gd name="adj" fmla="val 29630"/>
            </a:avLst>
          </a:prstGeom>
          <a:solidFill>
            <a:srgbClr val="EF4444">
              <a:alpha val="8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9" name="文本框 438" descr="{&quot;isTemplate&quot;:true,&quot;type&quot;:&quot;text&quot;}"/>
          <p:cNvSpPr txBox="1"/>
          <p:nvPr/>
        </p:nvSpPr>
        <p:spPr>
          <a:xfrm>
            <a:off x="990600" y="1943100"/>
            <a:ext cx="75247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DC2626"/>
                </a:solidFill>
                <a:latin typeface="Microsoft YaHei"/>
                <a:ea typeface="Microsoft YaHei"/>
              </a:rPr>
              <a:t>interrupt </a:t>
            </a:r>
            <a:r>
              <a:rPr lang="zh-CN" sz="900" b="1">
                <a:solidFill>
                  <a:srgbClr val="DC2626"/>
                </a:solidFill>
                <a:latin typeface="Microsoft YaHei"/>
                <a:ea typeface="Microsoft YaHei"/>
              </a:rPr>
              <a:t>指令</a:t>
            </a:r>
            <a:endParaRPr/>
          </a:p>
        </p:txBody>
      </p:sp>
      <p:sp>
        <p:nvSpPr>
          <p:cNvPr id="440" name="文本框 439" descr="{&quot;isTemplate&quot;:true,&quot;type&quot;:&quot;text&quot;}"/>
          <p:cNvSpPr txBox="1"/>
          <p:nvPr/>
        </p:nvSpPr>
        <p:spPr>
          <a:xfrm>
            <a:off x="1800225" y="1943100"/>
            <a:ext cx="252412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：任意状态触发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→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清空缓存，强制重置为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Type 0</a:t>
            </a:r>
            <a:endParaRPr/>
          </a:p>
        </p:txBody>
      </p:sp>
      <p:sp>
        <p:nvSpPr>
          <p:cNvPr id="441" name="圆角矩形 440"/>
          <p:cNvSpPr/>
          <p:nvPr/>
        </p:nvSpPr>
        <p:spPr>
          <a:xfrm>
            <a:off x="2362200" y="2276475"/>
            <a:ext cx="2286000" cy="552450"/>
          </a:xfrm>
          <a:prstGeom prst="roundRect">
            <a:avLst>
              <a:gd name="adj" fmla="val 24138"/>
            </a:avLst>
          </a:prstGeom>
          <a:gradFill>
            <a:gsLst>
              <a:gs pos="0">
                <a:srgbClr val="2563EB"/>
              </a:gs>
              <a:gs pos="100000">
                <a:srgbClr val="0891B2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442" name="文本框 441" descr="{&quot;isTemplate&quot;:true,&quot;type&quot;:&quot;text&quot;}"/>
          <p:cNvSpPr txBox="1"/>
          <p:nvPr/>
        </p:nvSpPr>
        <p:spPr>
          <a:xfrm>
            <a:off x="2943225" y="2390775"/>
            <a:ext cx="1133475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Type 0 · </a:t>
            </a: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说话中</a:t>
            </a:r>
            <a:endParaRPr/>
          </a:p>
        </p:txBody>
      </p:sp>
      <p:sp>
        <p:nvSpPr>
          <p:cNvPr id="443" name="文本框 442" descr="{&quot;isTemplate&quot;:true,&quot;type&quot;:&quot;text&quot;}"/>
          <p:cNvSpPr txBox="1"/>
          <p:nvPr/>
        </p:nvSpPr>
        <p:spPr>
          <a:xfrm>
            <a:off x="2790825" y="2590800"/>
            <a:ext cx="1438275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type=0 · GPU </a:t>
            </a:r>
            <a:r>
              <a:rPr lang="zh-CN" sz="8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推理生成口型帧</a:t>
            </a:r>
            <a:endParaRPr/>
          </a:p>
        </p:txBody>
      </p:sp>
      <p:sp>
        <p:nvSpPr>
          <p:cNvPr id="444" name="文本框 443" descr="{&quot;isTemplate&quot;:true,&quot;type&quot;:&quot;text&quot;}"/>
          <p:cNvSpPr txBox="1"/>
          <p:nvPr/>
        </p:nvSpPr>
        <p:spPr>
          <a:xfrm>
            <a:off x="3124200" y="2828925"/>
            <a:ext cx="14287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125">
                <a:solidFill>
                  <a:srgbClr val="94A3B8"/>
                </a:solidFill>
                <a:latin typeface="Microsoft YaHei"/>
                <a:ea typeface="Microsoft YaHei"/>
              </a:rPr>
              <a:t>▼</a:t>
            </a:r>
            <a:endParaRPr/>
          </a:p>
        </p:txBody>
      </p:sp>
      <p:sp>
        <p:nvSpPr>
          <p:cNvPr id="445" name="文本框 444" descr="{&quot;isTemplate&quot;:true,&quot;type&quot;:&quot;text&quot;}"/>
          <p:cNvSpPr txBox="1"/>
          <p:nvPr/>
        </p:nvSpPr>
        <p:spPr>
          <a:xfrm>
            <a:off x="3324225" y="2847975"/>
            <a:ext cx="5524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63">
                <a:solidFill>
                  <a:srgbClr val="64748B"/>
                </a:solidFill>
                <a:latin typeface="Microsoft YaHei"/>
                <a:ea typeface="Microsoft YaHei"/>
              </a:rPr>
              <a:t>音频流结束</a:t>
            </a:r>
            <a:endParaRPr/>
          </a:p>
        </p:txBody>
      </p:sp>
      <p:sp>
        <p:nvSpPr>
          <p:cNvPr id="446" name="圆角矩形 445"/>
          <p:cNvSpPr/>
          <p:nvPr/>
        </p:nvSpPr>
        <p:spPr>
          <a:xfrm>
            <a:off x="2362200" y="3000375"/>
            <a:ext cx="2286000" cy="552450"/>
          </a:xfrm>
          <a:prstGeom prst="roundRect">
            <a:avLst>
              <a:gd name="adj" fmla="val 24138"/>
            </a:avLst>
          </a:prstGeom>
          <a:solidFill>
            <a:srgbClr val="0891B2">
              <a:alpha val="12000"/>
            </a:srgbClr>
          </a:solidFill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7" name="文本框 446" descr="{&quot;isTemplate&quot;:true,&quot;type&quot;:&quot;text&quot;}"/>
          <p:cNvSpPr txBox="1"/>
          <p:nvPr/>
        </p:nvSpPr>
        <p:spPr>
          <a:xfrm>
            <a:off x="2857500" y="3114675"/>
            <a:ext cx="12954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891B2"/>
                </a:solidFill>
                <a:latin typeface="Microsoft YaHei"/>
                <a:ea typeface="Microsoft YaHei"/>
              </a:rPr>
              <a:t>Type 1 · </a:t>
            </a:r>
            <a:r>
              <a:rPr lang="zh-CN" sz="1275" b="1">
                <a:solidFill>
                  <a:srgbClr val="0891B2"/>
                </a:solidFill>
                <a:latin typeface="Microsoft YaHei"/>
                <a:ea typeface="Microsoft YaHei"/>
              </a:rPr>
              <a:t>静音待机</a:t>
            </a:r>
            <a:endParaRPr/>
          </a:p>
        </p:txBody>
      </p:sp>
      <p:sp>
        <p:nvSpPr>
          <p:cNvPr id="448" name="文本框 447" descr="{&quot;isTemplate&quot;:true,&quot;type&quot;:&quot;text&quot;}"/>
          <p:cNvSpPr txBox="1"/>
          <p:nvPr/>
        </p:nvSpPr>
        <p:spPr>
          <a:xfrm>
            <a:off x="2867025" y="3314700"/>
            <a:ext cx="12763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LoopImages 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镜像循环播放</a:t>
            </a:r>
            <a:endParaRPr/>
          </a:p>
        </p:txBody>
      </p:sp>
      <p:sp>
        <p:nvSpPr>
          <p:cNvPr id="449" name="文本框 448" descr="{&quot;isTemplate&quot;:true,&quot;type&quot;:&quot;text&quot;}"/>
          <p:cNvSpPr txBox="1"/>
          <p:nvPr/>
        </p:nvSpPr>
        <p:spPr>
          <a:xfrm>
            <a:off x="876300" y="3629025"/>
            <a:ext cx="1143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975">
                <a:solidFill>
                  <a:srgbClr val="2563EB"/>
                </a:solidFill>
                <a:latin typeface="Microsoft YaHei"/>
                <a:ea typeface="Microsoft YaHei"/>
              </a:rPr>
              <a:t>▶</a:t>
            </a:r>
            <a:endParaRPr/>
          </a:p>
        </p:txBody>
      </p:sp>
      <p:sp>
        <p:nvSpPr>
          <p:cNvPr id="450" name="文本框 449" descr="{&quot;isTemplate&quot;:true,&quot;type&quot;:&quot;text&quot;}"/>
          <p:cNvSpPr txBox="1"/>
          <p:nvPr/>
        </p:nvSpPr>
        <p:spPr>
          <a:xfrm>
            <a:off x="1028700" y="3638550"/>
            <a:ext cx="809625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2563EB"/>
                </a:solidFill>
                <a:latin typeface="Microsoft YaHei"/>
                <a:ea typeface="Microsoft YaHei"/>
              </a:rPr>
              <a:t>新音频</a:t>
            </a:r>
            <a:r>
              <a:rPr lang="en-US" sz="825" b="1">
                <a:solidFill>
                  <a:srgbClr val="2563EB"/>
                </a:solidFill>
                <a:latin typeface="Microsoft YaHei"/>
                <a:ea typeface="Microsoft YaHei"/>
              </a:rPr>
              <a:t> → Type 0</a:t>
            </a:r>
            <a:endParaRPr/>
          </a:p>
        </p:txBody>
      </p:sp>
      <p:sp>
        <p:nvSpPr>
          <p:cNvPr id="451" name="文本框 450" descr="{&quot;isTemplate&quot;:true,&quot;type&quot;:&quot;text&quot;}"/>
          <p:cNvSpPr txBox="1"/>
          <p:nvPr/>
        </p:nvSpPr>
        <p:spPr>
          <a:xfrm>
            <a:off x="5172075" y="3638550"/>
            <a:ext cx="790575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B45309"/>
                </a:solidFill>
                <a:latin typeface="Microsoft YaHei"/>
                <a:ea typeface="Microsoft YaHei"/>
              </a:rPr>
              <a:t>type&gt;1 </a:t>
            </a:r>
            <a:r>
              <a:rPr lang="zh-CN" sz="825" b="1">
                <a:solidFill>
                  <a:srgbClr val="B45309"/>
                </a:solidFill>
                <a:latin typeface="Microsoft YaHei"/>
                <a:ea typeface="Microsoft YaHei"/>
              </a:rPr>
              <a:t>自定义</a:t>
            </a:r>
            <a:r>
              <a:rPr lang="en-US" sz="825" b="1">
                <a:solidFill>
                  <a:srgbClr val="B45309"/>
                </a:solidFill>
                <a:latin typeface="Microsoft YaHei"/>
                <a:ea typeface="Microsoft YaHei"/>
              </a:rPr>
              <a:t> ↓</a:t>
            </a:r>
            <a:endParaRPr/>
          </a:p>
        </p:txBody>
      </p:sp>
      <p:sp>
        <p:nvSpPr>
          <p:cNvPr id="452" name="文本框 451" descr="{&quot;isTemplate&quot;:true,&quot;type&quot;:&quot;text&quot;}"/>
          <p:cNvSpPr txBox="1"/>
          <p:nvPr/>
        </p:nvSpPr>
        <p:spPr>
          <a:xfrm>
            <a:off x="6000750" y="3629025"/>
            <a:ext cx="1238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975">
                <a:solidFill>
                  <a:srgbClr val="F59E0B"/>
                </a:solidFill>
                <a:latin typeface="Microsoft YaHei"/>
                <a:ea typeface="Microsoft YaHei"/>
              </a:rPr>
              <a:t>◀</a:t>
            </a:r>
            <a:endParaRPr/>
          </a:p>
        </p:txBody>
      </p:sp>
      <p:sp>
        <p:nvSpPr>
          <p:cNvPr id="453" name="文本框 452" descr="{&quot;isTemplate&quot;:true,&quot;type&quot;:&quot;text&quot;}"/>
          <p:cNvSpPr txBox="1"/>
          <p:nvPr/>
        </p:nvSpPr>
        <p:spPr>
          <a:xfrm>
            <a:off x="5057775" y="3781425"/>
            <a:ext cx="14287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125">
                <a:solidFill>
                  <a:srgbClr val="94A3B8"/>
                </a:solidFill>
                <a:latin typeface="Microsoft YaHei"/>
                <a:ea typeface="Microsoft YaHei"/>
              </a:rPr>
              <a:t>▼</a:t>
            </a:r>
            <a:endParaRPr/>
          </a:p>
        </p:txBody>
      </p:sp>
      <p:sp>
        <p:nvSpPr>
          <p:cNvPr id="454" name="文本框 453" descr="{&quot;isTemplate&quot;:true,&quot;type&quot;:&quot;text&quot;}"/>
          <p:cNvSpPr txBox="1"/>
          <p:nvPr/>
        </p:nvSpPr>
        <p:spPr>
          <a:xfrm>
            <a:off x="5257800" y="3800475"/>
            <a:ext cx="523875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25">
                <a:solidFill>
                  <a:srgbClr val="64748B"/>
                </a:solidFill>
                <a:latin typeface="Microsoft YaHei"/>
                <a:ea typeface="Microsoft YaHei"/>
              </a:rPr>
              <a:t>自定义动作</a:t>
            </a:r>
            <a:endParaRPr/>
          </a:p>
        </p:txBody>
      </p:sp>
      <p:sp>
        <p:nvSpPr>
          <p:cNvPr id="455" name="圆角矩形 454"/>
          <p:cNvSpPr/>
          <p:nvPr/>
        </p:nvSpPr>
        <p:spPr>
          <a:xfrm>
            <a:off x="2362200" y="3952875"/>
            <a:ext cx="2286000" cy="533400"/>
          </a:xfrm>
          <a:prstGeom prst="roundRect">
            <a:avLst>
              <a:gd name="adj" fmla="val 25000"/>
            </a:avLst>
          </a:prstGeom>
          <a:solidFill>
            <a:srgbClr val="F59E0B">
              <a:alpha val="12000"/>
            </a:srgbClr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6" name="文本框 455" descr="{&quot;isTemplate&quot;:true,&quot;type&quot;:&quot;text&quot;}"/>
          <p:cNvSpPr txBox="1"/>
          <p:nvPr/>
        </p:nvSpPr>
        <p:spPr>
          <a:xfrm>
            <a:off x="2762250" y="4057650"/>
            <a:ext cx="14859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B45309"/>
                </a:solidFill>
                <a:latin typeface="Microsoft YaHei"/>
                <a:ea typeface="Microsoft YaHei"/>
              </a:rPr>
              <a:t>Type 2+ · </a:t>
            </a:r>
            <a:r>
              <a:rPr lang="zh-CN" sz="1200" b="1">
                <a:solidFill>
                  <a:srgbClr val="B45309"/>
                </a:solidFill>
                <a:latin typeface="Microsoft YaHei"/>
                <a:ea typeface="Microsoft YaHei"/>
              </a:rPr>
              <a:t>自定义动作</a:t>
            </a:r>
            <a:endParaRPr/>
          </a:p>
        </p:txBody>
      </p:sp>
      <p:sp>
        <p:nvSpPr>
          <p:cNvPr id="457" name="文本框 456" descr="{&quot;isTemplate&quot;:true,&quot;type&quot;:&quot;text&quot;}"/>
          <p:cNvSpPr txBox="1"/>
          <p:nvPr/>
        </p:nvSpPr>
        <p:spPr>
          <a:xfrm>
            <a:off x="2933700" y="4248150"/>
            <a:ext cx="114300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大笑</a:t>
            </a: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 / 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挥手</a:t>
            </a: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 / 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指定情绪…</a:t>
            </a:r>
            <a:endParaRPr/>
          </a:p>
        </p:txBody>
      </p:sp>
      <p:sp>
        <p:nvSpPr>
          <p:cNvPr id="458" name="文本框 457" descr="{&quot;isTemplate&quot;:true,&quot;type&quot;:&quot;text&quot;}"/>
          <p:cNvSpPr txBox="1"/>
          <p:nvPr/>
        </p:nvSpPr>
        <p:spPr>
          <a:xfrm>
            <a:off x="2714625" y="4486275"/>
            <a:ext cx="14287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125">
                <a:solidFill>
                  <a:srgbClr val="94A3B8"/>
                </a:solidFill>
                <a:latin typeface="Microsoft YaHei"/>
                <a:ea typeface="Microsoft YaHei"/>
              </a:rPr>
              <a:t>▲</a:t>
            </a:r>
            <a:endParaRPr/>
          </a:p>
        </p:txBody>
      </p:sp>
      <p:sp>
        <p:nvSpPr>
          <p:cNvPr id="459" name="文本框 458" descr="{&quot;isTemplate&quot;:true,&quot;type&quot;:&quot;text&quot;}"/>
          <p:cNvSpPr txBox="1"/>
          <p:nvPr/>
        </p:nvSpPr>
        <p:spPr>
          <a:xfrm>
            <a:off x="2914650" y="4505325"/>
            <a:ext cx="137160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25">
                <a:solidFill>
                  <a:srgbClr val="64748B"/>
                </a:solidFill>
                <a:latin typeface="Microsoft YaHei"/>
                <a:ea typeface="Microsoft YaHei"/>
              </a:rPr>
              <a:t>播放完毕</a:t>
            </a: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 → </a:t>
            </a:r>
            <a:r>
              <a:rPr lang="zh-CN" sz="825">
                <a:solidFill>
                  <a:srgbClr val="64748B"/>
                </a:solidFill>
                <a:latin typeface="Microsoft YaHei"/>
                <a:ea typeface="Microsoft YaHei"/>
              </a:rPr>
              <a:t>自动降级</a:t>
            </a: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 Type 1</a:t>
            </a:r>
            <a:endParaRPr/>
          </a:p>
        </p:txBody>
      </p:sp>
      <p:sp>
        <p:nvSpPr>
          <p:cNvPr id="460" name="圆角矩形 459"/>
          <p:cNvSpPr/>
          <p:nvPr/>
        </p:nvSpPr>
        <p:spPr>
          <a:xfrm>
            <a:off x="6534150" y="2171700"/>
            <a:ext cx="5000625" cy="895350"/>
          </a:xfrm>
          <a:prstGeom prst="roundRect">
            <a:avLst>
              <a:gd name="adj" fmla="val 10638"/>
            </a:avLst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1" name="任意形状 460"/>
          <p:cNvSpPr/>
          <p:nvPr/>
        </p:nvSpPr>
        <p:spPr>
          <a:xfrm>
            <a:off x="6534150" y="2171700"/>
            <a:ext cx="5000625" cy="895350"/>
          </a:xfrm>
          <a:custGeom>
            <a:avLst/>
            <a:gdLst/>
            <a:ahLst/>
            <a:cxnLst/>
            <a:rect l="0" t="0" r="0" b="0"/>
            <a:pathLst>
              <a:path w="525" h="94">
                <a:moveTo>
                  <a:pt x="9" y="0"/>
                </a:moveTo>
                <a:cubicBezTo>
                  <a:pt x="6" y="0"/>
                  <a:pt x="3" y="3"/>
                  <a:pt x="3" y="7"/>
                </a:cubicBezTo>
                <a:lnTo>
                  <a:pt x="3" y="87"/>
                </a:lnTo>
                <a:cubicBezTo>
                  <a:pt x="3" y="90"/>
                  <a:pt x="5" y="93"/>
                  <a:pt x="8" y="94"/>
                </a:cubicBezTo>
                <a:cubicBezTo>
                  <a:pt x="3" y="93"/>
                  <a:pt x="0" y="89"/>
                  <a:pt x="0" y="84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2" name="文本框 461" descr="{&quot;isTemplate&quot;:true,&quot;type&quot;:&quot;text&quot;}"/>
          <p:cNvSpPr txBox="1"/>
          <p:nvPr/>
        </p:nvSpPr>
        <p:spPr>
          <a:xfrm>
            <a:off x="6667500" y="2305050"/>
            <a:ext cx="47053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88" b="1">
                <a:solidFill>
                  <a:srgbClr val="2563EB"/>
                </a:solidFill>
                <a:latin typeface="Microsoft YaHei"/>
                <a:ea typeface="Microsoft YaHei"/>
              </a:rPr>
              <a:t>Type 0 · </a:t>
            </a:r>
            <a:r>
              <a:rPr lang="zh-CN" sz="1088" b="1">
                <a:solidFill>
                  <a:srgbClr val="2563EB"/>
                </a:solidFill>
                <a:latin typeface="Microsoft YaHei"/>
                <a:ea typeface="Microsoft YaHei"/>
              </a:rPr>
              <a:t>正常语音</a:t>
            </a:r>
            <a:endParaRPr/>
          </a:p>
        </p:txBody>
      </p:sp>
      <p:sp>
        <p:nvSpPr>
          <p:cNvPr id="463" name="文本框 462" descr="{&quot;isTemplate&quot;:true,&quot;type&quot;:&quot;text&quot;}"/>
          <p:cNvSpPr txBox="1"/>
          <p:nvPr/>
        </p:nvSpPr>
        <p:spPr>
          <a:xfrm>
            <a:off x="6667500" y="2533650"/>
            <a:ext cx="4705350" cy="4000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0000"/>
              </a:lnSpc>
            </a:pPr>
            <a:r>
              <a:rPr lang="zh-CN" sz="938">
                <a:solidFill>
                  <a:srgbClr val="475569"/>
                </a:solidFill>
                <a:latin typeface="Microsoft YaHei"/>
                <a:ea typeface="Microsoft YaHei"/>
              </a:rPr>
              <a:t>数字人正在说话，</a:t>
            </a:r>
            <a:r>
              <a:rPr lang="en-US" sz="938">
                <a:solidFill>
                  <a:srgbClr val="475569"/>
                </a:solidFill>
                <a:latin typeface="Microsoft YaHei"/>
                <a:ea typeface="Microsoft YaHei"/>
              </a:rPr>
              <a:t>GPU </a:t>
            </a:r>
            <a:r>
              <a:rPr lang="zh-CN" sz="938">
                <a:solidFill>
                  <a:srgbClr val="475569"/>
                </a:solidFill>
                <a:latin typeface="Microsoft YaHei"/>
                <a:ea typeface="Microsoft YaHei"/>
              </a:rPr>
              <a:t>推理生成口型帧；</a:t>
            </a:r>
            <a:r>
              <a:rPr lang="en-US" sz="938">
                <a:solidFill>
                  <a:srgbClr val="475569"/>
                </a:solidFill>
                <a:latin typeface="Microsoft YaHei"/>
                <a:ea typeface="Microsoft YaHei"/>
              </a:rPr>
              <a:t>speaking </a:t>
            </a:r>
            <a:r>
              <a:rPr lang="zh-CN" sz="938">
                <a:solidFill>
                  <a:srgbClr val="475569"/>
                </a:solidFill>
                <a:latin typeface="Microsoft YaHei"/>
                <a:ea typeface="Microsoft YaHei"/>
              </a:rPr>
              <a:t>置为</a:t>
            </a:r>
            <a:r>
              <a:rPr lang="en-US" sz="938">
                <a:solidFill>
                  <a:srgbClr val="475569"/>
                </a:solidFill>
                <a:latin typeface="Microsoft YaHei"/>
                <a:ea typeface="Microsoft YaHei"/>
              </a:rPr>
              <a:t> True</a:t>
            </a:r>
            <a:r>
              <a:rPr lang="zh-CN" sz="938">
                <a:solidFill>
                  <a:srgbClr val="475569"/>
                </a:solidFill>
                <a:latin typeface="Microsoft YaHei"/>
                <a:ea typeface="Microsoft YaHei"/>
              </a:rPr>
              <a:t>，</a:t>
            </a:r>
            <a:r>
              <a:rPr lang="en-US" sz="938">
                <a:solidFill>
                  <a:srgbClr val="475569"/>
                </a:solidFill>
                <a:latin typeface="Microsoft YaHei"/>
                <a:ea typeface="Microsoft YaHei"/>
              </a:rPr>
              <a:t>SSE </a:t>
            </a:r>
            <a:r>
              <a:rPr lang="zh-CN" sz="938">
                <a:solidFill>
                  <a:srgbClr val="475569"/>
                </a:solidFill>
                <a:latin typeface="Microsoft YaHei"/>
                <a:ea typeface="Microsoft YaHei"/>
              </a:rPr>
              <a:t>推送「开始说话」事件</a:t>
            </a:r>
            <a:endParaRPr/>
          </a:p>
        </p:txBody>
      </p:sp>
      <p:sp>
        <p:nvSpPr>
          <p:cNvPr id="464" name="圆角矩形 463"/>
          <p:cNvSpPr/>
          <p:nvPr/>
        </p:nvSpPr>
        <p:spPr>
          <a:xfrm>
            <a:off x="6534150" y="3162300"/>
            <a:ext cx="5000625" cy="695325"/>
          </a:xfrm>
          <a:prstGeom prst="roundRect">
            <a:avLst>
              <a:gd name="adj" fmla="val 13699"/>
            </a:avLst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5" name="任意形状 464"/>
          <p:cNvSpPr/>
          <p:nvPr/>
        </p:nvSpPr>
        <p:spPr>
          <a:xfrm>
            <a:off x="6534150" y="3162300"/>
            <a:ext cx="5000625" cy="695325"/>
          </a:xfrm>
          <a:custGeom>
            <a:avLst/>
            <a:gdLst/>
            <a:ahLst/>
            <a:cxnLst/>
            <a:rect l="0" t="0" r="0" b="0"/>
            <a:pathLst>
              <a:path w="525" h="73">
                <a:moveTo>
                  <a:pt x="9" y="0"/>
                </a:moveTo>
                <a:cubicBezTo>
                  <a:pt x="6" y="0"/>
                  <a:pt x="3" y="3"/>
                  <a:pt x="3" y="7"/>
                </a:cubicBezTo>
                <a:lnTo>
                  <a:pt x="3" y="66"/>
                </a:lnTo>
                <a:cubicBezTo>
                  <a:pt x="3" y="69"/>
                  <a:pt x="5" y="72"/>
                  <a:pt x="8" y="73"/>
                </a:cubicBezTo>
                <a:cubicBezTo>
                  <a:pt x="3" y="72"/>
                  <a:pt x="0" y="68"/>
                  <a:pt x="0" y="63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0891B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6" name="文本框 465" descr="{&quot;isTemplate&quot;:true,&quot;type&quot;:&quot;text&quot;}"/>
          <p:cNvSpPr txBox="1"/>
          <p:nvPr/>
        </p:nvSpPr>
        <p:spPr>
          <a:xfrm>
            <a:off x="6667500" y="3295650"/>
            <a:ext cx="47053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88" b="1">
                <a:solidFill>
                  <a:srgbClr val="0891B2"/>
                </a:solidFill>
                <a:latin typeface="Microsoft YaHei"/>
                <a:ea typeface="Microsoft YaHei"/>
              </a:rPr>
              <a:t>Type 1 · </a:t>
            </a:r>
            <a:r>
              <a:rPr lang="zh-CN" sz="1088" b="1">
                <a:solidFill>
                  <a:srgbClr val="0891B2"/>
                </a:solidFill>
                <a:latin typeface="Microsoft YaHei"/>
                <a:ea typeface="Microsoft YaHei"/>
              </a:rPr>
              <a:t>静音待机</a:t>
            </a:r>
            <a:endParaRPr/>
          </a:p>
        </p:txBody>
      </p:sp>
      <p:sp>
        <p:nvSpPr>
          <p:cNvPr id="467" name="文本框 466" descr="{&quot;isTemplate&quot;:true,&quot;type&quot;:&quot;text&quot;}"/>
          <p:cNvSpPr txBox="1"/>
          <p:nvPr/>
        </p:nvSpPr>
        <p:spPr>
          <a:xfrm>
            <a:off x="6667500" y="3524250"/>
            <a:ext cx="47053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zh-CN" sz="938">
                <a:solidFill>
                  <a:srgbClr val="475569"/>
                </a:solidFill>
                <a:latin typeface="Microsoft YaHei"/>
                <a:ea typeface="Microsoft YaHei"/>
              </a:rPr>
              <a:t>跳过</a:t>
            </a:r>
            <a:r>
              <a:rPr lang="en-US" sz="938">
                <a:solidFill>
                  <a:srgbClr val="475569"/>
                </a:solidFill>
                <a:latin typeface="Microsoft YaHei"/>
                <a:ea typeface="Microsoft YaHei"/>
              </a:rPr>
              <a:t> GPU </a:t>
            </a:r>
            <a:r>
              <a:rPr lang="zh-CN" sz="938">
                <a:solidFill>
                  <a:srgbClr val="475569"/>
                </a:solidFill>
                <a:latin typeface="Microsoft YaHei"/>
                <a:ea typeface="Microsoft YaHei"/>
              </a:rPr>
              <a:t>推理，循环播放</a:t>
            </a:r>
            <a:r>
              <a:rPr lang="en-US" sz="938">
                <a:solidFill>
                  <a:srgbClr val="475569"/>
                </a:solidFill>
                <a:latin typeface="Microsoft YaHei"/>
                <a:ea typeface="Microsoft YaHei"/>
              </a:rPr>
              <a:t> LoopImages</a:t>
            </a:r>
            <a:r>
              <a:rPr lang="zh-CN" sz="938">
                <a:solidFill>
                  <a:srgbClr val="475569"/>
                </a:solidFill>
                <a:latin typeface="Microsoft YaHei"/>
                <a:ea typeface="Microsoft YaHei"/>
              </a:rPr>
              <a:t>；镜像索引消除闪烁，</a:t>
            </a:r>
            <a:r>
              <a:rPr lang="en-US" sz="938">
                <a:solidFill>
                  <a:srgbClr val="475569"/>
                </a:solidFill>
                <a:latin typeface="Microsoft YaHei"/>
                <a:ea typeface="Microsoft YaHei"/>
              </a:rPr>
              <a:t>speaking </a:t>
            </a:r>
            <a:r>
              <a:rPr lang="zh-CN" sz="938">
                <a:solidFill>
                  <a:srgbClr val="475569"/>
                </a:solidFill>
                <a:latin typeface="Microsoft YaHei"/>
                <a:ea typeface="Microsoft YaHei"/>
              </a:rPr>
              <a:t>置</a:t>
            </a:r>
            <a:r>
              <a:rPr lang="en-US" sz="938">
                <a:solidFill>
                  <a:srgbClr val="475569"/>
                </a:solidFill>
                <a:latin typeface="Microsoft YaHei"/>
                <a:ea typeface="Microsoft YaHei"/>
              </a:rPr>
              <a:t> False</a:t>
            </a:r>
            <a:endParaRPr/>
          </a:p>
        </p:txBody>
      </p:sp>
      <p:sp>
        <p:nvSpPr>
          <p:cNvPr id="468" name="圆角矩形 467"/>
          <p:cNvSpPr/>
          <p:nvPr/>
        </p:nvSpPr>
        <p:spPr>
          <a:xfrm>
            <a:off x="6534150" y="3952875"/>
            <a:ext cx="5000625" cy="695325"/>
          </a:xfrm>
          <a:prstGeom prst="roundRect">
            <a:avLst>
              <a:gd name="adj" fmla="val 13699"/>
            </a:avLst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9" name="任意形状 468"/>
          <p:cNvSpPr/>
          <p:nvPr/>
        </p:nvSpPr>
        <p:spPr>
          <a:xfrm>
            <a:off x="6534150" y="3952875"/>
            <a:ext cx="5000625" cy="695325"/>
          </a:xfrm>
          <a:custGeom>
            <a:avLst/>
            <a:gdLst/>
            <a:ahLst/>
            <a:cxnLst/>
            <a:rect l="0" t="0" r="0" b="0"/>
            <a:pathLst>
              <a:path w="525" h="73">
                <a:moveTo>
                  <a:pt x="9" y="0"/>
                </a:moveTo>
                <a:cubicBezTo>
                  <a:pt x="6" y="0"/>
                  <a:pt x="3" y="3"/>
                  <a:pt x="3" y="7"/>
                </a:cubicBezTo>
                <a:lnTo>
                  <a:pt x="3" y="66"/>
                </a:lnTo>
                <a:cubicBezTo>
                  <a:pt x="3" y="69"/>
                  <a:pt x="5" y="72"/>
                  <a:pt x="8" y="73"/>
                </a:cubicBezTo>
                <a:cubicBezTo>
                  <a:pt x="3" y="72"/>
                  <a:pt x="0" y="68"/>
                  <a:pt x="0" y="63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70" name="文本框 469" descr="{&quot;isTemplate&quot;:true,&quot;type&quot;:&quot;text&quot;}"/>
          <p:cNvSpPr txBox="1"/>
          <p:nvPr/>
        </p:nvSpPr>
        <p:spPr>
          <a:xfrm>
            <a:off x="6667500" y="4086225"/>
            <a:ext cx="47053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88" b="1">
                <a:solidFill>
                  <a:srgbClr val="B45309"/>
                </a:solidFill>
                <a:latin typeface="Microsoft YaHei"/>
                <a:ea typeface="Microsoft YaHei"/>
              </a:rPr>
              <a:t>Type &gt; 1 · </a:t>
            </a:r>
            <a:r>
              <a:rPr lang="zh-CN" sz="1088" b="1">
                <a:solidFill>
                  <a:srgbClr val="B45309"/>
                </a:solidFill>
                <a:latin typeface="Microsoft YaHei"/>
                <a:ea typeface="Microsoft YaHei"/>
              </a:rPr>
              <a:t>自定义动作</a:t>
            </a:r>
            <a:endParaRPr/>
          </a:p>
        </p:txBody>
      </p:sp>
      <p:sp>
        <p:nvSpPr>
          <p:cNvPr id="471" name="文本框 470" descr="{&quot;isTemplate&quot;:true,&quot;type&quot;:&quot;text&quot;}"/>
          <p:cNvSpPr txBox="1"/>
          <p:nvPr/>
        </p:nvSpPr>
        <p:spPr>
          <a:xfrm>
            <a:off x="6667500" y="4314825"/>
            <a:ext cx="47053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zh-CN" sz="938">
                <a:solidFill>
                  <a:srgbClr val="475569"/>
                </a:solidFill>
                <a:latin typeface="Microsoft YaHei"/>
                <a:ea typeface="Microsoft YaHei"/>
              </a:rPr>
              <a:t>直接提取</a:t>
            </a:r>
            <a:r>
              <a:rPr lang="en-US" sz="938">
                <a:solidFill>
                  <a:srgbClr val="475569"/>
                </a:solidFill>
                <a:latin typeface="Microsoft YaHei"/>
                <a:ea typeface="Microsoft YaHei"/>
              </a:rPr>
              <a:t> custom_img_cycle </a:t>
            </a:r>
            <a:r>
              <a:rPr lang="zh-CN" sz="938">
                <a:solidFill>
                  <a:srgbClr val="475569"/>
                </a:solidFill>
                <a:latin typeface="Microsoft YaHei"/>
                <a:ea typeface="Microsoft YaHei"/>
              </a:rPr>
              <a:t>图片序列，伴随自定义音频，不打断对话链路</a:t>
            </a:r>
            <a:endParaRPr/>
          </a:p>
        </p:txBody>
      </p:sp>
      <p:sp>
        <p:nvSpPr>
          <p:cNvPr id="472" name="圆角矩形 471"/>
          <p:cNvSpPr/>
          <p:nvPr/>
        </p:nvSpPr>
        <p:spPr>
          <a:xfrm>
            <a:off x="6505575" y="4743450"/>
            <a:ext cx="5000625" cy="1200150"/>
          </a:xfrm>
          <a:prstGeom prst="roundRect">
            <a:avLst>
              <a:gd name="adj" fmla="val 7937"/>
            </a:avLst>
          </a:prstGeom>
          <a:solidFill>
            <a:srgbClr val="F1F5F9">
              <a:alpha val="8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73" name="文本框 472" descr="{&quot;isTemplate&quot;:true,&quot;type&quot;:&quot;text&quot;}"/>
          <p:cNvSpPr txBox="1"/>
          <p:nvPr/>
        </p:nvSpPr>
        <p:spPr>
          <a:xfrm>
            <a:off x="6638925" y="4876800"/>
            <a:ext cx="47339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E293B"/>
                </a:solidFill>
                <a:latin typeface="Microsoft YaHei"/>
                <a:ea typeface="Microsoft YaHei"/>
              </a:rPr>
              <a:t>视觉优化技术</a:t>
            </a:r>
            <a:endParaRPr/>
          </a:p>
        </p:txBody>
      </p:sp>
      <p:sp>
        <p:nvSpPr>
          <p:cNvPr id="474" name="文本框 473" descr="{&quot;isTemplate&quot;:true,&quot;type&quot;:&quot;text&quot;}"/>
          <p:cNvSpPr txBox="1"/>
          <p:nvPr/>
        </p:nvSpPr>
        <p:spPr>
          <a:xfrm>
            <a:off x="6638925" y="5095875"/>
            <a:ext cx="4733925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·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镜像索引：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0 → 1 → … → 99 → 98 → … → 1 → 0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往复播放，首尾帧连续消除循环跳变</a:t>
            </a:r>
            <a:endParaRPr/>
          </a:p>
        </p:txBody>
      </p:sp>
      <p:sp>
        <p:nvSpPr>
          <p:cNvPr id="475" name="文本框 474" descr="{&quot;isTemplate&quot;:true,&quot;type&quot;:&quot;text&quot;}"/>
          <p:cNvSpPr txBox="1"/>
          <p:nvPr/>
        </p:nvSpPr>
        <p:spPr>
          <a:xfrm>
            <a:off x="6638925" y="5353050"/>
            <a:ext cx="4733925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· Alpha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融合：状态切换时保留上一帧，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cv2.addWeighted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在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100ms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内像素级线性过渡</a:t>
            </a:r>
            <a:endParaRPr/>
          </a:p>
        </p:txBody>
      </p:sp>
      <p:sp>
        <p:nvSpPr>
          <p:cNvPr id="476" name="文本框 475" descr="{&quot;isTemplate&quot;:true,&quot;type&quot;:&quot;text&quot;}"/>
          <p:cNvSpPr txBox="1"/>
          <p:nvPr/>
        </p:nvSpPr>
        <p:spPr>
          <a:xfrm>
            <a:off x="6638925" y="5610225"/>
            <a:ext cx="4733925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·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配置方式：初始化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custom_config JSON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指定各状态图片序列与音频</a:t>
            </a:r>
            <a:endParaRPr/>
          </a:p>
        </p:txBody>
      </p:sp>
      <p:sp>
        <p:nvSpPr>
          <p:cNvPr id="477" name="文本框 476" descr="{&quot;isTemplate&quot;:true,&quot;type&quot;:&quot;text&quot;}"/>
          <p:cNvSpPr txBox="1"/>
          <p:nvPr/>
        </p:nvSpPr>
        <p:spPr>
          <a:xfrm>
            <a:off x="685800" y="6486525"/>
            <a:ext cx="32575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动作时长由音频文件长度决定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播放完毕自动降级为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Type 1</a:t>
            </a:r>
            <a:endParaRPr/>
          </a:p>
        </p:txBody>
      </p:sp>
      <p:sp>
        <p:nvSpPr>
          <p:cNvPr id="478" name="文本框 477" descr="{&quot;isTemplate&quot;:true,&quot;type&quot;:&quot;text&quot;}"/>
          <p:cNvSpPr txBox="1"/>
          <p:nvPr/>
        </p:nvSpPr>
        <p:spPr>
          <a:xfrm>
            <a:off x="8772525" y="6486525"/>
            <a:ext cx="27336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状态切换经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logger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记录，可由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SSE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实时通知前端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transparent', padding: '70px 60px 30px', flexDirection: 'column' }}&gt;&#10;    &lt;Image src=&quot;resources/images/gvp_background.jpg&quot; style={{ position: 'absolute', top: 0, left: 0, width: 1280, height: 720, objectFit: 'cover' }} /&gt;&#10;&#10;    &lt;Box style={{ zIndex: 1, height: 50, flexDirection: 'column', gap: 3 }}&gt;&#10;        &lt;Box style={{ flexDirection: 'row', alignItems: 'center', gap: 10 }}&gt;&#10;            &lt;Text style={{ fontSize: 30, fontWeight: 'bold', color: '#1E293B' }}&gt;事件与状态推送&lt;/Text&gt;&#10;            &lt;Box style={{ background: 'rgba(37, 99, 235, 0.12)', borderRadius: 4, padding: '3px 12px' }}&gt;&#10;                &lt;Text style={{ fontSize: 13, color: '#2563EB', fontWeight: 'bold' }}&gt;Event &amp;amp; SSE&lt;/Text&gt;&#10;            &lt;/Box&gt;&#10;        &lt;/Box&gt;&#10;        &lt;Text style={{ fontSize: 15, color: '#475569' }}&gt;eventpoint 音频流状态标记 · 说话开始/结束事件 · SSE 实时推送接口&lt;/Text&gt;&#10;    &lt;/Box&gt;&#10;&#10;    &lt;Box style={{ zIndex: 1, flex: 1, flexDirection: 'row', gap: 40, marginTop: 16 }}&gt;&#10;&#10;        &lt;Box style={{ width: 648, flexDirection: 'column', gap: 18 }}&gt;&#10;&#10;            &lt;Box style={{ flex: 1, background: 'rgba(255, 255, 255, 0.78)', borderRadius: 10, border: '1px solid rgba(203, 213, 225, 0.6)', padding: '18px 20px', flexDirection: 'column', gap: 12 }}&gt;&#10;                &lt;Text style={{ fontSize: 17, fontWeight: 'bold', color: '#1E293B' }}&gt;① eventpoint：音频流状态标记&lt;/Text&gt;&#10;                &lt;Text style={{ fontSize: 13.5, color: '#475569', lineHeight: 1.6 }}&gt;&#10;                    上传/推流音频时 &lt;Text style={{ fontFamily: 'monospace', fontSize: 13, color: '#334155' }}&gt;put_audio_file&lt;/Text&gt; 按 20ms chunk 切分，每块附带 &lt;Text style={{ color: '#2563EB', fontWeight: 'bold' }}&gt;eventpoint&lt;/Text&gt; 字典标记流边界。&#10;                &lt;/Text&gt;&#10;                &lt;Box style={{ flexDirection: 'column', gap: 10 }}&gt;&#10;                    {[&#10;                        { c: '#0891B2', t: '起止标记', d: '首块 eventpoint={\'status\':\'start\'}，末块 ={\'status\':\'end\'}，中间块为空' },&#10;                        { c: '#2563EB', t: '透传下发', d: 'eventpoint 随音频帧进入 ASR，由 notify() → send_msg() 推送至 SSE 客户端' },&#10;                        { c: '#7C3AED', t: '业务挂载', d: 'datainfo 可携带自定义字段，与 start/end 合并后一并下发' }&#10;                    ].map((x, i) =&gt; (&#10;                        &lt;Box key={i} style={{ flexDirection: 'row', gap: 12, alignItems: 'flex-start' }}&gt;&#10;                            &lt;Box style={{ width: 9, height: 9, borderRadius: 4.5, background: x.c, marginTop: 6 }} /&gt;&#10;                            &lt;Box style={{ flex: 1, flexDirection: 'column' }}&gt;&#10;                                &lt;Text style={{ fontSize: 14.5, fontWeight: 'bold', color: '#1E293B' }}&gt;{x.t}&lt;/Text&gt;&#10;                                &lt;Text style={{ fontSize: 12.5, color: '#64748B', lineHeight: 1.5 }}&gt;{x.d}&lt;/Text&gt;&#10;                            &lt;/Box&gt;&#10;                        &lt;/Box&gt;&#10;                    ))}&#10;                &lt;/Box&gt;&#10;            &lt;/Box&gt;&#10;&#10;            &lt;Box style={{ flex: 1, background: 'rgba(255, 255, 255, 0.78)', borderRadius: 10, border: '1px solid rgba(203, 213, 225, 0.6)', padding: '18px 20px', flexDirection: 'column', gap: 12 }}&gt;&#10;                &lt;Text style={{ fontSize: 17, fontWeight: 'bold', color: '#1E293B' }}&gt;② 说话开始 / 结束事件&lt;/Text&gt;&#10;                {[&#10;                    { c: '#EF4444', t: 'speaking 标志', d: '&lt;BaseAvatar&gt;.speaking 布尔值，process_frames() 按音频帧类型（静音/说话）实时置 True/False' },&#10;                    { c: '#F59E0B', t: '状态切换', d: '静音↔说话切换时记录日志，可在前端驱动嘴部/表情的“说话中”指示' },&#10;                    { c: '#0891B2', t: '查询接口', d: 'POST /is_speaking 返回当前 speaking 状态，前端可轮询判断是否在播' }&#10;                ].map((x, i) =&gt; (&#10;                    &lt;Box key={i} style={{ flexDirection: 'row', gap: 12, alignItems: 'flex-start' }}&gt;&#10;                        &lt;Box style={{ width: 9, height: 9, borderRadius: 4.5, background: x.c, marginTop: 6 }} /&gt;&#10;                        &lt;Box style={{ flex: 1, flexDirection: 'column' }}&gt;&#10;                            &lt;Text style={{ fontSize: 14.5, fontWeight: 'bold', color: '#1E293B' }}&gt;{x.t}&lt;/Text&gt;&#10;                            &lt;Text style={{ fontSize: 12.5, color: '#64748B', lineHeight: 1.5 }}&gt;{x.d}&lt;/Text&gt;&#10;                        &lt;/Box&gt;&#10;                    &lt;/Box&gt;&#10;                ))}&#10;            &lt;/Box&gt;&#10;        &lt;/Box&gt;&#10;&#10;        &lt;Box style={{ flex: 1, background: 'rgba(255, 255, 255, 0.78)', borderRadius: 10, border: '1px solid rgba(203, 213, 225, 0.6)', padding: '18px 20px', flexDirection: 'column', gap: 9 }}&gt;&#10;            &lt;Text style={{ fontSize: 17, fontWeight: 'bold', color: '#1E293B' }}&gt;③ SSE 实时推送架构&lt;/Text&gt;&#10;            &lt;Box style={{ flex: 1, flexDirection: 'column', alignItems: 'center', justifyContent: 'space-around', marginTop: 4 }}&gt;&#10;                &lt;Box style={{ alignSelf: 'center', background: 'rgba(37, 99, 235, 0.1)', border: '1px solid rgba(37, 99, 235, 0.4)', borderRadius: 8, padding: '9px 18px', alignItems: 'center' }}&gt;&#10;                    &lt;Text style={{ fontSize: 14.5, fontWeight: 'bold', color: '#2563EB' }}&gt;客户端 EventSource&lt;/Text&gt;&#10;                &lt;/Box&gt;&#10;                &lt;Text style={{ alignSelf: 'center', fontSize: 18, color: '#94A3B8', fontWeight: 'bold' }}&gt;▼&lt;/Text&gt;&#10;                &lt;Box style={{ alignSelf: 'center', background: 'rgba(134, 239, 172, 0.18)', border: '1px solid rgba(34, 197, 94, 0.5)', borderRadius: 8, padding: '9px 18px', alignItems: 'center' }}&gt;&#10;                    &lt;Text style={{ fontSize: 14.5, fontWeight: 'bold', color: '#16A34A' }}&gt;GET /sse?sessionid=X&lt;/Text&gt;&#10;                &lt;/Box&gt;&#10;                &lt;Text style={{ alignSelf: 'center', fontSize: 16, color: '#94A3B8', fontWeight: 'bold' }}&gt;▼ add_msgqueue&lt;/Text&gt;&#10;                &lt;Box style={{ alignSelf: 'center', background: 'rgba(15, 23, 42, 0.06)', border: '1px solid rgba(100, 116, 139, 0.4)', borderRadius: 8, padding: '9px 18px', alignItems: 'center' }}&gt;&#10;                    &lt;Text style={{ fontSize: 14.5, fontWeight: 'bold', color: '#334155' }}&gt;avatar.msgqueues[]&lt;/Text&gt;&#10;                &lt;/Box&gt;&#10;                &lt;Text style={{ alignSelf: 'center', fontSize: 13.5, color: '#94A3B8', textAlign: 'center', lineHeight: 1.4 }}&gt;每连接一个 queue{'\n'}发布-订阅&lt;/Text&gt;&#10;                &lt;Text style={{ alignSelf: 'center', fontSize: 18, color: '#94A3B8', fontWeight: 'bold' }}&gt;▲&lt;/Text&gt;&#10;                &lt;Box style={{ alignSelf: 'center', background: 'rgba(124, 58, 237, 0.1)', border: '1px solid rgba(124, 58, 237, 0.4)', borderRadius: 8, padding: '9px 18px', alignItems: 'center' }}&gt;&#10;                    &lt;Text style={{ fontSize: 14.5, fontWeight: 'bold', color: '#7C3AED' }}&gt;BaseAvatar（speaking / eventpoint）&lt;/Text&gt;&#10;                &lt;/Box&gt;&#10;                &lt;Box style={{ marginTop: 4, background: 'rgba(15, 23, 42, 0.06)', borderRadius: 6, padding: '10px 12px', border: '1px dashed rgba(100, 116, 139, 0.4)' }}&gt;&#10;                    &lt;Text style={{ fontSize: 13, color: '#475569', textAlign: 'center', lineHeight: 1.5 }}&gt;&#10;                        原生 &lt;Text style={{ fontFamily: 'monospace', fontSize: 12, color: '#334155' }}&gt;EventSource('/sse?sessionid=X')&lt;/Text&gt; 监听 &lt;Text style={{ color: '#2563EB', fontWeight: 'bold' }}&gt;data&lt;/Text&gt; 字段：&lt;Text style={{ fontFamily: 'monospace', fontSize: 12, color: '#334155' }}&gt;{&quot;{status:'start'|'end'}&quot;}&lt;/Text&gt;&#10;                    &lt;/Text&gt;&#10;                &lt;/Box&gt;&#10;            &lt;/Box&gt;&#10;        &lt;/Box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图片 20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209" name="文本框 208" descr="{&quot;isTemplate&quot;:true,&quot;type&quot;:&quot;text&quot;}"/>
          <p:cNvSpPr txBox="1"/>
          <p:nvPr/>
        </p:nvSpPr>
        <p:spPr>
          <a:xfrm>
            <a:off x="571500" y="666750"/>
            <a:ext cx="200025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E293B"/>
                </a:solidFill>
                <a:latin typeface="Microsoft YaHei"/>
                <a:ea typeface="Microsoft YaHei"/>
              </a:rPr>
              <a:t>事件与状态推送</a:t>
            </a:r>
            <a:endParaRPr/>
          </a:p>
        </p:txBody>
      </p:sp>
      <p:sp>
        <p:nvSpPr>
          <p:cNvPr id="210" name="圆角矩形 209"/>
          <p:cNvSpPr/>
          <p:nvPr/>
        </p:nvSpPr>
        <p:spPr>
          <a:xfrm>
            <a:off x="2667000" y="733425"/>
            <a:ext cx="952500" cy="209550"/>
          </a:xfrm>
          <a:prstGeom prst="roundRect">
            <a:avLst>
              <a:gd name="adj" fmla="val 18182"/>
            </a:avLst>
          </a:prstGeom>
          <a:solidFill>
            <a:srgbClr val="2563EB">
              <a:alpha val="1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1" name="文本框 210" descr="{&quot;isTemplate&quot;:true,&quot;type&quot;:&quot;text&quot;}"/>
          <p:cNvSpPr txBox="1"/>
          <p:nvPr/>
        </p:nvSpPr>
        <p:spPr>
          <a:xfrm>
            <a:off x="2781300" y="762000"/>
            <a:ext cx="7239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563EB"/>
                </a:solidFill>
                <a:latin typeface="Microsoft YaHei"/>
                <a:ea typeface="Microsoft YaHei"/>
              </a:rPr>
              <a:t>Event &amp; SSE</a:t>
            </a:r>
            <a:endParaRPr/>
          </a:p>
        </p:txBody>
      </p:sp>
      <p:sp>
        <p:nvSpPr>
          <p:cNvPr id="212" name="文本框 211" descr="{&quot;isTemplate&quot;:true,&quot;type&quot;:&quot;text&quot;}"/>
          <p:cNvSpPr txBox="1"/>
          <p:nvPr/>
        </p:nvSpPr>
        <p:spPr>
          <a:xfrm>
            <a:off x="571500" y="1038225"/>
            <a:ext cx="110490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>eventpoint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音频流状态标记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说话开始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>/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结束事件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> · SSE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实时推送接口</a:t>
            </a:r>
            <a:endParaRPr/>
          </a:p>
        </p:txBody>
      </p:sp>
      <p:sp>
        <p:nvSpPr>
          <p:cNvPr id="213" name="圆角矩形 212"/>
          <p:cNvSpPr/>
          <p:nvPr/>
        </p:nvSpPr>
        <p:spPr>
          <a:xfrm>
            <a:off x="571500" y="1295400"/>
            <a:ext cx="6172200" cy="2714625"/>
          </a:xfrm>
          <a:prstGeom prst="roundRect">
            <a:avLst>
              <a:gd name="adj" fmla="val 3509"/>
            </a:avLst>
          </a:prstGeom>
          <a:solidFill>
            <a:srgbClr val="FFFFFF">
              <a:alpha val="78000"/>
            </a:srgbClr>
          </a:solidFill>
          <a:ln w="12700">
            <a:solidFill>
              <a:srgbClr val="CBD5E1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4" name="文本框 213" descr="{&quot;isTemplate&quot;:true,&quot;type&quot;:&quot;text&quot;}"/>
          <p:cNvSpPr txBox="1"/>
          <p:nvPr/>
        </p:nvSpPr>
        <p:spPr>
          <a:xfrm>
            <a:off x="762000" y="1466850"/>
            <a:ext cx="57912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E293B"/>
                </a:solidFill>
                <a:latin typeface="Microsoft YaHei"/>
                <a:ea typeface="Microsoft YaHei"/>
              </a:rPr>
              <a:t>① eventpoint</a:t>
            </a:r>
            <a:r>
              <a:rPr lang="zh-CN" sz="1275" b="1">
                <a:solidFill>
                  <a:srgbClr val="1E293B"/>
                </a:solidFill>
                <a:latin typeface="Microsoft YaHei"/>
                <a:ea typeface="Microsoft YaHei"/>
              </a:rPr>
              <a:t>：音频流状态标记</a:t>
            </a:r>
            <a:endParaRPr/>
          </a:p>
        </p:txBody>
      </p:sp>
      <p:sp>
        <p:nvSpPr>
          <p:cNvPr id="215" name="文本框 214" descr="{&quot;isTemplate&quot;:true,&quot;type&quot;:&quot;text&quot;}"/>
          <p:cNvSpPr txBox="1"/>
          <p:nvPr/>
        </p:nvSpPr>
        <p:spPr>
          <a:xfrm>
            <a:off x="762000" y="1781175"/>
            <a:ext cx="579120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zh-CN" sz="1013">
                <a:solidFill>
                  <a:srgbClr val="475569"/>
                </a:solidFill>
                <a:latin typeface="Microsoft YaHei"/>
                <a:ea typeface="Microsoft YaHei"/>
              </a:rPr>
              <a:t>上传</a:t>
            </a:r>
            <a:r>
              <a:rPr lang="en-US" sz="1013">
                <a:solidFill>
                  <a:srgbClr val="475569"/>
                </a:solidFill>
                <a:latin typeface="Microsoft YaHei"/>
                <a:ea typeface="Microsoft YaHei"/>
              </a:rPr>
              <a:t>/</a:t>
            </a:r>
            <a:r>
              <a:rPr lang="zh-CN" sz="1013">
                <a:solidFill>
                  <a:srgbClr val="475569"/>
                </a:solidFill>
                <a:latin typeface="Microsoft YaHei"/>
                <a:ea typeface="Microsoft YaHei"/>
              </a:rPr>
              <a:t>推流音频时</a:t>
            </a:r>
            <a:r>
              <a:rPr lang="en-US" sz="1013">
                <a:solidFill>
                  <a:srgbClr val="475569"/>
                </a:solidFill>
                <a:latin typeface="Microsoft YaHei"/>
                <a:ea typeface="Microsoft YaHei"/>
              </a:rPr>
              <a:t> put_audio_file </a:t>
            </a:r>
            <a:r>
              <a:rPr lang="zh-CN" sz="1013">
                <a:solidFill>
                  <a:srgbClr val="475569"/>
                </a:solidFill>
                <a:latin typeface="Microsoft YaHei"/>
                <a:ea typeface="Microsoft YaHei"/>
              </a:rPr>
              <a:t>按</a:t>
            </a:r>
            <a:r>
              <a:rPr lang="en-US" sz="1013">
                <a:solidFill>
                  <a:srgbClr val="475569"/>
                </a:solidFill>
                <a:latin typeface="Microsoft YaHei"/>
                <a:ea typeface="Microsoft YaHei"/>
              </a:rPr>
              <a:t> 20ms chunk </a:t>
            </a:r>
            <a:r>
              <a:rPr lang="zh-CN" sz="1013">
                <a:solidFill>
                  <a:srgbClr val="475569"/>
                </a:solidFill>
                <a:latin typeface="Microsoft YaHei"/>
                <a:ea typeface="Microsoft YaHei"/>
              </a:rPr>
              <a:t>切分，每块附带</a:t>
            </a:r>
            <a:r>
              <a:rPr lang="en-US" sz="1013">
                <a:solidFill>
                  <a:srgbClr val="475569"/>
                </a:solidFill>
                <a:latin typeface="Microsoft YaHei"/>
                <a:ea typeface="Microsoft YaHei"/>
              </a:rPr>
              <a:t> eventpoint </a:t>
            </a:r>
            <a:r>
              <a:rPr lang="zh-CN" sz="1013">
                <a:solidFill>
                  <a:srgbClr val="475569"/>
                </a:solidFill>
                <a:latin typeface="Microsoft YaHei"/>
                <a:ea typeface="Microsoft YaHei"/>
              </a:rPr>
              <a:t>字典标记流边界。</a:t>
            </a:r>
            <a:endParaRPr/>
          </a:p>
        </p:txBody>
      </p:sp>
      <p:sp>
        <p:nvSpPr>
          <p:cNvPr id="216" name="圆角矩形 215"/>
          <p:cNvSpPr/>
          <p:nvPr/>
        </p:nvSpPr>
        <p:spPr>
          <a:xfrm>
            <a:off x="762000" y="2200275"/>
            <a:ext cx="85725" cy="85725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7" name="文本框 216" descr="{&quot;isTemplate&quot;:true,&quot;type&quot;:&quot;text&quot;}"/>
          <p:cNvSpPr txBox="1"/>
          <p:nvPr/>
        </p:nvSpPr>
        <p:spPr>
          <a:xfrm>
            <a:off x="962025" y="2143125"/>
            <a:ext cx="559117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1E293B"/>
                </a:solidFill>
                <a:latin typeface="Microsoft YaHei"/>
                <a:ea typeface="Microsoft YaHei"/>
              </a:rPr>
              <a:t>起止标记</a:t>
            </a:r>
            <a:endParaRPr/>
          </a:p>
        </p:txBody>
      </p:sp>
      <p:sp>
        <p:nvSpPr>
          <p:cNvPr id="218" name="文本框 217" descr="{&quot;isTemplate&quot;:true,&quot;type&quot;:&quot;text&quot;}"/>
          <p:cNvSpPr txBox="1"/>
          <p:nvPr/>
        </p:nvSpPr>
        <p:spPr>
          <a:xfrm>
            <a:off x="962025" y="2314575"/>
            <a:ext cx="5591175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938">
                <a:solidFill>
                  <a:srgbClr val="64748B"/>
                </a:solidFill>
                <a:latin typeface="Microsoft YaHei"/>
                <a:ea typeface="Microsoft YaHei"/>
              </a:rPr>
              <a:t>首块</a:t>
            </a:r>
            <a:r>
              <a:rPr lang="en-US" sz="938">
                <a:solidFill>
                  <a:srgbClr val="64748B"/>
                </a:solidFill>
                <a:latin typeface="Microsoft YaHei"/>
                <a:ea typeface="Microsoft YaHei"/>
              </a:rPr>
              <a:t> eventpoint={'status':'start'}</a:t>
            </a:r>
            <a:r>
              <a:rPr lang="zh-CN" sz="938">
                <a:solidFill>
                  <a:srgbClr val="64748B"/>
                </a:solidFill>
                <a:latin typeface="Microsoft YaHei"/>
                <a:ea typeface="Microsoft YaHei"/>
              </a:rPr>
              <a:t>，末块</a:t>
            </a:r>
            <a:r>
              <a:rPr lang="en-US" sz="938">
                <a:solidFill>
                  <a:srgbClr val="64748B"/>
                </a:solidFill>
                <a:latin typeface="Microsoft YaHei"/>
                <a:ea typeface="Microsoft YaHei"/>
              </a:rPr>
              <a:t> ={'status':'end'}</a:t>
            </a:r>
            <a:r>
              <a:rPr lang="zh-CN" sz="938">
                <a:solidFill>
                  <a:srgbClr val="64748B"/>
                </a:solidFill>
                <a:latin typeface="Microsoft YaHei"/>
                <a:ea typeface="Microsoft YaHei"/>
              </a:rPr>
              <a:t>，中间块为空</a:t>
            </a:r>
            <a:endParaRPr/>
          </a:p>
        </p:txBody>
      </p:sp>
      <p:sp>
        <p:nvSpPr>
          <p:cNvPr id="219" name="圆角矩形 218"/>
          <p:cNvSpPr/>
          <p:nvPr/>
        </p:nvSpPr>
        <p:spPr>
          <a:xfrm>
            <a:off x="762000" y="2686050"/>
            <a:ext cx="85725" cy="857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0" name="文本框 219" descr="{&quot;isTemplate&quot;:true,&quot;type&quot;:&quot;text&quot;}"/>
          <p:cNvSpPr txBox="1"/>
          <p:nvPr/>
        </p:nvSpPr>
        <p:spPr>
          <a:xfrm>
            <a:off x="962025" y="2628900"/>
            <a:ext cx="559117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1E293B"/>
                </a:solidFill>
                <a:latin typeface="Microsoft YaHei"/>
                <a:ea typeface="Microsoft YaHei"/>
              </a:rPr>
              <a:t>透传下发</a:t>
            </a:r>
            <a:endParaRPr/>
          </a:p>
        </p:txBody>
      </p:sp>
      <p:sp>
        <p:nvSpPr>
          <p:cNvPr id="221" name="文本框 220" descr="{&quot;isTemplate&quot;:true,&quot;type&quot;:&quot;text&quot;}"/>
          <p:cNvSpPr txBox="1"/>
          <p:nvPr/>
        </p:nvSpPr>
        <p:spPr>
          <a:xfrm>
            <a:off x="962025" y="2800350"/>
            <a:ext cx="5591175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en-US" sz="938">
                <a:solidFill>
                  <a:srgbClr val="64748B"/>
                </a:solidFill>
                <a:latin typeface="Microsoft YaHei"/>
                <a:ea typeface="Microsoft YaHei"/>
              </a:rPr>
              <a:t>eventpoint </a:t>
            </a:r>
            <a:r>
              <a:rPr lang="zh-CN" sz="938">
                <a:solidFill>
                  <a:srgbClr val="64748B"/>
                </a:solidFill>
                <a:latin typeface="Microsoft YaHei"/>
                <a:ea typeface="Microsoft YaHei"/>
              </a:rPr>
              <a:t>随音频帧进入</a:t>
            </a:r>
            <a:r>
              <a:rPr lang="en-US" sz="938">
                <a:solidFill>
                  <a:srgbClr val="64748B"/>
                </a:solidFill>
                <a:latin typeface="Microsoft YaHei"/>
                <a:ea typeface="Microsoft YaHei"/>
              </a:rPr>
              <a:t> ASR</a:t>
            </a:r>
            <a:r>
              <a:rPr lang="zh-CN" sz="938">
                <a:solidFill>
                  <a:srgbClr val="64748B"/>
                </a:solidFill>
                <a:latin typeface="Microsoft YaHei"/>
                <a:ea typeface="Microsoft YaHei"/>
              </a:rPr>
              <a:t>，由</a:t>
            </a:r>
            <a:r>
              <a:rPr lang="en-US" sz="938">
                <a:solidFill>
                  <a:srgbClr val="64748B"/>
                </a:solidFill>
                <a:latin typeface="Microsoft YaHei"/>
                <a:ea typeface="Microsoft YaHei"/>
              </a:rPr>
              <a:t> notify() → send_msg() </a:t>
            </a:r>
            <a:r>
              <a:rPr lang="zh-CN" sz="938">
                <a:solidFill>
                  <a:srgbClr val="64748B"/>
                </a:solidFill>
                <a:latin typeface="Microsoft YaHei"/>
                <a:ea typeface="Microsoft YaHei"/>
              </a:rPr>
              <a:t>推送至</a:t>
            </a:r>
            <a:r>
              <a:rPr lang="en-US" sz="938">
                <a:solidFill>
                  <a:srgbClr val="64748B"/>
                </a:solidFill>
                <a:latin typeface="Microsoft YaHei"/>
                <a:ea typeface="Microsoft YaHei"/>
              </a:rPr>
              <a:t> SSE </a:t>
            </a:r>
            <a:r>
              <a:rPr lang="zh-CN" sz="938">
                <a:solidFill>
                  <a:srgbClr val="64748B"/>
                </a:solidFill>
                <a:latin typeface="Microsoft YaHei"/>
                <a:ea typeface="Microsoft YaHei"/>
              </a:rPr>
              <a:t>客户端</a:t>
            </a:r>
            <a:endParaRPr/>
          </a:p>
        </p:txBody>
      </p:sp>
      <p:sp>
        <p:nvSpPr>
          <p:cNvPr id="222" name="圆角矩形 221"/>
          <p:cNvSpPr/>
          <p:nvPr/>
        </p:nvSpPr>
        <p:spPr>
          <a:xfrm>
            <a:off x="762000" y="3171825"/>
            <a:ext cx="85725" cy="85725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3" name="文本框 222" descr="{&quot;isTemplate&quot;:true,&quot;type&quot;:&quot;text&quot;}"/>
          <p:cNvSpPr txBox="1"/>
          <p:nvPr/>
        </p:nvSpPr>
        <p:spPr>
          <a:xfrm>
            <a:off x="962025" y="3114675"/>
            <a:ext cx="559117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1E293B"/>
                </a:solidFill>
                <a:latin typeface="Microsoft YaHei"/>
                <a:ea typeface="Microsoft YaHei"/>
              </a:rPr>
              <a:t>业务挂载</a:t>
            </a:r>
            <a:endParaRPr/>
          </a:p>
        </p:txBody>
      </p:sp>
      <p:sp>
        <p:nvSpPr>
          <p:cNvPr id="224" name="文本框 223" descr="{&quot;isTemplate&quot;:true,&quot;type&quot;:&quot;text&quot;}"/>
          <p:cNvSpPr txBox="1"/>
          <p:nvPr/>
        </p:nvSpPr>
        <p:spPr>
          <a:xfrm>
            <a:off x="962025" y="3286125"/>
            <a:ext cx="5591175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en-US" sz="938">
                <a:solidFill>
                  <a:srgbClr val="64748B"/>
                </a:solidFill>
                <a:latin typeface="Microsoft YaHei"/>
                <a:ea typeface="Microsoft YaHei"/>
              </a:rPr>
              <a:t>datainfo </a:t>
            </a:r>
            <a:r>
              <a:rPr lang="zh-CN" sz="938">
                <a:solidFill>
                  <a:srgbClr val="64748B"/>
                </a:solidFill>
                <a:latin typeface="Microsoft YaHei"/>
                <a:ea typeface="Microsoft YaHei"/>
              </a:rPr>
              <a:t>可携带自定义字段，与</a:t>
            </a:r>
            <a:r>
              <a:rPr lang="en-US" sz="938">
                <a:solidFill>
                  <a:srgbClr val="64748B"/>
                </a:solidFill>
                <a:latin typeface="Microsoft YaHei"/>
                <a:ea typeface="Microsoft YaHei"/>
              </a:rPr>
              <a:t> start/end </a:t>
            </a:r>
            <a:r>
              <a:rPr lang="zh-CN" sz="938">
                <a:solidFill>
                  <a:srgbClr val="64748B"/>
                </a:solidFill>
                <a:latin typeface="Microsoft YaHei"/>
                <a:ea typeface="Microsoft YaHei"/>
              </a:rPr>
              <a:t>合并后一并下发</a:t>
            </a:r>
            <a:endParaRPr/>
          </a:p>
        </p:txBody>
      </p:sp>
      <p:sp>
        <p:nvSpPr>
          <p:cNvPr id="225" name="圆角矩形 224"/>
          <p:cNvSpPr/>
          <p:nvPr/>
        </p:nvSpPr>
        <p:spPr>
          <a:xfrm>
            <a:off x="571500" y="4181475"/>
            <a:ext cx="6172200" cy="2390775"/>
          </a:xfrm>
          <a:prstGeom prst="roundRect">
            <a:avLst>
              <a:gd name="adj" fmla="val 3984"/>
            </a:avLst>
          </a:prstGeom>
          <a:solidFill>
            <a:srgbClr val="FFFFFF">
              <a:alpha val="78000"/>
            </a:srgbClr>
          </a:solidFill>
          <a:ln w="12700">
            <a:solidFill>
              <a:srgbClr val="CBD5E1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6" name="文本框 225" descr="{&quot;isTemplate&quot;:true,&quot;type&quot;:&quot;text&quot;}"/>
          <p:cNvSpPr txBox="1"/>
          <p:nvPr/>
        </p:nvSpPr>
        <p:spPr>
          <a:xfrm>
            <a:off x="762000" y="4352925"/>
            <a:ext cx="57912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E293B"/>
                </a:solidFill>
                <a:latin typeface="Microsoft YaHei"/>
                <a:ea typeface="Microsoft YaHei"/>
              </a:rPr>
              <a:t>② </a:t>
            </a:r>
            <a:r>
              <a:rPr lang="zh-CN" sz="1275" b="1">
                <a:solidFill>
                  <a:srgbClr val="1E293B"/>
                </a:solidFill>
                <a:latin typeface="Microsoft YaHei"/>
                <a:ea typeface="Microsoft YaHei"/>
              </a:rPr>
              <a:t>说话开始</a:t>
            </a:r>
            <a:r>
              <a:rPr lang="en-US" sz="1275" b="1">
                <a:solidFill>
                  <a:srgbClr val="1E293B"/>
                </a:solidFill>
                <a:latin typeface="Microsoft YaHei"/>
                <a:ea typeface="Microsoft YaHei"/>
              </a:rPr>
              <a:t> / </a:t>
            </a:r>
            <a:r>
              <a:rPr lang="zh-CN" sz="1275" b="1">
                <a:solidFill>
                  <a:srgbClr val="1E293B"/>
                </a:solidFill>
                <a:latin typeface="Microsoft YaHei"/>
                <a:ea typeface="Microsoft YaHei"/>
              </a:rPr>
              <a:t>结束事件</a:t>
            </a:r>
            <a:endParaRPr/>
          </a:p>
        </p:txBody>
      </p:sp>
      <p:sp>
        <p:nvSpPr>
          <p:cNvPr id="227" name="圆角矩形 226"/>
          <p:cNvSpPr/>
          <p:nvPr/>
        </p:nvSpPr>
        <p:spPr>
          <a:xfrm>
            <a:off x="762000" y="4724400"/>
            <a:ext cx="85725" cy="85725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8" name="文本框 227" descr="{&quot;isTemplate&quot;:true,&quot;type&quot;:&quot;text&quot;}"/>
          <p:cNvSpPr txBox="1"/>
          <p:nvPr/>
        </p:nvSpPr>
        <p:spPr>
          <a:xfrm>
            <a:off x="962025" y="4667250"/>
            <a:ext cx="559117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88" b="1">
                <a:solidFill>
                  <a:srgbClr val="1E293B"/>
                </a:solidFill>
                <a:latin typeface="Microsoft YaHei"/>
                <a:ea typeface="Microsoft YaHei"/>
              </a:rPr>
              <a:t>speaking </a:t>
            </a:r>
            <a:r>
              <a:rPr lang="zh-CN" sz="1088" b="1">
                <a:solidFill>
                  <a:srgbClr val="1E293B"/>
                </a:solidFill>
                <a:latin typeface="Microsoft YaHei"/>
                <a:ea typeface="Microsoft YaHei"/>
              </a:rPr>
              <a:t>标志</a:t>
            </a:r>
            <a:endParaRPr/>
          </a:p>
        </p:txBody>
      </p:sp>
      <p:sp>
        <p:nvSpPr>
          <p:cNvPr id="229" name="文本框 228" descr="{&quot;isTemplate&quot;:true,&quot;type&quot;:&quot;text&quot;}"/>
          <p:cNvSpPr txBox="1"/>
          <p:nvPr/>
        </p:nvSpPr>
        <p:spPr>
          <a:xfrm>
            <a:off x="962025" y="4838700"/>
            <a:ext cx="5591175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en-US" sz="938">
                <a:solidFill>
                  <a:srgbClr val="64748B"/>
                </a:solidFill>
                <a:latin typeface="Microsoft YaHei"/>
                <a:ea typeface="Microsoft YaHei"/>
              </a:rPr>
              <a:t>&lt;BaseAvatar&gt;.speaking </a:t>
            </a:r>
            <a:r>
              <a:rPr lang="zh-CN" sz="938">
                <a:solidFill>
                  <a:srgbClr val="64748B"/>
                </a:solidFill>
                <a:latin typeface="Microsoft YaHei"/>
                <a:ea typeface="Microsoft YaHei"/>
              </a:rPr>
              <a:t>布尔值，</a:t>
            </a:r>
            <a:r>
              <a:rPr lang="en-US" sz="938">
                <a:solidFill>
                  <a:srgbClr val="64748B"/>
                </a:solidFill>
                <a:latin typeface="Microsoft YaHei"/>
                <a:ea typeface="Microsoft YaHei"/>
              </a:rPr>
              <a:t>process_frames() </a:t>
            </a:r>
            <a:r>
              <a:rPr lang="zh-CN" sz="938">
                <a:solidFill>
                  <a:srgbClr val="64748B"/>
                </a:solidFill>
                <a:latin typeface="Microsoft YaHei"/>
                <a:ea typeface="Microsoft YaHei"/>
              </a:rPr>
              <a:t>按音频帧类型（静音</a:t>
            </a:r>
            <a:r>
              <a:rPr lang="en-US" sz="938">
                <a:solidFill>
                  <a:srgbClr val="64748B"/>
                </a:solidFill>
                <a:latin typeface="Microsoft YaHei"/>
                <a:ea typeface="Microsoft YaHei"/>
              </a:rPr>
              <a:t>/</a:t>
            </a:r>
            <a:r>
              <a:rPr lang="zh-CN" sz="938">
                <a:solidFill>
                  <a:srgbClr val="64748B"/>
                </a:solidFill>
                <a:latin typeface="Microsoft YaHei"/>
                <a:ea typeface="Microsoft YaHei"/>
              </a:rPr>
              <a:t>说话）实时置</a:t>
            </a:r>
            <a:r>
              <a:rPr lang="en-US" sz="938">
                <a:solidFill>
                  <a:srgbClr val="64748B"/>
                </a:solidFill>
                <a:latin typeface="Microsoft YaHei"/>
                <a:ea typeface="Microsoft YaHei"/>
              </a:rPr>
              <a:t> True/False</a:t>
            </a:r>
            <a:endParaRPr/>
          </a:p>
        </p:txBody>
      </p:sp>
      <p:sp>
        <p:nvSpPr>
          <p:cNvPr id="230" name="圆角矩形 229"/>
          <p:cNvSpPr/>
          <p:nvPr/>
        </p:nvSpPr>
        <p:spPr>
          <a:xfrm>
            <a:off x="762000" y="5229225"/>
            <a:ext cx="85725" cy="85725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1" name="文本框 230" descr="{&quot;isTemplate&quot;:true,&quot;type&quot;:&quot;text&quot;}"/>
          <p:cNvSpPr txBox="1"/>
          <p:nvPr/>
        </p:nvSpPr>
        <p:spPr>
          <a:xfrm>
            <a:off x="962025" y="5172075"/>
            <a:ext cx="559117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1E293B"/>
                </a:solidFill>
                <a:latin typeface="Microsoft YaHei"/>
                <a:ea typeface="Microsoft YaHei"/>
              </a:rPr>
              <a:t>状态切换</a:t>
            </a:r>
            <a:endParaRPr/>
          </a:p>
        </p:txBody>
      </p:sp>
      <p:sp>
        <p:nvSpPr>
          <p:cNvPr id="232" name="文本框 231" descr="{&quot;isTemplate&quot;:true,&quot;type&quot;:&quot;text&quot;}"/>
          <p:cNvSpPr txBox="1"/>
          <p:nvPr/>
        </p:nvSpPr>
        <p:spPr>
          <a:xfrm>
            <a:off x="962025" y="5343525"/>
            <a:ext cx="5591175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938">
                <a:solidFill>
                  <a:srgbClr val="64748B"/>
                </a:solidFill>
                <a:latin typeface="Microsoft YaHei"/>
                <a:ea typeface="Microsoft YaHei"/>
              </a:rPr>
              <a:t>静音↔说话切换时记录日志，可在前端驱动嘴部</a:t>
            </a:r>
            <a:r>
              <a:rPr lang="en-US" sz="938">
                <a:solidFill>
                  <a:srgbClr val="64748B"/>
                </a:solidFill>
                <a:latin typeface="Microsoft YaHei"/>
                <a:ea typeface="Microsoft YaHei"/>
              </a:rPr>
              <a:t>/</a:t>
            </a:r>
            <a:r>
              <a:rPr lang="zh-CN" sz="938">
                <a:solidFill>
                  <a:srgbClr val="64748B"/>
                </a:solidFill>
                <a:latin typeface="Microsoft YaHei"/>
                <a:ea typeface="Microsoft YaHei"/>
              </a:rPr>
              <a:t>表情的“说话中”指示</a:t>
            </a:r>
            <a:endParaRPr/>
          </a:p>
        </p:txBody>
      </p:sp>
      <p:sp>
        <p:nvSpPr>
          <p:cNvPr id="233" name="圆角矩形 232"/>
          <p:cNvSpPr/>
          <p:nvPr/>
        </p:nvSpPr>
        <p:spPr>
          <a:xfrm>
            <a:off x="762000" y="5734050"/>
            <a:ext cx="85725" cy="85725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4" name="文本框 233" descr="{&quot;isTemplate&quot;:true,&quot;type&quot;:&quot;text&quot;}"/>
          <p:cNvSpPr txBox="1"/>
          <p:nvPr/>
        </p:nvSpPr>
        <p:spPr>
          <a:xfrm>
            <a:off x="962025" y="5676900"/>
            <a:ext cx="559117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1E293B"/>
                </a:solidFill>
                <a:latin typeface="Microsoft YaHei"/>
                <a:ea typeface="Microsoft YaHei"/>
              </a:rPr>
              <a:t>查询接口</a:t>
            </a:r>
            <a:endParaRPr/>
          </a:p>
        </p:txBody>
      </p:sp>
      <p:sp>
        <p:nvSpPr>
          <p:cNvPr id="235" name="文本框 234" descr="{&quot;isTemplate&quot;:true,&quot;type&quot;:&quot;text&quot;}"/>
          <p:cNvSpPr txBox="1"/>
          <p:nvPr/>
        </p:nvSpPr>
        <p:spPr>
          <a:xfrm>
            <a:off x="962025" y="5848350"/>
            <a:ext cx="5591175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en-US" sz="938">
                <a:solidFill>
                  <a:srgbClr val="64748B"/>
                </a:solidFill>
                <a:latin typeface="Microsoft YaHei"/>
                <a:ea typeface="Microsoft YaHei"/>
              </a:rPr>
              <a:t>POST /is_speaking </a:t>
            </a:r>
            <a:r>
              <a:rPr lang="zh-CN" sz="938">
                <a:solidFill>
                  <a:srgbClr val="64748B"/>
                </a:solidFill>
                <a:latin typeface="Microsoft YaHei"/>
                <a:ea typeface="Microsoft YaHei"/>
              </a:rPr>
              <a:t>返回当前</a:t>
            </a:r>
            <a:r>
              <a:rPr lang="en-US" sz="938">
                <a:solidFill>
                  <a:srgbClr val="64748B"/>
                </a:solidFill>
                <a:latin typeface="Microsoft YaHei"/>
                <a:ea typeface="Microsoft YaHei"/>
              </a:rPr>
              <a:t> speaking </a:t>
            </a:r>
            <a:r>
              <a:rPr lang="zh-CN" sz="938">
                <a:solidFill>
                  <a:srgbClr val="64748B"/>
                </a:solidFill>
                <a:latin typeface="Microsoft YaHei"/>
                <a:ea typeface="Microsoft YaHei"/>
              </a:rPr>
              <a:t>状态，前端可轮询判断是否在播</a:t>
            </a:r>
            <a:endParaRPr/>
          </a:p>
        </p:txBody>
      </p:sp>
      <p:sp>
        <p:nvSpPr>
          <p:cNvPr id="236" name="圆角矩形 235"/>
          <p:cNvSpPr/>
          <p:nvPr/>
        </p:nvSpPr>
        <p:spPr>
          <a:xfrm>
            <a:off x="7124700" y="1295400"/>
            <a:ext cx="4495800" cy="5276850"/>
          </a:xfrm>
          <a:prstGeom prst="roundRect">
            <a:avLst>
              <a:gd name="adj" fmla="val 2119"/>
            </a:avLst>
          </a:prstGeom>
          <a:solidFill>
            <a:srgbClr val="FFFFFF">
              <a:alpha val="78000"/>
            </a:srgbClr>
          </a:solidFill>
          <a:ln w="12700">
            <a:solidFill>
              <a:srgbClr val="CBD5E1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7" name="文本框 236" descr="{&quot;isTemplate&quot;:true,&quot;type&quot;:&quot;text&quot;}"/>
          <p:cNvSpPr txBox="1"/>
          <p:nvPr/>
        </p:nvSpPr>
        <p:spPr>
          <a:xfrm>
            <a:off x="7315200" y="1466850"/>
            <a:ext cx="41148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E293B"/>
                </a:solidFill>
                <a:latin typeface="Microsoft YaHei"/>
                <a:ea typeface="Microsoft YaHei"/>
              </a:rPr>
              <a:t>③ SSE </a:t>
            </a:r>
            <a:r>
              <a:rPr lang="zh-CN" sz="1275" b="1">
                <a:solidFill>
                  <a:srgbClr val="1E293B"/>
                </a:solidFill>
                <a:latin typeface="Microsoft YaHei"/>
                <a:ea typeface="Microsoft YaHei"/>
              </a:rPr>
              <a:t>实时推送架构</a:t>
            </a:r>
            <a:endParaRPr/>
          </a:p>
        </p:txBody>
      </p:sp>
      <p:sp>
        <p:nvSpPr>
          <p:cNvPr id="238" name="圆角矩形 237"/>
          <p:cNvSpPr/>
          <p:nvPr/>
        </p:nvSpPr>
        <p:spPr>
          <a:xfrm>
            <a:off x="8562975" y="1876425"/>
            <a:ext cx="1619250" cy="342900"/>
          </a:xfrm>
          <a:prstGeom prst="roundRect">
            <a:avLst>
              <a:gd name="adj" fmla="val 22222"/>
            </a:avLst>
          </a:prstGeom>
          <a:solidFill>
            <a:srgbClr val="2563EB">
              <a:alpha val="10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9" name="文本框 238" descr="{&quot;isTemplate&quot;:true,&quot;type&quot;:&quot;text&quot;}"/>
          <p:cNvSpPr txBox="1"/>
          <p:nvPr/>
        </p:nvSpPr>
        <p:spPr>
          <a:xfrm>
            <a:off x="8734425" y="1962150"/>
            <a:ext cx="12763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2563EB"/>
                </a:solidFill>
                <a:latin typeface="Microsoft YaHei"/>
                <a:ea typeface="Microsoft YaHei"/>
              </a:rPr>
              <a:t>客户端</a:t>
            </a:r>
            <a:r>
              <a:rPr lang="en-US" sz="1088" b="1">
                <a:solidFill>
                  <a:srgbClr val="2563EB"/>
                </a:solidFill>
                <a:latin typeface="Microsoft YaHei"/>
                <a:ea typeface="Microsoft YaHei"/>
              </a:rPr>
              <a:t> EventSource</a:t>
            </a:r>
            <a:endParaRPr/>
          </a:p>
        </p:txBody>
      </p:sp>
      <p:sp>
        <p:nvSpPr>
          <p:cNvPr id="240" name="文本框 239" descr="{&quot;isTemplate&quot;:true,&quot;type&quot;:&quot;text&quot;}"/>
          <p:cNvSpPr txBox="1"/>
          <p:nvPr/>
        </p:nvSpPr>
        <p:spPr>
          <a:xfrm>
            <a:off x="9286875" y="2390775"/>
            <a:ext cx="1714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350" b="1">
                <a:solidFill>
                  <a:srgbClr val="94A3B8"/>
                </a:solidFill>
                <a:latin typeface="Microsoft YaHei"/>
                <a:ea typeface="Microsoft YaHei"/>
              </a:rPr>
              <a:t>▼</a:t>
            </a:r>
            <a:endParaRPr/>
          </a:p>
        </p:txBody>
      </p:sp>
      <p:sp>
        <p:nvSpPr>
          <p:cNvPr id="241" name="圆角矩形 240"/>
          <p:cNvSpPr/>
          <p:nvPr/>
        </p:nvSpPr>
        <p:spPr>
          <a:xfrm>
            <a:off x="8486775" y="2762250"/>
            <a:ext cx="1771650" cy="342900"/>
          </a:xfrm>
          <a:prstGeom prst="roundRect">
            <a:avLst>
              <a:gd name="adj" fmla="val 22222"/>
            </a:avLst>
          </a:prstGeom>
          <a:solidFill>
            <a:srgbClr val="86EFAC">
              <a:alpha val="18000"/>
            </a:srgbClr>
          </a:solidFill>
          <a:ln w="12700">
            <a:solidFill>
              <a:srgbClr val="22C55E">
                <a:alpha val="5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2" name="文本框 241" descr="{&quot;isTemplate&quot;:true,&quot;type&quot;:&quot;text&quot;}"/>
          <p:cNvSpPr txBox="1"/>
          <p:nvPr/>
        </p:nvSpPr>
        <p:spPr>
          <a:xfrm>
            <a:off x="8658225" y="2847975"/>
            <a:ext cx="14287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88" b="1">
                <a:solidFill>
                  <a:srgbClr val="16A34A"/>
                </a:solidFill>
                <a:latin typeface="Microsoft YaHei"/>
                <a:ea typeface="Microsoft YaHei"/>
              </a:rPr>
              <a:t>GET /sse?sessionid=X</a:t>
            </a:r>
            <a:endParaRPr/>
          </a:p>
        </p:txBody>
      </p:sp>
      <p:sp>
        <p:nvSpPr>
          <p:cNvPr id="243" name="文本框 242" descr="{&quot;isTemplate&quot;:true,&quot;type&quot;:&quot;text&quot;}"/>
          <p:cNvSpPr txBox="1"/>
          <p:nvPr/>
        </p:nvSpPr>
        <p:spPr>
          <a:xfrm>
            <a:off x="8715375" y="3276600"/>
            <a:ext cx="13144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94A3B8"/>
                </a:solidFill>
                <a:latin typeface="Microsoft YaHei"/>
                <a:ea typeface="Microsoft YaHei"/>
              </a:rPr>
              <a:t>▼ add_msgqueue</a:t>
            </a:r>
            <a:endParaRPr/>
          </a:p>
        </p:txBody>
      </p:sp>
      <p:sp>
        <p:nvSpPr>
          <p:cNvPr id="244" name="圆角矩形 243"/>
          <p:cNvSpPr/>
          <p:nvPr/>
        </p:nvSpPr>
        <p:spPr>
          <a:xfrm>
            <a:off x="8562975" y="3638550"/>
            <a:ext cx="1628775" cy="342900"/>
          </a:xfrm>
          <a:prstGeom prst="roundRect">
            <a:avLst>
              <a:gd name="adj" fmla="val 22222"/>
            </a:avLst>
          </a:prstGeom>
          <a:solidFill>
            <a:srgbClr val="0F172A">
              <a:alpha val="6000"/>
            </a:srgbClr>
          </a:solidFill>
          <a:ln w="12700">
            <a:solidFill>
              <a:srgbClr val="64748B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5" name="文本框 244" descr="{&quot;isTemplate&quot;:true,&quot;type&quot;:&quot;text&quot;}"/>
          <p:cNvSpPr txBox="1"/>
          <p:nvPr/>
        </p:nvSpPr>
        <p:spPr>
          <a:xfrm>
            <a:off x="8734425" y="3724275"/>
            <a:ext cx="128587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88" b="1">
                <a:solidFill>
                  <a:srgbClr val="334155"/>
                </a:solidFill>
                <a:latin typeface="Microsoft YaHei"/>
                <a:ea typeface="Microsoft YaHei"/>
              </a:rPr>
              <a:t>avatar.msgqueues[]</a:t>
            </a:r>
            <a:endParaRPr/>
          </a:p>
        </p:txBody>
      </p:sp>
      <p:sp>
        <p:nvSpPr>
          <p:cNvPr id="246" name="文本框 245" descr="{&quot;isTemplate&quot;:true,&quot;type&quot;:&quot;text&quot;}"/>
          <p:cNvSpPr txBox="1"/>
          <p:nvPr/>
        </p:nvSpPr>
        <p:spPr>
          <a:xfrm>
            <a:off x="8839200" y="4143375"/>
            <a:ext cx="1076325" cy="43815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40000"/>
              </a:lnSpc>
            </a:pPr>
            <a:r>
              <a:rPr lang="zh-CN" sz="1013">
                <a:solidFill>
                  <a:srgbClr val="94A3B8"/>
                </a:solidFill>
                <a:latin typeface="Microsoft YaHei"/>
                <a:ea typeface="Microsoft YaHei"/>
              </a:rPr>
              <a:t>每连接一个</a:t>
            </a:r>
            <a:r>
              <a:rPr lang="en-US" sz="1013">
                <a:solidFill>
                  <a:srgbClr val="94A3B8"/>
                </a:solidFill>
                <a:latin typeface="Microsoft YaHei"/>
                <a:ea typeface="Microsoft YaHei"/>
              </a:rPr>
              <a:t> queue</a:t>
            </a:r>
            <a:endParaRPr/>
          </a:p>
          <a:p>
            <a:pPr algn="ctr">
              <a:lnSpc>
                <a:spcPct val="140000"/>
              </a:lnSpc>
            </a:pPr>
            <a:r>
              <a:rPr lang="zh-CN" sz="1013">
                <a:solidFill>
                  <a:srgbClr val="94A3B8"/>
                </a:solidFill>
                <a:latin typeface="Microsoft YaHei"/>
                <a:ea typeface="Microsoft YaHei"/>
              </a:rPr>
              <a:t>发布</a:t>
            </a:r>
            <a:r>
              <a:rPr lang="en-US" sz="1013">
                <a:solidFill>
                  <a:srgbClr val="94A3B8"/>
                </a:solidFill>
                <a:latin typeface="Microsoft YaHei"/>
                <a:ea typeface="Microsoft YaHei"/>
              </a:rPr>
              <a:t>-</a:t>
            </a:r>
            <a:r>
              <a:rPr lang="zh-CN" sz="1013">
                <a:solidFill>
                  <a:srgbClr val="94A3B8"/>
                </a:solidFill>
                <a:latin typeface="Microsoft YaHei"/>
                <a:ea typeface="Microsoft YaHei"/>
              </a:rPr>
              <a:t>订阅</a:t>
            </a:r>
            <a:endParaRPr/>
          </a:p>
        </p:txBody>
      </p:sp>
      <p:sp>
        <p:nvSpPr>
          <p:cNvPr id="247" name="文本框 246" descr="{&quot;isTemplate&quot;:true,&quot;type&quot;:&quot;text&quot;}"/>
          <p:cNvSpPr txBox="1"/>
          <p:nvPr/>
        </p:nvSpPr>
        <p:spPr>
          <a:xfrm>
            <a:off x="9286875" y="4752975"/>
            <a:ext cx="1714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350" b="1">
                <a:solidFill>
                  <a:srgbClr val="94A3B8"/>
                </a:solidFill>
                <a:latin typeface="Microsoft YaHei"/>
                <a:ea typeface="Microsoft YaHei"/>
              </a:rPr>
              <a:t>▲</a:t>
            </a:r>
            <a:endParaRPr/>
          </a:p>
        </p:txBody>
      </p:sp>
      <p:sp>
        <p:nvSpPr>
          <p:cNvPr id="248" name="圆角矩形 247"/>
          <p:cNvSpPr/>
          <p:nvPr/>
        </p:nvSpPr>
        <p:spPr>
          <a:xfrm>
            <a:off x="7972425" y="5133975"/>
            <a:ext cx="2800350" cy="342900"/>
          </a:xfrm>
          <a:prstGeom prst="roundRect">
            <a:avLst>
              <a:gd name="adj" fmla="val 22222"/>
            </a:avLst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9" name="文本框 248" descr="{&quot;isTemplate&quot;:true,&quot;type&quot;:&quot;text&quot;}"/>
          <p:cNvSpPr txBox="1"/>
          <p:nvPr/>
        </p:nvSpPr>
        <p:spPr>
          <a:xfrm>
            <a:off x="8143875" y="5219700"/>
            <a:ext cx="24574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88" b="1">
                <a:solidFill>
                  <a:srgbClr val="7C3AED"/>
                </a:solidFill>
                <a:latin typeface="Microsoft YaHei"/>
                <a:ea typeface="Microsoft YaHei"/>
              </a:rPr>
              <a:t>BaseAvatar</a:t>
            </a:r>
            <a:r>
              <a:rPr lang="zh-CN" sz="1088" b="1">
                <a:solidFill>
                  <a:srgbClr val="7C3AED"/>
                </a:solidFill>
                <a:latin typeface="Microsoft YaHei"/>
                <a:ea typeface="Microsoft YaHei"/>
              </a:rPr>
              <a:t>（</a:t>
            </a:r>
            <a:r>
              <a:rPr lang="en-US" sz="1088" b="1">
                <a:solidFill>
                  <a:srgbClr val="7C3AED"/>
                </a:solidFill>
                <a:latin typeface="Microsoft YaHei"/>
                <a:ea typeface="Microsoft YaHei"/>
              </a:rPr>
              <a:t>speaking / eventpoint</a:t>
            </a:r>
            <a:r>
              <a:rPr lang="zh-CN" sz="1088" b="1">
                <a:solidFill>
                  <a:srgbClr val="7C3AED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250" name="圆角矩形 249"/>
          <p:cNvSpPr/>
          <p:nvPr/>
        </p:nvSpPr>
        <p:spPr>
          <a:xfrm>
            <a:off x="7315200" y="5676900"/>
            <a:ext cx="4114800" cy="638175"/>
          </a:xfrm>
          <a:prstGeom prst="roundRect">
            <a:avLst>
              <a:gd name="adj" fmla="val 8955"/>
            </a:avLst>
          </a:prstGeom>
          <a:solidFill>
            <a:srgbClr val="0F172A">
              <a:alpha val="6000"/>
            </a:srgbClr>
          </a:solidFill>
          <a:ln w="12700">
            <a:solidFill>
              <a:srgbClr val="64748B">
                <a:alpha val="40000"/>
              </a:srgbClr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251" name="文本框 250" descr="{&quot;isTemplate&quot;:true,&quot;type&quot;:&quot;text&quot;}"/>
          <p:cNvSpPr txBox="1"/>
          <p:nvPr/>
        </p:nvSpPr>
        <p:spPr>
          <a:xfrm>
            <a:off x="7429500" y="5772150"/>
            <a:ext cx="3886200" cy="447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原生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EventSource('/sse?sessionid=X')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监听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data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字段：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{status:'start'|'end'}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transparent', padding: '90px 72px 16px', flexDirection: 'column' }}&gt;&#10;    &lt;Image src=&quot;resources/images/gvp_background.jpg&quot; style={{ position: 'absolute', top: 0, left: 0, width: 1280, height: 720, objectFit: 'cover' }} /&gt;&#10;    &lt;Box style={{ height: 70, flexDirection: 'column', gap: 4, justifyContent: 'center', zIndex: 1 }}&gt;&#10;        &lt;Text style={{ fontSize: 34, fontWeight: 'bold', color: '#1E293B' }}&gt;类调用关系：以 BaseAvatar 为中心&lt;/Text&gt;&#10;        &lt;Text style={{ fontSize: 16, color: '#475569' }}&gt;组合（has-a）由 registry.create 注入插件；继承（is-a）经 @register 注册；各模型子类在 __init__ 中创建独立 ASR&lt;/Text&gt;&#10;    &lt;/Box&gt;&#10;&#10;    &lt;Box style={{ position: 'relative', height: 500, marginTop: 6, zIndex: 1 }}&gt;&#10;&lt;Box style={{ position: 'absolute', top: 5, left: 388, width: 360, height: 130, background: 'rgba(255,255,255,0.94)', border: '1.5px solid #0891B2', borderRadius: 12, padding: 12, flexDirection: 'column', gap: 5 }}&gt;&#10;            &lt;Box style={{ flexDirection: 'row', alignItems: 'center', gap: 8 }}&gt;&#10;                &lt;Text style={{ fontSize: 18, fontWeight: 'bold', color: '#0891B2' }}&gt;BaseTTS&lt;/Text&gt;&#10;                &lt;Box style={{ background: 'rgba(8,145,178,0.15)', borderRadius: 6, padding: '2px 8px' }}&gt;&lt;Text style={{ fontSize: 11, color: '#0891B2' }}&gt;基类&lt;/Text&gt;&lt;/Box&gt;&#10;            &lt;/Box&gt;&#10;            &lt;Text style={{ fontSize: 12, color: '#64748B' }}&gt;└ 继承实现 · @register('tts')&lt;/Text&gt;&#10;            &lt;Text style={{ fontSize: 12.5, color: '#1E293B', lineHeight: 1.4 }}&gt;EdgeTTS(edgetts)* · FishTTS · XTTS · CosyVoice · Tencent · Doubao · Azure · Aliyun · Omni · SoVITS · Qwen …（共 12 种）&lt;/Text&gt;&#10;        &lt;/Box&gt;&#10;&lt;Box style={{ position: 'absolute', top: 155, left: 816, width: 320, height: 140, background: 'rgba(255,255,255,0.94)', border: '1.5px solid #2563EB', borderRadius: 12, padding: 12, flexDirection: 'column', gap: 5 }}&gt;&#10;            &lt;Box style={{ flexDirection: 'row', alignItems: 'center', gap: 8 }}&gt;&#10;                &lt;Text style={{ fontSize: 18, fontWeight: 'bold', color: '#2563EB' }}&gt;BaseOutput&lt;/Text&gt;&#10;                &lt;Box style={{ background: 'rgba(37,99,235,0.15)', borderRadius: 6, padding: '2px 8px' }}&gt;&lt;Text style={{ fontSize: 11, color: '#2563EB' }}&gt;基类&lt;/Text&gt;&lt;/Box&gt;&#10;            &lt;/Box&gt;&#10;            &lt;Text style={{ fontSize: 12, color: '#64748B' }}&gt;└ 继承实现 · @register('streamout')&lt;/Text&gt;&#10;            &lt;Text style={{ fontSize: 12.5, color: '#1E293B', lineHeight: 1.4 }}&gt;WebRTCOutput(webrtc/rtcpush) · RTMPOutput · LiveKitOutput · VirtualCamOutput&lt;/Text&gt;&#10;        &lt;/Box&gt;&#10;&lt;Box style={{ position: 'absolute', top: 155, left: 0, width: 320, height: 140, background: 'rgba(255,255,255,0.94)', border: '1.5px solid #0891B2', borderRadius: 12, padding: 12, flexDirection: 'column', gap: 5 }}&gt;&#10;            &lt;Box style={{ flexDirection: 'row', alignItems: 'center', gap: 8 }}&gt;&#10;                &lt;Text style={{ fontSize: 18, fontWeight: 'bold', color: '#0891B2' }}&gt;BaseASR&lt;/Text&gt;&#10;                &lt;Box style={{ background: 'rgba(8,145,178,0.15)', borderRadius: 6, padding: '2px 8px' }}&gt;&lt;Text style={{ fontSize: 11, color: '#0891B2' }}&gt;基类&lt;/Text&gt;&lt;/Box&gt;&#10;            &lt;/Box&gt;&#10;            &lt;Text style={{ fontSize: 12, color: '#64748B' }}&gt;└ 继承实现 · 各模型子类 __init__ 直接 new&lt;/Text&gt;&#10;            &lt;Text style={{ fontSize: 12.5, color: '#1E293B', lineHeight: 1.4 }}&gt;MelASR · WhisperASR · HubertASR · WenetASR&lt;/Text&gt;&#10;        &lt;/Box&gt;&#10;&lt;Box style={{ position: 'absolute', top: 320, left: 388, width: 360, height: 130, background: 'rgba(255,255,255,0.94)', border: '1.5px solid #7C3AED', borderRadius: 12, padding: 12, flexDirection: 'column', gap: 5 }}&gt;&#10;            &lt;Box style={{ flexDirection: 'row', alignItems: 'center', gap: 8 }}&gt;&#10;                &lt;Text style={{ fontSize: 16, fontWeight: 'bold', color: '#7C3AED' }}&gt;数字人模型（继承 BaseAvatar）&lt;/Text&gt;&#10;                &lt;Box style={{ background: 'rgba(124,58,237,0.15)', borderRadius: 6, padding: '2px 8px' }}&gt;&lt;Text style={{ fontSize: 11, color: '#7C3AED' }}&gt;@register('avatar')&lt;/Text&gt;&lt;/Box&gt;&#10;            &lt;/Box&gt;&#10;            &lt;Text style={{ fontSize: 12.5, color: '#1E293B', lineHeight: 1.5 }}&gt;LipReal(wav2lip) · MuseReal(musetalk) · LightReal(ultralight) · DinetReal(dinet) · LipLsReal(wav2lipls)&lt;/Text&gt;&#10;        &lt;/Box&gt;&#10;&lt;Box style={{ position: 'absolute', top: 155, left: 378, width: 380, height: 140, background: 'rgba(255,255,255,0.97)', border: '2.5px solid #EA580C', borderRadius: 14, padding: 14, flexDirection: 'column', gap: 4, justifyContent: 'center' }}&gt;&#10;            &lt;Text style={{ fontSize: 23, fontWeight: 'bold', color: '#EA580C' }}&gt;BaseAvatar&lt;/Text&gt;&#10;            &lt;Text style={{ fontSize: 11.5, color: '#64748B' }}&gt;avatars/base_avatar.py · 统一编排入口&lt;/Text&gt;&#10;            &lt;Box style={{ height: 1, background: 'rgba(234,88,12,0.25)', margin: '3px 0' }} /&gt;&#10;            &lt;Text style={{ fontSize: 12, color: '#1E293B', lineHeight: 1.5 }}&gt;render() → tts.render() · asr.run_step()&lt;/Text&gt;&#10;            &lt;Text style={{ fontSize: 12, color: '#1E293B', lineHeight: 1.5 }}&gt;put_msg_txt() → tts · put_audio_frame() → asr&lt;/Text&gt;&#10;            &lt;Text style={{ fontSize: 12, color: '#1E293B', lineHeight: 1.5 }}&gt;process_frames() → output.push_*()&lt;/Text&gt;&#10;        &lt;/Box&gt;&#10;&#10;&lt;Box style={{ position: 'absolute', top: 135, left: 568, width: 2, height: 20, background: '#2563EB' }} /&gt;&#10;        &lt;Box style={{ position: 'absolute', top: 140, left: 580, flexDirection: 'column' }}&gt;&#10;            &lt;Text style={{ fontSize: 12, fontWeight: 'bold', color: '#2563EB' }}&gt;① 组合 has-a&lt;/Text&gt;&#10;            &lt;Text style={{ fontSize: 11, color: '#2563EB' }}&gt;self.tts = registry.create('tts')&lt;/Text&gt;&#10;        &lt;/Box&gt;&#10;&lt;Box style={{ position: 'absolute', top: 224, left: 758, width: 58, height: 2, background: '#2563EB' }} /&gt;&#10;        &lt;Box style={{ position: 'absolute', top: 208, left: 762, flexDirection: 'column' }}&gt;&#10;            &lt;Text style={{ fontSize: 12, fontWeight: 'bold', color: '#2563EB' }}&gt;② 组合 has-a&lt;/Text&gt;&#10;            &lt;Text style={{ fontSize: 11, color: '#2563EB' }}&gt;self.output = registry.create('streamout')&lt;/Text&gt;&#10;        &lt;/Box&gt;&#10;&lt;Box style={{ position: 'absolute', top: 224, left: 320, width: 58, height: 2, background: '#2563EB' }} /&gt;&#10;        &lt;Box style={{ position: 'absolute', top: 208, left: 326, flexDirection: 'column' }}&gt;&#10;            &lt;Text style={{ fontSize: 12, fontWeight: 'bold', color: '#2563EB' }}&gt;③ 组合 has-a&lt;/Text&gt;&#10;            &lt;Text style={{ fontSize: 11, color: '#2563EB' }}&gt;self.asr = …（子类 __init__）&lt;/Text&gt;&#10;        &lt;/Box&gt;&#10;&lt;Box style={{ position: 'absolute', top: 295, left: 568, width: 2, height: 25, background: '#7C3AED' }} /&gt;&#10;        &lt;Box style={{ position: 'absolute', top: 300, left: 580, flexDirection: 'column' }}&gt;&#10;            &lt;Text style={{ fontSize: 12, fontWeight: 'bold', color: '#7C3AED' }}&gt;④ 继承 is-a&lt;/Text&gt;&#10;            &lt;Text style={{ fontSize: 11, color: '#7C3AED' }}&gt;extends BaseAvatar&lt;/Text&gt;&#10;        &lt;/Box&gt;&#10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5" name="图片 48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86" name="文本框 485" descr="{&quot;isTemplate&quot;:true,&quot;type&quot;:&quot;text&quot;}"/>
          <p:cNvSpPr txBox="1"/>
          <p:nvPr/>
        </p:nvSpPr>
        <p:spPr>
          <a:xfrm>
            <a:off x="685800" y="885825"/>
            <a:ext cx="1082040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类调用关系：以</a:t>
            </a:r>
            <a:r>
              <a:rPr lang="en-US" sz="2550" b="1">
                <a:solidFill>
                  <a:srgbClr val="1E293B"/>
                </a:solidFill>
                <a:latin typeface="Microsoft YaHei"/>
                <a:ea typeface="Microsoft YaHei"/>
              </a:rPr>
              <a:t> BaseAvatar </a:t>
            </a: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为中心</a:t>
            </a:r>
            <a:endParaRPr/>
          </a:p>
        </p:txBody>
      </p:sp>
      <p:sp>
        <p:nvSpPr>
          <p:cNvPr id="487" name="文本框 486" descr="{&quot;isTemplate&quot;:true,&quot;type&quot;:&quot;text&quot;}"/>
          <p:cNvSpPr txBox="1"/>
          <p:nvPr/>
        </p:nvSpPr>
        <p:spPr>
          <a:xfrm>
            <a:off x="685800" y="1314450"/>
            <a:ext cx="108204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组合（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>has-a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）由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> registry.create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注入插件；继承（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>is-a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）经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> @register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注册；各模型子类在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> __init__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中创建独立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> ASR</a:t>
            </a:r>
            <a:endParaRPr/>
          </a:p>
        </p:txBody>
      </p:sp>
      <p:sp>
        <p:nvSpPr>
          <p:cNvPr id="488" name="圆角矩形 487"/>
          <p:cNvSpPr/>
          <p:nvPr/>
        </p:nvSpPr>
        <p:spPr>
          <a:xfrm>
            <a:off x="4381500" y="1628775"/>
            <a:ext cx="3429000" cy="1238250"/>
          </a:xfrm>
          <a:prstGeom prst="roundRect">
            <a:avLst>
              <a:gd name="adj" fmla="val 9231"/>
            </a:avLst>
          </a:prstGeom>
          <a:solidFill>
            <a:srgbClr val="FFFFFF">
              <a:alpha val="94000"/>
            </a:srgbClr>
          </a:solidFill>
          <a:ln w="19050">
            <a:solidFill>
              <a:srgbClr val="0891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9" name="文本框 488" descr="{&quot;isTemplate&quot;:true,&quot;type&quot;:&quot;text&quot;}"/>
          <p:cNvSpPr txBox="1"/>
          <p:nvPr/>
        </p:nvSpPr>
        <p:spPr>
          <a:xfrm>
            <a:off x="4495800" y="1743075"/>
            <a:ext cx="6858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891B2"/>
                </a:solidFill>
                <a:latin typeface="Microsoft YaHei"/>
                <a:ea typeface="Microsoft YaHei"/>
              </a:rPr>
              <a:t>BaseTTS</a:t>
            </a:r>
            <a:endParaRPr/>
          </a:p>
        </p:txBody>
      </p:sp>
      <p:sp>
        <p:nvSpPr>
          <p:cNvPr id="490" name="圆角矩形 489"/>
          <p:cNvSpPr/>
          <p:nvPr/>
        </p:nvSpPr>
        <p:spPr>
          <a:xfrm>
            <a:off x="5257800" y="1762125"/>
            <a:ext cx="361950" cy="171450"/>
          </a:xfrm>
          <a:prstGeom prst="roundRect">
            <a:avLst>
              <a:gd name="adj" fmla="val 33333"/>
            </a:avLst>
          </a:prstGeom>
          <a:solidFill>
            <a:srgbClr val="0891B2">
              <a:alpha val="1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91" name="文本框 490" descr="{&quot;isTemplate&quot;:true,&quot;type&quot;:&quot;text&quot;}"/>
          <p:cNvSpPr txBox="1"/>
          <p:nvPr/>
        </p:nvSpPr>
        <p:spPr>
          <a:xfrm>
            <a:off x="5334000" y="1781175"/>
            <a:ext cx="2095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25">
                <a:solidFill>
                  <a:srgbClr val="0891B2"/>
                </a:solidFill>
                <a:latin typeface="Microsoft YaHei"/>
                <a:ea typeface="Microsoft YaHei"/>
              </a:rPr>
              <a:t>基类</a:t>
            </a:r>
            <a:endParaRPr/>
          </a:p>
        </p:txBody>
      </p:sp>
      <p:sp>
        <p:nvSpPr>
          <p:cNvPr id="492" name="文本框 491" descr="{&quot;isTemplate&quot;:true,&quot;type&quot;:&quot;text&quot;}"/>
          <p:cNvSpPr txBox="1"/>
          <p:nvPr/>
        </p:nvSpPr>
        <p:spPr>
          <a:xfrm>
            <a:off x="4495800" y="2000250"/>
            <a:ext cx="32004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└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继承实现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· @register('tts')</a:t>
            </a:r>
            <a:endParaRPr/>
          </a:p>
        </p:txBody>
      </p:sp>
      <p:sp>
        <p:nvSpPr>
          <p:cNvPr id="493" name="文本框 492" descr="{&quot;isTemplate&quot;:true,&quot;type&quot;:&quot;text&quot;}"/>
          <p:cNvSpPr txBox="1"/>
          <p:nvPr/>
        </p:nvSpPr>
        <p:spPr>
          <a:xfrm>
            <a:off x="4495800" y="2190750"/>
            <a:ext cx="3200400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938" dirty="0" err="1">
                <a:solidFill>
                  <a:srgbClr val="1E293B"/>
                </a:solidFill>
                <a:latin typeface="Microsoft YaHei"/>
                <a:ea typeface="Microsoft YaHei"/>
              </a:rPr>
              <a:t>EdgeTTS</a:t>
            </a:r>
            <a:r>
              <a:rPr lang="en-US" sz="938" dirty="0">
                <a:solidFill>
                  <a:srgbClr val="1E293B"/>
                </a:solidFill>
                <a:latin typeface="Microsoft YaHei"/>
                <a:ea typeface="Microsoft YaHei"/>
              </a:rPr>
              <a:t>(</a:t>
            </a:r>
            <a:r>
              <a:rPr lang="en-US" sz="938" dirty="0" err="1">
                <a:solidFill>
                  <a:srgbClr val="1E293B"/>
                </a:solidFill>
                <a:latin typeface="Microsoft YaHei"/>
                <a:ea typeface="Microsoft YaHei"/>
              </a:rPr>
              <a:t>edgetts</a:t>
            </a:r>
            <a:r>
              <a:rPr lang="en-US" sz="938" dirty="0">
                <a:solidFill>
                  <a:srgbClr val="1E293B"/>
                </a:solidFill>
                <a:latin typeface="Microsoft YaHei"/>
                <a:ea typeface="Microsoft YaHei"/>
              </a:rPr>
              <a:t>)* · </a:t>
            </a:r>
            <a:r>
              <a:rPr lang="en-US" sz="938" dirty="0" err="1">
                <a:solidFill>
                  <a:srgbClr val="1E293B"/>
                </a:solidFill>
                <a:latin typeface="Microsoft YaHei"/>
                <a:ea typeface="Microsoft YaHei"/>
              </a:rPr>
              <a:t>FishTTS</a:t>
            </a:r>
            <a:r>
              <a:rPr lang="en-US" sz="938" dirty="0">
                <a:solidFill>
                  <a:srgbClr val="1E293B"/>
                </a:solidFill>
                <a:latin typeface="Microsoft YaHei"/>
                <a:ea typeface="Microsoft YaHei"/>
              </a:rPr>
              <a:t> · XTTS · </a:t>
            </a:r>
            <a:r>
              <a:rPr lang="en-US" sz="938" dirty="0" err="1">
                <a:solidFill>
                  <a:srgbClr val="1E293B"/>
                </a:solidFill>
                <a:latin typeface="Microsoft YaHei"/>
                <a:ea typeface="Microsoft YaHei"/>
              </a:rPr>
              <a:t>CosyVoice</a:t>
            </a:r>
            <a:r>
              <a:rPr lang="en-US" sz="938" dirty="0">
                <a:solidFill>
                  <a:srgbClr val="1E293B"/>
                </a:solidFill>
                <a:latin typeface="Microsoft YaHei"/>
                <a:ea typeface="Microsoft YaHei"/>
              </a:rPr>
              <a:t> · Tencent · </a:t>
            </a:r>
            <a:r>
              <a:rPr lang="en-US" sz="938" dirty="0" err="1">
                <a:solidFill>
                  <a:srgbClr val="1E293B"/>
                </a:solidFill>
                <a:latin typeface="Microsoft YaHei"/>
                <a:ea typeface="Microsoft YaHei"/>
              </a:rPr>
              <a:t>Doubao</a:t>
            </a:r>
            <a:r>
              <a:rPr lang="en-US" sz="938" dirty="0">
                <a:solidFill>
                  <a:srgbClr val="1E293B"/>
                </a:solidFill>
                <a:latin typeface="Microsoft YaHei"/>
                <a:ea typeface="Microsoft YaHei"/>
              </a:rPr>
              <a:t> · Azure  · Omni · </a:t>
            </a:r>
            <a:r>
              <a:rPr lang="en-US" sz="938" dirty="0" err="1">
                <a:solidFill>
                  <a:srgbClr val="1E293B"/>
                </a:solidFill>
                <a:latin typeface="Microsoft YaHei"/>
                <a:ea typeface="Microsoft YaHei"/>
              </a:rPr>
              <a:t>SoVITS</a:t>
            </a:r>
            <a:r>
              <a:rPr lang="en-US" sz="938" dirty="0">
                <a:solidFill>
                  <a:srgbClr val="1E293B"/>
                </a:solidFill>
                <a:latin typeface="Microsoft YaHei"/>
                <a:ea typeface="Microsoft YaHei"/>
              </a:rPr>
              <a:t> · </a:t>
            </a:r>
            <a:r>
              <a:rPr lang="en-US" sz="938" dirty="0" err="1">
                <a:solidFill>
                  <a:srgbClr val="1E293B"/>
                </a:solidFill>
                <a:latin typeface="Microsoft YaHei"/>
                <a:ea typeface="Microsoft YaHei"/>
              </a:rPr>
              <a:t>Qwen</a:t>
            </a:r>
            <a:r>
              <a:rPr lang="en-US" sz="938" dirty="0">
                <a:solidFill>
                  <a:srgbClr val="1E293B"/>
                </a:solidFill>
                <a:latin typeface="Microsoft YaHei"/>
                <a:ea typeface="Microsoft YaHei"/>
              </a:rPr>
              <a:t> …</a:t>
            </a:r>
            <a:r>
              <a:rPr lang="zh-CN" sz="938" dirty="0">
                <a:solidFill>
                  <a:srgbClr val="1E293B"/>
                </a:solidFill>
                <a:latin typeface="Microsoft YaHei"/>
                <a:ea typeface="Microsoft YaHei"/>
              </a:rPr>
              <a:t>（共</a:t>
            </a:r>
            <a:r>
              <a:rPr lang="en-US" sz="938" dirty="0">
                <a:solidFill>
                  <a:srgbClr val="1E293B"/>
                </a:solidFill>
                <a:latin typeface="Microsoft YaHei"/>
                <a:ea typeface="Microsoft YaHei"/>
              </a:rPr>
              <a:t> 11 </a:t>
            </a:r>
            <a:r>
              <a:rPr lang="zh-CN" sz="938" dirty="0">
                <a:solidFill>
                  <a:srgbClr val="1E293B"/>
                </a:solidFill>
                <a:latin typeface="Microsoft YaHei"/>
                <a:ea typeface="Microsoft YaHei"/>
              </a:rPr>
              <a:t>种）</a:t>
            </a:r>
            <a:endParaRPr dirty="0"/>
          </a:p>
        </p:txBody>
      </p:sp>
      <p:sp>
        <p:nvSpPr>
          <p:cNvPr id="494" name="圆角矩形 493"/>
          <p:cNvSpPr/>
          <p:nvPr/>
        </p:nvSpPr>
        <p:spPr>
          <a:xfrm>
            <a:off x="8458200" y="3057525"/>
            <a:ext cx="3048000" cy="1333500"/>
          </a:xfrm>
          <a:prstGeom prst="roundRect">
            <a:avLst>
              <a:gd name="adj" fmla="val 8571"/>
            </a:avLst>
          </a:prstGeom>
          <a:solidFill>
            <a:srgbClr val="FFFFFF">
              <a:alpha val="94000"/>
            </a:srgbClr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5" name="文本框 494" descr="{&quot;isTemplate&quot;:true,&quot;type&quot;:&quot;text&quot;}"/>
          <p:cNvSpPr txBox="1"/>
          <p:nvPr/>
        </p:nvSpPr>
        <p:spPr>
          <a:xfrm>
            <a:off x="8572500" y="3171825"/>
            <a:ext cx="9715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563EB"/>
                </a:solidFill>
                <a:latin typeface="Microsoft YaHei"/>
                <a:ea typeface="Microsoft YaHei"/>
              </a:rPr>
              <a:t>BaseOutput</a:t>
            </a:r>
            <a:endParaRPr/>
          </a:p>
        </p:txBody>
      </p:sp>
      <p:sp>
        <p:nvSpPr>
          <p:cNvPr id="496" name="圆角矩形 495"/>
          <p:cNvSpPr/>
          <p:nvPr/>
        </p:nvSpPr>
        <p:spPr>
          <a:xfrm>
            <a:off x="9620250" y="3190875"/>
            <a:ext cx="361950" cy="171450"/>
          </a:xfrm>
          <a:prstGeom prst="roundRect">
            <a:avLst>
              <a:gd name="adj" fmla="val 33333"/>
            </a:avLst>
          </a:prstGeom>
          <a:solidFill>
            <a:srgbClr val="2563EB">
              <a:alpha val="1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97" name="文本框 496" descr="{&quot;isTemplate&quot;:true,&quot;type&quot;:&quot;text&quot;}"/>
          <p:cNvSpPr txBox="1"/>
          <p:nvPr/>
        </p:nvSpPr>
        <p:spPr>
          <a:xfrm>
            <a:off x="9696450" y="3209925"/>
            <a:ext cx="2095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25">
                <a:solidFill>
                  <a:srgbClr val="2563EB"/>
                </a:solidFill>
                <a:latin typeface="Microsoft YaHei"/>
                <a:ea typeface="Microsoft YaHei"/>
              </a:rPr>
              <a:t>基类</a:t>
            </a:r>
            <a:endParaRPr/>
          </a:p>
        </p:txBody>
      </p:sp>
      <p:sp>
        <p:nvSpPr>
          <p:cNvPr id="498" name="文本框 497" descr="{&quot;isTemplate&quot;:true,&quot;type&quot;:&quot;text&quot;}"/>
          <p:cNvSpPr txBox="1"/>
          <p:nvPr/>
        </p:nvSpPr>
        <p:spPr>
          <a:xfrm>
            <a:off x="8572500" y="3429000"/>
            <a:ext cx="28194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└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继承实现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· @register('streamout')</a:t>
            </a:r>
            <a:endParaRPr/>
          </a:p>
        </p:txBody>
      </p:sp>
      <p:sp>
        <p:nvSpPr>
          <p:cNvPr id="499" name="文本框 498" descr="{&quot;isTemplate&quot;:true,&quot;type&quot;:&quot;text&quot;}"/>
          <p:cNvSpPr txBox="1"/>
          <p:nvPr/>
        </p:nvSpPr>
        <p:spPr>
          <a:xfrm>
            <a:off x="8572500" y="3619500"/>
            <a:ext cx="2819400" cy="4000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938" dirty="0" err="1">
                <a:solidFill>
                  <a:srgbClr val="1E293B"/>
                </a:solidFill>
                <a:latin typeface="Microsoft YaHei"/>
                <a:ea typeface="Microsoft YaHei"/>
              </a:rPr>
              <a:t>WebRTCOutput</a:t>
            </a:r>
            <a:r>
              <a:rPr lang="en-US" sz="938" dirty="0">
                <a:solidFill>
                  <a:srgbClr val="1E293B"/>
                </a:solidFill>
                <a:latin typeface="Microsoft YaHei"/>
                <a:ea typeface="Microsoft YaHei"/>
              </a:rPr>
              <a:t>(</a:t>
            </a:r>
            <a:r>
              <a:rPr lang="en-US" sz="938" dirty="0" err="1">
                <a:solidFill>
                  <a:srgbClr val="1E293B"/>
                </a:solidFill>
                <a:latin typeface="Microsoft YaHei"/>
                <a:ea typeface="Microsoft YaHei"/>
              </a:rPr>
              <a:t>webrtc</a:t>
            </a:r>
            <a:r>
              <a:rPr lang="en-US" sz="938" dirty="0">
                <a:solidFill>
                  <a:srgbClr val="1E293B"/>
                </a:solidFill>
                <a:latin typeface="Microsoft YaHei"/>
                <a:ea typeface="Microsoft YaHei"/>
              </a:rPr>
              <a:t>/</a:t>
            </a:r>
            <a:r>
              <a:rPr lang="en-US" sz="938" dirty="0" err="1">
                <a:solidFill>
                  <a:srgbClr val="1E293B"/>
                </a:solidFill>
                <a:latin typeface="Microsoft YaHei"/>
                <a:ea typeface="Microsoft YaHei"/>
              </a:rPr>
              <a:t>rtcpush</a:t>
            </a:r>
            <a:r>
              <a:rPr lang="en-US" sz="938" dirty="0">
                <a:solidFill>
                  <a:srgbClr val="1E293B"/>
                </a:solidFill>
                <a:latin typeface="Microsoft YaHei"/>
                <a:ea typeface="Microsoft YaHei"/>
              </a:rPr>
              <a:t>) · </a:t>
            </a:r>
            <a:r>
              <a:rPr lang="en-US" sz="938" dirty="0" err="1">
                <a:solidFill>
                  <a:srgbClr val="1E293B"/>
                </a:solidFill>
                <a:latin typeface="Microsoft YaHei"/>
                <a:ea typeface="Microsoft YaHei"/>
              </a:rPr>
              <a:t>RTMPOutput</a:t>
            </a:r>
            <a:r>
              <a:rPr lang="en-US" sz="938" dirty="0">
                <a:solidFill>
                  <a:srgbClr val="1E293B"/>
                </a:solidFill>
                <a:latin typeface="Microsoft YaHei"/>
                <a:ea typeface="Microsoft YaHei"/>
              </a:rPr>
              <a:t> ·  </a:t>
            </a:r>
            <a:r>
              <a:rPr lang="en-US" sz="938" dirty="0" err="1">
                <a:solidFill>
                  <a:srgbClr val="1E293B"/>
                </a:solidFill>
                <a:latin typeface="Microsoft YaHei"/>
                <a:ea typeface="Microsoft YaHei"/>
              </a:rPr>
              <a:t>VirtualCamOutput</a:t>
            </a:r>
            <a:endParaRPr dirty="0"/>
          </a:p>
        </p:txBody>
      </p:sp>
      <p:sp>
        <p:nvSpPr>
          <p:cNvPr id="500" name="圆角矩形 499"/>
          <p:cNvSpPr/>
          <p:nvPr/>
        </p:nvSpPr>
        <p:spPr>
          <a:xfrm>
            <a:off x="685800" y="3057525"/>
            <a:ext cx="3048000" cy="1333500"/>
          </a:xfrm>
          <a:prstGeom prst="roundRect">
            <a:avLst>
              <a:gd name="adj" fmla="val 8571"/>
            </a:avLst>
          </a:prstGeom>
          <a:solidFill>
            <a:srgbClr val="FFFFFF">
              <a:alpha val="94000"/>
            </a:srgbClr>
          </a:solidFill>
          <a:ln w="19050">
            <a:solidFill>
              <a:srgbClr val="0891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1" name="文本框 500" descr="{&quot;isTemplate&quot;:true,&quot;type&quot;:&quot;text&quot;}"/>
          <p:cNvSpPr txBox="1"/>
          <p:nvPr/>
        </p:nvSpPr>
        <p:spPr>
          <a:xfrm>
            <a:off x="800100" y="3171825"/>
            <a:ext cx="71437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891B2"/>
                </a:solidFill>
                <a:latin typeface="Microsoft YaHei"/>
                <a:ea typeface="Microsoft YaHei"/>
              </a:rPr>
              <a:t>BaseASR</a:t>
            </a:r>
            <a:endParaRPr/>
          </a:p>
        </p:txBody>
      </p:sp>
      <p:sp>
        <p:nvSpPr>
          <p:cNvPr id="502" name="圆角矩形 501"/>
          <p:cNvSpPr/>
          <p:nvPr/>
        </p:nvSpPr>
        <p:spPr>
          <a:xfrm>
            <a:off x="1590675" y="3190875"/>
            <a:ext cx="361950" cy="171450"/>
          </a:xfrm>
          <a:prstGeom prst="roundRect">
            <a:avLst>
              <a:gd name="adj" fmla="val 33333"/>
            </a:avLst>
          </a:prstGeom>
          <a:solidFill>
            <a:srgbClr val="0891B2">
              <a:alpha val="1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03" name="文本框 502" descr="{&quot;isTemplate&quot;:true,&quot;type&quot;:&quot;text&quot;}"/>
          <p:cNvSpPr txBox="1"/>
          <p:nvPr/>
        </p:nvSpPr>
        <p:spPr>
          <a:xfrm>
            <a:off x="1666875" y="3209925"/>
            <a:ext cx="2095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25">
                <a:solidFill>
                  <a:srgbClr val="0891B2"/>
                </a:solidFill>
                <a:latin typeface="Microsoft YaHei"/>
                <a:ea typeface="Microsoft YaHei"/>
              </a:rPr>
              <a:t>基类</a:t>
            </a:r>
            <a:endParaRPr/>
          </a:p>
        </p:txBody>
      </p:sp>
      <p:sp>
        <p:nvSpPr>
          <p:cNvPr id="504" name="文本框 503" descr="{&quot;isTemplate&quot;:true,&quot;type&quot;:&quot;text&quot;}"/>
          <p:cNvSpPr txBox="1"/>
          <p:nvPr/>
        </p:nvSpPr>
        <p:spPr>
          <a:xfrm>
            <a:off x="800100" y="3429000"/>
            <a:ext cx="28194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└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继承实现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各模型子类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__init__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直接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new</a:t>
            </a:r>
            <a:endParaRPr/>
          </a:p>
        </p:txBody>
      </p:sp>
      <p:sp>
        <p:nvSpPr>
          <p:cNvPr id="505" name="文本框 504" descr="{&quot;isTemplate&quot;:true,&quot;type&quot;:&quot;text&quot;}"/>
          <p:cNvSpPr txBox="1"/>
          <p:nvPr/>
        </p:nvSpPr>
        <p:spPr>
          <a:xfrm>
            <a:off x="800100" y="3619500"/>
            <a:ext cx="28194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en-US" sz="938" dirty="0" err="1">
                <a:solidFill>
                  <a:srgbClr val="1E293B"/>
                </a:solidFill>
                <a:latin typeface="Microsoft YaHei"/>
                <a:ea typeface="Microsoft YaHei"/>
              </a:rPr>
              <a:t>MelASR</a:t>
            </a:r>
            <a:r>
              <a:rPr lang="en-US" sz="938" dirty="0">
                <a:solidFill>
                  <a:srgbClr val="1E293B"/>
                </a:solidFill>
                <a:latin typeface="Microsoft YaHei"/>
                <a:ea typeface="Microsoft YaHei"/>
              </a:rPr>
              <a:t> · </a:t>
            </a:r>
            <a:r>
              <a:rPr lang="en-US" sz="938" dirty="0" err="1">
                <a:solidFill>
                  <a:srgbClr val="1E293B"/>
                </a:solidFill>
                <a:latin typeface="Microsoft YaHei"/>
                <a:ea typeface="Microsoft YaHei"/>
              </a:rPr>
              <a:t>WhisperASR</a:t>
            </a:r>
            <a:r>
              <a:rPr lang="en-US" sz="938" dirty="0">
                <a:solidFill>
                  <a:srgbClr val="1E293B"/>
                </a:solidFill>
                <a:latin typeface="Microsoft YaHei"/>
                <a:ea typeface="Microsoft YaHei"/>
              </a:rPr>
              <a:t> · </a:t>
            </a:r>
            <a:r>
              <a:rPr lang="en-US" sz="938" dirty="0" err="1">
                <a:solidFill>
                  <a:srgbClr val="1E293B"/>
                </a:solidFill>
                <a:latin typeface="Microsoft YaHei"/>
                <a:ea typeface="Microsoft YaHei"/>
              </a:rPr>
              <a:t>HubertASR</a:t>
            </a:r>
            <a:r>
              <a:rPr lang="en-US" sz="938" dirty="0">
                <a:solidFill>
                  <a:srgbClr val="1E293B"/>
                </a:solidFill>
                <a:latin typeface="Microsoft YaHei"/>
                <a:ea typeface="Microsoft YaHei"/>
              </a:rPr>
              <a:t> </a:t>
            </a:r>
            <a:endParaRPr dirty="0"/>
          </a:p>
        </p:txBody>
      </p:sp>
      <p:sp>
        <p:nvSpPr>
          <p:cNvPr id="506" name="圆角矩形 505"/>
          <p:cNvSpPr/>
          <p:nvPr/>
        </p:nvSpPr>
        <p:spPr>
          <a:xfrm>
            <a:off x="4381500" y="4629150"/>
            <a:ext cx="3429000" cy="1238250"/>
          </a:xfrm>
          <a:prstGeom prst="roundRect">
            <a:avLst>
              <a:gd name="adj" fmla="val 9231"/>
            </a:avLst>
          </a:prstGeom>
          <a:solidFill>
            <a:srgbClr val="FFFFFF">
              <a:alpha val="94000"/>
            </a:srgbClr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7" name="文本框 506" descr="{&quot;isTemplate&quot;:true,&quot;type&quot;:&quot;text&quot;}"/>
          <p:cNvSpPr txBox="1"/>
          <p:nvPr/>
        </p:nvSpPr>
        <p:spPr>
          <a:xfrm>
            <a:off x="4495800" y="4743450"/>
            <a:ext cx="210502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7C3AED"/>
                </a:solidFill>
                <a:latin typeface="Microsoft YaHei"/>
                <a:ea typeface="Microsoft YaHei"/>
              </a:rPr>
              <a:t>数字人模型（继承</a:t>
            </a:r>
            <a:r>
              <a:rPr lang="en-US" sz="1200" b="1">
                <a:solidFill>
                  <a:srgbClr val="7C3AED"/>
                </a:solidFill>
                <a:latin typeface="Microsoft YaHei"/>
                <a:ea typeface="Microsoft YaHei"/>
              </a:rPr>
              <a:t> BaseAvatar</a:t>
            </a:r>
            <a:r>
              <a:rPr lang="zh-CN" sz="1200" b="1">
                <a:solidFill>
                  <a:srgbClr val="7C3AED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508" name="圆角矩形 507"/>
          <p:cNvSpPr/>
          <p:nvPr/>
        </p:nvSpPr>
        <p:spPr>
          <a:xfrm>
            <a:off x="6677025" y="4752975"/>
            <a:ext cx="1019175" cy="171450"/>
          </a:xfrm>
          <a:prstGeom prst="roundRect">
            <a:avLst>
              <a:gd name="adj" fmla="val 33333"/>
            </a:avLst>
          </a:prstGeom>
          <a:solidFill>
            <a:srgbClr val="7C3AED">
              <a:alpha val="1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09" name="文本框 508" descr="{&quot;isTemplate&quot;:true,&quot;type&quot;:&quot;text&quot;}"/>
          <p:cNvSpPr txBox="1"/>
          <p:nvPr/>
        </p:nvSpPr>
        <p:spPr>
          <a:xfrm>
            <a:off x="6753225" y="4772025"/>
            <a:ext cx="923925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>
                <a:solidFill>
                  <a:srgbClr val="7C3AED"/>
                </a:solidFill>
                <a:latin typeface="Microsoft YaHei"/>
                <a:ea typeface="Microsoft YaHei"/>
              </a:rPr>
              <a:t>@register('avatar')</a:t>
            </a:r>
            <a:endParaRPr/>
          </a:p>
        </p:txBody>
      </p:sp>
      <p:sp>
        <p:nvSpPr>
          <p:cNvPr id="510" name="文本框 509" descr="{&quot;isTemplate&quot;:true,&quot;type&quot;:&quot;text&quot;}"/>
          <p:cNvSpPr txBox="1"/>
          <p:nvPr/>
        </p:nvSpPr>
        <p:spPr>
          <a:xfrm>
            <a:off x="4495800" y="4981575"/>
            <a:ext cx="3200400" cy="6477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938" dirty="0" err="1">
                <a:solidFill>
                  <a:srgbClr val="1E293B"/>
                </a:solidFill>
                <a:latin typeface="Microsoft YaHei"/>
                <a:ea typeface="Microsoft YaHei"/>
              </a:rPr>
              <a:t>LipReal</a:t>
            </a:r>
            <a:r>
              <a:rPr lang="en-US" sz="938" dirty="0">
                <a:solidFill>
                  <a:srgbClr val="1E293B"/>
                </a:solidFill>
                <a:latin typeface="Microsoft YaHei"/>
                <a:ea typeface="Microsoft YaHei"/>
              </a:rPr>
              <a:t>(wav2lip) · </a:t>
            </a:r>
            <a:r>
              <a:rPr lang="en-US" sz="938" dirty="0" err="1">
                <a:solidFill>
                  <a:srgbClr val="1E293B"/>
                </a:solidFill>
                <a:latin typeface="Microsoft YaHei"/>
                <a:ea typeface="Microsoft YaHei"/>
              </a:rPr>
              <a:t>MuseReal</a:t>
            </a:r>
            <a:r>
              <a:rPr lang="en-US" sz="938" dirty="0">
                <a:solidFill>
                  <a:srgbClr val="1E293B"/>
                </a:solidFill>
                <a:latin typeface="Microsoft YaHei"/>
                <a:ea typeface="Microsoft YaHei"/>
              </a:rPr>
              <a:t>(</a:t>
            </a:r>
            <a:r>
              <a:rPr lang="en-US" sz="938" dirty="0" err="1">
                <a:solidFill>
                  <a:srgbClr val="1E293B"/>
                </a:solidFill>
                <a:latin typeface="Microsoft YaHei"/>
                <a:ea typeface="Microsoft YaHei"/>
              </a:rPr>
              <a:t>musetalk</a:t>
            </a:r>
            <a:r>
              <a:rPr lang="en-US" sz="938" dirty="0">
                <a:solidFill>
                  <a:srgbClr val="1E293B"/>
                </a:solidFill>
                <a:latin typeface="Microsoft YaHei"/>
                <a:ea typeface="Microsoft YaHei"/>
              </a:rPr>
              <a:t>) · </a:t>
            </a:r>
            <a:r>
              <a:rPr lang="en-US" sz="938" dirty="0" err="1">
                <a:solidFill>
                  <a:srgbClr val="1E293B"/>
                </a:solidFill>
                <a:latin typeface="Microsoft YaHei"/>
                <a:ea typeface="Microsoft YaHei"/>
              </a:rPr>
              <a:t>LightReal</a:t>
            </a:r>
            <a:r>
              <a:rPr lang="en-US" sz="938" dirty="0">
                <a:solidFill>
                  <a:srgbClr val="1E293B"/>
                </a:solidFill>
                <a:latin typeface="Microsoft YaHei"/>
                <a:ea typeface="Microsoft YaHei"/>
              </a:rPr>
              <a:t>(ultralight) </a:t>
            </a:r>
            <a:endParaRPr dirty="0"/>
          </a:p>
        </p:txBody>
      </p:sp>
      <p:sp>
        <p:nvSpPr>
          <p:cNvPr id="511" name="圆角矩形 510"/>
          <p:cNvSpPr/>
          <p:nvPr/>
        </p:nvSpPr>
        <p:spPr>
          <a:xfrm>
            <a:off x="4286250" y="3057525"/>
            <a:ext cx="3619500" cy="1333500"/>
          </a:xfrm>
          <a:prstGeom prst="roundRect">
            <a:avLst>
              <a:gd name="adj" fmla="val 10000"/>
            </a:avLst>
          </a:prstGeom>
          <a:solidFill>
            <a:srgbClr val="FFFFFF">
              <a:alpha val="97000"/>
            </a:srgbClr>
          </a:solidFill>
          <a:ln w="3175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2" name="文本框 511" descr="{&quot;isTemplate&quot;:true,&quot;type&quot;:&quot;text&quot;}"/>
          <p:cNvSpPr txBox="1"/>
          <p:nvPr/>
        </p:nvSpPr>
        <p:spPr>
          <a:xfrm>
            <a:off x="4419600" y="3086100"/>
            <a:ext cx="335280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725" b="1">
                <a:solidFill>
                  <a:srgbClr val="EA580C"/>
                </a:solidFill>
                <a:latin typeface="Microsoft YaHei"/>
                <a:ea typeface="Microsoft YaHei"/>
              </a:rPr>
              <a:t>BaseAvatar</a:t>
            </a:r>
            <a:endParaRPr/>
          </a:p>
        </p:txBody>
      </p:sp>
      <p:sp>
        <p:nvSpPr>
          <p:cNvPr id="513" name="文本框 512" descr="{&quot;isTemplate&quot;:true,&quot;type&quot;:&quot;text&quot;}"/>
          <p:cNvSpPr txBox="1"/>
          <p:nvPr/>
        </p:nvSpPr>
        <p:spPr>
          <a:xfrm>
            <a:off x="4419600" y="3390900"/>
            <a:ext cx="335280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63">
                <a:solidFill>
                  <a:srgbClr val="64748B"/>
                </a:solidFill>
                <a:latin typeface="Microsoft YaHei"/>
                <a:ea typeface="Microsoft YaHei"/>
              </a:rPr>
              <a:t>avatars/base_avatar.py · </a:t>
            </a:r>
            <a:r>
              <a:rPr lang="zh-CN" sz="863">
                <a:solidFill>
                  <a:srgbClr val="64748B"/>
                </a:solidFill>
                <a:latin typeface="Microsoft YaHei"/>
                <a:ea typeface="Microsoft YaHei"/>
              </a:rPr>
              <a:t>统一编排入口</a:t>
            </a:r>
            <a:endParaRPr/>
          </a:p>
        </p:txBody>
      </p:sp>
      <p:sp>
        <p:nvSpPr>
          <p:cNvPr id="514" name="矩形 513"/>
          <p:cNvSpPr/>
          <p:nvPr/>
        </p:nvSpPr>
        <p:spPr>
          <a:xfrm>
            <a:off x="4419600" y="3590925"/>
            <a:ext cx="3352800" cy="9525"/>
          </a:xfrm>
          <a:prstGeom prst="rect">
            <a:avLst/>
          </a:prstGeom>
          <a:solidFill>
            <a:srgbClr val="EA580C">
              <a:alpha val="2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15" name="文本框 514" descr="{&quot;isTemplate&quot;:true,&quot;type&quot;:&quot;text&quot;}"/>
          <p:cNvSpPr txBox="1"/>
          <p:nvPr/>
        </p:nvSpPr>
        <p:spPr>
          <a:xfrm>
            <a:off x="4419600" y="3667125"/>
            <a:ext cx="33528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en-US" sz="900">
                <a:solidFill>
                  <a:srgbClr val="1E293B"/>
                </a:solidFill>
                <a:latin typeface="Microsoft YaHei"/>
                <a:ea typeface="Microsoft YaHei"/>
              </a:rPr>
              <a:t>render() → tts.render() · asr.run_step()</a:t>
            </a:r>
            <a:endParaRPr/>
          </a:p>
        </p:txBody>
      </p:sp>
      <p:sp>
        <p:nvSpPr>
          <p:cNvPr id="516" name="文本框 515" descr="{&quot;isTemplate&quot;:true,&quot;type&quot;:&quot;text&quot;}"/>
          <p:cNvSpPr txBox="1"/>
          <p:nvPr/>
        </p:nvSpPr>
        <p:spPr>
          <a:xfrm>
            <a:off x="4419600" y="3914775"/>
            <a:ext cx="33528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en-US" sz="900">
                <a:solidFill>
                  <a:srgbClr val="1E293B"/>
                </a:solidFill>
                <a:latin typeface="Microsoft YaHei"/>
                <a:ea typeface="Microsoft YaHei"/>
              </a:rPr>
              <a:t>put_msg_txt() → tts · put_audio_frame() → asr</a:t>
            </a:r>
            <a:endParaRPr/>
          </a:p>
        </p:txBody>
      </p:sp>
      <p:sp>
        <p:nvSpPr>
          <p:cNvPr id="517" name="文本框 516" descr="{&quot;isTemplate&quot;:true,&quot;type&quot;:&quot;text&quot;}"/>
          <p:cNvSpPr txBox="1"/>
          <p:nvPr/>
        </p:nvSpPr>
        <p:spPr>
          <a:xfrm>
            <a:off x="4419600" y="4162425"/>
            <a:ext cx="33528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en-US" sz="900">
                <a:solidFill>
                  <a:srgbClr val="1E293B"/>
                </a:solidFill>
                <a:latin typeface="Microsoft YaHei"/>
                <a:ea typeface="Microsoft YaHei"/>
              </a:rPr>
              <a:t>process_frames() → output.push_*()</a:t>
            </a:r>
            <a:endParaRPr/>
          </a:p>
        </p:txBody>
      </p:sp>
      <p:sp>
        <p:nvSpPr>
          <p:cNvPr id="518" name="矩形 517"/>
          <p:cNvSpPr/>
          <p:nvPr/>
        </p:nvSpPr>
        <p:spPr>
          <a:xfrm>
            <a:off x="6096000" y="2867025"/>
            <a:ext cx="19050" cy="1905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19" name="文本框 518" descr="{&quot;isTemplate&quot;:true,&quot;type&quot;:&quot;text&quot;}"/>
          <p:cNvSpPr txBox="1"/>
          <p:nvPr/>
        </p:nvSpPr>
        <p:spPr>
          <a:xfrm>
            <a:off x="6210300" y="2914650"/>
            <a:ext cx="141922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2563EB"/>
                </a:solidFill>
                <a:latin typeface="Microsoft YaHei"/>
                <a:ea typeface="Microsoft YaHei"/>
              </a:rPr>
              <a:t>① </a:t>
            </a:r>
            <a:r>
              <a:rPr lang="zh-CN" sz="900" b="1">
                <a:solidFill>
                  <a:srgbClr val="2563EB"/>
                </a:solidFill>
                <a:latin typeface="Microsoft YaHei"/>
                <a:ea typeface="Microsoft YaHei"/>
              </a:rPr>
              <a:t>组合</a:t>
            </a:r>
            <a:r>
              <a:rPr lang="en-US" sz="900" b="1">
                <a:solidFill>
                  <a:srgbClr val="2563EB"/>
                </a:solidFill>
                <a:latin typeface="Microsoft YaHei"/>
                <a:ea typeface="Microsoft YaHei"/>
              </a:rPr>
              <a:t> has-a</a:t>
            </a:r>
            <a:endParaRPr/>
          </a:p>
        </p:txBody>
      </p:sp>
      <p:sp>
        <p:nvSpPr>
          <p:cNvPr id="521" name="矩形 520"/>
          <p:cNvSpPr/>
          <p:nvPr/>
        </p:nvSpPr>
        <p:spPr>
          <a:xfrm>
            <a:off x="7905750" y="3714750"/>
            <a:ext cx="552450" cy="1905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22" name="文本框 521" descr="{&quot;isTemplate&quot;:true,&quot;type&quot;:&quot;text&quot;}"/>
          <p:cNvSpPr txBox="1"/>
          <p:nvPr/>
        </p:nvSpPr>
        <p:spPr>
          <a:xfrm>
            <a:off x="7943850" y="3562350"/>
            <a:ext cx="200977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2563EB"/>
                </a:solidFill>
                <a:latin typeface="Microsoft YaHei"/>
                <a:ea typeface="Microsoft YaHei"/>
              </a:rPr>
              <a:t>② </a:t>
            </a:r>
            <a:r>
              <a:rPr lang="zh-CN" sz="900" b="1">
                <a:solidFill>
                  <a:srgbClr val="2563EB"/>
                </a:solidFill>
                <a:latin typeface="Microsoft YaHei"/>
                <a:ea typeface="Microsoft YaHei"/>
              </a:rPr>
              <a:t>组合</a:t>
            </a:r>
            <a:r>
              <a:rPr lang="en-US" sz="900" b="1">
                <a:solidFill>
                  <a:srgbClr val="2563EB"/>
                </a:solidFill>
                <a:latin typeface="Microsoft YaHei"/>
                <a:ea typeface="Microsoft YaHei"/>
              </a:rPr>
              <a:t> has-a</a:t>
            </a:r>
            <a:endParaRPr/>
          </a:p>
        </p:txBody>
      </p:sp>
      <p:sp>
        <p:nvSpPr>
          <p:cNvPr id="524" name="矩形 523"/>
          <p:cNvSpPr/>
          <p:nvPr/>
        </p:nvSpPr>
        <p:spPr>
          <a:xfrm>
            <a:off x="3733800" y="3714750"/>
            <a:ext cx="552450" cy="1905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25" name="文本框 524" descr="{&quot;isTemplate&quot;:true,&quot;type&quot;:&quot;text&quot;}"/>
          <p:cNvSpPr txBox="1"/>
          <p:nvPr/>
        </p:nvSpPr>
        <p:spPr>
          <a:xfrm>
            <a:off x="3790950" y="3562350"/>
            <a:ext cx="136207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2563EB"/>
                </a:solidFill>
                <a:latin typeface="Microsoft YaHei"/>
                <a:ea typeface="Microsoft YaHei"/>
              </a:rPr>
              <a:t>③ </a:t>
            </a:r>
            <a:r>
              <a:rPr lang="zh-CN" sz="900" b="1">
                <a:solidFill>
                  <a:srgbClr val="2563EB"/>
                </a:solidFill>
                <a:latin typeface="Microsoft YaHei"/>
                <a:ea typeface="Microsoft YaHei"/>
              </a:rPr>
              <a:t>组合</a:t>
            </a:r>
            <a:r>
              <a:rPr lang="en-US" sz="900" b="1">
                <a:solidFill>
                  <a:srgbClr val="2563EB"/>
                </a:solidFill>
                <a:latin typeface="Microsoft YaHei"/>
                <a:ea typeface="Microsoft YaHei"/>
              </a:rPr>
              <a:t> has-a</a:t>
            </a:r>
            <a:endParaRPr/>
          </a:p>
        </p:txBody>
      </p:sp>
      <p:sp>
        <p:nvSpPr>
          <p:cNvPr id="527" name="矩形 526"/>
          <p:cNvSpPr/>
          <p:nvPr/>
        </p:nvSpPr>
        <p:spPr>
          <a:xfrm>
            <a:off x="6096000" y="4391025"/>
            <a:ext cx="19050" cy="238125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28" name="文本框 527" descr="{&quot;isTemplate&quot;:true,&quot;type&quot;:&quot;text&quot;}"/>
          <p:cNvSpPr txBox="1"/>
          <p:nvPr/>
        </p:nvSpPr>
        <p:spPr>
          <a:xfrm>
            <a:off x="6210300" y="4438650"/>
            <a:ext cx="98107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7C3AED"/>
                </a:solidFill>
                <a:latin typeface="Microsoft YaHei"/>
                <a:ea typeface="Microsoft YaHei"/>
              </a:rPr>
              <a:t>④ </a:t>
            </a:r>
            <a:r>
              <a:rPr lang="zh-CN" sz="900" b="1">
                <a:solidFill>
                  <a:srgbClr val="7C3AED"/>
                </a:solidFill>
                <a:latin typeface="Microsoft YaHei"/>
                <a:ea typeface="Microsoft YaHei"/>
              </a:rPr>
              <a:t>继承</a:t>
            </a:r>
            <a:r>
              <a:rPr lang="en-US" sz="900" b="1">
                <a:solidFill>
                  <a:srgbClr val="7C3AED"/>
                </a:solidFill>
                <a:latin typeface="Microsoft YaHei"/>
                <a:ea typeface="Microsoft YaHei"/>
              </a:rPr>
              <a:t> is-a</a:t>
            </a:r>
            <a:endParaRPr/>
          </a:p>
        </p:txBody>
      </p:sp>
      <p:sp>
        <p:nvSpPr>
          <p:cNvPr id="529" name="文本框 528" descr="{&quot;isTemplate&quot;:true,&quot;type&quot;:&quot;text&quot;}"/>
          <p:cNvSpPr txBox="1"/>
          <p:nvPr/>
        </p:nvSpPr>
        <p:spPr>
          <a:xfrm>
            <a:off x="6210300" y="4581525"/>
            <a:ext cx="981075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>
                <a:solidFill>
                  <a:srgbClr val="7C3AED"/>
                </a:solidFill>
                <a:latin typeface="Microsoft YaHei"/>
                <a:ea typeface="Microsoft YaHei"/>
              </a:rPr>
              <a:t>extends BaseAvatar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384720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transparent', padding: '70px 60px 30px', flexDirection: 'column' }}&gt;&#10;    &lt;Image src=&quot;resources/images/gvp_background.jpg&quot; style={{ position: 'absolute', top: 0, left: 0, width: 1280, height: 720, objectFit: 'cover' }} /&gt;&#10;&#10;    &lt;Box style={{ zIndex: 1, height: 50, flexDirection: 'column', gap: 3 }}&gt;&#10;        &lt;Box style={{ flexDirection: 'row', alignItems: 'center', gap: 10 }}&gt;&#10;            &lt;Text style={{ fontSize: 30, fontWeight: 'bold', color: '#1E293B' }}&gt;多并发实现&lt;/Text&gt;&#10;            &lt;Box style={{ background: 'rgba(37, 99, 235, 0.12)', borderRadius: 4, padding: '3px 12px' }}&gt;&#10;                &lt;Text style={{ fontSize: 13, color: '#2563EB', fontWeight: 'bold' }}&gt;Multi-Concurrency&lt;/Text&gt;&#10;            &lt;/Box&gt;&#10;        &lt;/Box&gt;&#10;        &lt;Text style={{ fontSize: 15, color: '#475569' }}&gt;单例会话管理器 · 每连接独立 Avatar 实例 · 上限拒绝与资源回收&lt;/Text&gt;&#10;    &lt;/Box&gt;&#10;&#10;    &lt;Box style={{ zIndex: 1, flex: 1, flexDirection: 'row', gap: 40, marginTop: 16 }}&gt;&#10;&#10;        &lt;Box style={{ width: 648, flexDirection: 'column', gap: 18 }}&gt;&#10;&#10;            &lt;Box style={{ flex: 1, background: 'rgba(255, 255, 255, 0.78)', borderRadius: 10, border: '1px solid rgba(203, 213, 225, 0.6)', padding: '18px 20px', flexDirection: 'column', gap: 12 }}&gt;&#10;                &lt;Text style={{ fontSize: 17, fontWeight: 'bold', color: '#1E293B' }}&gt;① 全局会话管理器（单例）&lt;/Text&gt;&#10;                &lt;Text style={{ fontSize: 13.5, color: '#475569', lineHeight: 1.6 }}&gt;&#10;                    &lt;span style={{ color: '#2563EB', fontWeight: 'bold' }}&gt;SessionManager&lt;/span&gt; 以单例形式统一管理 &lt;Text style={{ fontFamily: 'monospace', fontSize: 13, color: '#334155' }}&gt;sessions: Dict[sessionid, BaseAvatar]&lt;/Text&gt;，每个会话持有独立的数字人实例。&#10;                &lt;/Text&gt;&#10;                &lt;Box style={{ flexDirection: 'column', gap: 10 }}&gt;&#10;                    {[&#10;                        { t: '独立实例', d: '每会话独立 BaseAvatar（独立 asr / tts / inference / render 线程）' },&#10;                        { t: '模型缓存', d: 'global_avatars 缓存已加载形象与权重，避免重复加载耗时' },&#10;                        { t: 'UUID 标识', d: 'sessionid 自动生成，WHEP 亦支持客户端自定义' }&#10;                    ].map((x, i) =&gt; (&#10;                        &lt;Box key={i} style={{ flexDirection: 'row', gap: 12, alignItems: 'flex-start' }}&gt;&#10;                            &lt;Box style={{ width: 22, height: 22, borderRadius: 11, background: '#2563EB', alignItems: 'center', justifyContent: 'center', marginTop: 1 }}&gt;&#10;                                &lt;Text style={{ fontSize: 12, color: '#fff', fontWeight: 'bold' }}&gt;{i + 1}&lt;/Text&gt;&#10;                            &lt;/Box&gt;&#10;                            &lt;Box style={{ flex: 1, flexDirection: 'column' }}&gt;&#10;                                &lt;Text style={{ fontSize: 14.5, fontWeight: 'bold', color: '#1E293B' }}&gt;{x.t}&lt;/Text&gt;&#10;                                &lt;Text style={{ fontSize: 12.5, color: '#64748B', lineHeight: 1.5 }}&gt;{x.d}&lt;/Text&gt;&#10;                            &lt;/Box&gt;&#10;                        &lt;/Box&gt;&#10;                    ))}&#10;                &lt;/Box&gt;&#10;            &lt;/Box&gt;&#10;&#10;            &lt;Box style={{ flex: 1, background: 'rgba(255, 255, 255, 0.78)', borderRadius: 10, border: '1px solid rgba(203, 213, 225, 0.6)', padding: '18px 20px', flexDirection: 'column', gap: 12 }}&gt;&#10;                &lt;Text style={{ fontSize: 17, fontWeight: 'bold', color: '#1E293B' }}&gt;② 并发上限与资源回收&lt;/Text&gt;&#10;                {[&#10;                    { c: '#EF4444', t: '上限拒绝', d: 'active &gt;= max_session 时抛 MaxSessionError，offer / whep 返回 503 安全拒绝新连接' },&#10;                    { c: '#F59E0B', t: '构建隔离', d: '模型加载耗时，会话构建放入线程池 run_in_executor，不阻塞主事件循环' },&#10;                    { c: '#0891B2', t: '自动回收', d: 'WebRTC 连接 failed / closed 触发 pc.close() + remove_session，释放引用' }&#10;                ].map((x, i) =&gt; (&#10;                    &lt;Box key={i} style={{ flexDirection: 'row', gap: 12, alignItems: 'flex-start' }}&gt;&#10;                        &lt;Box style={{ width: 9, height: 9, borderRadius: 4.5, background: x.c, marginTop: 6 }} /&gt;&#10;                        &lt;Box style={{ flex: 1, flexDirection: 'column' }}&gt;&#10;                            &lt;Text style={{ fontSize: 14.5, fontWeight: 'bold', color: '#1E293B' }}&gt;{x.t}&lt;/Text&gt;&#10;                            &lt;Text style={{ fontSize: 12.5, color: '#64748B', lineHeight: 1.5 }}&gt;{x.d}&lt;/Text&gt;&#10;                        &lt;/Box&gt;&#10;                    &lt;/Box&gt;&#10;                ))}&#10;                &lt;Text style={{ fontSize: 12.5, color: '#64748B' }}&gt;默认 max_session = 1，生产环境通过 &lt;Text style={{ fontFamily: 'monospace', fontSize: 12, color: '#334155' }}&gt;--max-session&lt;/Text&gt; 配置。&lt;/Text&gt;&#10;            &lt;/Box&gt;&#10;        &lt;/Box&gt;&#10;&#10;        &lt;Box style={{ flex: 1, background: 'rgba(255, 255, 255, 0.78)', borderRadius: 10, border: '1px solid rgba(203, 213, 225, 0.6)', padding: '18px 20px', flexDirection: 'column', gap: 10 }}&gt;&#10;            &lt;Text style={{ fontSize: 17, fontWeight: 'bold', color: '#1E293B' }}&gt;③ 并发架构示意&lt;/Text&gt;&#10;&#10;            &lt;Box style={{ alignSelf: 'center', background: 'rgba(37, 99, 235, 0.1)', border: '1px solid rgba(37, 99, 235, 0.4)', borderRadius: 8, padding: '9px 18px', alignItems: 'center' }}&gt;&#10;                &lt;Text style={{ fontSize: 15, fontWeight: 'bold', color: '#2563EB' }}&gt;SessionManager（单例）&lt;/Text&gt;&#10;            &lt;/Box&gt;&#10;            &lt;Text style={{ alignSelf: 'center', fontSize: 18, color: '#94A3B8', fontWeight: 'bold' }}&gt;▼&lt;/Text&gt;&#10;&#10;            &lt;Box style={{ flexDirection: 'row', gap: 10, justifyContent: 'space-between' }}&gt;&#10;                {[&#10;                    { id: 'sid-A', c: '#2563EB' },&#10;                    { id: 'sid-B', c: '#0891B2' },&#10;                    { id: 'sid-C', c: '#7C3AED' }&#10;                ].map((s, i) =&gt; (&#10;                    &lt;Box key={i} style={{ flex: 1, background: `${s.c}10`, border: `1px solid ${s.c}55`, borderRadius: 8, padding: '10px 8px', flexDirection: 'column', alignItems: 'center', gap: 4 }}&gt;&#10;                        &lt;Text style={{ fontSize: 13, fontWeight: 'bold', color: s.c }}&gt;{s.id}&lt;/Text&gt;&#10;                        &lt;Text style={{ fontSize: 11.5, color: '#475569', textAlign: 'center', lineHeight: 1.3 }}&gt;BaseAvatar{'\n'}实例&lt;/Text&gt;&#10;                        &lt;Text style={{ fontSize: 10.5, color: '#94A3B8', textAlign: 'center', lineHeight: 1.3 }}&gt;asr+tts{'\n'}infer+render&lt;/Text&gt;&#10;                    &lt;/Box&gt;&#10;                ))}&#10;            &lt;/Box&gt;&#10;            &lt;Text style={{ alignSelf: 'center', fontSize: 17, color: '#94A3B8', fontWeight: 'bold' }}&gt;▲ 独立实例 · 各自线程&lt;/Text&gt;&#10;&#10;            &lt;Box style={{ marginTop: 6, background: 'rgba(15, 23, 42, 0.06)', borderRadius: 6, padding: '10px 12px', border: '1px dashed rgba(100, 116, 139, 0.4)' }}&gt;&#10;                &lt;Text style={{ fontSize: 13, color: '#475569', textAlign: 'center', lineHeight: 1.5 }}&gt;&#10;                    共享底层资源：GPU 模型 + &lt;Text style={{ color: '#2563EB', fontWeight: 'bold' }}&gt;global_avatars&lt;/Text&gt; 形象缓存（同一 avatar_id 仅加载一次）&#10;                &lt;/Text&gt;&#10;            &lt;/Box&gt;&#10;            &lt;Text style={{ fontSize: 12, color: '#64748B', lineHeight: 1.5, marginTop: 4 }}&gt;&#10;                RTCManager 维护 pcs 集合，每个 PeerConnection 绑定独立 &lt;Text style={{ fontFamily: 'monospace', fontSize: 11.5, color: '#334155' }}&gt;HumanPlayer&lt;/Text&gt; 音视频轨道。&#10;            &lt;/Text&gt;&#10;        &lt;/Box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图片 15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55" name="文本框 154" descr="{&quot;isTemplate&quot;:true,&quot;type&quot;:&quot;text&quot;}"/>
          <p:cNvSpPr txBox="1"/>
          <p:nvPr/>
        </p:nvSpPr>
        <p:spPr>
          <a:xfrm>
            <a:off x="571500" y="666750"/>
            <a:ext cx="142875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E293B"/>
                </a:solidFill>
                <a:latin typeface="Microsoft YaHei"/>
                <a:ea typeface="Microsoft YaHei"/>
              </a:rPr>
              <a:t>多并发实现</a:t>
            </a:r>
            <a:endParaRPr/>
          </a:p>
        </p:txBody>
      </p:sp>
      <p:sp>
        <p:nvSpPr>
          <p:cNvPr id="156" name="圆角矩形 155"/>
          <p:cNvSpPr/>
          <p:nvPr/>
        </p:nvSpPr>
        <p:spPr>
          <a:xfrm>
            <a:off x="2095500" y="733425"/>
            <a:ext cx="1343025" cy="209550"/>
          </a:xfrm>
          <a:prstGeom prst="roundRect">
            <a:avLst>
              <a:gd name="adj" fmla="val 18182"/>
            </a:avLst>
          </a:prstGeom>
          <a:solidFill>
            <a:srgbClr val="2563EB">
              <a:alpha val="1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7" name="文本框 156" descr="{&quot;isTemplate&quot;:true,&quot;type&quot;:&quot;text&quot;}"/>
          <p:cNvSpPr txBox="1"/>
          <p:nvPr/>
        </p:nvSpPr>
        <p:spPr>
          <a:xfrm>
            <a:off x="2209800" y="762000"/>
            <a:ext cx="11144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563EB"/>
                </a:solidFill>
                <a:latin typeface="Microsoft YaHei"/>
                <a:ea typeface="Microsoft YaHei"/>
              </a:rPr>
              <a:t>Multi-Concurrency</a:t>
            </a:r>
            <a:endParaRPr/>
          </a:p>
        </p:txBody>
      </p:sp>
      <p:sp>
        <p:nvSpPr>
          <p:cNvPr id="158" name="文本框 157" descr="{&quot;isTemplate&quot;:true,&quot;type&quot;:&quot;text&quot;}"/>
          <p:cNvSpPr txBox="1"/>
          <p:nvPr/>
        </p:nvSpPr>
        <p:spPr>
          <a:xfrm>
            <a:off x="571500" y="1038225"/>
            <a:ext cx="110490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单例会话管理器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每连接独立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> Avatar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实例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上限拒绝与资源回收</a:t>
            </a:r>
            <a:endParaRPr/>
          </a:p>
        </p:txBody>
      </p:sp>
      <p:sp>
        <p:nvSpPr>
          <p:cNvPr id="159" name="圆角矩形 158"/>
          <p:cNvSpPr/>
          <p:nvPr/>
        </p:nvSpPr>
        <p:spPr>
          <a:xfrm>
            <a:off x="571500" y="1295400"/>
            <a:ext cx="6172200" cy="2714625"/>
          </a:xfrm>
          <a:prstGeom prst="roundRect">
            <a:avLst>
              <a:gd name="adj" fmla="val 3509"/>
            </a:avLst>
          </a:prstGeom>
          <a:solidFill>
            <a:srgbClr val="FFFFFF">
              <a:alpha val="78000"/>
            </a:srgbClr>
          </a:solidFill>
          <a:ln w="12700">
            <a:solidFill>
              <a:srgbClr val="CBD5E1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0" name="文本框 159" descr="{&quot;isTemplate&quot;:true,&quot;type&quot;:&quot;text&quot;}"/>
          <p:cNvSpPr txBox="1"/>
          <p:nvPr/>
        </p:nvSpPr>
        <p:spPr>
          <a:xfrm>
            <a:off x="762000" y="1466850"/>
            <a:ext cx="57912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E293B"/>
                </a:solidFill>
                <a:latin typeface="Microsoft YaHei"/>
                <a:ea typeface="Microsoft YaHei"/>
              </a:rPr>
              <a:t>① </a:t>
            </a:r>
            <a:r>
              <a:rPr lang="zh-CN" sz="1275" b="1">
                <a:solidFill>
                  <a:srgbClr val="1E293B"/>
                </a:solidFill>
                <a:latin typeface="Microsoft YaHei"/>
                <a:ea typeface="Microsoft YaHei"/>
              </a:rPr>
              <a:t>全局会话管理器（单例）</a:t>
            </a:r>
            <a:endParaRPr/>
          </a:p>
        </p:txBody>
      </p:sp>
      <p:sp>
        <p:nvSpPr>
          <p:cNvPr id="161" name="文本框 160" descr="{&quot;isTemplate&quot;:true,&quot;type&quot;:&quot;text&quot;}"/>
          <p:cNvSpPr txBox="1"/>
          <p:nvPr/>
        </p:nvSpPr>
        <p:spPr>
          <a:xfrm>
            <a:off x="762000" y="1781175"/>
            <a:ext cx="5791200" cy="4953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en-US" sz="1013" b="1">
                <a:solidFill>
                  <a:srgbClr val="2563EB"/>
                </a:solidFill>
                <a:latin typeface="Microsoft YaHei"/>
                <a:ea typeface="Microsoft YaHei"/>
              </a:rPr>
              <a:t>SessionManager</a:t>
            </a:r>
            <a:r>
              <a:rPr lang="en-US" sz="1013">
                <a:solidFill>
                  <a:srgbClr val="475569"/>
                </a:solidFill>
                <a:latin typeface="Microsoft YaHei"/>
                <a:ea typeface="Microsoft YaHei"/>
              </a:rPr>
              <a:t> </a:t>
            </a:r>
            <a:r>
              <a:rPr lang="zh-CN" sz="1013">
                <a:solidFill>
                  <a:srgbClr val="475569"/>
                </a:solidFill>
                <a:latin typeface="Microsoft YaHei"/>
                <a:ea typeface="Microsoft YaHei"/>
              </a:rPr>
              <a:t>以单例形式统一管理</a:t>
            </a:r>
            <a:r>
              <a:rPr lang="en-US" sz="1013">
                <a:solidFill>
                  <a:srgbClr val="475569"/>
                </a:solidFill>
                <a:latin typeface="Microsoft YaHei"/>
                <a:ea typeface="Microsoft YaHei"/>
              </a:rPr>
              <a:t> sessions: Dict[sessionid, BaseAvatar]</a:t>
            </a:r>
            <a:r>
              <a:rPr lang="zh-CN" sz="1013">
                <a:solidFill>
                  <a:srgbClr val="475569"/>
                </a:solidFill>
                <a:latin typeface="Microsoft YaHei"/>
                <a:ea typeface="Microsoft YaHei"/>
              </a:rPr>
              <a:t>，每个会话持有独立的数字人实例。</a:t>
            </a:r>
            <a:endParaRPr/>
          </a:p>
        </p:txBody>
      </p:sp>
      <p:sp>
        <p:nvSpPr>
          <p:cNvPr id="162" name="圆角矩形 161"/>
          <p:cNvSpPr/>
          <p:nvPr/>
        </p:nvSpPr>
        <p:spPr>
          <a:xfrm>
            <a:off x="762000" y="240030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3" name="文本框 162" descr="{&quot;isTemplate&quot;:true,&quot;type&quot;:&quot;text&quot;}"/>
          <p:cNvSpPr txBox="1"/>
          <p:nvPr/>
        </p:nvSpPr>
        <p:spPr>
          <a:xfrm>
            <a:off x="828675" y="2438400"/>
            <a:ext cx="762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64" name="文本框 163" descr="{&quot;isTemplate&quot;:true,&quot;type&quot;:&quot;text&quot;}"/>
          <p:cNvSpPr txBox="1"/>
          <p:nvPr/>
        </p:nvSpPr>
        <p:spPr>
          <a:xfrm>
            <a:off x="1085850" y="2390775"/>
            <a:ext cx="54673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1E293B"/>
                </a:solidFill>
                <a:latin typeface="Microsoft YaHei"/>
                <a:ea typeface="Microsoft YaHei"/>
              </a:rPr>
              <a:t>独立实例</a:t>
            </a:r>
            <a:endParaRPr/>
          </a:p>
        </p:txBody>
      </p:sp>
      <p:sp>
        <p:nvSpPr>
          <p:cNvPr id="165" name="文本框 164" descr="{&quot;isTemplate&quot;:true,&quot;type&quot;:&quot;text&quot;}"/>
          <p:cNvSpPr txBox="1"/>
          <p:nvPr/>
        </p:nvSpPr>
        <p:spPr>
          <a:xfrm>
            <a:off x="1085850" y="2562225"/>
            <a:ext cx="546735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938">
                <a:solidFill>
                  <a:srgbClr val="64748B"/>
                </a:solidFill>
                <a:latin typeface="Microsoft YaHei"/>
                <a:ea typeface="Microsoft YaHei"/>
              </a:rPr>
              <a:t>每会话独立</a:t>
            </a:r>
            <a:r>
              <a:rPr lang="en-US" sz="938">
                <a:solidFill>
                  <a:srgbClr val="64748B"/>
                </a:solidFill>
                <a:latin typeface="Microsoft YaHei"/>
                <a:ea typeface="Microsoft YaHei"/>
              </a:rPr>
              <a:t> BaseAvatar</a:t>
            </a:r>
            <a:r>
              <a:rPr lang="zh-CN" sz="938">
                <a:solidFill>
                  <a:srgbClr val="64748B"/>
                </a:solidFill>
                <a:latin typeface="Microsoft YaHei"/>
                <a:ea typeface="Microsoft YaHei"/>
              </a:rPr>
              <a:t>（独立</a:t>
            </a:r>
            <a:r>
              <a:rPr lang="en-US" sz="938">
                <a:solidFill>
                  <a:srgbClr val="64748B"/>
                </a:solidFill>
                <a:latin typeface="Microsoft YaHei"/>
                <a:ea typeface="Microsoft YaHei"/>
              </a:rPr>
              <a:t> asr / tts / inference / render </a:t>
            </a:r>
            <a:r>
              <a:rPr lang="zh-CN" sz="938">
                <a:solidFill>
                  <a:srgbClr val="64748B"/>
                </a:solidFill>
                <a:latin typeface="Microsoft YaHei"/>
                <a:ea typeface="Microsoft YaHei"/>
              </a:rPr>
              <a:t>线程）</a:t>
            </a:r>
            <a:endParaRPr/>
          </a:p>
        </p:txBody>
      </p:sp>
      <p:sp>
        <p:nvSpPr>
          <p:cNvPr id="166" name="圆角矩形 165"/>
          <p:cNvSpPr/>
          <p:nvPr/>
        </p:nvSpPr>
        <p:spPr>
          <a:xfrm>
            <a:off x="762000" y="28860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7" name="文本框 166" descr="{&quot;isTemplate&quot;:true,&quot;type&quot;:&quot;text&quot;}"/>
          <p:cNvSpPr txBox="1"/>
          <p:nvPr/>
        </p:nvSpPr>
        <p:spPr>
          <a:xfrm>
            <a:off x="828675" y="2924175"/>
            <a:ext cx="762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68" name="文本框 167" descr="{&quot;isTemplate&quot;:true,&quot;type&quot;:&quot;text&quot;}"/>
          <p:cNvSpPr txBox="1"/>
          <p:nvPr/>
        </p:nvSpPr>
        <p:spPr>
          <a:xfrm>
            <a:off x="1085850" y="2876550"/>
            <a:ext cx="54673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1E293B"/>
                </a:solidFill>
                <a:latin typeface="Microsoft YaHei"/>
                <a:ea typeface="Microsoft YaHei"/>
              </a:rPr>
              <a:t>模型缓存</a:t>
            </a:r>
            <a:endParaRPr/>
          </a:p>
        </p:txBody>
      </p:sp>
      <p:sp>
        <p:nvSpPr>
          <p:cNvPr id="169" name="文本框 168" descr="{&quot;isTemplate&quot;:true,&quot;type&quot;:&quot;text&quot;}"/>
          <p:cNvSpPr txBox="1"/>
          <p:nvPr/>
        </p:nvSpPr>
        <p:spPr>
          <a:xfrm>
            <a:off x="1085850" y="3048000"/>
            <a:ext cx="546735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en-US" sz="938">
                <a:solidFill>
                  <a:srgbClr val="64748B"/>
                </a:solidFill>
                <a:latin typeface="Microsoft YaHei"/>
                <a:ea typeface="Microsoft YaHei"/>
              </a:rPr>
              <a:t>global_avatars </a:t>
            </a:r>
            <a:r>
              <a:rPr lang="zh-CN" sz="938">
                <a:solidFill>
                  <a:srgbClr val="64748B"/>
                </a:solidFill>
                <a:latin typeface="Microsoft YaHei"/>
                <a:ea typeface="Microsoft YaHei"/>
              </a:rPr>
              <a:t>缓存已加载形象与权重，避免重复加载耗时</a:t>
            </a:r>
            <a:endParaRPr/>
          </a:p>
        </p:txBody>
      </p:sp>
      <p:sp>
        <p:nvSpPr>
          <p:cNvPr id="170" name="圆角矩形 169"/>
          <p:cNvSpPr/>
          <p:nvPr/>
        </p:nvSpPr>
        <p:spPr>
          <a:xfrm>
            <a:off x="762000" y="337185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1" name="文本框 170" descr="{&quot;isTemplate&quot;:true,&quot;type&quot;:&quot;text&quot;}"/>
          <p:cNvSpPr txBox="1"/>
          <p:nvPr/>
        </p:nvSpPr>
        <p:spPr>
          <a:xfrm>
            <a:off x="828675" y="3409950"/>
            <a:ext cx="762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172" name="文本框 171" descr="{&quot;isTemplate&quot;:true,&quot;type&quot;:&quot;text&quot;}"/>
          <p:cNvSpPr txBox="1"/>
          <p:nvPr/>
        </p:nvSpPr>
        <p:spPr>
          <a:xfrm>
            <a:off x="1085850" y="3362325"/>
            <a:ext cx="54673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88" b="1">
                <a:solidFill>
                  <a:srgbClr val="1E293B"/>
                </a:solidFill>
                <a:latin typeface="Microsoft YaHei"/>
                <a:ea typeface="Microsoft YaHei"/>
              </a:rPr>
              <a:t>UUID </a:t>
            </a:r>
            <a:r>
              <a:rPr lang="zh-CN" sz="1088" b="1">
                <a:solidFill>
                  <a:srgbClr val="1E293B"/>
                </a:solidFill>
                <a:latin typeface="Microsoft YaHei"/>
                <a:ea typeface="Microsoft YaHei"/>
              </a:rPr>
              <a:t>标识</a:t>
            </a:r>
            <a:endParaRPr/>
          </a:p>
        </p:txBody>
      </p:sp>
      <p:sp>
        <p:nvSpPr>
          <p:cNvPr id="173" name="文本框 172" descr="{&quot;isTemplate&quot;:true,&quot;type&quot;:&quot;text&quot;}"/>
          <p:cNvSpPr txBox="1"/>
          <p:nvPr/>
        </p:nvSpPr>
        <p:spPr>
          <a:xfrm>
            <a:off x="1085850" y="3533775"/>
            <a:ext cx="546735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en-US" sz="938">
                <a:solidFill>
                  <a:srgbClr val="64748B"/>
                </a:solidFill>
                <a:latin typeface="Microsoft YaHei"/>
                <a:ea typeface="Microsoft YaHei"/>
              </a:rPr>
              <a:t>sessionid </a:t>
            </a:r>
            <a:r>
              <a:rPr lang="zh-CN" sz="938">
                <a:solidFill>
                  <a:srgbClr val="64748B"/>
                </a:solidFill>
                <a:latin typeface="Microsoft YaHei"/>
                <a:ea typeface="Microsoft YaHei"/>
              </a:rPr>
              <a:t>自动生成，</a:t>
            </a:r>
            <a:r>
              <a:rPr lang="en-US" sz="938">
                <a:solidFill>
                  <a:srgbClr val="64748B"/>
                </a:solidFill>
                <a:latin typeface="Microsoft YaHei"/>
                <a:ea typeface="Microsoft YaHei"/>
              </a:rPr>
              <a:t>WHEP </a:t>
            </a:r>
            <a:r>
              <a:rPr lang="zh-CN" sz="938">
                <a:solidFill>
                  <a:srgbClr val="64748B"/>
                </a:solidFill>
                <a:latin typeface="Microsoft YaHei"/>
                <a:ea typeface="Microsoft YaHei"/>
              </a:rPr>
              <a:t>亦支持客户端自定义</a:t>
            </a:r>
            <a:endParaRPr/>
          </a:p>
        </p:txBody>
      </p:sp>
      <p:sp>
        <p:nvSpPr>
          <p:cNvPr id="174" name="圆角矩形 173"/>
          <p:cNvSpPr/>
          <p:nvPr/>
        </p:nvSpPr>
        <p:spPr>
          <a:xfrm>
            <a:off x="571500" y="4181475"/>
            <a:ext cx="6172200" cy="2390775"/>
          </a:xfrm>
          <a:prstGeom prst="roundRect">
            <a:avLst>
              <a:gd name="adj" fmla="val 3984"/>
            </a:avLst>
          </a:prstGeom>
          <a:solidFill>
            <a:srgbClr val="FFFFFF">
              <a:alpha val="78000"/>
            </a:srgbClr>
          </a:solidFill>
          <a:ln w="12700">
            <a:solidFill>
              <a:srgbClr val="CBD5E1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5" name="文本框 174" descr="{&quot;isTemplate&quot;:true,&quot;type&quot;:&quot;text&quot;}"/>
          <p:cNvSpPr txBox="1"/>
          <p:nvPr/>
        </p:nvSpPr>
        <p:spPr>
          <a:xfrm>
            <a:off x="762000" y="4352925"/>
            <a:ext cx="57912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E293B"/>
                </a:solidFill>
                <a:latin typeface="Microsoft YaHei"/>
                <a:ea typeface="Microsoft YaHei"/>
              </a:rPr>
              <a:t>② </a:t>
            </a:r>
            <a:r>
              <a:rPr lang="zh-CN" sz="1275" b="1">
                <a:solidFill>
                  <a:srgbClr val="1E293B"/>
                </a:solidFill>
                <a:latin typeface="Microsoft YaHei"/>
                <a:ea typeface="Microsoft YaHei"/>
              </a:rPr>
              <a:t>并发上限与资源回收</a:t>
            </a:r>
            <a:endParaRPr/>
          </a:p>
        </p:txBody>
      </p:sp>
      <p:sp>
        <p:nvSpPr>
          <p:cNvPr id="176" name="圆角矩形 175"/>
          <p:cNvSpPr/>
          <p:nvPr/>
        </p:nvSpPr>
        <p:spPr>
          <a:xfrm>
            <a:off x="762000" y="4724400"/>
            <a:ext cx="85725" cy="85725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7" name="文本框 176" descr="{&quot;isTemplate&quot;:true,&quot;type&quot;:&quot;text&quot;}"/>
          <p:cNvSpPr txBox="1"/>
          <p:nvPr/>
        </p:nvSpPr>
        <p:spPr>
          <a:xfrm>
            <a:off x="962025" y="4667250"/>
            <a:ext cx="559117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1E293B"/>
                </a:solidFill>
                <a:latin typeface="Microsoft YaHei"/>
                <a:ea typeface="Microsoft YaHei"/>
              </a:rPr>
              <a:t>上限拒绝</a:t>
            </a:r>
            <a:endParaRPr/>
          </a:p>
        </p:txBody>
      </p:sp>
      <p:sp>
        <p:nvSpPr>
          <p:cNvPr id="178" name="文本框 177" descr="{&quot;isTemplate&quot;:true,&quot;type&quot;:&quot;text&quot;}"/>
          <p:cNvSpPr txBox="1"/>
          <p:nvPr/>
        </p:nvSpPr>
        <p:spPr>
          <a:xfrm>
            <a:off x="962025" y="4838700"/>
            <a:ext cx="5591175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en-US" sz="938">
                <a:solidFill>
                  <a:srgbClr val="64748B"/>
                </a:solidFill>
                <a:latin typeface="Microsoft YaHei"/>
                <a:ea typeface="Microsoft YaHei"/>
              </a:rPr>
              <a:t>active &gt;= max_session </a:t>
            </a:r>
            <a:r>
              <a:rPr lang="zh-CN" sz="938">
                <a:solidFill>
                  <a:srgbClr val="64748B"/>
                </a:solidFill>
                <a:latin typeface="Microsoft YaHei"/>
                <a:ea typeface="Microsoft YaHei"/>
              </a:rPr>
              <a:t>时抛</a:t>
            </a:r>
            <a:r>
              <a:rPr lang="en-US" sz="938">
                <a:solidFill>
                  <a:srgbClr val="64748B"/>
                </a:solidFill>
                <a:latin typeface="Microsoft YaHei"/>
                <a:ea typeface="Microsoft YaHei"/>
              </a:rPr>
              <a:t> MaxSessionError</a:t>
            </a:r>
            <a:r>
              <a:rPr lang="zh-CN" sz="938">
                <a:solidFill>
                  <a:srgbClr val="64748B"/>
                </a:solidFill>
                <a:latin typeface="Microsoft YaHei"/>
                <a:ea typeface="Microsoft YaHei"/>
              </a:rPr>
              <a:t>，</a:t>
            </a:r>
            <a:r>
              <a:rPr lang="en-US" sz="938">
                <a:solidFill>
                  <a:srgbClr val="64748B"/>
                </a:solidFill>
                <a:latin typeface="Microsoft YaHei"/>
                <a:ea typeface="Microsoft YaHei"/>
              </a:rPr>
              <a:t>offer / whep </a:t>
            </a:r>
            <a:r>
              <a:rPr lang="zh-CN" sz="938">
                <a:solidFill>
                  <a:srgbClr val="64748B"/>
                </a:solidFill>
                <a:latin typeface="Microsoft YaHei"/>
                <a:ea typeface="Microsoft YaHei"/>
              </a:rPr>
              <a:t>返回</a:t>
            </a:r>
            <a:r>
              <a:rPr lang="en-US" sz="938">
                <a:solidFill>
                  <a:srgbClr val="64748B"/>
                </a:solidFill>
                <a:latin typeface="Microsoft YaHei"/>
                <a:ea typeface="Microsoft YaHei"/>
              </a:rPr>
              <a:t> 503 </a:t>
            </a:r>
            <a:r>
              <a:rPr lang="zh-CN" sz="938">
                <a:solidFill>
                  <a:srgbClr val="64748B"/>
                </a:solidFill>
                <a:latin typeface="Microsoft YaHei"/>
                <a:ea typeface="Microsoft YaHei"/>
              </a:rPr>
              <a:t>安全拒绝新连接</a:t>
            </a:r>
            <a:endParaRPr/>
          </a:p>
        </p:txBody>
      </p:sp>
      <p:sp>
        <p:nvSpPr>
          <p:cNvPr id="179" name="圆角矩形 178"/>
          <p:cNvSpPr/>
          <p:nvPr/>
        </p:nvSpPr>
        <p:spPr>
          <a:xfrm>
            <a:off x="762000" y="5229225"/>
            <a:ext cx="85725" cy="85725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0" name="文本框 179" descr="{&quot;isTemplate&quot;:true,&quot;type&quot;:&quot;text&quot;}"/>
          <p:cNvSpPr txBox="1"/>
          <p:nvPr/>
        </p:nvSpPr>
        <p:spPr>
          <a:xfrm>
            <a:off x="962025" y="5172075"/>
            <a:ext cx="559117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1E293B"/>
                </a:solidFill>
                <a:latin typeface="Microsoft YaHei"/>
                <a:ea typeface="Microsoft YaHei"/>
              </a:rPr>
              <a:t>构建隔离</a:t>
            </a:r>
            <a:endParaRPr/>
          </a:p>
        </p:txBody>
      </p:sp>
      <p:sp>
        <p:nvSpPr>
          <p:cNvPr id="181" name="文本框 180" descr="{&quot;isTemplate&quot;:true,&quot;type&quot;:&quot;text&quot;}"/>
          <p:cNvSpPr txBox="1"/>
          <p:nvPr/>
        </p:nvSpPr>
        <p:spPr>
          <a:xfrm>
            <a:off x="962025" y="5343525"/>
            <a:ext cx="5591175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938">
                <a:solidFill>
                  <a:srgbClr val="64748B"/>
                </a:solidFill>
                <a:latin typeface="Microsoft YaHei"/>
                <a:ea typeface="Microsoft YaHei"/>
              </a:rPr>
              <a:t>模型加载耗时，会话构建放入线程池</a:t>
            </a:r>
            <a:r>
              <a:rPr lang="en-US" sz="938">
                <a:solidFill>
                  <a:srgbClr val="64748B"/>
                </a:solidFill>
                <a:latin typeface="Microsoft YaHei"/>
                <a:ea typeface="Microsoft YaHei"/>
              </a:rPr>
              <a:t> run_in_executor</a:t>
            </a:r>
            <a:r>
              <a:rPr lang="zh-CN" sz="938">
                <a:solidFill>
                  <a:srgbClr val="64748B"/>
                </a:solidFill>
                <a:latin typeface="Microsoft YaHei"/>
                <a:ea typeface="Microsoft YaHei"/>
              </a:rPr>
              <a:t>，不阻塞主事件循环</a:t>
            </a:r>
            <a:endParaRPr/>
          </a:p>
        </p:txBody>
      </p:sp>
      <p:sp>
        <p:nvSpPr>
          <p:cNvPr id="182" name="圆角矩形 181"/>
          <p:cNvSpPr/>
          <p:nvPr/>
        </p:nvSpPr>
        <p:spPr>
          <a:xfrm>
            <a:off x="762000" y="5734050"/>
            <a:ext cx="85725" cy="85725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3" name="文本框 182" descr="{&quot;isTemplate&quot;:true,&quot;type&quot;:&quot;text&quot;}"/>
          <p:cNvSpPr txBox="1"/>
          <p:nvPr/>
        </p:nvSpPr>
        <p:spPr>
          <a:xfrm>
            <a:off x="962025" y="5676900"/>
            <a:ext cx="559117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1E293B"/>
                </a:solidFill>
                <a:latin typeface="Microsoft YaHei"/>
                <a:ea typeface="Microsoft YaHei"/>
              </a:rPr>
              <a:t>自动回收</a:t>
            </a:r>
            <a:endParaRPr/>
          </a:p>
        </p:txBody>
      </p:sp>
      <p:sp>
        <p:nvSpPr>
          <p:cNvPr id="184" name="文本框 183" descr="{&quot;isTemplate&quot;:true,&quot;type&quot;:&quot;text&quot;}"/>
          <p:cNvSpPr txBox="1"/>
          <p:nvPr/>
        </p:nvSpPr>
        <p:spPr>
          <a:xfrm>
            <a:off x="962025" y="5848350"/>
            <a:ext cx="5591175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en-US" sz="938">
                <a:solidFill>
                  <a:srgbClr val="64748B"/>
                </a:solidFill>
                <a:latin typeface="Microsoft YaHei"/>
                <a:ea typeface="Microsoft YaHei"/>
              </a:rPr>
              <a:t>WebRTC </a:t>
            </a:r>
            <a:r>
              <a:rPr lang="zh-CN" sz="938">
                <a:solidFill>
                  <a:srgbClr val="64748B"/>
                </a:solidFill>
                <a:latin typeface="Microsoft YaHei"/>
                <a:ea typeface="Microsoft YaHei"/>
              </a:rPr>
              <a:t>连接</a:t>
            </a:r>
            <a:r>
              <a:rPr lang="en-US" sz="938">
                <a:solidFill>
                  <a:srgbClr val="64748B"/>
                </a:solidFill>
                <a:latin typeface="Microsoft YaHei"/>
                <a:ea typeface="Microsoft YaHei"/>
              </a:rPr>
              <a:t> failed / closed </a:t>
            </a:r>
            <a:r>
              <a:rPr lang="zh-CN" sz="938">
                <a:solidFill>
                  <a:srgbClr val="64748B"/>
                </a:solidFill>
                <a:latin typeface="Microsoft YaHei"/>
                <a:ea typeface="Microsoft YaHei"/>
              </a:rPr>
              <a:t>触发</a:t>
            </a:r>
            <a:r>
              <a:rPr lang="en-US" sz="938">
                <a:solidFill>
                  <a:srgbClr val="64748B"/>
                </a:solidFill>
                <a:latin typeface="Microsoft YaHei"/>
                <a:ea typeface="Microsoft YaHei"/>
              </a:rPr>
              <a:t> pc.close() + remove_session</a:t>
            </a:r>
            <a:r>
              <a:rPr lang="zh-CN" sz="938">
                <a:solidFill>
                  <a:srgbClr val="64748B"/>
                </a:solidFill>
                <a:latin typeface="Microsoft YaHei"/>
                <a:ea typeface="Microsoft YaHei"/>
              </a:rPr>
              <a:t>，释放引用</a:t>
            </a:r>
            <a:endParaRPr/>
          </a:p>
        </p:txBody>
      </p:sp>
      <p:sp>
        <p:nvSpPr>
          <p:cNvPr id="185" name="文本框 184" descr="{&quot;isTemplate&quot;:true,&quot;type&quot;:&quot;text&quot;}"/>
          <p:cNvSpPr txBox="1"/>
          <p:nvPr/>
        </p:nvSpPr>
        <p:spPr>
          <a:xfrm>
            <a:off x="762000" y="6181725"/>
            <a:ext cx="57912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38">
                <a:solidFill>
                  <a:srgbClr val="64748B"/>
                </a:solidFill>
                <a:latin typeface="Microsoft YaHei"/>
                <a:ea typeface="Microsoft YaHei"/>
              </a:rPr>
              <a:t>默认</a:t>
            </a:r>
            <a:r>
              <a:rPr lang="en-US" sz="938">
                <a:solidFill>
                  <a:srgbClr val="64748B"/>
                </a:solidFill>
                <a:latin typeface="Microsoft YaHei"/>
                <a:ea typeface="Microsoft YaHei"/>
              </a:rPr>
              <a:t> max_session = 1</a:t>
            </a:r>
            <a:r>
              <a:rPr lang="zh-CN" sz="938">
                <a:solidFill>
                  <a:srgbClr val="64748B"/>
                </a:solidFill>
                <a:latin typeface="Microsoft YaHei"/>
                <a:ea typeface="Microsoft YaHei"/>
              </a:rPr>
              <a:t>，生产环境通过</a:t>
            </a:r>
            <a:r>
              <a:rPr lang="en-US" sz="938">
                <a:solidFill>
                  <a:srgbClr val="64748B"/>
                </a:solidFill>
                <a:latin typeface="Microsoft YaHei"/>
                <a:ea typeface="Microsoft YaHei"/>
              </a:rPr>
              <a:t> --max-session </a:t>
            </a:r>
            <a:r>
              <a:rPr lang="zh-CN" sz="938">
                <a:solidFill>
                  <a:srgbClr val="64748B"/>
                </a:solidFill>
                <a:latin typeface="Microsoft YaHei"/>
                <a:ea typeface="Microsoft YaHei"/>
              </a:rPr>
              <a:t>配置。</a:t>
            </a:r>
            <a:endParaRPr/>
          </a:p>
        </p:txBody>
      </p:sp>
      <p:sp>
        <p:nvSpPr>
          <p:cNvPr id="186" name="圆角矩形 185"/>
          <p:cNvSpPr/>
          <p:nvPr/>
        </p:nvSpPr>
        <p:spPr>
          <a:xfrm>
            <a:off x="7124700" y="1295400"/>
            <a:ext cx="4495800" cy="5276850"/>
          </a:xfrm>
          <a:prstGeom prst="roundRect">
            <a:avLst>
              <a:gd name="adj" fmla="val 2119"/>
            </a:avLst>
          </a:prstGeom>
          <a:solidFill>
            <a:srgbClr val="FFFFFF">
              <a:alpha val="78000"/>
            </a:srgbClr>
          </a:solidFill>
          <a:ln w="12700">
            <a:solidFill>
              <a:srgbClr val="CBD5E1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7" name="文本框 186" descr="{&quot;isTemplate&quot;:true,&quot;type&quot;:&quot;text&quot;}"/>
          <p:cNvSpPr txBox="1"/>
          <p:nvPr/>
        </p:nvSpPr>
        <p:spPr>
          <a:xfrm>
            <a:off x="7315200" y="1466850"/>
            <a:ext cx="41148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E293B"/>
                </a:solidFill>
                <a:latin typeface="Microsoft YaHei"/>
                <a:ea typeface="Microsoft YaHei"/>
              </a:rPr>
              <a:t>③ </a:t>
            </a:r>
            <a:r>
              <a:rPr lang="zh-CN" sz="1275" b="1">
                <a:solidFill>
                  <a:srgbClr val="1E293B"/>
                </a:solidFill>
                <a:latin typeface="Microsoft YaHei"/>
                <a:ea typeface="Microsoft YaHei"/>
              </a:rPr>
              <a:t>并发架构示意</a:t>
            </a:r>
            <a:endParaRPr/>
          </a:p>
        </p:txBody>
      </p:sp>
      <p:sp>
        <p:nvSpPr>
          <p:cNvPr id="188" name="圆角矩形 187"/>
          <p:cNvSpPr/>
          <p:nvPr/>
        </p:nvSpPr>
        <p:spPr>
          <a:xfrm>
            <a:off x="8353425" y="1762125"/>
            <a:ext cx="2047875" cy="342900"/>
          </a:xfrm>
          <a:prstGeom prst="roundRect">
            <a:avLst>
              <a:gd name="adj" fmla="val 22222"/>
            </a:avLst>
          </a:prstGeom>
          <a:solidFill>
            <a:srgbClr val="2563EB">
              <a:alpha val="10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9" name="文本框 188" descr="{&quot;isTemplate&quot;:true,&quot;type&quot;:&quot;text&quot;}"/>
          <p:cNvSpPr txBox="1"/>
          <p:nvPr/>
        </p:nvSpPr>
        <p:spPr>
          <a:xfrm>
            <a:off x="8524875" y="1847850"/>
            <a:ext cx="170497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563EB"/>
                </a:solidFill>
                <a:latin typeface="Microsoft YaHei"/>
                <a:ea typeface="Microsoft YaHei"/>
              </a:rPr>
              <a:t>SessionManager</a:t>
            </a:r>
            <a:r>
              <a:rPr lang="zh-CN" sz="1125" b="1">
                <a:solidFill>
                  <a:srgbClr val="2563EB"/>
                </a:solidFill>
                <a:latin typeface="Microsoft YaHei"/>
                <a:ea typeface="Microsoft YaHei"/>
              </a:rPr>
              <a:t>（单例）</a:t>
            </a:r>
            <a:endParaRPr/>
          </a:p>
        </p:txBody>
      </p:sp>
      <p:sp>
        <p:nvSpPr>
          <p:cNvPr id="190" name="文本框 189" descr="{&quot;isTemplate&quot;:true,&quot;type&quot;:&quot;text&quot;}"/>
          <p:cNvSpPr txBox="1"/>
          <p:nvPr/>
        </p:nvSpPr>
        <p:spPr>
          <a:xfrm>
            <a:off x="9286875" y="2200275"/>
            <a:ext cx="1714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350" b="1">
                <a:solidFill>
                  <a:srgbClr val="94A3B8"/>
                </a:solidFill>
                <a:latin typeface="Microsoft YaHei"/>
                <a:ea typeface="Microsoft YaHei"/>
              </a:rPr>
              <a:t>▼</a:t>
            </a:r>
            <a:endParaRPr/>
          </a:p>
        </p:txBody>
      </p:sp>
      <p:sp>
        <p:nvSpPr>
          <p:cNvPr id="191" name="圆角矩形 190"/>
          <p:cNvSpPr/>
          <p:nvPr/>
        </p:nvSpPr>
        <p:spPr>
          <a:xfrm>
            <a:off x="7315200" y="2505075"/>
            <a:ext cx="1304925" cy="1076325"/>
          </a:xfrm>
          <a:prstGeom prst="roundRect">
            <a:avLst>
              <a:gd name="adj" fmla="val 7080"/>
            </a:avLst>
          </a:prstGeom>
          <a:solidFill>
            <a:srgbClr val="2563EB">
              <a:alpha val="6275"/>
            </a:srgbClr>
          </a:solidFill>
          <a:ln w="12700">
            <a:solidFill>
              <a:srgbClr val="2563EB">
                <a:alpha val="33333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2" name="文本框 191" descr="{&quot;isTemplate&quot;:true,&quot;type&quot;:&quot;text&quot;}"/>
          <p:cNvSpPr txBox="1"/>
          <p:nvPr/>
        </p:nvSpPr>
        <p:spPr>
          <a:xfrm>
            <a:off x="7810500" y="2600325"/>
            <a:ext cx="3143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563EB"/>
                </a:solidFill>
                <a:latin typeface="Microsoft YaHei"/>
                <a:ea typeface="Microsoft YaHei"/>
              </a:rPr>
              <a:t>sid-A</a:t>
            </a:r>
            <a:endParaRPr/>
          </a:p>
        </p:txBody>
      </p:sp>
      <p:sp>
        <p:nvSpPr>
          <p:cNvPr id="193" name="文本框 192" descr="{&quot;isTemplate&quot;:true,&quot;type&quot;:&quot;text&quot;}"/>
          <p:cNvSpPr txBox="1"/>
          <p:nvPr/>
        </p:nvSpPr>
        <p:spPr>
          <a:xfrm>
            <a:off x="7677150" y="2790825"/>
            <a:ext cx="581025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30000"/>
              </a:lnSpc>
            </a:pPr>
            <a:r>
              <a:rPr lang="en-US" sz="863">
                <a:solidFill>
                  <a:srgbClr val="475569"/>
                </a:solidFill>
                <a:latin typeface="Microsoft YaHei"/>
                <a:ea typeface="Microsoft YaHei"/>
              </a:rPr>
              <a:t>BaseAvatar</a:t>
            </a:r>
            <a:endParaRPr/>
          </a:p>
          <a:p>
            <a:pPr algn="ctr">
              <a:lnSpc>
                <a:spcPct val="130000"/>
              </a:lnSpc>
            </a:pPr>
            <a:r>
              <a:rPr lang="zh-CN" sz="863">
                <a:solidFill>
                  <a:srgbClr val="475569"/>
                </a:solidFill>
                <a:latin typeface="Microsoft YaHei"/>
                <a:ea typeface="Microsoft YaHei"/>
              </a:rPr>
              <a:t>实例</a:t>
            </a:r>
            <a:endParaRPr/>
          </a:p>
        </p:txBody>
      </p:sp>
      <p:sp>
        <p:nvSpPr>
          <p:cNvPr id="194" name="文本框 193" descr="{&quot;isTemplate&quot;:true,&quot;type&quot;:&quot;text&quot;}"/>
          <p:cNvSpPr txBox="1"/>
          <p:nvPr/>
        </p:nvSpPr>
        <p:spPr>
          <a:xfrm>
            <a:off x="7667625" y="3171825"/>
            <a:ext cx="609600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30000"/>
              </a:lnSpc>
            </a:pPr>
            <a:r>
              <a:rPr lang="en-US" sz="788">
                <a:solidFill>
                  <a:srgbClr val="94A3B8"/>
                </a:solidFill>
                <a:latin typeface="Microsoft YaHei"/>
                <a:ea typeface="Microsoft YaHei"/>
              </a:rPr>
              <a:t>asr+tts</a:t>
            </a:r>
            <a:endParaRPr/>
          </a:p>
          <a:p>
            <a:pPr algn="ctr">
              <a:lnSpc>
                <a:spcPct val="130000"/>
              </a:lnSpc>
            </a:pPr>
            <a:r>
              <a:rPr lang="en-US" sz="788">
                <a:solidFill>
                  <a:srgbClr val="94A3B8"/>
                </a:solidFill>
                <a:latin typeface="Microsoft YaHei"/>
                <a:ea typeface="Microsoft YaHei"/>
              </a:rPr>
              <a:t>infer+render</a:t>
            </a:r>
            <a:endParaRPr/>
          </a:p>
        </p:txBody>
      </p:sp>
      <p:sp>
        <p:nvSpPr>
          <p:cNvPr id="195" name="圆角矩形 194"/>
          <p:cNvSpPr/>
          <p:nvPr/>
        </p:nvSpPr>
        <p:spPr>
          <a:xfrm>
            <a:off x="8715375" y="2505075"/>
            <a:ext cx="1314450" cy="1076325"/>
          </a:xfrm>
          <a:prstGeom prst="roundRect">
            <a:avLst>
              <a:gd name="adj" fmla="val 7080"/>
            </a:avLst>
          </a:prstGeom>
          <a:solidFill>
            <a:srgbClr val="0891B2">
              <a:alpha val="6275"/>
            </a:srgbClr>
          </a:solidFill>
          <a:ln w="12700">
            <a:solidFill>
              <a:srgbClr val="0891B2">
                <a:alpha val="33333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6" name="文本框 195" descr="{&quot;isTemplate&quot;:true,&quot;type&quot;:&quot;text&quot;}"/>
          <p:cNvSpPr txBox="1"/>
          <p:nvPr/>
        </p:nvSpPr>
        <p:spPr>
          <a:xfrm>
            <a:off x="9220200" y="2600325"/>
            <a:ext cx="3048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0891B2"/>
                </a:solidFill>
                <a:latin typeface="Microsoft YaHei"/>
                <a:ea typeface="Microsoft YaHei"/>
              </a:rPr>
              <a:t>sid-B</a:t>
            </a:r>
            <a:endParaRPr/>
          </a:p>
        </p:txBody>
      </p:sp>
      <p:sp>
        <p:nvSpPr>
          <p:cNvPr id="197" name="文本框 196" descr="{&quot;isTemplate&quot;:true,&quot;type&quot;:&quot;text&quot;}"/>
          <p:cNvSpPr txBox="1"/>
          <p:nvPr/>
        </p:nvSpPr>
        <p:spPr>
          <a:xfrm>
            <a:off x="9086850" y="2790825"/>
            <a:ext cx="581025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30000"/>
              </a:lnSpc>
            </a:pPr>
            <a:r>
              <a:rPr lang="en-US" sz="863">
                <a:solidFill>
                  <a:srgbClr val="475569"/>
                </a:solidFill>
                <a:latin typeface="Microsoft YaHei"/>
                <a:ea typeface="Microsoft YaHei"/>
              </a:rPr>
              <a:t>BaseAvatar</a:t>
            </a:r>
            <a:endParaRPr/>
          </a:p>
          <a:p>
            <a:pPr algn="ctr">
              <a:lnSpc>
                <a:spcPct val="130000"/>
              </a:lnSpc>
            </a:pPr>
            <a:r>
              <a:rPr lang="zh-CN" sz="863">
                <a:solidFill>
                  <a:srgbClr val="475569"/>
                </a:solidFill>
                <a:latin typeface="Microsoft YaHei"/>
                <a:ea typeface="Microsoft YaHei"/>
              </a:rPr>
              <a:t>实例</a:t>
            </a:r>
            <a:endParaRPr/>
          </a:p>
        </p:txBody>
      </p:sp>
      <p:sp>
        <p:nvSpPr>
          <p:cNvPr id="198" name="文本框 197" descr="{&quot;isTemplate&quot;:true,&quot;type&quot;:&quot;text&quot;}"/>
          <p:cNvSpPr txBox="1"/>
          <p:nvPr/>
        </p:nvSpPr>
        <p:spPr>
          <a:xfrm>
            <a:off x="9067800" y="3171825"/>
            <a:ext cx="609600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30000"/>
              </a:lnSpc>
            </a:pPr>
            <a:r>
              <a:rPr lang="en-US" sz="788">
                <a:solidFill>
                  <a:srgbClr val="94A3B8"/>
                </a:solidFill>
                <a:latin typeface="Microsoft YaHei"/>
                <a:ea typeface="Microsoft YaHei"/>
              </a:rPr>
              <a:t>asr+tts</a:t>
            </a:r>
            <a:endParaRPr/>
          </a:p>
          <a:p>
            <a:pPr algn="ctr">
              <a:lnSpc>
                <a:spcPct val="130000"/>
              </a:lnSpc>
            </a:pPr>
            <a:r>
              <a:rPr lang="en-US" sz="788">
                <a:solidFill>
                  <a:srgbClr val="94A3B8"/>
                </a:solidFill>
                <a:latin typeface="Microsoft YaHei"/>
                <a:ea typeface="Microsoft YaHei"/>
              </a:rPr>
              <a:t>infer+render</a:t>
            </a:r>
            <a:endParaRPr/>
          </a:p>
        </p:txBody>
      </p:sp>
      <p:sp>
        <p:nvSpPr>
          <p:cNvPr id="199" name="圆角矩形 198"/>
          <p:cNvSpPr/>
          <p:nvPr/>
        </p:nvSpPr>
        <p:spPr>
          <a:xfrm>
            <a:off x="10125075" y="2505075"/>
            <a:ext cx="1304925" cy="1076325"/>
          </a:xfrm>
          <a:prstGeom prst="roundRect">
            <a:avLst>
              <a:gd name="adj" fmla="val 7080"/>
            </a:avLst>
          </a:prstGeom>
          <a:solidFill>
            <a:srgbClr val="7C3AED">
              <a:alpha val="6275"/>
            </a:srgbClr>
          </a:solidFill>
          <a:ln w="12700">
            <a:solidFill>
              <a:srgbClr val="7C3AED">
                <a:alpha val="33333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0" name="文本框 199" descr="{&quot;isTemplate&quot;:true,&quot;type&quot;:&quot;text&quot;}"/>
          <p:cNvSpPr txBox="1"/>
          <p:nvPr/>
        </p:nvSpPr>
        <p:spPr>
          <a:xfrm>
            <a:off x="10620375" y="2600325"/>
            <a:ext cx="3143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7C3AED"/>
                </a:solidFill>
                <a:latin typeface="Microsoft YaHei"/>
                <a:ea typeface="Microsoft YaHei"/>
              </a:rPr>
              <a:t>sid-C</a:t>
            </a:r>
            <a:endParaRPr/>
          </a:p>
        </p:txBody>
      </p:sp>
      <p:sp>
        <p:nvSpPr>
          <p:cNvPr id="201" name="文本框 200" descr="{&quot;isTemplate&quot;:true,&quot;type&quot;:&quot;text&quot;}"/>
          <p:cNvSpPr txBox="1"/>
          <p:nvPr/>
        </p:nvSpPr>
        <p:spPr>
          <a:xfrm>
            <a:off x="10487025" y="2790825"/>
            <a:ext cx="581025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30000"/>
              </a:lnSpc>
            </a:pPr>
            <a:r>
              <a:rPr lang="en-US" sz="863">
                <a:solidFill>
                  <a:srgbClr val="475569"/>
                </a:solidFill>
                <a:latin typeface="Microsoft YaHei"/>
                <a:ea typeface="Microsoft YaHei"/>
              </a:rPr>
              <a:t>BaseAvatar</a:t>
            </a:r>
            <a:endParaRPr/>
          </a:p>
          <a:p>
            <a:pPr algn="ctr">
              <a:lnSpc>
                <a:spcPct val="130000"/>
              </a:lnSpc>
            </a:pPr>
            <a:r>
              <a:rPr lang="zh-CN" sz="863">
                <a:solidFill>
                  <a:srgbClr val="475569"/>
                </a:solidFill>
                <a:latin typeface="Microsoft YaHei"/>
                <a:ea typeface="Microsoft YaHei"/>
              </a:rPr>
              <a:t>实例</a:t>
            </a:r>
            <a:endParaRPr/>
          </a:p>
        </p:txBody>
      </p:sp>
      <p:sp>
        <p:nvSpPr>
          <p:cNvPr id="202" name="文本框 201" descr="{&quot;isTemplate&quot;:true,&quot;type&quot;:&quot;text&quot;}"/>
          <p:cNvSpPr txBox="1"/>
          <p:nvPr/>
        </p:nvSpPr>
        <p:spPr>
          <a:xfrm>
            <a:off x="10477500" y="3171825"/>
            <a:ext cx="609600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30000"/>
              </a:lnSpc>
            </a:pPr>
            <a:r>
              <a:rPr lang="en-US" sz="788">
                <a:solidFill>
                  <a:srgbClr val="94A3B8"/>
                </a:solidFill>
                <a:latin typeface="Microsoft YaHei"/>
                <a:ea typeface="Microsoft YaHei"/>
              </a:rPr>
              <a:t>asr+tts</a:t>
            </a:r>
            <a:endParaRPr/>
          </a:p>
          <a:p>
            <a:pPr algn="ctr">
              <a:lnSpc>
                <a:spcPct val="130000"/>
              </a:lnSpc>
            </a:pPr>
            <a:r>
              <a:rPr lang="en-US" sz="788">
                <a:solidFill>
                  <a:srgbClr val="94A3B8"/>
                </a:solidFill>
                <a:latin typeface="Microsoft YaHei"/>
                <a:ea typeface="Microsoft YaHei"/>
              </a:rPr>
              <a:t>infer+render</a:t>
            </a:r>
            <a:endParaRPr/>
          </a:p>
        </p:txBody>
      </p:sp>
      <p:sp>
        <p:nvSpPr>
          <p:cNvPr id="203" name="文本框 202" descr="{&quot;isTemplate&quot;:true,&quot;type&quot;:&quot;text&quot;}"/>
          <p:cNvSpPr txBox="1"/>
          <p:nvPr/>
        </p:nvSpPr>
        <p:spPr>
          <a:xfrm>
            <a:off x="8553450" y="3676650"/>
            <a:ext cx="1647825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94A3B8"/>
                </a:solidFill>
                <a:latin typeface="Microsoft YaHei"/>
                <a:ea typeface="Microsoft YaHei"/>
              </a:rPr>
              <a:t>▲ </a:t>
            </a:r>
            <a:r>
              <a:rPr lang="zh-CN" sz="1275" b="1">
                <a:solidFill>
                  <a:srgbClr val="94A3B8"/>
                </a:solidFill>
                <a:latin typeface="Microsoft YaHei"/>
                <a:ea typeface="Microsoft YaHei"/>
              </a:rPr>
              <a:t>独立实例</a:t>
            </a:r>
            <a:r>
              <a:rPr lang="en-US" sz="1275" b="1">
                <a:solidFill>
                  <a:srgbClr val="94A3B8"/>
                </a:solidFill>
                <a:latin typeface="Microsoft YaHei"/>
                <a:ea typeface="Microsoft YaHei"/>
              </a:rPr>
              <a:t> · </a:t>
            </a:r>
            <a:r>
              <a:rPr lang="zh-CN" sz="1275" b="1">
                <a:solidFill>
                  <a:srgbClr val="94A3B8"/>
                </a:solidFill>
                <a:latin typeface="Microsoft YaHei"/>
                <a:ea typeface="Microsoft YaHei"/>
              </a:rPr>
              <a:t>各自线程</a:t>
            </a:r>
            <a:endParaRPr/>
          </a:p>
        </p:txBody>
      </p:sp>
      <p:sp>
        <p:nvSpPr>
          <p:cNvPr id="204" name="圆角矩形 203"/>
          <p:cNvSpPr/>
          <p:nvPr/>
        </p:nvSpPr>
        <p:spPr>
          <a:xfrm>
            <a:off x="7315200" y="4029075"/>
            <a:ext cx="4114800" cy="638175"/>
          </a:xfrm>
          <a:prstGeom prst="roundRect">
            <a:avLst>
              <a:gd name="adj" fmla="val 8955"/>
            </a:avLst>
          </a:prstGeom>
          <a:solidFill>
            <a:srgbClr val="0F172A">
              <a:alpha val="6000"/>
            </a:srgbClr>
          </a:solidFill>
          <a:ln w="12700">
            <a:solidFill>
              <a:srgbClr val="64748B">
                <a:alpha val="40000"/>
              </a:srgbClr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205" name="文本框 204" descr="{&quot;isTemplate&quot;:true,&quot;type&quot;:&quot;text&quot;}"/>
          <p:cNvSpPr txBox="1"/>
          <p:nvPr/>
        </p:nvSpPr>
        <p:spPr>
          <a:xfrm>
            <a:off x="7429500" y="4124325"/>
            <a:ext cx="3886200" cy="447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共享底层资源：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GPU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模型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+ global_avatars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形象缓存（同一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avatar_id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仅加载一次）</a:t>
            </a:r>
            <a:endParaRPr/>
          </a:p>
        </p:txBody>
      </p:sp>
      <p:sp>
        <p:nvSpPr>
          <p:cNvPr id="206" name="文本框 205" descr="{&quot;isTemplate&quot;:true,&quot;type&quot;:&quot;text&quot;}"/>
          <p:cNvSpPr txBox="1"/>
          <p:nvPr/>
        </p:nvSpPr>
        <p:spPr>
          <a:xfrm>
            <a:off x="7315200" y="4800600"/>
            <a:ext cx="4114800" cy="4191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RTCManager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维护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pcs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集合，每个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PeerConnection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绑定独立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HumanPlayer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音视频轨道。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transparent', padding: '90px 72px 16px', flexDirection: 'column' }}&gt;&#10;    &lt;Image src=&quot;resources/images/gvp_background.jpg&quot; style={{ position: 'absolute', top: 0, left: 0, width: 1280, height: 720, objectFit: 'cover', }} /&gt;&#10;    &lt;Box style={{ height: 80, flexDirection: 'column', gap: 4, justifyContent: 'center', zIndex: 1 }}&gt;&#10;        &lt;Text style={{ fontSize: 36, fontWeight: 'bold', color: '#1E293B' }}&gt;四层模块化架构&lt;/Text&gt;&#10;        &lt;Text style={{ fontSize: 16, color: '#475569' }}&gt;同时解决计算密集型 AI 推理与 IO 密集型流媒体传输&lt;/Text&gt;&#10;    &lt;/Box&gt;&#10;    &lt;Box style={{ flexDirection: 'row', gap: 0, flex: 1, marginTop: 8, zIndex: 1 }}&gt;&#10;        &lt;Box style={{ width: '58%', padding: '12px 20px 12px 0', flexDirection: 'column', justifyContent: 'center', gap: 16 }}&gt;&#10;            &lt;Box style={{ flexDirection: 'column', gap: 0, padding: 20, background: 'transparent', borderRadius: 12, border: '1px solid #CBD5E1' }}&gt;&#10;                &lt;Box style={{ flexDirection: 'row', alignItems: 'center', gap: 12, padding: '12px 16px', background: 'rgba(37, 99, 235, 0.1)', borderRadius: 8, marginBottom: 12 }}&gt;&#10;                    &lt;Box style={{ width: 28, height: 28, borderRadius: 6, background: '#2563EB', justifyContent: 'center', alignItems: 'center' }}&gt;&#10;                        &lt;Text style={{ fontSize: 14, fontWeight: 'bold', color: '#FFFFFF' }}&gt;1&lt;/Text&gt;&#10;                    &lt;/Box&gt;&#10;                    &lt;Text style={{ fontSize: 16, fontWeight: 'bold', color: '#1E293B' }}&gt;Network 网络层&lt;/Text&gt;&#10;                    &lt;Text style={{ fontSize: 13, color: '#475569' }}&gt;aiohttp / aiortc / WebRTC&lt;/Text&gt;&#10;                &lt;/Box&gt;&#10;                &lt;Box style={{ flexDirection: 'row', alignItems: 'center', gap: 12, padding: '12px 16px', background: 'rgba(8, 145, 178, 0.1)', borderRadius: 8, marginBottom: 12 }}&gt;&#10;                    &lt;Box style={{ width: 28, height: 28, borderRadius: 6, background: '#0891B2', justifyContent: 'center', alignItems: 'center' }}&gt;&#10;                        &lt;Text style={{ fontSize: 14, fontWeight: 'bold', color: '#FFFFFF' }}&gt;2&lt;/Text&gt;&#10;                    &lt;/Box&gt;&#10;                    &lt;Text style={{ fontSize: 16, fontWeight: 'bold', color: '#1E293B' }}&gt;Session 控制层&lt;/Text&gt;&#10;                    &lt;Text style={{ fontSize: 13, color: '#475569' }}&gt;SessionManager / 路由分发&lt;/Text&gt;&#10;                &lt;/Box&gt;&#10;                &lt;Box style={{ flexDirection: 'row', alignItems: 'center', gap: 12, padding: '12px 16px', background: 'rgba(37, 99, 235, 0.1)', borderRadius: 8, marginBottom: 12 }}&gt;&#10;                    &lt;Box style={{ width: 28, height: 28, borderRadius: 6, background: '#2563EB', justifyContent: 'center', alignItems: 'center' }}&gt;&#10;                        &lt;Text style={{ fontSize: 14, fontWeight: 'bold', color: '#FFFFFF' }}&gt;3&lt;/Text&gt;&#10;                    &lt;/Box&gt;&#10;                    &lt;Text style={{ fontSize: 16, fontWeight: 'bold', color: '#1E293B' }}&gt;Avatar 调度层&lt;/Text&gt;&#10;                    &lt;Text style={{ fontSize: 13, color: '#475569' }}&gt;BaseAvatar / Wav2Lip / MuseTalk&lt;/Text&gt;&#10;                &lt;/Box&gt;&#10;                &lt;Box style={{ flexDirection: 'row', alignItems: 'center', gap: 12, padding: '12px 16px', background: 'rgba(8, 145, 178, 0.1)', borderRadius: 8 }}&gt;&#10;                    &lt;Box style={{ width: 28, height: 28, borderRadius: 6, background: '#0891B2', justifyContent: 'center', alignItems: 'center' }}&gt;&#10;                        &lt;Text style={{ fontSize: 14, fontWeight: 'bold', color: '#FFFFFF' }}&gt;4&lt;/Text&gt;&#10;                    &lt;/Box&gt;&#10;                    &lt;Text style={{ fontSize: 16, fontWeight: 'bold', color: '#1E293B' }}&gt;Model 模型层&lt;/Text&gt;&#10;                    &lt;Text style={{ fontSize: 13, color: '#475569' }}&gt;TTS / LLM / ASR / 数字人模型&lt;/Text&gt;&#10;                &lt;/Box&gt;&#10;            &lt;/Box&gt;&#10;            &lt;Box style={{ flexDirection: 'row', justifyContent: 'center', alignItems: 'center', gap: 8 }}&gt;&#10;                &lt;Box style={{ width: 12, height: 12, borderRadius: 6, background: '#2563EB' }} /&gt;&#10;                &lt;Text style={{ fontSize: 13, color: '#475569' }}&gt;数据流自上而下，模块间通过队列解耦&lt;/Text&gt;&#10;            &lt;/Box&gt;&#10;        &lt;/Box&gt;&#10;        &lt;Box style={{ flex: 1, flexDirection: 'column', gap: 12, justifyContent: 'center', paddingLeft: 20, borderLeft: '1px solid #CBD5E1' }}&gt;&#10;            &lt;Box style={{ flexDirection: 'column', gap: 6, padding: 16, background: 'transparent', borderRadius: 8 }}&gt;&#10;                &lt;Box style={{ flexDirection: 'row', alignItems: 'center', gap: 8 }}&gt;&#10;                    &lt;Box style={{ width: 8, height: 8, borderRadius: 4, background: '#2563EB' }} /&gt;&#10;                    &lt;Text style={{ fontSize: 16, fontWeight: 'bold', color: '#1E293B' }}&gt;面向对象 + 工厂模式&lt;/Text&gt;&#10;                &lt;/Box&gt;&#10;                &lt;Text style={{ fontSize: 13, color: '#475569', lineHeight: 1.5 }}&gt;BaseAvatar 抽象基类，继承体系：Wav2LipAvatar / MusetalkAvatar / UltralightAvatar&lt;/Text&gt;&#10;            &lt;/Box&gt;&#10;            &lt;Box style={{ flexDirection: 'column', gap: 6, padding: 16, background: 'transparent', borderRadius: 8 }}&gt;&#10;                &lt;Box style={{ flexDirection: 'row', alignItems: 'center', gap: 8 }}&gt;&#10;                    &lt;Box style={{ width: 8, height: 8, borderRadius: 4, background: '#0891B2' }} /&gt;&#10;                    &lt;Text style={{ fontSize: 16, fontWeight: 'bold', color: '#1E293B' }}&gt;Registry 注册机制&lt;/Text&gt;&#10;                &lt;/Box&gt;&#10;                &lt;Text style={{ fontSize: 13, color: '#475569', lineHeight: 1.5 }}&gt;去中心化注册，Importlib 反射式加载，新增模块不改主干代码&lt;/Text&gt;&#10;            &lt;/Box&gt;&#10;            &lt;Box style={{ flexDirection: 'column', gap: 6, padding: 16, background: 'transparent', borderRadius: 8 }}&gt;&#10;                &lt;Box style={{ flexDirection: 'row', alignItems: 'center', gap: 8 }}&gt;&#10;                    &lt;Box style={{ width: 8, height: 8, borderRadius: 4, background: '#2563EB' }} /&gt;&#10;                    &lt;Text style={{ fontSize: 16, fontWeight: 'bold', color: '#1E293B' }}&gt;输出模块可插拔&lt;/Text&gt;&#10;                &lt;/Box&gt;&#10;                &lt;Text style={{ fontSize: 13, color: '#475569', lineHeight: 1.5 }}&gt;BaseOutput 基类：WebRTCOutput / RTMPOutput，推流协议按需切换&lt;/Text&gt;&#10;            &lt;/Box&gt;&#10;        &lt;/Box&gt;&#10;    &lt;/Box&gt;&#10;    &lt;Box style={{ height: 30, flexDirection: 'row', justifyContent: 'space-between', alignItems: 'center', zIndex: 1 }}&gt;&#10;        &lt;Text style={{ fontSize: 14, color: '#475569' }}&gt;分库清晰 · 流式到底 · 动静分离 · 管线化并流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图片 29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292" name="文本框 291" descr="{&quot;isTemplate&quot;:true,&quot;type&quot;:&quot;text&quot;}"/>
          <p:cNvSpPr txBox="1"/>
          <p:nvPr/>
        </p:nvSpPr>
        <p:spPr>
          <a:xfrm>
            <a:off x="685800" y="914400"/>
            <a:ext cx="10820400" cy="4191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E293B"/>
                </a:solidFill>
                <a:latin typeface="Microsoft YaHei"/>
                <a:ea typeface="Microsoft YaHei"/>
              </a:rPr>
              <a:t>四层模块化架构</a:t>
            </a:r>
            <a:endParaRPr/>
          </a:p>
        </p:txBody>
      </p:sp>
      <p:sp>
        <p:nvSpPr>
          <p:cNvPr id="293" name="文本框 292" descr="{&quot;isTemplate&quot;:true,&quot;type&quot;:&quot;text&quot;}"/>
          <p:cNvSpPr txBox="1"/>
          <p:nvPr/>
        </p:nvSpPr>
        <p:spPr>
          <a:xfrm>
            <a:off x="685800" y="1371600"/>
            <a:ext cx="108204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同时解决计算密集型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> AI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推理与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> IO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密集型流媒体传输</a:t>
            </a:r>
            <a:endParaRPr/>
          </a:p>
        </p:txBody>
      </p:sp>
      <p:sp>
        <p:nvSpPr>
          <p:cNvPr id="294" name="圆角矩形 293"/>
          <p:cNvSpPr/>
          <p:nvPr/>
        </p:nvSpPr>
        <p:spPr>
          <a:xfrm>
            <a:off x="685800" y="2552700"/>
            <a:ext cx="6086475" cy="2705100"/>
          </a:xfrm>
          <a:prstGeom prst="roundRect">
            <a:avLst>
              <a:gd name="adj" fmla="val 4225"/>
            </a:avLst>
          </a:prstGeom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5" name="圆角矩形 294"/>
          <p:cNvSpPr/>
          <p:nvPr/>
        </p:nvSpPr>
        <p:spPr>
          <a:xfrm>
            <a:off x="876300" y="2743200"/>
            <a:ext cx="5705475" cy="495300"/>
          </a:xfrm>
          <a:prstGeom prst="roundRect">
            <a:avLst>
              <a:gd name="adj" fmla="val 15385"/>
            </a:avLst>
          </a:prstGeom>
          <a:solidFill>
            <a:srgbClr val="2563EB">
              <a:alpha val="1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6" name="圆角矩形 295"/>
          <p:cNvSpPr/>
          <p:nvPr/>
        </p:nvSpPr>
        <p:spPr>
          <a:xfrm>
            <a:off x="1028700" y="2857500"/>
            <a:ext cx="266700" cy="266700"/>
          </a:xfrm>
          <a:prstGeom prst="roundRect">
            <a:avLst>
              <a:gd name="adj" fmla="val 21429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7" name="文本框 296" descr="{&quot;isTemplate&quot;:true,&quot;type&quot;:&quot;text&quot;}"/>
          <p:cNvSpPr txBox="1"/>
          <p:nvPr/>
        </p:nvSpPr>
        <p:spPr>
          <a:xfrm>
            <a:off x="1123950" y="2914650"/>
            <a:ext cx="857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298" name="文本框 297" descr="{&quot;isTemplate&quot;:true,&quot;type&quot;:&quot;text&quot;}"/>
          <p:cNvSpPr txBox="1"/>
          <p:nvPr/>
        </p:nvSpPr>
        <p:spPr>
          <a:xfrm>
            <a:off x="1409700" y="2895600"/>
            <a:ext cx="11334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293B"/>
                </a:solidFill>
                <a:latin typeface="Microsoft YaHei"/>
                <a:ea typeface="Microsoft YaHei"/>
              </a:rPr>
              <a:t>Network </a:t>
            </a:r>
            <a:r>
              <a:rPr lang="zh-CN" sz="1200" b="1">
                <a:solidFill>
                  <a:srgbClr val="1E293B"/>
                </a:solidFill>
                <a:latin typeface="Microsoft YaHei"/>
                <a:ea typeface="Microsoft YaHei"/>
              </a:rPr>
              <a:t>网络层</a:t>
            </a:r>
            <a:endParaRPr/>
          </a:p>
        </p:txBody>
      </p:sp>
      <p:sp>
        <p:nvSpPr>
          <p:cNvPr id="299" name="文本框 298" descr="{&quot;isTemplate&quot;:true,&quot;type&quot;:&quot;text&quot;}"/>
          <p:cNvSpPr txBox="1"/>
          <p:nvPr/>
        </p:nvSpPr>
        <p:spPr>
          <a:xfrm>
            <a:off x="2657475" y="2914650"/>
            <a:ext cx="15240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aiohttp / aiortc / WebRTC</a:t>
            </a:r>
            <a:endParaRPr/>
          </a:p>
        </p:txBody>
      </p:sp>
      <p:sp>
        <p:nvSpPr>
          <p:cNvPr id="300" name="圆角矩形 299"/>
          <p:cNvSpPr/>
          <p:nvPr/>
        </p:nvSpPr>
        <p:spPr>
          <a:xfrm>
            <a:off x="876300" y="3352800"/>
            <a:ext cx="5705475" cy="495300"/>
          </a:xfrm>
          <a:prstGeom prst="roundRect">
            <a:avLst>
              <a:gd name="adj" fmla="val 15385"/>
            </a:avLst>
          </a:prstGeom>
          <a:solidFill>
            <a:srgbClr val="0891B2">
              <a:alpha val="1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1" name="圆角矩形 300"/>
          <p:cNvSpPr/>
          <p:nvPr/>
        </p:nvSpPr>
        <p:spPr>
          <a:xfrm>
            <a:off x="1028700" y="3467100"/>
            <a:ext cx="266700" cy="266700"/>
          </a:xfrm>
          <a:prstGeom prst="roundRect">
            <a:avLst>
              <a:gd name="adj" fmla="val 21429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2" name="文本框 301" descr="{&quot;isTemplate&quot;:true,&quot;type&quot;:&quot;text&quot;}"/>
          <p:cNvSpPr txBox="1"/>
          <p:nvPr/>
        </p:nvSpPr>
        <p:spPr>
          <a:xfrm>
            <a:off x="1123950" y="3524250"/>
            <a:ext cx="857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303" name="文本框 302" descr="{&quot;isTemplate&quot;:true,&quot;type&quot;:&quot;text&quot;}"/>
          <p:cNvSpPr txBox="1"/>
          <p:nvPr/>
        </p:nvSpPr>
        <p:spPr>
          <a:xfrm>
            <a:off x="1409700" y="3505200"/>
            <a:ext cx="10572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293B"/>
                </a:solidFill>
                <a:latin typeface="Microsoft YaHei"/>
                <a:ea typeface="Microsoft YaHei"/>
              </a:rPr>
              <a:t>Session </a:t>
            </a:r>
            <a:r>
              <a:rPr lang="zh-CN" sz="1200" b="1">
                <a:solidFill>
                  <a:srgbClr val="1E293B"/>
                </a:solidFill>
                <a:latin typeface="Microsoft YaHei"/>
                <a:ea typeface="Microsoft YaHei"/>
              </a:rPr>
              <a:t>控制层</a:t>
            </a:r>
            <a:endParaRPr/>
          </a:p>
        </p:txBody>
      </p:sp>
      <p:sp>
        <p:nvSpPr>
          <p:cNvPr id="304" name="文本框 303" descr="{&quot;isTemplate&quot;:true,&quot;type&quot;:&quot;text&quot;}"/>
          <p:cNvSpPr txBox="1"/>
          <p:nvPr/>
        </p:nvSpPr>
        <p:spPr>
          <a:xfrm>
            <a:off x="2581275" y="3524250"/>
            <a:ext cx="16002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SessionManager /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路由分发</a:t>
            </a:r>
            <a:endParaRPr/>
          </a:p>
        </p:txBody>
      </p:sp>
      <p:sp>
        <p:nvSpPr>
          <p:cNvPr id="305" name="圆角矩形 304"/>
          <p:cNvSpPr/>
          <p:nvPr/>
        </p:nvSpPr>
        <p:spPr>
          <a:xfrm>
            <a:off x="876300" y="3962400"/>
            <a:ext cx="5705475" cy="495300"/>
          </a:xfrm>
          <a:prstGeom prst="roundRect">
            <a:avLst>
              <a:gd name="adj" fmla="val 15385"/>
            </a:avLst>
          </a:prstGeom>
          <a:solidFill>
            <a:srgbClr val="2563EB">
              <a:alpha val="1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6" name="圆角矩形 305"/>
          <p:cNvSpPr/>
          <p:nvPr/>
        </p:nvSpPr>
        <p:spPr>
          <a:xfrm>
            <a:off x="1028700" y="4076700"/>
            <a:ext cx="266700" cy="266700"/>
          </a:xfrm>
          <a:prstGeom prst="roundRect">
            <a:avLst>
              <a:gd name="adj" fmla="val 21429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7" name="文本框 306" descr="{&quot;isTemplate&quot;:true,&quot;type&quot;:&quot;text&quot;}"/>
          <p:cNvSpPr txBox="1"/>
          <p:nvPr/>
        </p:nvSpPr>
        <p:spPr>
          <a:xfrm>
            <a:off x="1123950" y="4133850"/>
            <a:ext cx="857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308" name="文本框 307" descr="{&quot;isTemplate&quot;:true,&quot;type&quot;:&quot;text&quot;}"/>
          <p:cNvSpPr txBox="1"/>
          <p:nvPr/>
        </p:nvSpPr>
        <p:spPr>
          <a:xfrm>
            <a:off x="1409700" y="4114800"/>
            <a:ext cx="9715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293B"/>
                </a:solidFill>
                <a:latin typeface="Microsoft YaHei"/>
                <a:ea typeface="Microsoft YaHei"/>
              </a:rPr>
              <a:t>Avatar </a:t>
            </a:r>
            <a:r>
              <a:rPr lang="zh-CN" sz="1200" b="1">
                <a:solidFill>
                  <a:srgbClr val="1E293B"/>
                </a:solidFill>
                <a:latin typeface="Microsoft YaHei"/>
                <a:ea typeface="Microsoft YaHei"/>
              </a:rPr>
              <a:t>调度层</a:t>
            </a:r>
            <a:endParaRPr/>
          </a:p>
        </p:txBody>
      </p:sp>
      <p:sp>
        <p:nvSpPr>
          <p:cNvPr id="309" name="文本框 308" descr="{&quot;isTemplate&quot;:true,&quot;type&quot;:&quot;text&quot;}"/>
          <p:cNvSpPr txBox="1"/>
          <p:nvPr/>
        </p:nvSpPr>
        <p:spPr>
          <a:xfrm>
            <a:off x="2495550" y="4133850"/>
            <a:ext cx="19621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dirty="0" err="1">
                <a:solidFill>
                  <a:srgbClr val="475569"/>
                </a:solidFill>
                <a:latin typeface="Microsoft YaHei"/>
                <a:ea typeface="Microsoft YaHei"/>
              </a:rPr>
              <a:t>BaseAvatar</a:t>
            </a:r>
            <a:r>
              <a:rPr lang="en-US" sz="975" dirty="0">
                <a:solidFill>
                  <a:srgbClr val="475569"/>
                </a:solidFill>
                <a:latin typeface="Microsoft YaHei"/>
                <a:ea typeface="Microsoft YaHei"/>
              </a:rPr>
              <a:t> </a:t>
            </a:r>
            <a:endParaRPr dirty="0"/>
          </a:p>
        </p:txBody>
      </p:sp>
      <p:sp>
        <p:nvSpPr>
          <p:cNvPr id="310" name="圆角矩形 309"/>
          <p:cNvSpPr/>
          <p:nvPr/>
        </p:nvSpPr>
        <p:spPr>
          <a:xfrm>
            <a:off x="876300" y="4572000"/>
            <a:ext cx="5705475" cy="495300"/>
          </a:xfrm>
          <a:prstGeom prst="roundRect">
            <a:avLst>
              <a:gd name="adj" fmla="val 15385"/>
            </a:avLst>
          </a:prstGeom>
          <a:solidFill>
            <a:srgbClr val="0891B2">
              <a:alpha val="1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1" name="圆角矩形 310"/>
          <p:cNvSpPr/>
          <p:nvPr/>
        </p:nvSpPr>
        <p:spPr>
          <a:xfrm>
            <a:off x="1028700" y="4686300"/>
            <a:ext cx="266700" cy="266700"/>
          </a:xfrm>
          <a:prstGeom prst="roundRect">
            <a:avLst>
              <a:gd name="adj" fmla="val 21429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2" name="文本框 311" descr="{&quot;isTemplate&quot;:true,&quot;type&quot;:&quot;text&quot;}"/>
          <p:cNvSpPr txBox="1"/>
          <p:nvPr/>
        </p:nvSpPr>
        <p:spPr>
          <a:xfrm>
            <a:off x="1123950" y="4743450"/>
            <a:ext cx="857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313" name="文本框 312" descr="{&quot;isTemplate&quot;:true,&quot;type&quot;:&quot;text&quot;}"/>
          <p:cNvSpPr txBox="1"/>
          <p:nvPr/>
        </p:nvSpPr>
        <p:spPr>
          <a:xfrm>
            <a:off x="1409700" y="4724400"/>
            <a:ext cx="9810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293B"/>
                </a:solidFill>
                <a:latin typeface="Microsoft YaHei"/>
                <a:ea typeface="Microsoft YaHei"/>
              </a:rPr>
              <a:t>Model </a:t>
            </a:r>
            <a:r>
              <a:rPr lang="zh-CN" sz="1200" b="1">
                <a:solidFill>
                  <a:srgbClr val="1E293B"/>
                </a:solidFill>
                <a:latin typeface="Microsoft YaHei"/>
                <a:ea typeface="Microsoft YaHei"/>
              </a:rPr>
              <a:t>模型层</a:t>
            </a:r>
            <a:endParaRPr/>
          </a:p>
        </p:txBody>
      </p:sp>
      <p:sp>
        <p:nvSpPr>
          <p:cNvPr id="314" name="文本框 313" descr="{&quot;isTemplate&quot;:true,&quot;type&quot;:&quot;text&quot;}"/>
          <p:cNvSpPr txBox="1"/>
          <p:nvPr/>
        </p:nvSpPr>
        <p:spPr>
          <a:xfrm>
            <a:off x="2505075" y="4743450"/>
            <a:ext cx="17049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dirty="0">
                <a:solidFill>
                  <a:srgbClr val="475569"/>
                </a:solidFill>
                <a:latin typeface="Microsoft YaHei"/>
                <a:ea typeface="Microsoft YaHei"/>
              </a:rPr>
              <a:t>TTS / LLM / </a:t>
            </a:r>
            <a:r>
              <a:rPr lang="en-US" sz="975" dirty="0" err="1">
                <a:solidFill>
                  <a:srgbClr val="475569"/>
                </a:solidFill>
                <a:latin typeface="Microsoft YaHei"/>
                <a:ea typeface="Microsoft YaHei"/>
              </a:rPr>
              <a:t>音频特征</a:t>
            </a:r>
            <a:r>
              <a:rPr lang="en-US" sz="975" dirty="0">
                <a:solidFill>
                  <a:srgbClr val="475569"/>
                </a:solidFill>
                <a:latin typeface="Microsoft YaHei"/>
                <a:ea typeface="Microsoft YaHei"/>
              </a:rPr>
              <a:t> / </a:t>
            </a:r>
            <a:r>
              <a:rPr lang="zh-CN" sz="975" dirty="0">
                <a:solidFill>
                  <a:srgbClr val="475569"/>
                </a:solidFill>
                <a:latin typeface="Microsoft YaHei"/>
                <a:ea typeface="Microsoft YaHei"/>
              </a:rPr>
              <a:t>数字人模型</a:t>
            </a:r>
            <a:endParaRPr dirty="0"/>
          </a:p>
        </p:txBody>
      </p:sp>
      <p:sp>
        <p:nvSpPr>
          <p:cNvPr id="317" name="任意形状 316"/>
          <p:cNvSpPr/>
          <p:nvPr/>
        </p:nvSpPr>
        <p:spPr>
          <a:xfrm>
            <a:off x="6962775" y="1695450"/>
            <a:ext cx="4552950" cy="4724400"/>
          </a:xfrm>
          <a:custGeom>
            <a:avLst/>
            <a:gdLst/>
            <a:ahLst/>
            <a:cxnLst/>
            <a:rect l="0" t="0" r="0" b="0"/>
            <a:pathLst>
              <a:path w="478" h="496">
                <a:moveTo>
                  <a:pt x="0" y="0"/>
                </a:moveTo>
                <a:lnTo>
                  <a:pt x="1" y="0"/>
                </a:lnTo>
                <a:lnTo>
                  <a:pt x="1" y="496"/>
                </a:lnTo>
                <a:lnTo>
                  <a:pt x="0" y="496"/>
                </a:lnTo>
                <a:close/>
              </a:path>
            </a:pathLst>
          </a:custGeom>
          <a:solidFill>
            <a:srgbClr val="CBD5E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8" name="圆角矩形 317"/>
          <p:cNvSpPr/>
          <p:nvPr/>
        </p:nvSpPr>
        <p:spPr>
          <a:xfrm>
            <a:off x="7162800" y="2667000"/>
            <a:ext cx="4343400" cy="1000125"/>
          </a:xfrm>
          <a:prstGeom prst="roundRect">
            <a:avLst>
              <a:gd name="adj" fmla="val 7619"/>
            </a:avLst>
          </a:prstGeom>
          <a:ln/>
        </p:spPr>
        <p:txBody>
          <a:bodyPr/>
          <a:lstStyle/>
          <a:p>
            <a:endParaRPr/>
          </a:p>
        </p:txBody>
      </p:sp>
      <p:sp>
        <p:nvSpPr>
          <p:cNvPr id="319" name="圆角矩形 318"/>
          <p:cNvSpPr/>
          <p:nvPr/>
        </p:nvSpPr>
        <p:spPr>
          <a:xfrm>
            <a:off x="7315200" y="28765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0" name="文本框 319" descr="{&quot;isTemplate&quot;:true,&quot;type&quot;:&quot;text&quot;}"/>
          <p:cNvSpPr txBox="1"/>
          <p:nvPr/>
        </p:nvSpPr>
        <p:spPr>
          <a:xfrm>
            <a:off x="7467600" y="2819400"/>
            <a:ext cx="14287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293B"/>
                </a:solidFill>
                <a:latin typeface="Microsoft YaHei"/>
                <a:ea typeface="Microsoft YaHei"/>
              </a:rPr>
              <a:t>面向对象</a:t>
            </a:r>
            <a:r>
              <a:rPr lang="en-US" sz="1200" b="1">
                <a:solidFill>
                  <a:srgbClr val="1E293B"/>
                </a:solidFill>
                <a:latin typeface="Microsoft YaHei"/>
                <a:ea typeface="Microsoft YaHei"/>
              </a:rPr>
              <a:t> + </a:t>
            </a:r>
            <a:r>
              <a:rPr lang="zh-CN" sz="1200" b="1">
                <a:solidFill>
                  <a:srgbClr val="1E293B"/>
                </a:solidFill>
                <a:latin typeface="Microsoft YaHei"/>
                <a:ea typeface="Microsoft YaHei"/>
              </a:rPr>
              <a:t>工厂模式</a:t>
            </a:r>
            <a:endParaRPr/>
          </a:p>
        </p:txBody>
      </p:sp>
      <p:sp>
        <p:nvSpPr>
          <p:cNvPr id="321" name="文本框 320" descr="{&quot;isTemplate&quot;:true,&quot;type&quot;:&quot;text&quot;}"/>
          <p:cNvSpPr txBox="1"/>
          <p:nvPr/>
        </p:nvSpPr>
        <p:spPr>
          <a:xfrm>
            <a:off x="7315200" y="3067050"/>
            <a:ext cx="4038600" cy="447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BaseAvatar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抽象基类，继承体系：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Wav2LipAvatar / MusetalkAvatar / UltralightAvatar</a:t>
            </a:r>
            <a:endParaRPr/>
          </a:p>
        </p:txBody>
      </p:sp>
      <p:sp>
        <p:nvSpPr>
          <p:cNvPr id="322" name="圆角矩形 321"/>
          <p:cNvSpPr/>
          <p:nvPr/>
        </p:nvSpPr>
        <p:spPr>
          <a:xfrm>
            <a:off x="7162800" y="3781425"/>
            <a:ext cx="4343400" cy="781050"/>
          </a:xfrm>
          <a:prstGeom prst="roundRect">
            <a:avLst>
              <a:gd name="adj" fmla="val 9756"/>
            </a:avLst>
          </a:prstGeom>
          <a:ln/>
        </p:spPr>
        <p:txBody>
          <a:bodyPr/>
          <a:lstStyle/>
          <a:p>
            <a:endParaRPr/>
          </a:p>
        </p:txBody>
      </p:sp>
      <p:sp>
        <p:nvSpPr>
          <p:cNvPr id="323" name="圆角矩形 322"/>
          <p:cNvSpPr/>
          <p:nvPr/>
        </p:nvSpPr>
        <p:spPr>
          <a:xfrm>
            <a:off x="7315200" y="39909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4" name="文本框 323" descr="{&quot;isTemplate&quot;:true,&quot;type&quot;:&quot;text&quot;}"/>
          <p:cNvSpPr txBox="1"/>
          <p:nvPr/>
        </p:nvSpPr>
        <p:spPr>
          <a:xfrm>
            <a:off x="7467600" y="3933825"/>
            <a:ext cx="12477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293B"/>
                </a:solidFill>
                <a:latin typeface="Microsoft YaHei"/>
                <a:ea typeface="Microsoft YaHei"/>
              </a:rPr>
              <a:t>Registry </a:t>
            </a:r>
            <a:r>
              <a:rPr lang="zh-CN" sz="1200" b="1">
                <a:solidFill>
                  <a:srgbClr val="1E293B"/>
                </a:solidFill>
                <a:latin typeface="Microsoft YaHei"/>
                <a:ea typeface="Microsoft YaHei"/>
              </a:rPr>
              <a:t>注册机制</a:t>
            </a:r>
            <a:endParaRPr/>
          </a:p>
        </p:txBody>
      </p:sp>
      <p:sp>
        <p:nvSpPr>
          <p:cNvPr id="325" name="文本框 324" descr="{&quot;isTemplate&quot;:true,&quot;type&quot;:&quot;text&quot;}"/>
          <p:cNvSpPr txBox="1"/>
          <p:nvPr/>
        </p:nvSpPr>
        <p:spPr>
          <a:xfrm>
            <a:off x="7315200" y="4181475"/>
            <a:ext cx="40386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去中心化注册，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Importlib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反射式加载，新增模块不改主干代码</a:t>
            </a:r>
            <a:endParaRPr/>
          </a:p>
        </p:txBody>
      </p:sp>
      <p:sp>
        <p:nvSpPr>
          <p:cNvPr id="326" name="圆角矩形 325"/>
          <p:cNvSpPr/>
          <p:nvPr/>
        </p:nvSpPr>
        <p:spPr>
          <a:xfrm>
            <a:off x="7162800" y="4676775"/>
            <a:ext cx="4343400" cy="781050"/>
          </a:xfrm>
          <a:prstGeom prst="roundRect">
            <a:avLst>
              <a:gd name="adj" fmla="val 9756"/>
            </a:avLst>
          </a:prstGeom>
          <a:ln/>
        </p:spPr>
        <p:txBody>
          <a:bodyPr/>
          <a:lstStyle/>
          <a:p>
            <a:endParaRPr/>
          </a:p>
        </p:txBody>
      </p:sp>
      <p:sp>
        <p:nvSpPr>
          <p:cNvPr id="327" name="圆角矩形 326"/>
          <p:cNvSpPr/>
          <p:nvPr/>
        </p:nvSpPr>
        <p:spPr>
          <a:xfrm>
            <a:off x="7315200" y="48863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8" name="文本框 327" descr="{&quot;isTemplate&quot;:true,&quot;type&quot;:&quot;text&quot;}"/>
          <p:cNvSpPr txBox="1"/>
          <p:nvPr/>
        </p:nvSpPr>
        <p:spPr>
          <a:xfrm>
            <a:off x="7467600" y="4829175"/>
            <a:ext cx="10668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293B"/>
                </a:solidFill>
                <a:latin typeface="Microsoft YaHei"/>
                <a:ea typeface="Microsoft YaHei"/>
              </a:rPr>
              <a:t>输出模块可插拔</a:t>
            </a:r>
            <a:endParaRPr/>
          </a:p>
        </p:txBody>
      </p:sp>
      <p:sp>
        <p:nvSpPr>
          <p:cNvPr id="329" name="文本框 328" descr="{&quot;isTemplate&quot;:true,&quot;type&quot;:&quot;text&quot;}"/>
          <p:cNvSpPr txBox="1"/>
          <p:nvPr/>
        </p:nvSpPr>
        <p:spPr>
          <a:xfrm>
            <a:off x="7315200" y="5076825"/>
            <a:ext cx="40386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BaseOutput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基类：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WebRTCOutput / RTMPOutput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，推流协议按需切换</a:t>
            </a:r>
            <a:endParaRPr/>
          </a:p>
        </p:txBody>
      </p:sp>
      <p:sp>
        <p:nvSpPr>
          <p:cNvPr id="330" name="文本框 329" descr="{&quot;isTemplate&quot;:true,&quot;type&quot;:&quot;text&quot;}"/>
          <p:cNvSpPr txBox="1"/>
          <p:nvPr/>
        </p:nvSpPr>
        <p:spPr>
          <a:xfrm>
            <a:off x="685800" y="6486525"/>
            <a:ext cx="26003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分库清晰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流式到底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动静分离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管线化并流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transparent', padding: '90px 72px 16px', flexDirection: 'column' }}&gt;&#10;    &lt;Image src=&quot;resources/images/gvp_background.jpg&quot; style={{ position: 'absolute', top: 0, left: 0, width: 1280, height: 720, objectFit: 'cover', }} /&gt;&#10;    &lt;Box style={{ zIndex: 1,  height: 80, flexDirection: 'column', gap: 4, justifyContent: 'center' }}&gt;&#10;        &lt;Text style={{ fontSize: 36, fontWeight: 'bold', color: '#1E293B' }}&gt;资源消耗全景&lt;/Text&gt;&#10;        &lt;Text style={{ fontSize: 16, color: '#475569' }}&gt;GPU / CPU / 内存 / 网络逐层拆解 · 总并发 = min(GPU, CPU, 内存, 带宽)&lt;/Text&gt;&#10;    &lt;/Box&gt;&#10;    &lt;Box style={{ zIndex: 1,  flexDirection: 'row', gap: 16, marginTop: 12, flex: 1 }}&gt;&#10;        &lt;Box style={{ flex: 1, background: 'rgba(255, 255, 255, 0.82)', borderRadius: 12, border: '1px solid rgba(37, 99, 235, 0.3)', padding: 24, flexDirection: 'column', justifyContent: 'center', gap: 14 }}&gt;&#10;            &lt;Box style={{ flexDirection: 'row', alignItems: 'center', gap: 10 }}&gt;&#10;                &lt;Image src='resources/images/icons/icon_microchip_2563EB.png' style={{ width: 26, height: 26 }} /&gt;&#10;                &lt;Text style={{ fontSize: 22, fontWeight: 'bold', color: '#1E293B' }}&gt;GPU&lt;/Text&gt;&#10;            &lt;/Box&gt;&#10;            &lt;Text style={{ fontSize: 16, color: '#475569', lineHeight: 1.6 }}&gt;Wav2Lip 推理 750fps · 支持 30 路并发。模型 Wav2Lip ~200MB / MuseTalk ~1.2GB。静默优化：不说话时 GPU 完全闲置&lt;/Text&gt;&#10;            &lt;Box style={{ padding: 10, background: 'rgba(239, 68, 68, 0.08)', borderRadius: 6 }}&gt;&#10;                &lt;Text style={{ fontSize: 15, color: '#EF4444', fontWeight: 'bold' }}&gt;⚠ A100/H100 无 NVENC！&lt;/Text&gt;&#10;            &lt;/Box&gt;&#10;        &lt;/Box&gt;&#10;        &lt;Box style={{ flex: 1, background: 'rgba(255, 255, 255, 0.82)', borderRadius: 12, border: '1px solid rgba(8, 145, 178, 0.3)', padding: 24, flexDirection: 'column', justifyContent: 'center', gap: 14 }}&gt;&#10;            &lt;Box style={{ flexDirection: 'row', alignItems: 'center', gap: 10 }}&gt;&#10;                &lt;Image src='resources/images/icons/icon_cog_0891B2.png' style={{ width: 26, height: 26 }} /&gt;&#10;                &lt;Text style={{ fontSize: 22, fontWeight: 'bold', color: '#1E293B' }}&gt;CPU&lt;/Text&gt;&#10;            &lt;/Box&gt;&#10;            &lt;Text style={{ fontSize: 16, color: '#475569', lineHeight: 1.6 }}&gt;单路 H.264 软编码约 0.4 核（CPU 最大消耗源）。三大消耗：音频处理 + 视频后处理 + 编码。高主频比多核重要&lt;/Text&gt;&#10;            &lt;Box style={{ padding: 10, background: 'rgba(8, 145, 178, 0.08)', borderRadius: 6 }}&gt;&#10;                &lt;Text style={{ fontSize: 15, color: '#0891B2' }}&gt;tune=zerolatency · profile=Baseline&lt;/Text&gt;&#10;            &lt;/Box&gt;&#10;        &lt;/Box&gt;&#10;        &lt;Box style={{ flex: 1, background: 'rgba(255, 255, 255, 0.82)', borderRadius: 12, border: '1px solid rgba(37, 99, 235, 0.3)', padding: 24, flexDirection: 'column', justifyContent: 'center', gap: 14 }}&gt;&#10;            &lt;Box style={{ flexDirection: 'row', alignItems: 'center', gap: 10 }}&gt;&#10;                &lt;Image src='resources/images/icons/icon_memory_2563EB.png' style={{ width: 26, height: 26 }} /&gt;&#10;                &lt;Text style={{ fontSize: 22, fontWeight: 'bold', color: '#1E293B' }}&gt;内存&lt;/Text&gt;&#10;            &lt;/Box&gt;&#10;            &lt;Text style={{ fontSize: 16, color: '#475569', lineHeight: 1.6 }}&gt;帧缓存：5s=805MB · 10s=1.61GB · 20s=3.22GB · 5 路不同 avatar=8.25GB（内存大头）&lt;/Text&gt;&#10;            &lt;Box style={{ padding: 10, background: 'rgba(37, 99, 235, 0.08)', borderRadius: 6 }}&gt;&#10;                &lt;Text style={{ fontSize: 15, color: '#2563EB' }}&gt;同一 avatar 可共享帧缓存&lt;/Text&gt;&#10;            &lt;/Box&gt;&#10;        &lt;/Box&gt;&#10;        &lt;Box style={{ flex: 1, background: 'rgba(255, 255, 255, 0.82)', borderRadius: 12, border: '1px solid rgba(8, 145, 178, 0.3)', padding: 24, flexDirection: 'column', justifyContent: 'center', gap: 14 }}&gt;&#10;            &lt;Box style={{ flexDirection: 'row', alignItems: 'center', gap: 10 }}&gt;&#10;                &lt;Image src='resources/images/icons/icon_network-wired_0891B2.png' style={{ width: 26, height: 26 }} /&gt;&#10;                &lt;Text style={{ fontSize: 22, fontWeight: 'bold', color: '#1E293B' }}&gt;网络&lt;/Text&gt;&#10;            &lt;/Box&gt;&#10;            &lt;Text style={{ fontSize: 16, color: '#475569', lineHeight: 1.6 }}&gt;1080p H.264：1.5-4.5 Mbps/路。Opus 音频：~40kbps/路。带宽常是并发瓶颈&lt;/Text&gt;&#10;            &lt;Box style={{ padding: 10, background: 'rgba(37, 99, 235, 0.08)', borderRadius: 6 }}&gt;&#10;                &lt;Text style={{ fontSize: 15, color: '#2563EB' }}&gt;总并发 = min(GPU, CPU, 内存, 带宽)&lt;/Text&gt;&#10;            &lt;/Box&gt;&#10;        &lt;/Box&gt;&#10;    &lt;/Box&gt;&#10;    &lt;Box style={{ zIndex: 1,  height: 30, flexDirection: 'row', justifyContent: 'space-between', alignItems: 'center', marginTop: 8 }}&gt;&#10;        &lt;Text style={{ fontSize: 15, color: '#475569' }}&gt;一帧视频仅 40ms 预算（25fps）· 批量推理 batch=16 · 静默时 GPU/网络近乎零消耗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图片 47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81" name="文本框 480" descr="{&quot;isTemplate&quot;:true,&quot;type&quot;:&quot;text&quot;}"/>
          <p:cNvSpPr txBox="1"/>
          <p:nvPr/>
        </p:nvSpPr>
        <p:spPr>
          <a:xfrm>
            <a:off x="685800" y="914400"/>
            <a:ext cx="10820400" cy="4191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E293B"/>
                </a:solidFill>
                <a:latin typeface="Microsoft YaHei"/>
                <a:ea typeface="Microsoft YaHei"/>
              </a:rPr>
              <a:t>资源消耗全景</a:t>
            </a:r>
            <a:endParaRPr/>
          </a:p>
        </p:txBody>
      </p:sp>
      <p:sp>
        <p:nvSpPr>
          <p:cNvPr id="482" name="文本框 481" descr="{&quot;isTemplate&quot;:true,&quot;type&quot;:&quot;text&quot;}"/>
          <p:cNvSpPr txBox="1"/>
          <p:nvPr/>
        </p:nvSpPr>
        <p:spPr>
          <a:xfrm>
            <a:off x="685800" y="1371600"/>
            <a:ext cx="108204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>GPU / CPU /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内存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网络逐层拆解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总并发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> = min(GPU, CPU,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内存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>,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带宽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>)</a:t>
            </a:r>
            <a:endParaRPr/>
          </a:p>
        </p:txBody>
      </p:sp>
      <p:sp>
        <p:nvSpPr>
          <p:cNvPr id="483" name="圆角矩形 482"/>
          <p:cNvSpPr/>
          <p:nvPr/>
        </p:nvSpPr>
        <p:spPr>
          <a:xfrm>
            <a:off x="685800" y="1733550"/>
            <a:ext cx="2590800" cy="4610100"/>
          </a:xfrm>
          <a:prstGeom prst="roundRect">
            <a:avLst>
              <a:gd name="adj" fmla="val 4412"/>
            </a:avLst>
          </a:prstGeom>
          <a:solidFill>
            <a:srgbClr val="FFFFFF">
              <a:alpha val="82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84" name="图片 48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876550"/>
            <a:ext cx="247650" cy="247650"/>
          </a:xfrm>
          <a:prstGeom prst="rect">
            <a:avLst/>
          </a:prstGeom>
          <a:ln/>
        </p:spPr>
      </p:pic>
      <p:sp>
        <p:nvSpPr>
          <p:cNvPr id="485" name="文本框 484" descr="{&quot;isTemplate&quot;:true,&quot;type&quot;:&quot;text&quot;}"/>
          <p:cNvSpPr txBox="1"/>
          <p:nvPr/>
        </p:nvSpPr>
        <p:spPr>
          <a:xfrm>
            <a:off x="1257300" y="2867025"/>
            <a:ext cx="44767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E293B"/>
                </a:solidFill>
                <a:latin typeface="Microsoft YaHei"/>
                <a:ea typeface="Microsoft YaHei"/>
              </a:rPr>
              <a:t>GPU</a:t>
            </a:r>
            <a:endParaRPr/>
          </a:p>
        </p:txBody>
      </p:sp>
      <p:sp>
        <p:nvSpPr>
          <p:cNvPr id="486" name="文本框 485" descr="{&quot;isTemplate&quot;:true,&quot;type&quot;:&quot;text&quot;}"/>
          <p:cNvSpPr txBox="1"/>
          <p:nvPr/>
        </p:nvSpPr>
        <p:spPr>
          <a:xfrm>
            <a:off x="914400" y="3257550"/>
            <a:ext cx="2133600" cy="14668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475569"/>
                </a:solidFill>
                <a:latin typeface="Microsoft YaHei"/>
                <a:ea typeface="Microsoft YaHei"/>
              </a:rPr>
              <a:t>4090显卡</a:t>
            </a:r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475569"/>
                </a:solidFill>
                <a:latin typeface="Microsoft YaHei"/>
                <a:ea typeface="Microsoft YaHei"/>
              </a:rPr>
              <a:t>Wav2Lip: 200fps </a:t>
            </a:r>
          </a:p>
          <a:p>
            <a:pPr>
              <a:lnSpc>
                <a:spcPct val="160000"/>
              </a:lnSpc>
            </a:pPr>
            <a:r>
              <a:rPr lang="en-US" sz="1200" dirty="0" err="1">
                <a:solidFill>
                  <a:srgbClr val="475569"/>
                </a:solidFill>
                <a:latin typeface="Microsoft YaHei"/>
                <a:ea typeface="Microsoft YaHei"/>
              </a:rPr>
              <a:t>MuseTalk</a:t>
            </a:r>
            <a:r>
              <a:rPr lang="en-US" sz="1200" dirty="0">
                <a:solidFill>
                  <a:srgbClr val="475569"/>
                </a:solidFill>
                <a:latin typeface="Microsoft YaHei"/>
                <a:ea typeface="Microsoft YaHei"/>
              </a:rPr>
              <a:t>: 72fps</a:t>
            </a:r>
          </a:p>
          <a:p>
            <a:pPr>
              <a:lnSpc>
                <a:spcPct val="160000"/>
              </a:lnSpc>
            </a:pPr>
            <a:r>
              <a:rPr lang="zh-CN" sz="1200" dirty="0">
                <a:solidFill>
                  <a:srgbClr val="475569"/>
                </a:solidFill>
                <a:latin typeface="Microsoft YaHei"/>
                <a:ea typeface="Microsoft YaHei"/>
              </a:rPr>
              <a:t>静默优化：不说话时</a:t>
            </a:r>
            <a:r>
              <a:rPr lang="en-US" sz="1200" dirty="0">
                <a:solidFill>
                  <a:srgbClr val="475569"/>
                </a:solidFill>
                <a:latin typeface="Microsoft YaHei"/>
                <a:ea typeface="Microsoft YaHei"/>
              </a:rPr>
              <a:t> </a:t>
            </a:r>
            <a:r>
              <a:rPr lang="en-US" sz="1200" dirty="0" err="1">
                <a:solidFill>
                  <a:srgbClr val="475569"/>
                </a:solidFill>
                <a:latin typeface="Microsoft YaHei"/>
                <a:ea typeface="Microsoft YaHei"/>
              </a:rPr>
              <a:t>不消耗GPU</a:t>
            </a:r>
            <a:r>
              <a:rPr lang="en-US" sz="1200" dirty="0">
                <a:solidFill>
                  <a:srgbClr val="475569"/>
                </a:solidFill>
                <a:latin typeface="Microsoft YaHei"/>
                <a:ea typeface="Microsoft YaHei"/>
              </a:rPr>
              <a:t> </a:t>
            </a:r>
            <a:endParaRPr dirty="0"/>
          </a:p>
        </p:txBody>
      </p:sp>
      <p:sp>
        <p:nvSpPr>
          <p:cNvPr id="489" name="圆角矩形 488"/>
          <p:cNvSpPr/>
          <p:nvPr/>
        </p:nvSpPr>
        <p:spPr>
          <a:xfrm>
            <a:off x="3429000" y="1733550"/>
            <a:ext cx="2590800" cy="4610100"/>
          </a:xfrm>
          <a:prstGeom prst="roundRect">
            <a:avLst>
              <a:gd name="adj" fmla="val 4412"/>
            </a:avLst>
          </a:prstGeom>
          <a:solidFill>
            <a:srgbClr val="FFFFFF">
              <a:alpha val="82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90" name="图片 48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2933700"/>
            <a:ext cx="247650" cy="247650"/>
          </a:xfrm>
          <a:prstGeom prst="rect">
            <a:avLst/>
          </a:prstGeom>
          <a:ln/>
        </p:spPr>
      </p:pic>
      <p:sp>
        <p:nvSpPr>
          <p:cNvPr id="491" name="文本框 490" descr="{&quot;isTemplate&quot;:true,&quot;type&quot;:&quot;text&quot;}"/>
          <p:cNvSpPr txBox="1"/>
          <p:nvPr/>
        </p:nvSpPr>
        <p:spPr>
          <a:xfrm>
            <a:off x="4000500" y="2924175"/>
            <a:ext cx="42862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E293B"/>
                </a:solidFill>
                <a:latin typeface="Microsoft YaHei"/>
                <a:ea typeface="Microsoft YaHei"/>
              </a:rPr>
              <a:t>CPU</a:t>
            </a:r>
            <a:endParaRPr/>
          </a:p>
        </p:txBody>
      </p:sp>
      <p:sp>
        <p:nvSpPr>
          <p:cNvPr id="492" name="文本框 491" descr="{&quot;isTemplate&quot;:true,&quot;type&quot;:&quot;text&quot;}"/>
          <p:cNvSpPr txBox="1"/>
          <p:nvPr/>
        </p:nvSpPr>
        <p:spPr>
          <a:xfrm>
            <a:off x="3657600" y="3314700"/>
            <a:ext cx="2133600" cy="14097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200" dirty="0">
                <a:solidFill>
                  <a:srgbClr val="475569"/>
                </a:solidFill>
                <a:latin typeface="Microsoft YaHei"/>
                <a:ea typeface="Microsoft YaHei"/>
              </a:rPr>
              <a:t>三大消耗：音频处理</a:t>
            </a:r>
            <a:r>
              <a:rPr lang="en-US" sz="1200" dirty="0">
                <a:solidFill>
                  <a:srgbClr val="475569"/>
                </a:solidFill>
                <a:latin typeface="Microsoft YaHei"/>
                <a:ea typeface="Microsoft YaHei"/>
              </a:rPr>
              <a:t> + </a:t>
            </a:r>
            <a:r>
              <a:rPr lang="zh-CN" sz="1200" dirty="0">
                <a:solidFill>
                  <a:srgbClr val="475569"/>
                </a:solidFill>
                <a:latin typeface="Microsoft YaHei"/>
                <a:ea typeface="Microsoft YaHei"/>
              </a:rPr>
              <a:t>视频后处理</a:t>
            </a:r>
            <a:r>
              <a:rPr lang="en-US" sz="1200" dirty="0">
                <a:solidFill>
                  <a:srgbClr val="475569"/>
                </a:solidFill>
                <a:latin typeface="Microsoft YaHei"/>
                <a:ea typeface="Microsoft YaHei"/>
              </a:rPr>
              <a:t> + </a:t>
            </a:r>
            <a:r>
              <a:rPr lang="zh-CN" sz="1200" dirty="0">
                <a:solidFill>
                  <a:srgbClr val="475569"/>
                </a:solidFill>
                <a:latin typeface="Microsoft YaHei"/>
                <a:ea typeface="Microsoft YaHei"/>
              </a:rPr>
              <a:t>编码。</a:t>
            </a:r>
            <a:endParaRPr lang="en-US" altLang="zh-CN" sz="1200" dirty="0">
              <a:solidFill>
                <a:srgbClr val="475569"/>
              </a:solidFill>
              <a:latin typeface="Microsoft YaHei"/>
              <a:ea typeface="Microsoft YaHei"/>
            </a:endParaRPr>
          </a:p>
          <a:p>
            <a:pPr>
              <a:lnSpc>
                <a:spcPct val="160000"/>
              </a:lnSpc>
            </a:pPr>
            <a:r>
              <a:rPr lang="en-US" altLang="zh-CN" sz="1200" dirty="0">
                <a:solidFill>
                  <a:srgbClr val="475569"/>
                </a:solidFill>
                <a:latin typeface="Microsoft YaHei"/>
                <a:ea typeface="Microsoft YaHei"/>
              </a:rPr>
              <a:t>H264</a:t>
            </a:r>
            <a:r>
              <a:rPr lang="zh-CN" altLang="en-US" sz="1200" dirty="0">
                <a:solidFill>
                  <a:srgbClr val="475569"/>
                </a:solidFill>
                <a:latin typeface="Microsoft YaHei"/>
                <a:ea typeface="Microsoft YaHei"/>
              </a:rPr>
              <a:t>视频编码是最大消耗源</a:t>
            </a:r>
            <a:endParaRPr lang="en-US" altLang="zh-CN" sz="1200" dirty="0">
              <a:solidFill>
                <a:srgbClr val="475569"/>
              </a:solidFill>
              <a:latin typeface="Microsoft YaHei"/>
              <a:ea typeface="Microsoft YaHei"/>
            </a:endParaRPr>
          </a:p>
          <a:p>
            <a:pPr>
              <a:lnSpc>
                <a:spcPct val="160000"/>
              </a:lnSpc>
            </a:pPr>
            <a:r>
              <a:rPr lang="zh-CN" altLang="en-US" sz="1200" dirty="0">
                <a:solidFill>
                  <a:srgbClr val="475569"/>
                </a:solidFill>
                <a:latin typeface="Microsoft YaHei"/>
                <a:ea typeface="Microsoft YaHei"/>
              </a:rPr>
              <a:t>对</a:t>
            </a:r>
            <a:r>
              <a:rPr lang="en-US" altLang="zh-CN" sz="1200" dirty="0">
                <a:solidFill>
                  <a:srgbClr val="475569"/>
                </a:solidFill>
                <a:latin typeface="Microsoft YaHei"/>
                <a:ea typeface="Microsoft YaHei"/>
              </a:rPr>
              <a:t>4K</a:t>
            </a:r>
            <a:r>
              <a:rPr lang="zh-CN" altLang="en-US" sz="1200" dirty="0">
                <a:solidFill>
                  <a:srgbClr val="475569"/>
                </a:solidFill>
                <a:latin typeface="Microsoft YaHei"/>
                <a:ea typeface="Microsoft YaHei"/>
              </a:rPr>
              <a:t>编码</a:t>
            </a:r>
            <a:r>
              <a:rPr lang="zh-CN" sz="1200" dirty="0">
                <a:solidFill>
                  <a:srgbClr val="475569"/>
                </a:solidFill>
                <a:latin typeface="Microsoft YaHei"/>
                <a:ea typeface="Microsoft YaHei"/>
              </a:rPr>
              <a:t>高主频比多核重要</a:t>
            </a:r>
            <a:endParaRPr dirty="0"/>
          </a:p>
        </p:txBody>
      </p:sp>
      <p:sp>
        <p:nvSpPr>
          <p:cNvPr id="495" name="圆角矩形 494"/>
          <p:cNvSpPr/>
          <p:nvPr/>
        </p:nvSpPr>
        <p:spPr>
          <a:xfrm>
            <a:off x="6172200" y="1733550"/>
            <a:ext cx="2590800" cy="4610100"/>
          </a:xfrm>
          <a:prstGeom prst="roundRect">
            <a:avLst>
              <a:gd name="adj" fmla="val 4412"/>
            </a:avLst>
          </a:prstGeom>
          <a:solidFill>
            <a:srgbClr val="FFFFFF">
              <a:alpha val="82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96" name="图片 49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3019425"/>
            <a:ext cx="247650" cy="247650"/>
          </a:xfrm>
          <a:prstGeom prst="rect">
            <a:avLst/>
          </a:prstGeom>
          <a:ln/>
        </p:spPr>
      </p:pic>
      <p:sp>
        <p:nvSpPr>
          <p:cNvPr id="497" name="文本框 496" descr="{&quot;isTemplate&quot;:true,&quot;type&quot;:&quot;text&quot;}"/>
          <p:cNvSpPr txBox="1"/>
          <p:nvPr/>
        </p:nvSpPr>
        <p:spPr>
          <a:xfrm>
            <a:off x="6743700" y="3009900"/>
            <a:ext cx="4191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内存</a:t>
            </a:r>
            <a:endParaRPr/>
          </a:p>
        </p:txBody>
      </p:sp>
      <p:sp>
        <p:nvSpPr>
          <p:cNvPr id="498" name="文本框 497" descr="{&quot;isTemplate&quot;:true,&quot;type&quot;:&quot;text&quot;}"/>
          <p:cNvSpPr txBox="1"/>
          <p:nvPr/>
        </p:nvSpPr>
        <p:spPr>
          <a:xfrm>
            <a:off x="6400800" y="3400425"/>
            <a:ext cx="2133600" cy="1447800"/>
          </a:xfrm>
          <a:prstGeom prst="rect">
            <a:avLst/>
          </a:prstGeom>
        </p:spPr>
        <p:txBody>
          <a:bodyPr wrap="square" lIns="0" tIns="0" rIns="0" bIns="0">
            <a:normAutofit fontScale="92500" lnSpcReduction="20000"/>
          </a:bodyPr>
          <a:lstStyle/>
          <a:p>
            <a:pPr>
              <a:lnSpc>
                <a:spcPct val="160000"/>
              </a:lnSpc>
            </a:pPr>
            <a:r>
              <a:rPr lang="zh-CN" sz="1200" dirty="0">
                <a:solidFill>
                  <a:srgbClr val="475569"/>
                </a:solidFill>
                <a:latin typeface="Microsoft YaHei"/>
                <a:ea typeface="Microsoft YaHei"/>
              </a:rPr>
              <a:t>帧缓存：</a:t>
            </a:r>
            <a:r>
              <a:rPr lang="en-US" altLang="zh-CN" sz="1200" dirty="0">
                <a:solidFill>
                  <a:srgbClr val="475569"/>
                </a:solidFill>
                <a:latin typeface="Microsoft YaHei"/>
                <a:ea typeface="Microsoft YaHei"/>
              </a:rPr>
              <a:t>1080p</a:t>
            </a:r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475569"/>
                </a:solidFill>
                <a:latin typeface="Microsoft YaHei"/>
                <a:ea typeface="Microsoft YaHei"/>
              </a:rPr>
              <a:t>5s=805MB · </a:t>
            </a:r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475569"/>
                </a:solidFill>
                <a:latin typeface="Microsoft YaHei"/>
                <a:ea typeface="Microsoft YaHei"/>
              </a:rPr>
              <a:t>10s=1.61GB · </a:t>
            </a:r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475569"/>
                </a:solidFill>
                <a:latin typeface="Microsoft YaHei"/>
                <a:ea typeface="Microsoft YaHei"/>
              </a:rPr>
              <a:t>20s=3.22GB · </a:t>
            </a:r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475569"/>
                </a:solidFill>
                <a:latin typeface="Microsoft YaHei"/>
                <a:ea typeface="Microsoft YaHei"/>
              </a:rPr>
              <a:t>5 </a:t>
            </a:r>
            <a:r>
              <a:rPr lang="zh-CN" sz="1200" dirty="0">
                <a:solidFill>
                  <a:srgbClr val="475569"/>
                </a:solidFill>
                <a:latin typeface="Microsoft YaHei"/>
                <a:ea typeface="Microsoft YaHei"/>
              </a:rPr>
              <a:t>路不同</a:t>
            </a:r>
            <a:r>
              <a:rPr lang="en-US" sz="1200" dirty="0">
                <a:solidFill>
                  <a:srgbClr val="475569"/>
                </a:solidFill>
                <a:latin typeface="Microsoft YaHei"/>
                <a:ea typeface="Microsoft YaHei"/>
              </a:rPr>
              <a:t> avatar=8.25GB</a:t>
            </a:r>
            <a:r>
              <a:rPr lang="zh-CN" sz="1200" dirty="0">
                <a:solidFill>
                  <a:srgbClr val="475569"/>
                </a:solidFill>
                <a:latin typeface="Microsoft YaHei"/>
                <a:ea typeface="Microsoft YaHei"/>
              </a:rPr>
              <a:t>（内存大头）</a:t>
            </a:r>
            <a:endParaRPr dirty="0"/>
          </a:p>
        </p:txBody>
      </p:sp>
      <p:sp>
        <p:nvSpPr>
          <p:cNvPr id="499" name="圆角矩形 498"/>
          <p:cNvSpPr/>
          <p:nvPr/>
        </p:nvSpPr>
        <p:spPr>
          <a:xfrm>
            <a:off x="6400800" y="4972050"/>
            <a:ext cx="2133600" cy="361950"/>
          </a:xfrm>
          <a:prstGeom prst="roundRect">
            <a:avLst>
              <a:gd name="adj" fmla="val 15789"/>
            </a:avLst>
          </a:prstGeom>
          <a:solidFill>
            <a:srgbClr val="2563EB">
              <a:alpha val="8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00" name="文本框 499" descr="{&quot;isTemplate&quot;:true,&quot;type&quot;:&quot;text&quot;}"/>
          <p:cNvSpPr txBox="1"/>
          <p:nvPr/>
        </p:nvSpPr>
        <p:spPr>
          <a:xfrm>
            <a:off x="6462712" y="5038725"/>
            <a:ext cx="19431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dirty="0">
                <a:solidFill>
                  <a:srgbClr val="2563EB"/>
                </a:solidFill>
                <a:latin typeface="Microsoft YaHei"/>
                <a:ea typeface="Microsoft YaHei"/>
              </a:rPr>
              <a:t>同一</a:t>
            </a:r>
            <a:r>
              <a:rPr lang="en-US" sz="1125" dirty="0">
                <a:solidFill>
                  <a:srgbClr val="2563EB"/>
                </a:solidFill>
                <a:latin typeface="Microsoft YaHei"/>
                <a:ea typeface="Microsoft YaHei"/>
              </a:rPr>
              <a:t> avatar </a:t>
            </a:r>
            <a:r>
              <a:rPr lang="zh-CN" sz="1125" dirty="0">
                <a:solidFill>
                  <a:srgbClr val="2563EB"/>
                </a:solidFill>
                <a:latin typeface="Microsoft YaHei"/>
                <a:ea typeface="Microsoft YaHei"/>
              </a:rPr>
              <a:t>可共享帧缓存</a:t>
            </a:r>
            <a:endParaRPr dirty="0"/>
          </a:p>
        </p:txBody>
      </p:sp>
      <p:sp>
        <p:nvSpPr>
          <p:cNvPr id="501" name="圆角矩形 500"/>
          <p:cNvSpPr/>
          <p:nvPr/>
        </p:nvSpPr>
        <p:spPr>
          <a:xfrm>
            <a:off x="8915400" y="1733550"/>
            <a:ext cx="2590800" cy="4610100"/>
          </a:xfrm>
          <a:prstGeom prst="roundRect">
            <a:avLst>
              <a:gd name="adj" fmla="val 4412"/>
            </a:avLst>
          </a:prstGeom>
          <a:solidFill>
            <a:srgbClr val="FFFFFF">
              <a:alpha val="82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02" name="图片 50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0" y="2933700"/>
            <a:ext cx="247650" cy="247650"/>
          </a:xfrm>
          <a:prstGeom prst="rect">
            <a:avLst/>
          </a:prstGeom>
          <a:ln/>
        </p:spPr>
      </p:pic>
      <p:sp>
        <p:nvSpPr>
          <p:cNvPr id="503" name="文本框 502" descr="{&quot;isTemplate&quot;:true,&quot;type&quot;:&quot;text&quot;}"/>
          <p:cNvSpPr txBox="1"/>
          <p:nvPr/>
        </p:nvSpPr>
        <p:spPr>
          <a:xfrm>
            <a:off x="9486900" y="2924175"/>
            <a:ext cx="4191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网络</a:t>
            </a:r>
            <a:endParaRPr/>
          </a:p>
        </p:txBody>
      </p:sp>
      <p:sp>
        <p:nvSpPr>
          <p:cNvPr id="504" name="文本框 503" descr="{&quot;isTemplate&quot;:true,&quot;type&quot;:&quot;text&quot;}"/>
          <p:cNvSpPr txBox="1"/>
          <p:nvPr/>
        </p:nvSpPr>
        <p:spPr>
          <a:xfrm>
            <a:off x="9144000" y="3314700"/>
            <a:ext cx="2243138" cy="11715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475569"/>
                </a:solidFill>
                <a:latin typeface="Microsoft YaHei"/>
                <a:ea typeface="Microsoft YaHei"/>
              </a:rPr>
              <a:t>1080p H.264</a:t>
            </a:r>
            <a:r>
              <a:rPr lang="zh-CN" sz="1200" dirty="0">
                <a:solidFill>
                  <a:srgbClr val="475569"/>
                </a:solidFill>
                <a:latin typeface="Microsoft YaHei"/>
                <a:ea typeface="Microsoft YaHei"/>
              </a:rPr>
              <a:t>：</a:t>
            </a:r>
            <a:r>
              <a:rPr lang="en-US" sz="1200" dirty="0">
                <a:solidFill>
                  <a:srgbClr val="475569"/>
                </a:solidFill>
                <a:latin typeface="Microsoft YaHei"/>
                <a:ea typeface="Microsoft YaHei"/>
              </a:rPr>
              <a:t>1.5-4.5 Mbps/</a:t>
            </a:r>
            <a:r>
              <a:rPr lang="zh-CN" sz="1200" dirty="0">
                <a:solidFill>
                  <a:srgbClr val="475569"/>
                </a:solidFill>
                <a:latin typeface="Microsoft YaHei"/>
                <a:ea typeface="Microsoft YaHei"/>
              </a:rPr>
              <a:t>路。</a:t>
            </a:r>
            <a:endParaRPr lang="en-US" altLang="zh-CN" sz="1200" dirty="0">
              <a:solidFill>
                <a:srgbClr val="475569"/>
              </a:solidFill>
              <a:latin typeface="Microsoft YaHei"/>
              <a:ea typeface="Microsoft YaHei"/>
            </a:endParaRPr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475569"/>
                </a:solidFill>
                <a:latin typeface="Microsoft YaHei"/>
                <a:ea typeface="Microsoft YaHei"/>
              </a:rPr>
              <a:t>Opus </a:t>
            </a:r>
            <a:r>
              <a:rPr lang="zh-CN" sz="1200" dirty="0">
                <a:solidFill>
                  <a:srgbClr val="475569"/>
                </a:solidFill>
                <a:latin typeface="Microsoft YaHei"/>
                <a:ea typeface="Microsoft YaHei"/>
              </a:rPr>
              <a:t>音频：</a:t>
            </a:r>
            <a:r>
              <a:rPr lang="en-US" sz="1200" dirty="0">
                <a:solidFill>
                  <a:srgbClr val="475569"/>
                </a:solidFill>
                <a:latin typeface="Microsoft YaHei"/>
                <a:ea typeface="Microsoft YaHei"/>
              </a:rPr>
              <a:t>~40kbps/</a:t>
            </a:r>
            <a:r>
              <a:rPr lang="zh-CN" sz="1200" dirty="0">
                <a:solidFill>
                  <a:srgbClr val="475569"/>
                </a:solidFill>
                <a:latin typeface="Microsoft YaHei"/>
                <a:ea typeface="Microsoft YaHei"/>
              </a:rPr>
              <a:t>路。</a:t>
            </a:r>
            <a:endParaRPr lang="en-US" altLang="zh-CN" sz="1200" dirty="0">
              <a:solidFill>
                <a:srgbClr val="475569"/>
              </a:solidFill>
              <a:latin typeface="Microsoft YaHei"/>
              <a:ea typeface="Microsoft YaHei"/>
            </a:endParaRPr>
          </a:p>
          <a:p>
            <a:pPr>
              <a:lnSpc>
                <a:spcPct val="160000"/>
              </a:lnSpc>
            </a:pPr>
            <a:r>
              <a:rPr lang="zh-CN" sz="1200" dirty="0">
                <a:solidFill>
                  <a:srgbClr val="475569"/>
                </a:solidFill>
                <a:latin typeface="Microsoft YaHei"/>
                <a:ea typeface="Microsoft YaHei"/>
              </a:rPr>
              <a:t>带宽常是</a:t>
            </a:r>
            <a:r>
              <a:rPr lang="zh-CN" altLang="en-US" sz="1200" dirty="0">
                <a:solidFill>
                  <a:srgbClr val="475569"/>
                </a:solidFill>
                <a:latin typeface="Microsoft YaHei"/>
                <a:ea typeface="Microsoft YaHei"/>
              </a:rPr>
              <a:t>外网</a:t>
            </a:r>
            <a:r>
              <a:rPr lang="zh-CN" sz="1200" dirty="0">
                <a:solidFill>
                  <a:srgbClr val="475569"/>
                </a:solidFill>
                <a:latin typeface="Microsoft YaHei"/>
                <a:ea typeface="Microsoft YaHei"/>
              </a:rPr>
              <a:t>并发瓶颈</a:t>
            </a:r>
            <a:endParaRPr dirty="0"/>
          </a:p>
        </p:txBody>
      </p:sp>
      <p:sp>
        <p:nvSpPr>
          <p:cNvPr id="507" name="文本框 506" descr="{&quot;isTemplate&quot;:true,&quot;type&quot;:&quot;text&quot;}"/>
          <p:cNvSpPr txBox="1"/>
          <p:nvPr/>
        </p:nvSpPr>
        <p:spPr>
          <a:xfrm>
            <a:off x="685800" y="6477000"/>
            <a:ext cx="54102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dirty="0">
                <a:solidFill>
                  <a:srgbClr val="475569"/>
                </a:solidFill>
                <a:latin typeface="Microsoft YaHei"/>
                <a:ea typeface="Microsoft YaHei"/>
              </a:rPr>
              <a:t>一帧视频仅</a:t>
            </a:r>
            <a:r>
              <a:rPr lang="en-US" sz="1125" dirty="0">
                <a:solidFill>
                  <a:srgbClr val="475569"/>
                </a:solidFill>
                <a:latin typeface="Microsoft YaHei"/>
                <a:ea typeface="Microsoft YaHei"/>
              </a:rPr>
              <a:t> 40ms </a:t>
            </a:r>
            <a:r>
              <a:rPr lang="zh-CN" sz="1125" dirty="0">
                <a:solidFill>
                  <a:srgbClr val="475569"/>
                </a:solidFill>
                <a:latin typeface="Microsoft YaHei"/>
                <a:ea typeface="Microsoft YaHei"/>
              </a:rPr>
              <a:t>预算（</a:t>
            </a:r>
            <a:r>
              <a:rPr lang="en-US" sz="1125" dirty="0">
                <a:solidFill>
                  <a:srgbClr val="475569"/>
                </a:solidFill>
                <a:latin typeface="Microsoft YaHei"/>
                <a:ea typeface="Microsoft YaHei"/>
              </a:rPr>
              <a:t>25fps</a:t>
            </a:r>
            <a:r>
              <a:rPr lang="zh-CN" sz="1125" dirty="0">
                <a:solidFill>
                  <a:srgbClr val="475569"/>
                </a:solidFill>
                <a:latin typeface="Microsoft YaHei"/>
                <a:ea typeface="Microsoft YaHei"/>
              </a:rPr>
              <a:t>）·</a:t>
            </a:r>
            <a:r>
              <a:rPr lang="en-US" sz="1125" dirty="0">
                <a:solidFill>
                  <a:srgbClr val="475569"/>
                </a:solidFill>
                <a:latin typeface="Microsoft YaHei"/>
                <a:ea typeface="Microsoft YaHei"/>
              </a:rPr>
              <a:t> </a:t>
            </a:r>
            <a:r>
              <a:rPr lang="zh-CN" sz="1125" dirty="0">
                <a:solidFill>
                  <a:srgbClr val="475569"/>
                </a:solidFill>
                <a:latin typeface="Microsoft YaHei"/>
                <a:ea typeface="Microsoft YaHei"/>
              </a:rPr>
              <a:t>批量推理</a:t>
            </a:r>
            <a:r>
              <a:rPr lang="en-US" sz="1125" dirty="0">
                <a:solidFill>
                  <a:srgbClr val="475569"/>
                </a:solidFill>
                <a:latin typeface="Microsoft YaHei"/>
                <a:ea typeface="Microsoft YaHei"/>
              </a:rPr>
              <a:t> batch=16 · </a:t>
            </a:r>
            <a:r>
              <a:rPr lang="zh-CN" sz="1125" dirty="0">
                <a:solidFill>
                  <a:srgbClr val="475569"/>
                </a:solidFill>
                <a:latin typeface="Microsoft YaHei"/>
                <a:ea typeface="Microsoft YaHei"/>
              </a:rPr>
              <a:t>静默时</a:t>
            </a:r>
            <a:r>
              <a:rPr lang="en-US" sz="1125" dirty="0">
                <a:solidFill>
                  <a:srgbClr val="475569"/>
                </a:solidFill>
                <a:latin typeface="Microsoft YaHei"/>
                <a:ea typeface="Microsoft YaHei"/>
              </a:rPr>
              <a:t> GPU/</a:t>
            </a:r>
            <a:r>
              <a:rPr lang="zh-CN" sz="1125" dirty="0">
                <a:solidFill>
                  <a:srgbClr val="475569"/>
                </a:solidFill>
                <a:latin typeface="Microsoft YaHei"/>
                <a:ea typeface="Microsoft YaHei"/>
              </a:rPr>
              <a:t>网络近乎零消耗</a:t>
            </a:r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padding: 0, flexDirection: 'column', justifyContent: 'center', alignItems: 'center' }}&gt;&#10;    &lt;Image src=&quot;resources/images/gvp_background.jpg&quot; style={{ position: 'absolute', top: 0, left: 0, width: 1280, height: 720, objectFit: 'cover', }} /&gt;&#10;    &lt;Box style={{ flexDirection: 'column', alignItems: 'center', gap: 24, zIndex: 1 }}&gt;&#10;        &lt;Text style={{ fontSize: 20, color: '#0891B2', letterSpacing: 6, fontWeight: '600' }}&gt;PART 01&lt;/Text&gt;&#10;        &lt;Box style={{ width: 80, height: 4, background: 'linear-gradient(90deg, #2563EB 0%, #0891B2 100%)', borderRadius: 2 }} /&gt;&#10;        &lt;Text style={{ fontSize: 60, fontWeight: 'bold', color: '#1E293B', letterSpacing: 2 }}&gt;数字人技术背景&lt;/Text&gt;&#10;        &lt;Text style={{ fontSize: 22, color: '#475569', marginTop: 8 }}&gt;神经渲染 vs 3D 渲染 · 主流口型驱动方案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1" name="图片 97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972" name="文本框 971" descr="{&quot;isTemplate&quot;:true,&quot;type&quot;:&quot;text&quot;}"/>
          <p:cNvSpPr txBox="1"/>
          <p:nvPr/>
        </p:nvSpPr>
        <p:spPr>
          <a:xfrm>
            <a:off x="5514975" y="2447925"/>
            <a:ext cx="117157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 b="1" spc="450" dirty="0">
                <a:solidFill>
                  <a:srgbClr val="0891B2"/>
                </a:solidFill>
                <a:latin typeface="Microsoft YaHei"/>
                <a:ea typeface="Microsoft YaHei"/>
              </a:rPr>
              <a:t>PART 0</a:t>
            </a:r>
            <a:r>
              <a:rPr lang="en-US" altLang="zh-CN" sz="1500" b="1" spc="450" dirty="0">
                <a:solidFill>
                  <a:srgbClr val="0891B2"/>
                </a:solidFill>
                <a:latin typeface="Microsoft YaHei"/>
                <a:ea typeface="Microsoft YaHei"/>
              </a:rPr>
              <a:t>3</a:t>
            </a:r>
            <a:endParaRPr dirty="0"/>
          </a:p>
        </p:txBody>
      </p:sp>
      <p:sp>
        <p:nvSpPr>
          <p:cNvPr id="973" name="圆角矩形 972"/>
          <p:cNvSpPr/>
          <p:nvPr/>
        </p:nvSpPr>
        <p:spPr>
          <a:xfrm>
            <a:off x="5715000" y="2905125"/>
            <a:ext cx="7620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0891B2"/>
              </a:gs>
            </a:gsLst>
            <a:lin ang="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974" name="文本框 973" descr="{&quot;isTemplate&quot;:true,&quot;type&quot;:&quot;text&quot;}"/>
          <p:cNvSpPr txBox="1"/>
          <p:nvPr/>
        </p:nvSpPr>
        <p:spPr>
          <a:xfrm>
            <a:off x="4029075" y="3209925"/>
            <a:ext cx="4133850" cy="6858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en-US" sz="4500" b="1" spc="150" dirty="0" err="1">
                <a:solidFill>
                  <a:srgbClr val="1E293B"/>
                </a:solidFill>
                <a:latin typeface="Microsoft YaHei"/>
                <a:ea typeface="Microsoft YaHei"/>
              </a:rPr>
              <a:t>部署方案</a:t>
            </a:r>
            <a:endParaRPr dirty="0"/>
          </a:p>
        </p:txBody>
      </p:sp>
      <p:sp>
        <p:nvSpPr>
          <p:cNvPr id="975" name="文本框 974" descr="{&quot;isTemplate&quot;:true,&quot;type&quot;:&quot;text&quot;}"/>
          <p:cNvSpPr txBox="1"/>
          <p:nvPr/>
        </p:nvSpPr>
        <p:spPr>
          <a:xfrm>
            <a:off x="4200525" y="4162425"/>
            <a:ext cx="37909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272534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transparent', padding: '90px 72px 16px', flexDirection: 'column' }}&gt;&#10;    &lt;Image src=&quot;resources/images/gvp_background.jpg&quot; style={{ position: 'absolute', top: 0, left: 0, width: 1280, height: 720, objectFit: 'cover' }} /&gt;&#10;    &lt;Box style={{ height: 76, flexDirection: 'column', gap: 4, justifyContent: 'center', zIndex: 1 }}&gt;&#10;        &lt;Text style={{ fontSize: 34, fontWeight: 'bold', color: '#1E293B' }}&gt;API 对接：对话时序图&lt;/Text&gt;&#10;        &lt;Text style={{ fontSize: 16, color: '#475569' }}&gt;WebSocket / HTTP 接口驱动数字人 · 音频经 WebRTC 流式返回 · 说话事件经 SSE 推送&lt;/Text&gt;&#10;    &lt;/Box&gt;&#10;&#10;    &lt;Box style={{ position: 'relative', height: 498, marginTop: 6, zIndex: 1 }}&gt;&#10;        &lt;Box style={{ position: 'absolute', top: 0, left: 39, width: 180, height: 56, flexDirection: 'row', alignItems: 'center', justifyContent: 'center', gap: 8, background: 'rgba(255,255,255,0.88)', border: '1px solid #2563EB', borderRadius: 10, padding: '6px 8px' }}&gt;&#10;            &lt;Image src='resources/images/icons/icon_users_2563EB.png' style={{ width: 22, height: 22 }} /&gt;&#10;            &lt;Text style={{ fontSize: 14, fontWeight: 'bold', color: '#1E293B' }}&gt;客户端&lt;/Text&gt;&#10;        &lt;/Box&gt;&#10;        &lt;Box style={{ position: 'absolute', top: 0, left: 258, width: 180, height: 56, flexDirection: 'row', alignItems: 'center', justifyContent: 'center', gap: 8, background: 'rgba(255,255,255,0.88)', border: '1px solid #0D9488', borderRadius: 10, padding: '6px 8px' }}&gt;&#10;            &lt;Image src='resources/images/icons/icon_microphone_0891B2.png' style={{ width: 22, height: 22 }} /&gt;&#10;            &lt;Text style={{ fontSize: 14, fontWeight: 'bold', color: '#1E293B' }}&gt;ASR 服务(可选)&lt;/Text&gt;&#10;        &lt;/Box&gt;&#10;        &lt;Box style={{ position: 'absolute', top: 0, left: 477, width: 180, height: 56, flexDirection: 'row', alignItems: 'center', justifyContent: 'center', gap: 8, background: 'rgba(255,255,255,0.88)', border: '1px solid #0891B2', borderRadius: 10, padding: '6px 8px' }}&gt;&#10;            &lt;Image src='resources/images/icons/icon_robot_2563EB.png' style={{ width: 22, height: 22 }} /&gt;&#10;            &lt;Text style={{ fontSize: 14, fontWeight: 'bold', color: '#1E293B' }}&gt;LiveTalking&lt;/Text&gt;&#10;        &lt;/Box&gt;&#10;        &lt;Box style={{ position: 'absolute', top: 0, left: 696, width: 180, height: 56, flexDirection: 'row', alignItems: 'center', justifyContent: 'center', gap: 8, background: 'rgba(255,255,255,0.88)', border: '1px solid #7C3AED', borderRadius: 10, padding: '6px 8px' }}&gt;&#10;            &lt;Image src='resources/images/icons/icon_brain_0891B2.png' style={{ width: 22, height: 22 }} /&gt;&#10;            &lt;Text style={{ fontSize: 14, fontWeight: 'bold', color: '#1E293B' }}&gt;LLM(可选)&lt;/Text&gt;&#10;        &lt;/Box&gt;&#10;        &lt;Box style={{ position: 'absolute', top: 0, left: 915, width: 180, height: 56, flexDirection: 'row', alignItems: 'center', justifyContent: 'center', gap: 8, background: 'rgba(255,255,255,0.88)', border: '1px solid #DB2777', borderRadius: 10, padding: '6px 8px' }}&gt;&#10;            &lt;Image src='resources/images/icons/icon_comment-dots_2563EB.png' style={{ width: 22, height: 22 }} /&gt;&#10;            &lt;Text style={{ fontSize: 14, fontWeight: 'bold', color: '#1E293B' }}&gt;TTS 服务&lt;/Text&gt;&#10;        &lt;/Box&gt;&#10;&#10;        &lt;Box style={{ position: 'absolute', top: 64, left: 129, width: 1, height: 434, background: '#CBD5E1' }} /&gt;&#10;        &lt;Box style={{ position: 'absolute', top: 64, left: 348, width: 1, height: 434, background: '#CBD5E1' }} /&gt;&#10;        &lt;Box style={{ position: 'absolute', top: 64, left: 567, width: 1, height: 434, background: '#CBD5E1' }} /&gt;&#10;        &lt;Box style={{ position: 'absolute', top: 64, left: 786, width: 1, height: 434, background: '#CBD5E1' }} /&gt;&#10;        &lt;Box style={{ position: 'absolute', top: 64, left: 1005, width: 1, height: 434, background: '#CBD5E1' }} /&gt;&#10;&#10;        &lt;Box style={{ position: 'absolute', top: 96, left: 129, width: 438, height: 24 }}&gt;&#10;            &lt;Text style={{ position: 'absolute', top: 0, left: 0, width: '100%', textAlign: 'center', fontSize: 13, color: '#334155' }}&gt;① 建立连接 POST /offer&lt;/Text&gt;&#10;            &lt;Box style={{ position: 'absolute', top: 15, left: 0, width: '100%', height: 2, background: '#0891B2' }} /&gt;&#10;            &lt;Text style={{ position: 'absolute', top: 5, left: 420, fontSize: 16, color: '#0891B2' }}&gt;▶&lt;/Text&gt;&#10;        &lt;/Box&gt;&#10;        &lt;Box style={{ position: 'absolute', top: 134, left: 129, width: 438, height: 24 }}&gt;&#10;            &lt;Text style={{ position: 'absolute', top: 0, left: 0, width: '100%', textAlign: 'center', fontSize: 13, color: '#334155' }}&gt;② 推送音视频 WebRTC :8010&lt;/Text&gt;&#10;            &lt;Box style={{ position: 'absolute', top: 15, left: 0, width: '100%', height: 2, background: '#2563EB' }} /&gt;&#10;            &lt;Text style={{ position: 'absolute', top: 5, left: 0, fontSize: 16, color: '#2563EB' }}&gt;◀&lt;/Text&gt;&#10;        &lt;/Box&gt;&#10;        &lt;Box style={{ position: 'absolute', top: 172, left: 129, width: 219, height: 24 }}&gt;&#10;            &lt;Text style={{ position: 'absolute', top: 0, left: 0, width: '100%', textAlign: 'center', fontSize: 13, color: '#334155' }}&gt;③ 上传音频 WebSocket /asr (可选)&lt;/Text&gt;&#10;            &lt;Box style={{ position: 'absolute', top: 15, left: 0, width: '100%', height: 2, background: '#0D9488' }} /&gt;&#10;            &lt;Text style={{ position: 'absolute', top: 5, left: 201, fontSize: 16, color: '#0D9488' }}&gt;▶&lt;/Text&gt;&#10;        &lt;/Box&gt;&#10;        &lt;Box style={{ position: 'absolute', top: 210, left: 129, width: 219, height: 24 }}&gt;&#10;            &lt;Text style={{ position: 'absolute', top: 0, left: 0, width: '100%', textAlign: 'center', fontSize: 13, color: '#334155' }}&gt;④ 返回识别文本&lt;/Text&gt;&#10;            &lt;Box style={{ position: 'absolute', top: 15, left: 0, width: '100%', height: 2, background: '#0D9488' }} /&gt;&#10;            &lt;Text style={{ position: 'absolute', top: 5, left: 0, fontSize: 16, color: '#0D9488' }}&gt;◀&lt;/Text&gt;&#10;        &lt;/Box&gt;&#10;        &lt;Box style={{ position: 'absolute', top: 248, left: 129, width: 438, height: 24 }}&gt;&#10;            &lt;Text style={{ position: 'absolute', top: 0, left: 0, width: '100%', textAlign: 'center', fontSize: 13, color: '#334155' }}&gt;⑤ 发送对话 POST /human {&quot;{text}&quot;}&lt;/Text&gt;&#10;            &lt;Box style={{ position: 'absolute', top: 15, left: 0, width: '100%', height: 2, background: '#0891B2' }} /&gt;&#10;            &lt;Text style={{ position: 'absolute', top: 5, left: 420, fontSize: 16, color: '#0891B2' }}&gt;▶&lt;/Text&gt;&#10;        &lt;/Box&gt;&#10;        &lt;Box style={{ position: 'absolute', top: 286, left: 567, width: 219, height: 24 }}&gt;&#10;            &lt;Text style={{ position: 'absolute', top: 0, left: 0, width: '100%', textAlign: 'center', fontSize: 13, color: '#334155' }}&gt;⑥ 请求生成回复 (可选)&lt;/Text&gt;&#10;            &lt;Box style={{ position: 'absolute', top: 15, left: 0, width: '100%', height: 2, background: '#7C3AED' }} /&gt;&#10;            &lt;Text style={{ position: 'absolute', top: 5, left: 201, fontSize: 16, color: '#7C3AED' }}&gt;▶&lt;/Text&gt;&#10;        &lt;/Box&gt;&#10;        &lt;Box style={{ position: 'absolute', top: 324, left: 567, width: 219, height: 24 }}&gt;&#10;            &lt;Text style={{ position: 'absolute', top: 0, left: 0, width: '100%', textAlign: 'center', fontSize: 13, color: '#334155' }}&gt;⑦ 返回回复文本 (流式)&lt;/Text&gt;&#10;            &lt;Box style={{ position: 'absolute', top: 15, left: 0, width: '100%', height: 2, background: '#7C3AED' }} /&gt;&#10;            &lt;Text style={{ position: 'absolute', top: 5, left: 0, fontSize: 16, color: '#7C3AED' }}&gt;◀&lt;/Text&gt;&#10;        &lt;/Box&gt;&#10;        &lt;Box style={{ position: 'absolute', top: 362, left: 567, width: 438, height: 24 }}&gt;&#10;            &lt;Text style={{ position: 'absolute', top: 0, left: 0, width: '100%', textAlign: 'center', fontSize: 13, color: '#334155' }}&gt;⑧ 请求语音合成&lt;/Text&gt;&#10;            &lt;Box style={{ position: 'absolute', top: 15, left: 0, width: '100%', height: 2, background: '#DB2777' }} /&gt;&#10;            &lt;Text style={{ position: 'absolute', top: 5, left: 420, fontSize: 16, color: '#DB2777' }}&gt;▶&lt;/Text&gt;&#10;        &lt;/Box&gt;&#10;        &lt;Box style={{ position: 'absolute', top: 400, left: 567, width: 438, height: 24 }}&gt;&#10;            &lt;Text style={{ position: 'absolute', top: 0, left: 0, width: '100%', textAlign: 'center', fontSize: 13, color: '#334155' }}&gt;⑨ 返回音频流 PCM&lt;/Text&gt;&#10;            &lt;Box style={{ position: 'absolute', top: 15, left: 0, width: '100%', height: 2, background: '#DB2777' }} /&gt;&#10;            &lt;Text style={{ position: 'absolute', top: 5, left: 0, fontSize: 16, color: '#DB2777' }}&gt;◀&lt;/Text&gt;&#10;        &lt;/Box&gt;&#10;        &lt;Box style={{ position: 'absolute', top: 438, left: 129, width: 438, height: 24 }}&gt;&#10;            &lt;Text style={{ position: 'absolute', top: 0, left: 0, width: '100%', textAlign: 'center', fontSize: 13, color: '#334155' }}&gt;⑩ 说话事件 SSE (开始/结束)&lt;/Text&gt;&#10;            &lt;Box style={{ position: 'absolute', top: 15, left: 0, width: '100%', height: 2, background: '#2563EB' }} /&gt;&#10;            &lt;Text style={{ position: 'absolute', top: 5, left: 0, fontSize: 16, color: '#2563EB' }}&gt;◀&lt;/Text&gt;&#10;        &lt;/Box&gt;&#10;        &lt;Box style={{ position: 'absolute', top: 476, left: 129, width: 438, height: 24 }}&gt;&#10;            &lt;Text style={{ position: 'absolute', top: 0, left: 0, width: '100%', textAlign: 'center', fontSize: 13, color: '#334155' }}&gt;⑪ 打断 POST /interrupt_talk&lt;/Text&gt;&#10;            &lt;Box style={{ position: 'absolute', top: 15, left: 0, width: '100%', height: 2, background: '#0891B2' }} /&gt;&#10;            &lt;Text style={{ position: 'absolute', top: 5, left: 420, fontSize: 16, color: '#0891B2' }}&gt;▶&lt;/Text&gt;&#10;        &lt;/Box&gt;&#10;    &lt;/Box&gt;&#10;&#10;    &lt;Box style={{ height: 28, flexDirection: 'row', justifyContent: 'center', alignItems: 'center', zIndex: 1 }}&gt;&#10;        &lt;Text style={{ fontSize: 14, color: '#475569' }}&gt;默认端口 8010 · POST /offer 建立连接 · /asr 上传音频(WebSocket) · /human 发送文本 · /interrupt_talk 打断 · 说话开始/结束事件经 SSE 返回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图片 3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333" name="文本框 332" descr="{&quot;isTemplate&quot;:true,&quot;type&quot;:&quot;text&quot;}"/>
          <p:cNvSpPr txBox="1"/>
          <p:nvPr/>
        </p:nvSpPr>
        <p:spPr>
          <a:xfrm>
            <a:off x="685800" y="914400"/>
            <a:ext cx="1082040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E293B"/>
                </a:solidFill>
                <a:latin typeface="Microsoft YaHei"/>
                <a:ea typeface="Microsoft YaHei"/>
              </a:rPr>
              <a:t>API </a:t>
            </a: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对接：对话时序图</a:t>
            </a:r>
            <a:endParaRPr/>
          </a:p>
        </p:txBody>
      </p:sp>
      <p:sp>
        <p:nvSpPr>
          <p:cNvPr id="334" name="文本框 333" descr="{&quot;isTemplate&quot;:true,&quot;type&quot;:&quot;text&quot;}"/>
          <p:cNvSpPr txBox="1"/>
          <p:nvPr/>
        </p:nvSpPr>
        <p:spPr>
          <a:xfrm>
            <a:off x="685800" y="1343025"/>
            <a:ext cx="108204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>WebSocket / HTTP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接口驱动数字人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音频经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> WebRTC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流式返回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说话事件经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> SSE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推送</a:t>
            </a:r>
            <a:endParaRPr/>
          </a:p>
        </p:txBody>
      </p:sp>
      <p:sp>
        <p:nvSpPr>
          <p:cNvPr id="335" name="圆角矩形 334"/>
          <p:cNvSpPr/>
          <p:nvPr/>
        </p:nvSpPr>
        <p:spPr>
          <a:xfrm>
            <a:off x="1057275" y="1638300"/>
            <a:ext cx="1714500" cy="533400"/>
          </a:xfrm>
          <a:prstGeom prst="roundRect">
            <a:avLst>
              <a:gd name="adj" fmla="val 1785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36" name="图片 3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1625" y="1800225"/>
            <a:ext cx="209550" cy="209550"/>
          </a:xfrm>
          <a:prstGeom prst="rect">
            <a:avLst/>
          </a:prstGeom>
          <a:ln/>
        </p:spPr>
      </p:pic>
      <p:sp>
        <p:nvSpPr>
          <p:cNvPr id="337" name="文本框 336" descr="{&quot;isTemplate&quot;:true,&quot;type&quot;:&quot;text&quot;}"/>
          <p:cNvSpPr txBox="1"/>
          <p:nvPr/>
        </p:nvSpPr>
        <p:spPr>
          <a:xfrm>
            <a:off x="1857375" y="1828800"/>
            <a:ext cx="4000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E293B"/>
                </a:solidFill>
                <a:latin typeface="Microsoft YaHei"/>
                <a:ea typeface="Microsoft YaHei"/>
              </a:rPr>
              <a:t>客户端</a:t>
            </a:r>
            <a:endParaRPr/>
          </a:p>
        </p:txBody>
      </p:sp>
      <p:sp>
        <p:nvSpPr>
          <p:cNvPr id="338" name="圆角矩形 337"/>
          <p:cNvSpPr/>
          <p:nvPr/>
        </p:nvSpPr>
        <p:spPr>
          <a:xfrm>
            <a:off x="3143250" y="1638300"/>
            <a:ext cx="1714500" cy="533400"/>
          </a:xfrm>
          <a:prstGeom prst="roundRect">
            <a:avLst>
              <a:gd name="adj" fmla="val 1785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39" name="图片 33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0425" y="1800225"/>
            <a:ext cx="209550" cy="209550"/>
          </a:xfrm>
          <a:prstGeom prst="rect">
            <a:avLst/>
          </a:prstGeom>
          <a:ln/>
        </p:spPr>
      </p:pic>
      <p:sp>
        <p:nvSpPr>
          <p:cNvPr id="340" name="文本框 339" descr="{&quot;isTemplate&quot;:true,&quot;type&quot;:&quot;text&quot;}"/>
          <p:cNvSpPr txBox="1"/>
          <p:nvPr/>
        </p:nvSpPr>
        <p:spPr>
          <a:xfrm>
            <a:off x="3686175" y="1828800"/>
            <a:ext cx="9239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293B"/>
                </a:solidFill>
                <a:latin typeface="Microsoft YaHei"/>
                <a:ea typeface="Microsoft YaHei"/>
              </a:rPr>
              <a:t>ASR </a:t>
            </a:r>
            <a:r>
              <a:rPr lang="zh-CN" sz="1050" b="1">
                <a:solidFill>
                  <a:srgbClr val="1E293B"/>
                </a:solidFill>
                <a:latin typeface="Microsoft YaHei"/>
                <a:ea typeface="Microsoft YaHei"/>
              </a:rPr>
              <a:t>服务</a:t>
            </a:r>
            <a:r>
              <a:rPr lang="en-US" sz="1050" b="1">
                <a:solidFill>
                  <a:srgbClr val="1E293B"/>
                </a:solidFill>
                <a:latin typeface="Microsoft YaHei"/>
                <a:ea typeface="Microsoft YaHei"/>
              </a:rPr>
              <a:t>(</a:t>
            </a:r>
            <a:r>
              <a:rPr lang="zh-CN" sz="1050" b="1">
                <a:solidFill>
                  <a:srgbClr val="1E293B"/>
                </a:solidFill>
                <a:latin typeface="Microsoft YaHei"/>
                <a:ea typeface="Microsoft YaHei"/>
              </a:rPr>
              <a:t>可选</a:t>
            </a:r>
            <a:r>
              <a:rPr lang="en-US" sz="1050" b="1">
                <a:solidFill>
                  <a:srgbClr val="1E293B"/>
                </a:solidFill>
                <a:latin typeface="Microsoft YaHei"/>
                <a:ea typeface="Microsoft YaHei"/>
              </a:rPr>
              <a:t>)</a:t>
            </a:r>
            <a:endParaRPr/>
          </a:p>
        </p:txBody>
      </p:sp>
      <p:sp>
        <p:nvSpPr>
          <p:cNvPr id="341" name="圆角矩形 340"/>
          <p:cNvSpPr/>
          <p:nvPr/>
        </p:nvSpPr>
        <p:spPr>
          <a:xfrm>
            <a:off x="5229225" y="1638300"/>
            <a:ext cx="1714500" cy="533400"/>
          </a:xfrm>
          <a:prstGeom prst="roundRect">
            <a:avLst>
              <a:gd name="adj" fmla="val 1785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42" name="图片 34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0700" y="1800225"/>
            <a:ext cx="209550" cy="209550"/>
          </a:xfrm>
          <a:prstGeom prst="rect">
            <a:avLst/>
          </a:prstGeom>
          <a:ln/>
        </p:spPr>
      </p:pic>
      <p:sp>
        <p:nvSpPr>
          <p:cNvPr id="343" name="文本框 342" descr="{&quot;isTemplate&quot;:true,&quot;type&quot;:&quot;text&quot;}"/>
          <p:cNvSpPr txBox="1"/>
          <p:nvPr/>
        </p:nvSpPr>
        <p:spPr>
          <a:xfrm>
            <a:off x="5886450" y="1828800"/>
            <a:ext cx="6953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293B"/>
                </a:solidFill>
                <a:latin typeface="Microsoft YaHei"/>
                <a:ea typeface="Microsoft YaHei"/>
              </a:rPr>
              <a:t>LiveTalking</a:t>
            </a:r>
            <a:endParaRPr/>
          </a:p>
        </p:txBody>
      </p:sp>
      <p:sp>
        <p:nvSpPr>
          <p:cNvPr id="344" name="圆角矩形 343"/>
          <p:cNvSpPr/>
          <p:nvPr/>
        </p:nvSpPr>
        <p:spPr>
          <a:xfrm>
            <a:off x="7315200" y="1638300"/>
            <a:ext cx="1714500" cy="533400"/>
          </a:xfrm>
          <a:prstGeom prst="roundRect">
            <a:avLst>
              <a:gd name="adj" fmla="val 1785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45" name="图片 34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5250" y="1800225"/>
            <a:ext cx="209550" cy="209550"/>
          </a:xfrm>
          <a:prstGeom prst="rect">
            <a:avLst/>
          </a:prstGeom>
          <a:ln/>
        </p:spPr>
      </p:pic>
      <p:sp>
        <p:nvSpPr>
          <p:cNvPr id="346" name="文本框 345" descr="{&quot;isTemplate&quot;:true,&quot;type&quot;:&quot;text&quot;}"/>
          <p:cNvSpPr txBox="1"/>
          <p:nvPr/>
        </p:nvSpPr>
        <p:spPr>
          <a:xfrm>
            <a:off x="8001000" y="1828800"/>
            <a:ext cx="6286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293B"/>
                </a:solidFill>
                <a:latin typeface="Microsoft YaHei"/>
                <a:ea typeface="Microsoft YaHei"/>
              </a:rPr>
              <a:t>LLM(</a:t>
            </a:r>
            <a:r>
              <a:rPr lang="zh-CN" sz="1050" b="1">
                <a:solidFill>
                  <a:srgbClr val="1E293B"/>
                </a:solidFill>
                <a:latin typeface="Microsoft YaHei"/>
                <a:ea typeface="Microsoft YaHei"/>
              </a:rPr>
              <a:t>可选</a:t>
            </a:r>
            <a:r>
              <a:rPr lang="en-US" sz="1050" b="1">
                <a:solidFill>
                  <a:srgbClr val="1E293B"/>
                </a:solidFill>
                <a:latin typeface="Microsoft YaHei"/>
                <a:ea typeface="Microsoft YaHei"/>
              </a:rPr>
              <a:t>)</a:t>
            </a:r>
            <a:endParaRPr/>
          </a:p>
        </p:txBody>
      </p:sp>
      <p:sp>
        <p:nvSpPr>
          <p:cNvPr id="347" name="圆角矩形 346"/>
          <p:cNvSpPr/>
          <p:nvPr/>
        </p:nvSpPr>
        <p:spPr>
          <a:xfrm>
            <a:off x="9401175" y="1638300"/>
            <a:ext cx="1714500" cy="533400"/>
          </a:xfrm>
          <a:prstGeom prst="roundRect">
            <a:avLst>
              <a:gd name="adj" fmla="val 1785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48" name="图片 34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48850" y="1800225"/>
            <a:ext cx="209550" cy="209550"/>
          </a:xfrm>
          <a:prstGeom prst="rect">
            <a:avLst/>
          </a:prstGeom>
          <a:ln/>
        </p:spPr>
      </p:pic>
      <p:sp>
        <p:nvSpPr>
          <p:cNvPr id="349" name="文本框 348" descr="{&quot;isTemplate&quot;:true,&quot;type&quot;:&quot;text&quot;}"/>
          <p:cNvSpPr txBox="1"/>
          <p:nvPr/>
        </p:nvSpPr>
        <p:spPr>
          <a:xfrm>
            <a:off x="10134600" y="1828800"/>
            <a:ext cx="5429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293B"/>
                </a:solidFill>
                <a:latin typeface="Microsoft YaHei"/>
                <a:ea typeface="Microsoft YaHei"/>
              </a:rPr>
              <a:t>TTS </a:t>
            </a:r>
            <a:r>
              <a:rPr lang="zh-CN" sz="1050" b="1">
                <a:solidFill>
                  <a:srgbClr val="1E293B"/>
                </a:solidFill>
                <a:latin typeface="Microsoft YaHei"/>
                <a:ea typeface="Microsoft YaHei"/>
              </a:rPr>
              <a:t>服务</a:t>
            </a:r>
            <a:endParaRPr/>
          </a:p>
        </p:txBody>
      </p:sp>
      <p:sp>
        <p:nvSpPr>
          <p:cNvPr id="350" name="矩形 349"/>
          <p:cNvSpPr/>
          <p:nvPr/>
        </p:nvSpPr>
        <p:spPr>
          <a:xfrm>
            <a:off x="1914525" y="2247900"/>
            <a:ext cx="9525" cy="4133850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1" name="矩形 350"/>
          <p:cNvSpPr/>
          <p:nvPr/>
        </p:nvSpPr>
        <p:spPr>
          <a:xfrm>
            <a:off x="4000500" y="2247900"/>
            <a:ext cx="9525" cy="4133850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2" name="矩形 351"/>
          <p:cNvSpPr/>
          <p:nvPr/>
        </p:nvSpPr>
        <p:spPr>
          <a:xfrm>
            <a:off x="6086475" y="2247900"/>
            <a:ext cx="9525" cy="4133850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3" name="矩形 352"/>
          <p:cNvSpPr/>
          <p:nvPr/>
        </p:nvSpPr>
        <p:spPr>
          <a:xfrm>
            <a:off x="8172450" y="2247900"/>
            <a:ext cx="9525" cy="4133850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4" name="矩形 353"/>
          <p:cNvSpPr/>
          <p:nvPr/>
        </p:nvSpPr>
        <p:spPr>
          <a:xfrm>
            <a:off x="10258425" y="2247900"/>
            <a:ext cx="9525" cy="4133850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5" name="文本框 354" descr="{&quot;isTemplate&quot;:true,&quot;type&quot;:&quot;text&quot;}"/>
          <p:cNvSpPr txBox="1"/>
          <p:nvPr/>
        </p:nvSpPr>
        <p:spPr>
          <a:xfrm>
            <a:off x="1914525" y="2552700"/>
            <a:ext cx="41719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en-US" sz="975">
                <a:solidFill>
                  <a:srgbClr val="334155"/>
                </a:solidFill>
                <a:latin typeface="Microsoft YaHei"/>
                <a:ea typeface="Microsoft YaHei"/>
              </a:rPr>
              <a:t>① </a:t>
            </a:r>
            <a:r>
              <a:rPr lang="zh-CN" sz="975">
                <a:solidFill>
                  <a:srgbClr val="334155"/>
                </a:solidFill>
                <a:latin typeface="Microsoft YaHei"/>
                <a:ea typeface="Microsoft YaHei"/>
              </a:rPr>
              <a:t>建立连接</a:t>
            </a:r>
            <a:r>
              <a:rPr lang="en-US" sz="975">
                <a:solidFill>
                  <a:srgbClr val="334155"/>
                </a:solidFill>
                <a:latin typeface="Microsoft YaHei"/>
                <a:ea typeface="Microsoft YaHei"/>
              </a:rPr>
              <a:t> POST /offer</a:t>
            </a:r>
            <a:endParaRPr/>
          </a:p>
        </p:txBody>
      </p:sp>
      <p:sp>
        <p:nvSpPr>
          <p:cNvPr id="356" name="矩形 355"/>
          <p:cNvSpPr/>
          <p:nvPr/>
        </p:nvSpPr>
        <p:spPr>
          <a:xfrm>
            <a:off x="1914525" y="2695575"/>
            <a:ext cx="4171950" cy="1905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7" name="文本框 356" descr="{&quot;isTemplate&quot;:true,&quot;type&quot;:&quot;text&quot;}"/>
          <p:cNvSpPr txBox="1"/>
          <p:nvPr/>
        </p:nvSpPr>
        <p:spPr>
          <a:xfrm>
            <a:off x="5915025" y="2600325"/>
            <a:ext cx="1428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200">
                <a:solidFill>
                  <a:srgbClr val="0891B2"/>
                </a:solidFill>
                <a:latin typeface="Microsoft YaHei"/>
                <a:ea typeface="Microsoft YaHei"/>
              </a:rPr>
              <a:t>▶</a:t>
            </a:r>
            <a:endParaRPr/>
          </a:p>
        </p:txBody>
      </p:sp>
      <p:sp>
        <p:nvSpPr>
          <p:cNvPr id="358" name="文本框 357" descr="{&quot;isTemplate&quot;:true,&quot;type&quot;:&quot;text&quot;}"/>
          <p:cNvSpPr txBox="1"/>
          <p:nvPr/>
        </p:nvSpPr>
        <p:spPr>
          <a:xfrm>
            <a:off x="1914525" y="2914650"/>
            <a:ext cx="41719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en-US" sz="975">
                <a:solidFill>
                  <a:srgbClr val="334155"/>
                </a:solidFill>
                <a:latin typeface="Microsoft YaHei"/>
                <a:ea typeface="Microsoft YaHei"/>
              </a:rPr>
              <a:t>② </a:t>
            </a:r>
            <a:r>
              <a:rPr lang="zh-CN" sz="975">
                <a:solidFill>
                  <a:srgbClr val="334155"/>
                </a:solidFill>
                <a:latin typeface="Microsoft YaHei"/>
                <a:ea typeface="Microsoft YaHei"/>
              </a:rPr>
              <a:t>推送音视频</a:t>
            </a:r>
            <a:r>
              <a:rPr lang="en-US" sz="975">
                <a:solidFill>
                  <a:srgbClr val="334155"/>
                </a:solidFill>
                <a:latin typeface="Microsoft YaHei"/>
                <a:ea typeface="Microsoft YaHei"/>
              </a:rPr>
              <a:t> WebRTC :8010</a:t>
            </a:r>
            <a:endParaRPr/>
          </a:p>
        </p:txBody>
      </p:sp>
      <p:sp>
        <p:nvSpPr>
          <p:cNvPr id="359" name="矩形 358"/>
          <p:cNvSpPr/>
          <p:nvPr/>
        </p:nvSpPr>
        <p:spPr>
          <a:xfrm>
            <a:off x="1914525" y="3057525"/>
            <a:ext cx="4171950" cy="1905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0" name="文本框 359" descr="{&quot;isTemplate&quot;:true,&quot;type&quot;:&quot;text&quot;}"/>
          <p:cNvSpPr txBox="1"/>
          <p:nvPr/>
        </p:nvSpPr>
        <p:spPr>
          <a:xfrm>
            <a:off x="1914525" y="2962275"/>
            <a:ext cx="1524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200">
                <a:solidFill>
                  <a:srgbClr val="2563EB"/>
                </a:solidFill>
                <a:latin typeface="Microsoft YaHei"/>
                <a:ea typeface="Microsoft YaHei"/>
              </a:rPr>
              <a:t>◀</a:t>
            </a:r>
            <a:endParaRPr/>
          </a:p>
        </p:txBody>
      </p:sp>
      <p:sp>
        <p:nvSpPr>
          <p:cNvPr id="361" name="文本框 360" descr="{&quot;isTemplate&quot;:true,&quot;type&quot;:&quot;text&quot;}"/>
          <p:cNvSpPr txBox="1"/>
          <p:nvPr/>
        </p:nvSpPr>
        <p:spPr>
          <a:xfrm>
            <a:off x="1914525" y="3276600"/>
            <a:ext cx="20859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en-US" sz="975">
                <a:solidFill>
                  <a:srgbClr val="334155"/>
                </a:solidFill>
                <a:latin typeface="Microsoft YaHei"/>
                <a:ea typeface="Microsoft YaHei"/>
              </a:rPr>
              <a:t>③ </a:t>
            </a:r>
            <a:r>
              <a:rPr lang="zh-CN" sz="975">
                <a:solidFill>
                  <a:srgbClr val="334155"/>
                </a:solidFill>
                <a:latin typeface="Microsoft YaHei"/>
                <a:ea typeface="Microsoft YaHei"/>
              </a:rPr>
              <a:t>上传音频</a:t>
            </a:r>
            <a:r>
              <a:rPr lang="en-US" sz="975">
                <a:solidFill>
                  <a:srgbClr val="334155"/>
                </a:solidFill>
                <a:latin typeface="Microsoft YaHei"/>
                <a:ea typeface="Microsoft YaHei"/>
              </a:rPr>
              <a:t> WebSocket /asr (</a:t>
            </a:r>
            <a:r>
              <a:rPr lang="zh-CN" sz="975">
                <a:solidFill>
                  <a:srgbClr val="334155"/>
                </a:solidFill>
                <a:latin typeface="Microsoft YaHei"/>
                <a:ea typeface="Microsoft YaHei"/>
              </a:rPr>
              <a:t>可选</a:t>
            </a:r>
            <a:r>
              <a:rPr lang="en-US" sz="975">
                <a:solidFill>
                  <a:srgbClr val="334155"/>
                </a:solidFill>
                <a:latin typeface="Microsoft YaHei"/>
                <a:ea typeface="Microsoft YaHei"/>
              </a:rPr>
              <a:t>)</a:t>
            </a:r>
            <a:endParaRPr/>
          </a:p>
        </p:txBody>
      </p:sp>
      <p:sp>
        <p:nvSpPr>
          <p:cNvPr id="362" name="矩形 361"/>
          <p:cNvSpPr/>
          <p:nvPr/>
        </p:nvSpPr>
        <p:spPr>
          <a:xfrm>
            <a:off x="1914525" y="3419475"/>
            <a:ext cx="2085975" cy="1905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3" name="文本框 362" descr="{&quot;isTemplate&quot;:true,&quot;type&quot;:&quot;text&quot;}"/>
          <p:cNvSpPr txBox="1"/>
          <p:nvPr/>
        </p:nvSpPr>
        <p:spPr>
          <a:xfrm>
            <a:off x="3829050" y="3324225"/>
            <a:ext cx="1428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200">
                <a:solidFill>
                  <a:srgbClr val="0D9488"/>
                </a:solidFill>
                <a:latin typeface="Microsoft YaHei"/>
                <a:ea typeface="Microsoft YaHei"/>
              </a:rPr>
              <a:t>▶</a:t>
            </a:r>
            <a:endParaRPr/>
          </a:p>
        </p:txBody>
      </p:sp>
      <p:sp>
        <p:nvSpPr>
          <p:cNvPr id="364" name="文本框 363" descr="{&quot;isTemplate&quot;:true,&quot;type&quot;:&quot;text&quot;}"/>
          <p:cNvSpPr txBox="1"/>
          <p:nvPr/>
        </p:nvSpPr>
        <p:spPr>
          <a:xfrm>
            <a:off x="1914525" y="3638550"/>
            <a:ext cx="20859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en-US" sz="975">
                <a:solidFill>
                  <a:srgbClr val="334155"/>
                </a:solidFill>
                <a:latin typeface="Microsoft YaHei"/>
                <a:ea typeface="Microsoft YaHei"/>
              </a:rPr>
              <a:t>④ </a:t>
            </a:r>
            <a:r>
              <a:rPr lang="zh-CN" sz="975">
                <a:solidFill>
                  <a:srgbClr val="334155"/>
                </a:solidFill>
                <a:latin typeface="Microsoft YaHei"/>
                <a:ea typeface="Microsoft YaHei"/>
              </a:rPr>
              <a:t>返回识别文本</a:t>
            </a:r>
            <a:endParaRPr/>
          </a:p>
        </p:txBody>
      </p:sp>
      <p:sp>
        <p:nvSpPr>
          <p:cNvPr id="365" name="矩形 364"/>
          <p:cNvSpPr/>
          <p:nvPr/>
        </p:nvSpPr>
        <p:spPr>
          <a:xfrm>
            <a:off x="1914525" y="3781425"/>
            <a:ext cx="2085975" cy="1905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6" name="文本框 365" descr="{&quot;isTemplate&quot;:true,&quot;type&quot;:&quot;text&quot;}"/>
          <p:cNvSpPr txBox="1"/>
          <p:nvPr/>
        </p:nvSpPr>
        <p:spPr>
          <a:xfrm>
            <a:off x="1914525" y="3686175"/>
            <a:ext cx="1524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200">
                <a:solidFill>
                  <a:srgbClr val="0D9488"/>
                </a:solidFill>
                <a:latin typeface="Microsoft YaHei"/>
                <a:ea typeface="Microsoft YaHei"/>
              </a:rPr>
              <a:t>◀</a:t>
            </a:r>
            <a:endParaRPr/>
          </a:p>
        </p:txBody>
      </p:sp>
      <p:sp>
        <p:nvSpPr>
          <p:cNvPr id="367" name="文本框 366" descr="{&quot;isTemplate&quot;:true,&quot;type&quot;:&quot;text&quot;}"/>
          <p:cNvSpPr txBox="1"/>
          <p:nvPr/>
        </p:nvSpPr>
        <p:spPr>
          <a:xfrm>
            <a:off x="1914525" y="4000500"/>
            <a:ext cx="41719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en-US" sz="975">
                <a:solidFill>
                  <a:srgbClr val="334155"/>
                </a:solidFill>
                <a:latin typeface="Microsoft YaHei"/>
                <a:ea typeface="Microsoft YaHei"/>
              </a:rPr>
              <a:t>⑤ </a:t>
            </a:r>
            <a:r>
              <a:rPr lang="zh-CN" sz="975">
                <a:solidFill>
                  <a:srgbClr val="334155"/>
                </a:solidFill>
                <a:latin typeface="Microsoft YaHei"/>
                <a:ea typeface="Microsoft YaHei"/>
              </a:rPr>
              <a:t>发送对话</a:t>
            </a:r>
            <a:r>
              <a:rPr lang="en-US" sz="975">
                <a:solidFill>
                  <a:srgbClr val="334155"/>
                </a:solidFill>
                <a:latin typeface="Microsoft YaHei"/>
                <a:ea typeface="Microsoft YaHei"/>
              </a:rPr>
              <a:t> POST /human {text}</a:t>
            </a:r>
            <a:endParaRPr/>
          </a:p>
        </p:txBody>
      </p:sp>
      <p:sp>
        <p:nvSpPr>
          <p:cNvPr id="368" name="矩形 367"/>
          <p:cNvSpPr/>
          <p:nvPr/>
        </p:nvSpPr>
        <p:spPr>
          <a:xfrm>
            <a:off x="1914525" y="4143375"/>
            <a:ext cx="4171950" cy="1905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9" name="文本框 368" descr="{&quot;isTemplate&quot;:true,&quot;type&quot;:&quot;text&quot;}"/>
          <p:cNvSpPr txBox="1"/>
          <p:nvPr/>
        </p:nvSpPr>
        <p:spPr>
          <a:xfrm>
            <a:off x="5915025" y="4048125"/>
            <a:ext cx="1428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200">
                <a:solidFill>
                  <a:srgbClr val="0891B2"/>
                </a:solidFill>
                <a:latin typeface="Microsoft YaHei"/>
                <a:ea typeface="Microsoft YaHei"/>
              </a:rPr>
              <a:t>▶</a:t>
            </a:r>
            <a:endParaRPr/>
          </a:p>
        </p:txBody>
      </p:sp>
      <p:sp>
        <p:nvSpPr>
          <p:cNvPr id="370" name="文本框 369" descr="{&quot;isTemplate&quot;:true,&quot;type&quot;:&quot;text&quot;}"/>
          <p:cNvSpPr txBox="1"/>
          <p:nvPr/>
        </p:nvSpPr>
        <p:spPr>
          <a:xfrm>
            <a:off x="6086475" y="4362450"/>
            <a:ext cx="20859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en-US" sz="975">
                <a:solidFill>
                  <a:srgbClr val="334155"/>
                </a:solidFill>
                <a:latin typeface="Microsoft YaHei"/>
                <a:ea typeface="Microsoft YaHei"/>
              </a:rPr>
              <a:t>⑥ </a:t>
            </a:r>
            <a:r>
              <a:rPr lang="zh-CN" sz="975">
                <a:solidFill>
                  <a:srgbClr val="334155"/>
                </a:solidFill>
                <a:latin typeface="Microsoft YaHei"/>
                <a:ea typeface="Microsoft YaHei"/>
              </a:rPr>
              <a:t>请求生成回复</a:t>
            </a:r>
            <a:r>
              <a:rPr lang="en-US" sz="975">
                <a:solidFill>
                  <a:srgbClr val="334155"/>
                </a:solidFill>
                <a:latin typeface="Microsoft YaHei"/>
                <a:ea typeface="Microsoft YaHei"/>
              </a:rPr>
              <a:t> (</a:t>
            </a:r>
            <a:r>
              <a:rPr lang="zh-CN" sz="975">
                <a:solidFill>
                  <a:srgbClr val="334155"/>
                </a:solidFill>
                <a:latin typeface="Microsoft YaHei"/>
                <a:ea typeface="Microsoft YaHei"/>
              </a:rPr>
              <a:t>可选</a:t>
            </a:r>
            <a:r>
              <a:rPr lang="en-US" sz="975">
                <a:solidFill>
                  <a:srgbClr val="334155"/>
                </a:solidFill>
                <a:latin typeface="Microsoft YaHei"/>
                <a:ea typeface="Microsoft YaHei"/>
              </a:rPr>
              <a:t>)</a:t>
            </a:r>
            <a:endParaRPr/>
          </a:p>
        </p:txBody>
      </p:sp>
      <p:sp>
        <p:nvSpPr>
          <p:cNvPr id="371" name="矩形 370"/>
          <p:cNvSpPr/>
          <p:nvPr/>
        </p:nvSpPr>
        <p:spPr>
          <a:xfrm>
            <a:off x="6086475" y="4505325"/>
            <a:ext cx="2085975" cy="1905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2" name="文本框 371" descr="{&quot;isTemplate&quot;:true,&quot;type&quot;:&quot;text&quot;}"/>
          <p:cNvSpPr txBox="1"/>
          <p:nvPr/>
        </p:nvSpPr>
        <p:spPr>
          <a:xfrm>
            <a:off x="8001000" y="4410075"/>
            <a:ext cx="1428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200">
                <a:solidFill>
                  <a:srgbClr val="7C3AED"/>
                </a:solidFill>
                <a:latin typeface="Microsoft YaHei"/>
                <a:ea typeface="Microsoft YaHei"/>
              </a:rPr>
              <a:t>▶</a:t>
            </a:r>
            <a:endParaRPr/>
          </a:p>
        </p:txBody>
      </p:sp>
      <p:sp>
        <p:nvSpPr>
          <p:cNvPr id="373" name="文本框 372" descr="{&quot;isTemplate&quot;:true,&quot;type&quot;:&quot;text&quot;}"/>
          <p:cNvSpPr txBox="1"/>
          <p:nvPr/>
        </p:nvSpPr>
        <p:spPr>
          <a:xfrm>
            <a:off x="6086475" y="4724400"/>
            <a:ext cx="20859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en-US" sz="975">
                <a:solidFill>
                  <a:srgbClr val="334155"/>
                </a:solidFill>
                <a:latin typeface="Microsoft YaHei"/>
                <a:ea typeface="Microsoft YaHei"/>
              </a:rPr>
              <a:t>⑦ </a:t>
            </a:r>
            <a:r>
              <a:rPr lang="zh-CN" sz="975">
                <a:solidFill>
                  <a:srgbClr val="334155"/>
                </a:solidFill>
                <a:latin typeface="Microsoft YaHei"/>
                <a:ea typeface="Microsoft YaHei"/>
              </a:rPr>
              <a:t>返回回复文本</a:t>
            </a:r>
            <a:r>
              <a:rPr lang="en-US" sz="975">
                <a:solidFill>
                  <a:srgbClr val="334155"/>
                </a:solidFill>
                <a:latin typeface="Microsoft YaHei"/>
                <a:ea typeface="Microsoft YaHei"/>
              </a:rPr>
              <a:t> (</a:t>
            </a:r>
            <a:r>
              <a:rPr lang="zh-CN" sz="975">
                <a:solidFill>
                  <a:srgbClr val="334155"/>
                </a:solidFill>
                <a:latin typeface="Microsoft YaHei"/>
                <a:ea typeface="Microsoft YaHei"/>
              </a:rPr>
              <a:t>流式</a:t>
            </a:r>
            <a:r>
              <a:rPr lang="en-US" sz="975">
                <a:solidFill>
                  <a:srgbClr val="334155"/>
                </a:solidFill>
                <a:latin typeface="Microsoft YaHei"/>
                <a:ea typeface="Microsoft YaHei"/>
              </a:rPr>
              <a:t>)</a:t>
            </a:r>
            <a:endParaRPr/>
          </a:p>
        </p:txBody>
      </p:sp>
      <p:sp>
        <p:nvSpPr>
          <p:cNvPr id="374" name="矩形 373"/>
          <p:cNvSpPr/>
          <p:nvPr/>
        </p:nvSpPr>
        <p:spPr>
          <a:xfrm>
            <a:off x="6086475" y="4867275"/>
            <a:ext cx="2085975" cy="1905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5" name="文本框 374" descr="{&quot;isTemplate&quot;:true,&quot;type&quot;:&quot;text&quot;}"/>
          <p:cNvSpPr txBox="1"/>
          <p:nvPr/>
        </p:nvSpPr>
        <p:spPr>
          <a:xfrm>
            <a:off x="6086475" y="4772025"/>
            <a:ext cx="1524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200">
                <a:solidFill>
                  <a:srgbClr val="7C3AED"/>
                </a:solidFill>
                <a:latin typeface="Microsoft YaHei"/>
                <a:ea typeface="Microsoft YaHei"/>
              </a:rPr>
              <a:t>◀</a:t>
            </a:r>
            <a:endParaRPr/>
          </a:p>
        </p:txBody>
      </p:sp>
      <p:sp>
        <p:nvSpPr>
          <p:cNvPr id="376" name="文本框 375" descr="{&quot;isTemplate&quot;:true,&quot;type&quot;:&quot;text&quot;}"/>
          <p:cNvSpPr txBox="1"/>
          <p:nvPr/>
        </p:nvSpPr>
        <p:spPr>
          <a:xfrm>
            <a:off x="6086475" y="5086350"/>
            <a:ext cx="41719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en-US" sz="975">
                <a:solidFill>
                  <a:srgbClr val="334155"/>
                </a:solidFill>
                <a:latin typeface="Microsoft YaHei"/>
                <a:ea typeface="Microsoft YaHei"/>
              </a:rPr>
              <a:t>⑧ </a:t>
            </a:r>
            <a:r>
              <a:rPr lang="zh-CN" sz="975">
                <a:solidFill>
                  <a:srgbClr val="334155"/>
                </a:solidFill>
                <a:latin typeface="Microsoft YaHei"/>
                <a:ea typeface="Microsoft YaHei"/>
              </a:rPr>
              <a:t>请求语音合成</a:t>
            </a:r>
            <a:endParaRPr/>
          </a:p>
        </p:txBody>
      </p:sp>
      <p:sp>
        <p:nvSpPr>
          <p:cNvPr id="377" name="矩形 376"/>
          <p:cNvSpPr/>
          <p:nvPr/>
        </p:nvSpPr>
        <p:spPr>
          <a:xfrm>
            <a:off x="6086475" y="5229225"/>
            <a:ext cx="4171950" cy="19050"/>
          </a:xfrm>
          <a:prstGeom prst="rect">
            <a:avLst/>
          </a:prstGeom>
          <a:solidFill>
            <a:srgbClr val="DB277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8" name="文本框 377" descr="{&quot;isTemplate&quot;:true,&quot;type&quot;:&quot;text&quot;}"/>
          <p:cNvSpPr txBox="1"/>
          <p:nvPr/>
        </p:nvSpPr>
        <p:spPr>
          <a:xfrm>
            <a:off x="10086975" y="5133975"/>
            <a:ext cx="1428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200">
                <a:solidFill>
                  <a:srgbClr val="DB2777"/>
                </a:solidFill>
                <a:latin typeface="Microsoft YaHei"/>
                <a:ea typeface="Microsoft YaHei"/>
              </a:rPr>
              <a:t>▶</a:t>
            </a:r>
            <a:endParaRPr/>
          </a:p>
        </p:txBody>
      </p:sp>
      <p:sp>
        <p:nvSpPr>
          <p:cNvPr id="379" name="文本框 378" descr="{&quot;isTemplate&quot;:true,&quot;type&quot;:&quot;text&quot;}"/>
          <p:cNvSpPr txBox="1"/>
          <p:nvPr/>
        </p:nvSpPr>
        <p:spPr>
          <a:xfrm>
            <a:off x="6086475" y="5448300"/>
            <a:ext cx="41719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en-US" sz="975">
                <a:solidFill>
                  <a:srgbClr val="334155"/>
                </a:solidFill>
                <a:latin typeface="Microsoft YaHei"/>
                <a:ea typeface="Microsoft YaHei"/>
              </a:rPr>
              <a:t>⑨ </a:t>
            </a:r>
            <a:r>
              <a:rPr lang="zh-CN" sz="975">
                <a:solidFill>
                  <a:srgbClr val="334155"/>
                </a:solidFill>
                <a:latin typeface="Microsoft YaHei"/>
                <a:ea typeface="Microsoft YaHei"/>
              </a:rPr>
              <a:t>返回音频流</a:t>
            </a:r>
            <a:r>
              <a:rPr lang="en-US" sz="975">
                <a:solidFill>
                  <a:srgbClr val="334155"/>
                </a:solidFill>
                <a:latin typeface="Microsoft YaHei"/>
                <a:ea typeface="Microsoft YaHei"/>
              </a:rPr>
              <a:t> PCM</a:t>
            </a:r>
            <a:endParaRPr/>
          </a:p>
        </p:txBody>
      </p:sp>
      <p:sp>
        <p:nvSpPr>
          <p:cNvPr id="380" name="矩形 379"/>
          <p:cNvSpPr/>
          <p:nvPr/>
        </p:nvSpPr>
        <p:spPr>
          <a:xfrm>
            <a:off x="6086475" y="5591175"/>
            <a:ext cx="4171950" cy="19050"/>
          </a:xfrm>
          <a:prstGeom prst="rect">
            <a:avLst/>
          </a:prstGeom>
          <a:solidFill>
            <a:srgbClr val="DB277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1" name="文本框 380" descr="{&quot;isTemplate&quot;:true,&quot;type&quot;:&quot;text&quot;}"/>
          <p:cNvSpPr txBox="1"/>
          <p:nvPr/>
        </p:nvSpPr>
        <p:spPr>
          <a:xfrm>
            <a:off x="6086475" y="5495925"/>
            <a:ext cx="1524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200">
                <a:solidFill>
                  <a:srgbClr val="DB2777"/>
                </a:solidFill>
                <a:latin typeface="Microsoft YaHei"/>
                <a:ea typeface="Microsoft YaHei"/>
              </a:rPr>
              <a:t>◀</a:t>
            </a:r>
            <a:endParaRPr/>
          </a:p>
        </p:txBody>
      </p:sp>
      <p:sp>
        <p:nvSpPr>
          <p:cNvPr id="382" name="文本框 381" descr="{&quot;isTemplate&quot;:true,&quot;type&quot;:&quot;text&quot;}"/>
          <p:cNvSpPr txBox="1"/>
          <p:nvPr/>
        </p:nvSpPr>
        <p:spPr>
          <a:xfrm>
            <a:off x="1914525" y="5810250"/>
            <a:ext cx="41719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en-US" sz="975">
                <a:solidFill>
                  <a:srgbClr val="334155"/>
                </a:solidFill>
                <a:latin typeface="Microsoft YaHei"/>
                <a:ea typeface="Microsoft YaHei"/>
              </a:rPr>
              <a:t>⑩ </a:t>
            </a:r>
            <a:r>
              <a:rPr lang="zh-CN" sz="975">
                <a:solidFill>
                  <a:srgbClr val="334155"/>
                </a:solidFill>
                <a:latin typeface="Microsoft YaHei"/>
                <a:ea typeface="Microsoft YaHei"/>
              </a:rPr>
              <a:t>说话事件</a:t>
            </a:r>
            <a:r>
              <a:rPr lang="en-US" sz="975">
                <a:solidFill>
                  <a:srgbClr val="334155"/>
                </a:solidFill>
                <a:latin typeface="Microsoft YaHei"/>
                <a:ea typeface="Microsoft YaHei"/>
              </a:rPr>
              <a:t> SSE (</a:t>
            </a:r>
            <a:r>
              <a:rPr lang="zh-CN" sz="975">
                <a:solidFill>
                  <a:srgbClr val="334155"/>
                </a:solidFill>
                <a:latin typeface="Microsoft YaHei"/>
                <a:ea typeface="Microsoft YaHei"/>
              </a:rPr>
              <a:t>开始</a:t>
            </a:r>
            <a:r>
              <a:rPr lang="en-US" sz="975">
                <a:solidFill>
                  <a:srgbClr val="334155"/>
                </a:solidFill>
                <a:latin typeface="Microsoft YaHei"/>
                <a:ea typeface="Microsoft YaHei"/>
              </a:rPr>
              <a:t>/</a:t>
            </a:r>
            <a:r>
              <a:rPr lang="zh-CN" sz="975">
                <a:solidFill>
                  <a:srgbClr val="334155"/>
                </a:solidFill>
                <a:latin typeface="Microsoft YaHei"/>
                <a:ea typeface="Microsoft YaHei"/>
              </a:rPr>
              <a:t>结束</a:t>
            </a:r>
            <a:r>
              <a:rPr lang="en-US" sz="975">
                <a:solidFill>
                  <a:srgbClr val="334155"/>
                </a:solidFill>
                <a:latin typeface="Microsoft YaHei"/>
                <a:ea typeface="Microsoft YaHei"/>
              </a:rPr>
              <a:t>)</a:t>
            </a:r>
            <a:endParaRPr/>
          </a:p>
        </p:txBody>
      </p:sp>
      <p:sp>
        <p:nvSpPr>
          <p:cNvPr id="383" name="矩形 382"/>
          <p:cNvSpPr/>
          <p:nvPr/>
        </p:nvSpPr>
        <p:spPr>
          <a:xfrm>
            <a:off x="1914525" y="5953125"/>
            <a:ext cx="4171950" cy="1905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4" name="文本框 383" descr="{&quot;isTemplate&quot;:true,&quot;type&quot;:&quot;text&quot;}"/>
          <p:cNvSpPr txBox="1"/>
          <p:nvPr/>
        </p:nvSpPr>
        <p:spPr>
          <a:xfrm>
            <a:off x="1914525" y="5857875"/>
            <a:ext cx="1524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200">
                <a:solidFill>
                  <a:srgbClr val="2563EB"/>
                </a:solidFill>
                <a:latin typeface="Microsoft YaHei"/>
                <a:ea typeface="Microsoft YaHei"/>
              </a:rPr>
              <a:t>◀</a:t>
            </a:r>
            <a:endParaRPr/>
          </a:p>
        </p:txBody>
      </p:sp>
      <p:sp>
        <p:nvSpPr>
          <p:cNvPr id="385" name="文本框 384" descr="{&quot;isTemplate&quot;:true,&quot;type&quot;:&quot;text&quot;}"/>
          <p:cNvSpPr txBox="1"/>
          <p:nvPr/>
        </p:nvSpPr>
        <p:spPr>
          <a:xfrm>
            <a:off x="1914525" y="6172200"/>
            <a:ext cx="41719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en-US" sz="975">
                <a:solidFill>
                  <a:srgbClr val="334155"/>
                </a:solidFill>
                <a:latin typeface="Microsoft YaHei"/>
                <a:ea typeface="Microsoft YaHei"/>
              </a:rPr>
              <a:t>⑪ </a:t>
            </a:r>
            <a:r>
              <a:rPr lang="zh-CN" sz="975">
                <a:solidFill>
                  <a:srgbClr val="334155"/>
                </a:solidFill>
                <a:latin typeface="Microsoft YaHei"/>
                <a:ea typeface="Microsoft YaHei"/>
              </a:rPr>
              <a:t>打断</a:t>
            </a:r>
            <a:r>
              <a:rPr lang="en-US" sz="975">
                <a:solidFill>
                  <a:srgbClr val="334155"/>
                </a:solidFill>
                <a:latin typeface="Microsoft YaHei"/>
                <a:ea typeface="Microsoft YaHei"/>
              </a:rPr>
              <a:t> POST /interrupt_talk</a:t>
            </a:r>
            <a:endParaRPr/>
          </a:p>
        </p:txBody>
      </p:sp>
      <p:sp>
        <p:nvSpPr>
          <p:cNvPr id="386" name="矩形 385"/>
          <p:cNvSpPr/>
          <p:nvPr/>
        </p:nvSpPr>
        <p:spPr>
          <a:xfrm>
            <a:off x="1914525" y="6315075"/>
            <a:ext cx="4171950" cy="1905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7" name="文本框 386" descr="{&quot;isTemplate&quot;:true,&quot;type&quot;:&quot;text&quot;}"/>
          <p:cNvSpPr txBox="1"/>
          <p:nvPr/>
        </p:nvSpPr>
        <p:spPr>
          <a:xfrm>
            <a:off x="5915025" y="6219825"/>
            <a:ext cx="1428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200">
                <a:solidFill>
                  <a:srgbClr val="0891B2"/>
                </a:solidFill>
                <a:latin typeface="Microsoft YaHei"/>
                <a:ea typeface="Microsoft YaHei"/>
              </a:rPr>
              <a:t>▶</a:t>
            </a:r>
            <a:endParaRPr/>
          </a:p>
        </p:txBody>
      </p:sp>
      <p:sp>
        <p:nvSpPr>
          <p:cNvPr id="388" name="文本框 387" descr="{&quot;isTemplate&quot;:true,&quot;type&quot;:&quot;text&quot;}"/>
          <p:cNvSpPr txBox="1"/>
          <p:nvPr/>
        </p:nvSpPr>
        <p:spPr>
          <a:xfrm>
            <a:off x="1847850" y="6438900"/>
            <a:ext cx="85058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默认端口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 8010 · POST /offer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建立连接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 · /asr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上传音频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(WebSocket) · /human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发送文本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 · /interrupt_talk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打断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说话开始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/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结束事件经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 SSE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返回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transparent', padding: '80px 72px 32px', flexDirection: 'column' }}&gt;&#10;    &lt;Image src=&quot;resources/images/gvp_background.jpg&quot; style={{ position: 'absolute', top: 0, left: 0, width: 1280, height: 720, objectFit: 'cover' }} /&gt;&#10;    &lt;Box style={{ zIndex: 1, height: 70, flexDirection: 'column', gap: 4, justifyContent: 'center', alignItems: 'center' }}&gt;&#10;        &lt;Text style={{ fontSize: 36, fontWeight: 'bold', color: '#1E293B' }}&gt;NAT 穿透：WebRTC 跨网络互联&lt;/Text&gt;&#10;        &lt;Text style={{ fontSize: 15.5, color: '#475569' }}&gt;NAT 四类行为 · STUN 反射 · TURN 中继 · ICE 自动协商最优路径&lt;/Text&gt;&#10;    &lt;/Box&gt;&#10;&#10;    &#10;    &lt;Box style={{ zIndex: 1, flex: 1, alignItems: 'center', justifyContent: 'center' }}&gt;&#10;        &lt;Image src=&quot;resources/images/nat_topology.png&quot; style={{ width: 980, height: 560, objectFit: 'contain' }} /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5" name="图片 5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536" name="文本框 535" descr="{&quot;isTemplate&quot;:true,&quot;type&quot;:&quot;text&quot;}"/>
          <p:cNvSpPr txBox="1"/>
          <p:nvPr/>
        </p:nvSpPr>
        <p:spPr>
          <a:xfrm>
            <a:off x="3590925" y="781050"/>
            <a:ext cx="5019675" cy="4191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1E293B"/>
                </a:solidFill>
                <a:latin typeface="Microsoft YaHei"/>
                <a:ea typeface="Microsoft YaHei"/>
              </a:rPr>
              <a:t>NAT </a:t>
            </a:r>
            <a:r>
              <a:rPr lang="zh-CN" sz="2700" b="1">
                <a:solidFill>
                  <a:srgbClr val="1E293B"/>
                </a:solidFill>
                <a:latin typeface="Microsoft YaHei"/>
                <a:ea typeface="Microsoft YaHei"/>
              </a:rPr>
              <a:t>穿透：</a:t>
            </a:r>
            <a:r>
              <a:rPr lang="en-US" sz="2700" b="1">
                <a:solidFill>
                  <a:srgbClr val="1E293B"/>
                </a:solidFill>
                <a:latin typeface="Microsoft YaHei"/>
                <a:ea typeface="Microsoft YaHei"/>
              </a:rPr>
              <a:t>WebRTC </a:t>
            </a:r>
            <a:r>
              <a:rPr lang="zh-CN" sz="2700" b="1">
                <a:solidFill>
                  <a:srgbClr val="1E293B"/>
                </a:solidFill>
                <a:latin typeface="Microsoft YaHei"/>
                <a:ea typeface="Microsoft YaHei"/>
              </a:rPr>
              <a:t>跨网络互联</a:t>
            </a:r>
            <a:endParaRPr/>
          </a:p>
        </p:txBody>
      </p:sp>
      <p:sp>
        <p:nvSpPr>
          <p:cNvPr id="537" name="文本框 536" descr="{&quot;isTemplate&quot;:true,&quot;type&quot;:&quot;text&quot;}"/>
          <p:cNvSpPr txBox="1"/>
          <p:nvPr/>
        </p:nvSpPr>
        <p:spPr>
          <a:xfrm>
            <a:off x="3981450" y="1238250"/>
            <a:ext cx="4238625" cy="1809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63">
                <a:solidFill>
                  <a:srgbClr val="475569"/>
                </a:solidFill>
                <a:latin typeface="Microsoft YaHei"/>
                <a:ea typeface="Microsoft YaHei"/>
              </a:rPr>
              <a:t>NAT </a:t>
            </a:r>
            <a:r>
              <a:rPr lang="zh-CN" sz="1163">
                <a:solidFill>
                  <a:srgbClr val="475569"/>
                </a:solidFill>
                <a:latin typeface="Microsoft YaHei"/>
                <a:ea typeface="Microsoft YaHei"/>
              </a:rPr>
              <a:t>四类行为</a:t>
            </a:r>
            <a:r>
              <a:rPr lang="en-US" sz="1163">
                <a:solidFill>
                  <a:srgbClr val="475569"/>
                </a:solidFill>
                <a:latin typeface="Microsoft YaHei"/>
                <a:ea typeface="Microsoft YaHei"/>
              </a:rPr>
              <a:t> · STUN </a:t>
            </a:r>
            <a:r>
              <a:rPr lang="zh-CN" sz="1163">
                <a:solidFill>
                  <a:srgbClr val="475569"/>
                </a:solidFill>
                <a:latin typeface="Microsoft YaHei"/>
                <a:ea typeface="Microsoft YaHei"/>
              </a:rPr>
              <a:t>反射</a:t>
            </a:r>
            <a:r>
              <a:rPr lang="en-US" sz="1163">
                <a:solidFill>
                  <a:srgbClr val="475569"/>
                </a:solidFill>
                <a:latin typeface="Microsoft YaHei"/>
                <a:ea typeface="Microsoft YaHei"/>
              </a:rPr>
              <a:t> · TURN </a:t>
            </a:r>
            <a:r>
              <a:rPr lang="zh-CN" sz="1163">
                <a:solidFill>
                  <a:srgbClr val="475569"/>
                </a:solidFill>
                <a:latin typeface="Microsoft YaHei"/>
                <a:ea typeface="Microsoft YaHei"/>
              </a:rPr>
              <a:t>中继</a:t>
            </a:r>
            <a:r>
              <a:rPr lang="en-US" sz="1163">
                <a:solidFill>
                  <a:srgbClr val="475569"/>
                </a:solidFill>
                <a:latin typeface="Microsoft YaHei"/>
                <a:ea typeface="Microsoft YaHei"/>
              </a:rPr>
              <a:t> · ICE </a:t>
            </a:r>
            <a:r>
              <a:rPr lang="zh-CN" sz="1163">
                <a:solidFill>
                  <a:srgbClr val="475569"/>
                </a:solidFill>
                <a:latin typeface="Microsoft YaHei"/>
                <a:ea typeface="Microsoft YaHei"/>
              </a:rPr>
              <a:t>自动协商最优路径</a:t>
            </a:r>
            <a:endParaRPr/>
          </a:p>
        </p:txBody>
      </p:sp>
      <p:pic>
        <p:nvPicPr>
          <p:cNvPr id="538" name="图片 537"/>
          <p:cNvPicPr>
            <a:picLocks noChangeAspect="1"/>
          </p:cNvPicPr>
          <p:nvPr/>
        </p:nvPicPr>
        <p:blipFill>
          <a:blip r:embed="rId3"/>
          <a:srcRect t="8241" b="8241"/>
          <a:stretch>
            <a:fillRect/>
          </a:stretch>
        </p:blipFill>
        <p:spPr>
          <a:xfrm>
            <a:off x="1428750" y="1428750"/>
            <a:ext cx="9334500" cy="5334000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transparent', padding: '76px 72px 16px', flexDirection: 'column' }}&gt;&#10;    &lt;Image src=&quot;resources/images/gvp_background.jpg&quot; style={{ position: 'absolute', top: 0, left: 0, width: 1280, height: 720, objectFit: 'cover' }} /&gt;&#10;    &lt;Box style={{ zIndex: 1, height: 66, flexDirection: 'column', gap: 3, justifyContent: 'center' }}&gt;&#10;        &lt;Text style={{ fontSize: 34, fontWeight: 'bold', color: '#1E293B' }}&gt;内网/外网地址交换与 ICE 打洞&lt;/Text&gt;&#10;        &lt;Text style={{ fontSize: 14.5, color: '#475569' }}&gt;以 Alice / Bob 为例：内网地址经 NAT + STUN 映射为公网地址，再经 Signaling 交换，最后同时打洞建立 P2P&lt;/Text&gt;&#10;    &lt;/Box&gt;&#10;&#10;    &#10;    &lt;Box style={{ zIndex: 1, marginTop: 8, padding: 12, background: 'rgba(255, 255, 255, 0.78)', borderRadius: 10, border: '1px solid rgba(203, 213, 225, 0.6)', flexDirection: 'column', gap: 6 }}&gt;&#10;        &lt;Text style={{ fontSize: 14, fontWeight: 'bold', color: '#2563EB' }}&gt;示例：Alice 与 Bob 的公网地址发现与交换&lt;/Text&gt;&#10;&#10;        &#10;        &lt;Box style={{ flexDirection: 'row', gap: 14, justifyContent: 'center' }}&gt;&#10;            &#10;            &lt;Box style={{ flex: 1, flexDirection: 'row', gap: 6, alignItems: 'center', justifyContent: 'center' }}&gt;&#10;                &lt;Box style={{ width: 138, padding: 7, background: '#DBEAFE', borderRadius: 6, alignItems: 'center' }}&gt;&#10;                    &lt;Text style={{ fontSize: 11, fontWeight: 'bold', color: '#1E293B' }}&gt;Alice 内网&lt;/Text&gt;&#10;                    &lt;Text style={{ fontSize: 12.5, fontWeight: 'bold', color: '#2563EB', marginTop: 2 }}&gt;192.168.1.10:5000&lt;/Text&gt;&#10;                &lt;/Box&gt;&#10;                &lt;Text style={{ fontSize: 18, color: '#94A3B8' }}&gt;▶&lt;/Text&gt;&#10;                &lt;Box style={{ width: 100, padding: 7, background: '#E0F2FE', borderRadius: 6, alignItems: 'center' }}&gt;&#10;                    &lt;Text style={{ fontSize: 10.5, fontWeight: 'bold', color: '#1E293B', textAlign: 'center' }}&gt;NAT A +{'\n'}STUN 反射&lt;/Text&gt;&#10;                &lt;/Box&gt;&#10;                &lt;Text style={{ fontSize: 18, color: '#94A3B8' }}&gt;▶&lt;/Text&gt;&#10;                &lt;Box style={{ width: 138, padding: 7, background: '#DBEAFE', borderRadius: 6, alignItems: 'center' }}&gt;&#10;                    &lt;Text style={{ fontSize: 11, fontWeight: 'bold', color: '#1E293B' }}&gt;Alice 公网&lt;/Text&gt;&#10;                    &lt;Text style={{ fontSize: 12.5, fontWeight: 'bold', color: '#2563EB', marginTop: 2 }}&gt;1.2.3.4:6000&lt;/Text&gt;&#10;                &lt;/Box&gt;&#10;            &lt;/Box&gt;&#10;&#10;            &#10;            &lt;Box style={{ flex: 1, flexDirection: 'row', gap: 6, alignItems: 'center', justifyContent: 'center' }}&gt;&#10;                &lt;Box style={{ width: 138, padding: 7, background: '#FEF3C7', borderRadius: 6, alignItems: 'center' }}&gt;&#10;                    &lt;Text style={{ fontSize: 11, fontWeight: 'bold', color: '#1E293B' }}&gt;Bob 公网&lt;/Text&gt;&#10;                    &lt;Text style={{ fontSize: 12.5, fontWeight: 'bold', color: '#D97706', marginTop: 2 }}&gt;5.6.7.8:7000&lt;/Text&gt;&#10;                &lt;/Box&gt;&#10;                &lt;Text style={{ fontSize: 18, color: '#94A3B8' }}&gt;◀&lt;/Text&gt;&#10;                &lt;Box style={{ width: 100, padding: 7, background: '#E0F2FE', borderRadius: 6, alignItems: 'center' }}&gt;&#10;                    &lt;Text style={{ fontSize: 10.5, fontWeight: 'bold', color: '#1E293B', textAlign: 'center' }}&gt;NAT B +{'\n'}STUN 反射&lt;/Text&gt;&#10;                &lt;/Box&gt;&#10;                &lt;Text style={{ fontSize: 18, color: '#94A3B8' }}&gt;◀&lt;/Text&gt;&#10;                &lt;Box style={{ width: 138, padding: 7, background: '#FEF3C7', borderRadius: 6, alignItems: 'center' }}&gt;&#10;                    &lt;Text style={{ fontSize: 11, fontWeight: 'bold', color: '#1E293B' }}&gt;Bob 内网&lt;/Text&gt;&#10;                    &lt;Text style={{ fontSize: 12.5, fontWeight: 'bold', color: '#D97706', marginTop: 2 }}&gt;10.0.0.5:5000&lt;/Text&gt;&#10;                &lt;/Box&gt;&#10;            &lt;/Box&gt;&#10;        &lt;/Box&gt;&#10;&#10;        &#10;        &lt;Box style={{ flexDirection: 'column', gap: 2, alignItems: 'center', marginTop: 2 }}&gt;&#10;            &lt;Text style={{ fontSize: 16, color: '#94A3B8' }}&gt;▼&lt;/Text&gt;&#10;            &lt;Box style={{ width: 720, padding: 7, background: '#F1F5F9', borderRadius: 6, alignItems: 'center' }}&gt;&#10;                &lt;Text style={{ fontSize: 11.5, fontWeight: 'bold', color: '#1E293B' }}&gt;信令服务器交换双方公网地址&lt;/Text&gt;&#10;                &lt;Text style={{ fontSize: 10.5, color: '#475569', marginTop: 1 }}&gt;Alice 得到 5.6.7.8:7000，Bob 得到 1.2.3.4:6000&lt;/Text&gt;&#10;            &lt;/Box&gt;&#10;            &lt;Text style={{ fontSize: 16, color: '#94A3B8' }}&gt;▼&lt;/Text&gt;&#10;            &lt;Box style={{ width: 720, padding: 7, background: '#F1F5F9', borderRadius: 6, alignItems: 'center' }}&gt;&#10;                &lt;Text style={{ fontSize: 11.5, fontWeight: 'bold', color: '#1E293B' }}&gt;双方同时向对方公网地址发送 UDP 探测包&lt;/Text&gt;&#10;                &lt;Text style={{ fontSize: 10.5, color: '#475569', marginTop: 1 }}&gt;NAT A / NAT B 将出向流记录为「已授权」，允许回程包进入 → 完成打洞&lt;/Text&gt;&#10;            &lt;/Box&gt;&#10;            &lt;Text style={{ fontSize: 16, color: '#94A3B8' }}&gt;▼&lt;/Text&gt;&#10;            &lt;Box style={{ width: 720, padding: 7, background: '#DCFCE7', borderRadius: 6, alignItems: 'center' }}&gt;&#10;                &lt;Text style={{ fontSize: 11.5, fontWeight: 'bold', color: '#166534' }}&gt;P2P 直连建立：后续媒体流不再经过 STUN/TURN&lt;/Text&gt;&#10;            &lt;/Box&gt;&#10;        &lt;/Box&gt;&#10;    &lt;/Box&gt;&#10;&#10;    &#10;    &lt;Box style={{ zIndex: 1, flexDirection: 'row', gap: 14, marginTop: 10, flex: 1 }}&gt;&#10;        &lt;Box style={{ flex: 1, flexDirection: 'column', gap: 4, padding: 11, background: 'rgba(255, 255, 255, 0.78)', borderRadius: 10, border: '1px solid rgba(203, 213, 225, 0.6)' }}&gt;&#10;            &lt;Text style={{ fontSize: 13, fontWeight: 'bold', color: '#0891B2', marginBottom: 1 }}&gt;ICE 候选类型&lt;/Text&gt;&#10;            &lt;Box style={{ flexDirection: 'row', gap: 5, alignItems: 'center' }}&gt;&#10;                &lt;Text style={{ fontSize: 10.5, color: '#FFFFFF', background: '#0891B2', padding: '1px 5px', borderRadius: 4, fontWeight: 'bold' }}&gt;host&lt;/Text&gt;&#10;                &lt;Text style={{ fontSize: 11.5, color: '#1E293B' }}&gt;本地网卡地址（同一局域网可直接通）&lt;/Text&gt;&#10;            &lt;/Box&gt;&#10;            &lt;Box style={{ flexDirection: 'row', gap: 5, alignItems: 'center' }}&gt;&#10;                &lt;Text style={{ fontSize: 10.5, color: '#FFFFFF', background: '#2563EB', padding: '1px 5px', borderRadius: 4, fontWeight: 'bold' }}&gt;srflx&lt;/Text&gt;&#10;                &lt;Text style={{ fontSize: 11.5, color: '#1E293B' }}&gt;STUN 反射后的公网地址（即本例 1.2.3.4:6000）&lt;/Text&gt;&#10;            &lt;/Box&gt;&#10;            &lt;Box style={{ flexDirection: 'row', gap: 5, alignItems: 'center' }}&gt;&#10;                &lt;Text style={{ fontSize: 10.5, color: '#FFFFFF', background: '#F59E0B', padding: '1px 5px', borderRadius: 4, fontWeight: 'bold' }}&gt;relay&lt;/Text&gt;&#10;                &lt;Text style={{ fontSize: 11.5, color: '#1E293B' }}&gt;TURN 分配的中继地址（P2P 失败时兜底）&lt;/Text&gt;&#10;            &lt;/Box&gt;&#10;        &lt;/Box&gt;&#10;&#10;        &lt;Box style={{ flex: 1, flexDirection: 'column', gap: 4, padding: 11, background: 'rgba(255, 255, 255, 0.78)', borderRadius: 10, border: '1px solid rgba(203, 213, 225, 0.6)' }}&gt;&#10;            &lt;Text style={{ fontSize: 13, fontWeight: 'bold', color: '#0891B2', marginBottom: 1 }}&gt;ICE 连通性检查优先级&lt;/Text&gt;&#10;            &lt;Text style={{ fontSize: 11.5, color: '#1E293B' }}&gt;&lt;span style={{ fontWeight: 'bold', color: '#0891B2' }}&gt;1&lt;/span&gt;  host ↔ host（同局域网，延迟最低）&lt;/Text&gt;&#10;            &lt;Text style={{ fontSize: 11.5, color: '#1E293B' }}&gt;&lt;span style={{ fontWeight: 'bold', color: '#0891B2' }}&gt;2&lt;/span&gt;  srflx ↔ srflx（经 STUN 打洞成功）&lt;/Text&gt;&#10;            &lt;Text style={{ fontSize: 11.5, color: '#1E293B' }}&gt;&lt;span style={{ fontWeight: 'bold', color: '#0891B2' }}&gt;3&lt;/span&gt;  srflx ↔ relay / host ↔ relay&lt;/Text&gt;&#10;            &lt;Text style={{ fontSize: 11.5, color: '#1E293B' }}&gt;&lt;span style={{ fontWeight: 'bold', color: '#0891B2' }}&gt;4&lt;/span&gt;  relay ↔ relay（连通性最有保障，成本最高）&lt;/Text&gt;&#10;        &lt;/Box&gt;&#10;    &lt;/Box&gt;&#10;&#10;    &#10;    &lt;Box style={{ zIndex: 1, flexDirection: 'row', gap: 10, marginTop: 8, padding: 9, background: 'rgba(224, 242, 254, 0.85)', borderRadius: 8, alignItems: 'center' }}&gt;&#10;        &lt;Image src='resources/images/icons/icon_lightbulb_0891B2.png' style={{ width: 22, height: 22 }} /&gt;&#10;        &lt;Text style={{ fontSize: 11.5, color: '#475569', lineHeight: 1.45 }}&gt;&#10;            &lt;span style={{ fontWeight: 'bold', color: '#1E293B' }}&gt;LiveTalking 实践&lt;/span&gt;：WebRTC 推流在 config.yaml 配置 STUN 服务器（2026-07 新增选项）；服务端开放 TCP 8010 与 UDP 媒体端口；对称型 NAT / 企业防火墙建议部署 coturn 作为 TURN 中继，或选择 SRS「两 TCP 端口」方案绕过 UDP 打洞&#10;        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0" name="图片 5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541" name="文本框 540" descr="{&quot;isTemplate&quot;:true,&quot;type&quot;:&quot;text&quot;}"/>
          <p:cNvSpPr txBox="1"/>
          <p:nvPr/>
        </p:nvSpPr>
        <p:spPr>
          <a:xfrm>
            <a:off x="685800" y="742950"/>
            <a:ext cx="1082040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内网</a:t>
            </a:r>
            <a:r>
              <a:rPr lang="en-US" sz="2550" b="1">
                <a:solidFill>
                  <a:srgbClr val="1E293B"/>
                </a:solidFill>
                <a:latin typeface="Microsoft YaHei"/>
                <a:ea typeface="Microsoft YaHei"/>
              </a:rPr>
              <a:t>/</a:t>
            </a: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外网地址交换与</a:t>
            </a:r>
            <a:r>
              <a:rPr lang="en-US" sz="2550" b="1">
                <a:solidFill>
                  <a:srgbClr val="1E293B"/>
                </a:solidFill>
                <a:latin typeface="Microsoft YaHei"/>
                <a:ea typeface="Microsoft YaHei"/>
              </a:rPr>
              <a:t> ICE </a:t>
            </a: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打洞</a:t>
            </a:r>
            <a:endParaRPr/>
          </a:p>
        </p:txBody>
      </p:sp>
      <p:sp>
        <p:nvSpPr>
          <p:cNvPr id="542" name="文本框 541" descr="{&quot;isTemplate&quot;:true,&quot;type&quot;:&quot;text&quot;}"/>
          <p:cNvSpPr txBox="1"/>
          <p:nvPr/>
        </p:nvSpPr>
        <p:spPr>
          <a:xfrm>
            <a:off x="685800" y="1162050"/>
            <a:ext cx="108204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88">
                <a:solidFill>
                  <a:srgbClr val="475569"/>
                </a:solidFill>
                <a:latin typeface="Microsoft YaHei"/>
                <a:ea typeface="Microsoft YaHei"/>
              </a:rPr>
              <a:t>以</a:t>
            </a:r>
            <a:r>
              <a:rPr lang="en-US" sz="1088">
                <a:solidFill>
                  <a:srgbClr val="475569"/>
                </a:solidFill>
                <a:latin typeface="Microsoft YaHei"/>
                <a:ea typeface="Microsoft YaHei"/>
              </a:rPr>
              <a:t> Alice / Bob </a:t>
            </a:r>
            <a:r>
              <a:rPr lang="zh-CN" sz="1088">
                <a:solidFill>
                  <a:srgbClr val="475569"/>
                </a:solidFill>
                <a:latin typeface="Microsoft YaHei"/>
                <a:ea typeface="Microsoft YaHei"/>
              </a:rPr>
              <a:t>为例：内网地址经</a:t>
            </a:r>
            <a:r>
              <a:rPr lang="en-US" sz="1088">
                <a:solidFill>
                  <a:srgbClr val="475569"/>
                </a:solidFill>
                <a:latin typeface="Microsoft YaHei"/>
                <a:ea typeface="Microsoft YaHei"/>
              </a:rPr>
              <a:t> NAT + STUN </a:t>
            </a:r>
            <a:r>
              <a:rPr lang="zh-CN" sz="1088">
                <a:solidFill>
                  <a:srgbClr val="475569"/>
                </a:solidFill>
                <a:latin typeface="Microsoft YaHei"/>
                <a:ea typeface="Microsoft YaHei"/>
              </a:rPr>
              <a:t>映射为公网地址，再经</a:t>
            </a:r>
            <a:r>
              <a:rPr lang="en-US" sz="1088">
                <a:solidFill>
                  <a:srgbClr val="475569"/>
                </a:solidFill>
                <a:latin typeface="Microsoft YaHei"/>
                <a:ea typeface="Microsoft YaHei"/>
              </a:rPr>
              <a:t> Signaling </a:t>
            </a:r>
            <a:r>
              <a:rPr lang="zh-CN" sz="1088">
                <a:solidFill>
                  <a:srgbClr val="475569"/>
                </a:solidFill>
                <a:latin typeface="Microsoft YaHei"/>
                <a:ea typeface="Microsoft YaHei"/>
              </a:rPr>
              <a:t>交换，最后同时打洞建立</a:t>
            </a:r>
            <a:r>
              <a:rPr lang="en-US" sz="1088">
                <a:solidFill>
                  <a:srgbClr val="475569"/>
                </a:solidFill>
                <a:latin typeface="Microsoft YaHei"/>
                <a:ea typeface="Microsoft YaHei"/>
              </a:rPr>
              <a:t> P2P</a:t>
            </a:r>
            <a:endParaRPr/>
          </a:p>
        </p:txBody>
      </p:sp>
      <p:sp>
        <p:nvSpPr>
          <p:cNvPr id="543" name="圆角矩形 542"/>
          <p:cNvSpPr/>
          <p:nvPr/>
        </p:nvSpPr>
        <p:spPr>
          <a:xfrm>
            <a:off x="685800" y="1428750"/>
            <a:ext cx="10820400" cy="2686050"/>
          </a:xfrm>
          <a:prstGeom prst="roundRect">
            <a:avLst>
              <a:gd name="adj" fmla="val 3546"/>
            </a:avLst>
          </a:prstGeom>
          <a:solidFill>
            <a:srgbClr val="FFFFFF">
              <a:alpha val="78000"/>
            </a:srgbClr>
          </a:solidFill>
          <a:ln w="12700">
            <a:solidFill>
              <a:srgbClr val="CBD5E1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4" name="文本框 543" descr="{&quot;isTemplate&quot;:true,&quot;type&quot;:&quot;text&quot;}"/>
          <p:cNvSpPr txBox="1"/>
          <p:nvPr/>
        </p:nvSpPr>
        <p:spPr>
          <a:xfrm>
            <a:off x="800100" y="1543050"/>
            <a:ext cx="105918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2563EB"/>
                </a:solidFill>
                <a:latin typeface="Microsoft YaHei"/>
                <a:ea typeface="Microsoft YaHei"/>
              </a:rPr>
              <a:t>示例：</a:t>
            </a:r>
            <a:r>
              <a:rPr lang="en-US" sz="1050" b="1">
                <a:solidFill>
                  <a:srgbClr val="2563EB"/>
                </a:solidFill>
                <a:latin typeface="Microsoft YaHei"/>
                <a:ea typeface="Microsoft YaHei"/>
              </a:rPr>
              <a:t>Alice </a:t>
            </a:r>
            <a:r>
              <a:rPr lang="zh-CN" sz="1050" b="1">
                <a:solidFill>
                  <a:srgbClr val="2563EB"/>
                </a:solidFill>
                <a:latin typeface="Microsoft YaHei"/>
                <a:ea typeface="Microsoft YaHei"/>
              </a:rPr>
              <a:t>与</a:t>
            </a:r>
            <a:r>
              <a:rPr lang="en-US" sz="1050" b="1">
                <a:solidFill>
                  <a:srgbClr val="2563EB"/>
                </a:solidFill>
                <a:latin typeface="Microsoft YaHei"/>
                <a:ea typeface="Microsoft YaHei"/>
              </a:rPr>
              <a:t> Bob </a:t>
            </a:r>
            <a:r>
              <a:rPr lang="zh-CN" sz="1050" b="1">
                <a:solidFill>
                  <a:srgbClr val="2563EB"/>
                </a:solidFill>
                <a:latin typeface="Microsoft YaHei"/>
                <a:ea typeface="Microsoft YaHei"/>
              </a:rPr>
              <a:t>的公网地址发现与交换</a:t>
            </a:r>
            <a:endParaRPr/>
          </a:p>
        </p:txBody>
      </p:sp>
      <p:sp>
        <p:nvSpPr>
          <p:cNvPr id="545" name="圆角矩形 544"/>
          <p:cNvSpPr/>
          <p:nvPr/>
        </p:nvSpPr>
        <p:spPr>
          <a:xfrm>
            <a:off x="1362075" y="1762125"/>
            <a:ext cx="1314450" cy="428625"/>
          </a:xfrm>
          <a:prstGeom prst="roundRect">
            <a:avLst>
              <a:gd name="adj" fmla="val 13333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46" name="文本框 545" descr="{&quot;isTemplate&quot;:true,&quot;type&quot;:&quot;text&quot;}"/>
          <p:cNvSpPr txBox="1"/>
          <p:nvPr/>
        </p:nvSpPr>
        <p:spPr>
          <a:xfrm>
            <a:off x="1781175" y="1828800"/>
            <a:ext cx="485775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1E293B"/>
                </a:solidFill>
                <a:latin typeface="Microsoft YaHei"/>
                <a:ea typeface="Microsoft YaHei"/>
              </a:rPr>
              <a:t>Alice </a:t>
            </a:r>
            <a:r>
              <a:rPr lang="zh-CN" sz="825" b="1">
                <a:solidFill>
                  <a:srgbClr val="1E293B"/>
                </a:solidFill>
                <a:latin typeface="Microsoft YaHei"/>
                <a:ea typeface="Microsoft YaHei"/>
              </a:rPr>
              <a:t>内网</a:t>
            </a:r>
            <a:endParaRPr/>
          </a:p>
        </p:txBody>
      </p:sp>
      <p:sp>
        <p:nvSpPr>
          <p:cNvPr id="547" name="文本框 546" descr="{&quot;isTemplate&quot;:true,&quot;type&quot;:&quot;text&quot;}"/>
          <p:cNvSpPr txBox="1"/>
          <p:nvPr/>
        </p:nvSpPr>
        <p:spPr>
          <a:xfrm>
            <a:off x="1504950" y="1981200"/>
            <a:ext cx="10287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2563EB"/>
                </a:solidFill>
                <a:latin typeface="Microsoft YaHei"/>
                <a:ea typeface="Microsoft YaHei"/>
              </a:rPr>
              <a:t>192.168.1.10:5000</a:t>
            </a:r>
            <a:endParaRPr/>
          </a:p>
        </p:txBody>
      </p:sp>
      <p:sp>
        <p:nvSpPr>
          <p:cNvPr id="548" name="文本框 547" descr="{&quot;isTemplate&quot;:true,&quot;type&quot;:&quot;text&quot;}"/>
          <p:cNvSpPr txBox="1"/>
          <p:nvPr/>
        </p:nvSpPr>
        <p:spPr>
          <a:xfrm>
            <a:off x="2733675" y="1876425"/>
            <a:ext cx="1524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350">
                <a:solidFill>
                  <a:srgbClr val="94A3B8"/>
                </a:solidFill>
                <a:latin typeface="Microsoft YaHei"/>
                <a:ea typeface="Microsoft YaHei"/>
              </a:rPr>
              <a:t>▶</a:t>
            </a:r>
            <a:endParaRPr/>
          </a:p>
        </p:txBody>
      </p:sp>
      <p:sp>
        <p:nvSpPr>
          <p:cNvPr id="549" name="圆角矩形 548"/>
          <p:cNvSpPr/>
          <p:nvPr/>
        </p:nvSpPr>
        <p:spPr>
          <a:xfrm>
            <a:off x="2943225" y="1790700"/>
            <a:ext cx="952500" cy="381000"/>
          </a:xfrm>
          <a:prstGeom prst="roundRect">
            <a:avLst>
              <a:gd name="adj" fmla="val 15000"/>
            </a:avLst>
          </a:prstGeom>
          <a:solidFill>
            <a:srgbClr val="E0F2F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50" name="文本框 549" descr="{&quot;isTemplate&quot;:true,&quot;type&quot;:&quot;text&quot;}"/>
          <p:cNvSpPr txBox="1"/>
          <p:nvPr/>
        </p:nvSpPr>
        <p:spPr>
          <a:xfrm>
            <a:off x="3171825" y="1857375"/>
            <a:ext cx="504825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en-US" sz="788" b="1">
                <a:solidFill>
                  <a:srgbClr val="1E293B"/>
                </a:solidFill>
                <a:latin typeface="Microsoft YaHei"/>
                <a:ea typeface="Microsoft YaHei"/>
              </a:rPr>
              <a:t>NAT A +</a:t>
            </a:r>
            <a:endParaRPr/>
          </a:p>
          <a:p>
            <a:pPr algn="ctr">
              <a:lnSpc>
                <a:spcPct val="100000"/>
              </a:lnSpc>
            </a:pPr>
            <a:r>
              <a:rPr lang="en-US" sz="788" b="1">
                <a:solidFill>
                  <a:srgbClr val="1E293B"/>
                </a:solidFill>
                <a:latin typeface="Microsoft YaHei"/>
                <a:ea typeface="Microsoft YaHei"/>
              </a:rPr>
              <a:t>STUN </a:t>
            </a:r>
            <a:r>
              <a:rPr lang="zh-CN" sz="788" b="1">
                <a:solidFill>
                  <a:srgbClr val="1E293B"/>
                </a:solidFill>
                <a:latin typeface="Microsoft YaHei"/>
                <a:ea typeface="Microsoft YaHei"/>
              </a:rPr>
              <a:t>反射</a:t>
            </a:r>
            <a:endParaRPr/>
          </a:p>
        </p:txBody>
      </p:sp>
      <p:sp>
        <p:nvSpPr>
          <p:cNvPr id="551" name="文本框 550" descr="{&quot;isTemplate&quot;:true,&quot;type&quot;:&quot;text&quot;}"/>
          <p:cNvSpPr txBox="1"/>
          <p:nvPr/>
        </p:nvSpPr>
        <p:spPr>
          <a:xfrm>
            <a:off x="3952875" y="1876425"/>
            <a:ext cx="1524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350">
                <a:solidFill>
                  <a:srgbClr val="94A3B8"/>
                </a:solidFill>
                <a:latin typeface="Microsoft YaHei"/>
                <a:ea typeface="Microsoft YaHei"/>
              </a:rPr>
              <a:t>▶</a:t>
            </a:r>
            <a:endParaRPr/>
          </a:p>
        </p:txBody>
      </p:sp>
      <p:sp>
        <p:nvSpPr>
          <p:cNvPr id="552" name="圆角矩形 551"/>
          <p:cNvSpPr/>
          <p:nvPr/>
        </p:nvSpPr>
        <p:spPr>
          <a:xfrm>
            <a:off x="4162425" y="1762125"/>
            <a:ext cx="1314450" cy="428625"/>
          </a:xfrm>
          <a:prstGeom prst="roundRect">
            <a:avLst>
              <a:gd name="adj" fmla="val 13333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53" name="文本框 552" descr="{&quot;isTemplate&quot;:true,&quot;type&quot;:&quot;text&quot;}"/>
          <p:cNvSpPr txBox="1"/>
          <p:nvPr/>
        </p:nvSpPr>
        <p:spPr>
          <a:xfrm>
            <a:off x="4581525" y="1828800"/>
            <a:ext cx="485775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1E293B"/>
                </a:solidFill>
                <a:latin typeface="Microsoft YaHei"/>
                <a:ea typeface="Microsoft YaHei"/>
              </a:rPr>
              <a:t>Alice </a:t>
            </a:r>
            <a:r>
              <a:rPr lang="zh-CN" sz="825" b="1">
                <a:solidFill>
                  <a:srgbClr val="1E293B"/>
                </a:solidFill>
                <a:latin typeface="Microsoft YaHei"/>
                <a:ea typeface="Microsoft YaHei"/>
              </a:rPr>
              <a:t>公网</a:t>
            </a:r>
            <a:endParaRPr/>
          </a:p>
        </p:txBody>
      </p:sp>
      <p:sp>
        <p:nvSpPr>
          <p:cNvPr id="554" name="文本框 553" descr="{&quot;isTemplate&quot;:true,&quot;type&quot;:&quot;text&quot;}"/>
          <p:cNvSpPr txBox="1"/>
          <p:nvPr/>
        </p:nvSpPr>
        <p:spPr>
          <a:xfrm>
            <a:off x="4486275" y="1981200"/>
            <a:ext cx="67627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2563EB"/>
                </a:solidFill>
                <a:latin typeface="Microsoft YaHei"/>
                <a:ea typeface="Microsoft YaHei"/>
              </a:rPr>
              <a:t>1.2.3.4:6000</a:t>
            </a:r>
            <a:endParaRPr/>
          </a:p>
        </p:txBody>
      </p:sp>
      <p:sp>
        <p:nvSpPr>
          <p:cNvPr id="555" name="圆角矩形 554"/>
          <p:cNvSpPr/>
          <p:nvPr/>
        </p:nvSpPr>
        <p:spPr>
          <a:xfrm>
            <a:off x="6705600" y="1762125"/>
            <a:ext cx="1314450" cy="428625"/>
          </a:xfrm>
          <a:prstGeom prst="roundRect">
            <a:avLst>
              <a:gd name="adj" fmla="val 13333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56" name="文本框 555" descr="{&quot;isTemplate&quot;:true,&quot;type&quot;:&quot;text&quot;}"/>
          <p:cNvSpPr txBox="1"/>
          <p:nvPr/>
        </p:nvSpPr>
        <p:spPr>
          <a:xfrm>
            <a:off x="7143750" y="1828800"/>
            <a:ext cx="447675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1E293B"/>
                </a:solidFill>
                <a:latin typeface="Microsoft YaHei"/>
                <a:ea typeface="Microsoft YaHei"/>
              </a:rPr>
              <a:t>Bob </a:t>
            </a:r>
            <a:r>
              <a:rPr lang="zh-CN" sz="825" b="1">
                <a:solidFill>
                  <a:srgbClr val="1E293B"/>
                </a:solidFill>
                <a:latin typeface="Microsoft YaHei"/>
                <a:ea typeface="Microsoft YaHei"/>
              </a:rPr>
              <a:t>公网</a:t>
            </a:r>
            <a:endParaRPr/>
          </a:p>
        </p:txBody>
      </p:sp>
      <p:sp>
        <p:nvSpPr>
          <p:cNvPr id="557" name="文本框 556" descr="{&quot;isTemplate&quot;:true,&quot;type&quot;:&quot;text&quot;}"/>
          <p:cNvSpPr txBox="1"/>
          <p:nvPr/>
        </p:nvSpPr>
        <p:spPr>
          <a:xfrm>
            <a:off x="7029450" y="1981200"/>
            <a:ext cx="67627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D97706"/>
                </a:solidFill>
                <a:latin typeface="Microsoft YaHei"/>
                <a:ea typeface="Microsoft YaHei"/>
              </a:rPr>
              <a:t>5.6.7.8:7000</a:t>
            </a:r>
            <a:endParaRPr/>
          </a:p>
        </p:txBody>
      </p:sp>
      <p:sp>
        <p:nvSpPr>
          <p:cNvPr id="558" name="文本框 557" descr="{&quot;isTemplate&quot;:true,&quot;type&quot;:&quot;text&quot;}"/>
          <p:cNvSpPr txBox="1"/>
          <p:nvPr/>
        </p:nvSpPr>
        <p:spPr>
          <a:xfrm>
            <a:off x="8077200" y="1876425"/>
            <a:ext cx="1714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350">
                <a:solidFill>
                  <a:srgbClr val="94A3B8"/>
                </a:solidFill>
                <a:latin typeface="Microsoft YaHei"/>
                <a:ea typeface="Microsoft YaHei"/>
              </a:rPr>
              <a:t>◀</a:t>
            </a:r>
            <a:endParaRPr/>
          </a:p>
        </p:txBody>
      </p:sp>
      <p:sp>
        <p:nvSpPr>
          <p:cNvPr id="559" name="圆角矩形 558"/>
          <p:cNvSpPr/>
          <p:nvPr/>
        </p:nvSpPr>
        <p:spPr>
          <a:xfrm>
            <a:off x="8305800" y="1790700"/>
            <a:ext cx="952500" cy="381000"/>
          </a:xfrm>
          <a:prstGeom prst="roundRect">
            <a:avLst>
              <a:gd name="adj" fmla="val 15000"/>
            </a:avLst>
          </a:prstGeom>
          <a:solidFill>
            <a:srgbClr val="E0F2F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60" name="文本框 559" descr="{&quot;isTemplate&quot;:true,&quot;type&quot;:&quot;text&quot;}"/>
          <p:cNvSpPr txBox="1"/>
          <p:nvPr/>
        </p:nvSpPr>
        <p:spPr>
          <a:xfrm>
            <a:off x="8534400" y="1857375"/>
            <a:ext cx="504825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en-US" sz="788" b="1">
                <a:solidFill>
                  <a:srgbClr val="1E293B"/>
                </a:solidFill>
                <a:latin typeface="Microsoft YaHei"/>
                <a:ea typeface="Microsoft YaHei"/>
              </a:rPr>
              <a:t>NAT B +</a:t>
            </a:r>
            <a:endParaRPr/>
          </a:p>
          <a:p>
            <a:pPr algn="ctr">
              <a:lnSpc>
                <a:spcPct val="100000"/>
              </a:lnSpc>
            </a:pPr>
            <a:r>
              <a:rPr lang="en-US" sz="788" b="1">
                <a:solidFill>
                  <a:srgbClr val="1E293B"/>
                </a:solidFill>
                <a:latin typeface="Microsoft YaHei"/>
                <a:ea typeface="Microsoft YaHei"/>
              </a:rPr>
              <a:t>STUN </a:t>
            </a:r>
            <a:r>
              <a:rPr lang="zh-CN" sz="788" b="1">
                <a:solidFill>
                  <a:srgbClr val="1E293B"/>
                </a:solidFill>
                <a:latin typeface="Microsoft YaHei"/>
                <a:ea typeface="Microsoft YaHei"/>
              </a:rPr>
              <a:t>反射</a:t>
            </a:r>
            <a:endParaRPr/>
          </a:p>
        </p:txBody>
      </p:sp>
      <p:sp>
        <p:nvSpPr>
          <p:cNvPr id="561" name="文本框 560" descr="{&quot;isTemplate&quot;:true,&quot;type&quot;:&quot;text&quot;}"/>
          <p:cNvSpPr txBox="1"/>
          <p:nvPr/>
        </p:nvSpPr>
        <p:spPr>
          <a:xfrm>
            <a:off x="9315450" y="1876425"/>
            <a:ext cx="1714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350">
                <a:solidFill>
                  <a:srgbClr val="94A3B8"/>
                </a:solidFill>
                <a:latin typeface="Microsoft YaHei"/>
                <a:ea typeface="Microsoft YaHei"/>
              </a:rPr>
              <a:t>◀</a:t>
            </a:r>
            <a:endParaRPr/>
          </a:p>
        </p:txBody>
      </p:sp>
      <p:sp>
        <p:nvSpPr>
          <p:cNvPr id="562" name="圆角矩形 561"/>
          <p:cNvSpPr/>
          <p:nvPr/>
        </p:nvSpPr>
        <p:spPr>
          <a:xfrm>
            <a:off x="9544050" y="1762125"/>
            <a:ext cx="1314450" cy="428625"/>
          </a:xfrm>
          <a:prstGeom prst="roundRect">
            <a:avLst>
              <a:gd name="adj" fmla="val 13333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63" name="文本框 562" descr="{&quot;isTemplate&quot;:true,&quot;type&quot;:&quot;text&quot;}"/>
          <p:cNvSpPr txBox="1"/>
          <p:nvPr/>
        </p:nvSpPr>
        <p:spPr>
          <a:xfrm>
            <a:off x="9982200" y="1828800"/>
            <a:ext cx="447675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1E293B"/>
                </a:solidFill>
                <a:latin typeface="Microsoft YaHei"/>
                <a:ea typeface="Microsoft YaHei"/>
              </a:rPr>
              <a:t>Bob </a:t>
            </a:r>
            <a:r>
              <a:rPr lang="zh-CN" sz="825" b="1">
                <a:solidFill>
                  <a:srgbClr val="1E293B"/>
                </a:solidFill>
                <a:latin typeface="Microsoft YaHei"/>
                <a:ea typeface="Microsoft YaHei"/>
              </a:rPr>
              <a:t>内网</a:t>
            </a:r>
            <a:endParaRPr/>
          </a:p>
        </p:txBody>
      </p:sp>
      <p:sp>
        <p:nvSpPr>
          <p:cNvPr id="564" name="文本框 563" descr="{&quot;isTemplate&quot;:true,&quot;type&quot;:&quot;text&quot;}"/>
          <p:cNvSpPr txBox="1"/>
          <p:nvPr/>
        </p:nvSpPr>
        <p:spPr>
          <a:xfrm>
            <a:off x="9829800" y="1981200"/>
            <a:ext cx="75247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D97706"/>
                </a:solidFill>
                <a:latin typeface="Microsoft YaHei"/>
                <a:ea typeface="Microsoft YaHei"/>
              </a:rPr>
              <a:t>10.0.0.5:5000</a:t>
            </a:r>
            <a:endParaRPr/>
          </a:p>
        </p:txBody>
      </p:sp>
      <p:sp>
        <p:nvSpPr>
          <p:cNvPr id="565" name="文本框 564" descr="{&quot;isTemplate&quot;:true,&quot;type&quot;:&quot;text&quot;}"/>
          <p:cNvSpPr txBox="1"/>
          <p:nvPr/>
        </p:nvSpPr>
        <p:spPr>
          <a:xfrm>
            <a:off x="6019800" y="2266950"/>
            <a:ext cx="1524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200">
                <a:solidFill>
                  <a:srgbClr val="94A3B8"/>
                </a:solidFill>
                <a:latin typeface="Microsoft YaHei"/>
                <a:ea typeface="Microsoft YaHei"/>
              </a:rPr>
              <a:t>▼</a:t>
            </a:r>
            <a:endParaRPr/>
          </a:p>
        </p:txBody>
      </p:sp>
      <p:sp>
        <p:nvSpPr>
          <p:cNvPr id="566" name="圆角矩形 565"/>
          <p:cNvSpPr/>
          <p:nvPr/>
        </p:nvSpPr>
        <p:spPr>
          <a:xfrm>
            <a:off x="2667000" y="2476500"/>
            <a:ext cx="6858000" cy="400050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67" name="文本框 566" descr="{&quot;isTemplate&quot;:true,&quot;type&quot;:&quot;text&quot;}"/>
          <p:cNvSpPr txBox="1"/>
          <p:nvPr/>
        </p:nvSpPr>
        <p:spPr>
          <a:xfrm>
            <a:off x="5381625" y="2543175"/>
            <a:ext cx="14287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1E293B"/>
                </a:solidFill>
                <a:latin typeface="Microsoft YaHei"/>
                <a:ea typeface="Microsoft YaHei"/>
              </a:rPr>
              <a:t>信令服务器交换双方公网地址</a:t>
            </a:r>
            <a:endParaRPr/>
          </a:p>
        </p:txBody>
      </p:sp>
      <p:sp>
        <p:nvSpPr>
          <p:cNvPr id="568" name="文本框 567" descr="{&quot;isTemplate&quot;:true,&quot;type&quot;:&quot;text&quot;}"/>
          <p:cNvSpPr txBox="1"/>
          <p:nvPr/>
        </p:nvSpPr>
        <p:spPr>
          <a:xfrm>
            <a:off x="5010150" y="2686050"/>
            <a:ext cx="2171700" cy="1238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788">
                <a:solidFill>
                  <a:srgbClr val="475569"/>
                </a:solidFill>
                <a:latin typeface="Microsoft YaHei"/>
                <a:ea typeface="Microsoft YaHei"/>
              </a:rPr>
              <a:t>Alice </a:t>
            </a:r>
            <a:r>
              <a:rPr lang="zh-CN" sz="788">
                <a:solidFill>
                  <a:srgbClr val="475569"/>
                </a:solidFill>
                <a:latin typeface="Microsoft YaHei"/>
                <a:ea typeface="Microsoft YaHei"/>
              </a:rPr>
              <a:t>得到</a:t>
            </a:r>
            <a:r>
              <a:rPr lang="en-US" sz="788">
                <a:solidFill>
                  <a:srgbClr val="475569"/>
                </a:solidFill>
                <a:latin typeface="Microsoft YaHei"/>
                <a:ea typeface="Microsoft YaHei"/>
              </a:rPr>
              <a:t> 5.6.7.8:7000</a:t>
            </a:r>
            <a:r>
              <a:rPr lang="zh-CN" sz="788">
                <a:solidFill>
                  <a:srgbClr val="475569"/>
                </a:solidFill>
                <a:latin typeface="Microsoft YaHei"/>
                <a:ea typeface="Microsoft YaHei"/>
              </a:rPr>
              <a:t>，</a:t>
            </a:r>
            <a:r>
              <a:rPr lang="en-US" sz="788">
                <a:solidFill>
                  <a:srgbClr val="475569"/>
                </a:solidFill>
                <a:latin typeface="Microsoft YaHei"/>
                <a:ea typeface="Microsoft YaHei"/>
              </a:rPr>
              <a:t>Bob </a:t>
            </a:r>
            <a:r>
              <a:rPr lang="zh-CN" sz="788">
                <a:solidFill>
                  <a:srgbClr val="475569"/>
                </a:solidFill>
                <a:latin typeface="Microsoft YaHei"/>
                <a:ea typeface="Microsoft YaHei"/>
              </a:rPr>
              <a:t>得到</a:t>
            </a:r>
            <a:r>
              <a:rPr lang="en-US" sz="788">
                <a:solidFill>
                  <a:srgbClr val="475569"/>
                </a:solidFill>
                <a:latin typeface="Microsoft YaHei"/>
                <a:ea typeface="Microsoft YaHei"/>
              </a:rPr>
              <a:t> 1.2.3.4:6000</a:t>
            </a:r>
            <a:endParaRPr/>
          </a:p>
        </p:txBody>
      </p:sp>
      <p:sp>
        <p:nvSpPr>
          <p:cNvPr id="569" name="文本框 568" descr="{&quot;isTemplate&quot;:true,&quot;type&quot;:&quot;text&quot;}"/>
          <p:cNvSpPr txBox="1"/>
          <p:nvPr/>
        </p:nvSpPr>
        <p:spPr>
          <a:xfrm>
            <a:off x="6019800" y="2895600"/>
            <a:ext cx="1524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200">
                <a:solidFill>
                  <a:srgbClr val="94A3B8"/>
                </a:solidFill>
                <a:latin typeface="Microsoft YaHei"/>
                <a:ea typeface="Microsoft YaHei"/>
              </a:rPr>
              <a:t>▼</a:t>
            </a:r>
            <a:endParaRPr/>
          </a:p>
        </p:txBody>
      </p:sp>
      <p:sp>
        <p:nvSpPr>
          <p:cNvPr id="570" name="圆角矩形 569"/>
          <p:cNvSpPr/>
          <p:nvPr/>
        </p:nvSpPr>
        <p:spPr>
          <a:xfrm>
            <a:off x="2667000" y="3105150"/>
            <a:ext cx="6858000" cy="400050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71" name="文本框 570" descr="{&quot;isTemplate&quot;:true,&quot;type&quot;:&quot;text&quot;}"/>
          <p:cNvSpPr txBox="1"/>
          <p:nvPr/>
        </p:nvSpPr>
        <p:spPr>
          <a:xfrm>
            <a:off x="5067300" y="3171825"/>
            <a:ext cx="205740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1E293B"/>
                </a:solidFill>
                <a:latin typeface="Microsoft YaHei"/>
                <a:ea typeface="Microsoft YaHei"/>
              </a:rPr>
              <a:t>双方同时向对方公网地址发送</a:t>
            </a:r>
            <a:r>
              <a:rPr lang="en-US" sz="863" b="1">
                <a:solidFill>
                  <a:srgbClr val="1E293B"/>
                </a:solidFill>
                <a:latin typeface="Microsoft YaHei"/>
                <a:ea typeface="Microsoft YaHei"/>
              </a:rPr>
              <a:t> UDP </a:t>
            </a:r>
            <a:r>
              <a:rPr lang="zh-CN" sz="863" b="1">
                <a:solidFill>
                  <a:srgbClr val="1E293B"/>
                </a:solidFill>
                <a:latin typeface="Microsoft YaHei"/>
                <a:ea typeface="Microsoft YaHei"/>
              </a:rPr>
              <a:t>探测包</a:t>
            </a:r>
            <a:endParaRPr/>
          </a:p>
        </p:txBody>
      </p:sp>
      <p:sp>
        <p:nvSpPr>
          <p:cNvPr id="572" name="文本框 571" descr="{&quot;isTemplate&quot;:true,&quot;type&quot;:&quot;text&quot;}"/>
          <p:cNvSpPr txBox="1"/>
          <p:nvPr/>
        </p:nvSpPr>
        <p:spPr>
          <a:xfrm>
            <a:off x="4457700" y="3314700"/>
            <a:ext cx="3286125" cy="1238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788">
                <a:solidFill>
                  <a:srgbClr val="475569"/>
                </a:solidFill>
                <a:latin typeface="Microsoft YaHei"/>
                <a:ea typeface="Microsoft YaHei"/>
              </a:rPr>
              <a:t>NAT A / NAT B </a:t>
            </a:r>
            <a:r>
              <a:rPr lang="zh-CN" sz="788">
                <a:solidFill>
                  <a:srgbClr val="475569"/>
                </a:solidFill>
                <a:latin typeface="Microsoft YaHei"/>
                <a:ea typeface="Microsoft YaHei"/>
              </a:rPr>
              <a:t>将出向流记录为「已授权」，允许回程包进入</a:t>
            </a:r>
            <a:r>
              <a:rPr lang="en-US" sz="788">
                <a:solidFill>
                  <a:srgbClr val="475569"/>
                </a:solidFill>
                <a:latin typeface="Microsoft YaHei"/>
                <a:ea typeface="Microsoft YaHei"/>
              </a:rPr>
              <a:t> → </a:t>
            </a:r>
            <a:r>
              <a:rPr lang="zh-CN" sz="788">
                <a:solidFill>
                  <a:srgbClr val="475569"/>
                </a:solidFill>
                <a:latin typeface="Microsoft YaHei"/>
                <a:ea typeface="Microsoft YaHei"/>
              </a:rPr>
              <a:t>完成打洞</a:t>
            </a:r>
            <a:endParaRPr/>
          </a:p>
        </p:txBody>
      </p:sp>
      <p:sp>
        <p:nvSpPr>
          <p:cNvPr id="573" name="文本框 572" descr="{&quot;isTemplate&quot;:true,&quot;type&quot;:&quot;text&quot;}"/>
          <p:cNvSpPr txBox="1"/>
          <p:nvPr/>
        </p:nvSpPr>
        <p:spPr>
          <a:xfrm>
            <a:off x="6019800" y="3524250"/>
            <a:ext cx="1524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200">
                <a:solidFill>
                  <a:srgbClr val="94A3B8"/>
                </a:solidFill>
                <a:latin typeface="Microsoft YaHei"/>
                <a:ea typeface="Microsoft YaHei"/>
              </a:rPr>
              <a:t>▼</a:t>
            </a:r>
            <a:endParaRPr/>
          </a:p>
        </p:txBody>
      </p:sp>
      <p:sp>
        <p:nvSpPr>
          <p:cNvPr id="574" name="圆角矩形 573"/>
          <p:cNvSpPr/>
          <p:nvPr/>
        </p:nvSpPr>
        <p:spPr>
          <a:xfrm>
            <a:off x="2667000" y="3733800"/>
            <a:ext cx="6858000" cy="266700"/>
          </a:xfrm>
          <a:prstGeom prst="roundRect">
            <a:avLst>
              <a:gd name="adj" fmla="val 21429"/>
            </a:avLst>
          </a:prstGeom>
          <a:solidFill>
            <a:srgbClr val="DCFC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75" name="文本框 574" descr="{&quot;isTemplate&quot;:true,&quot;type&quot;:&quot;text&quot;}"/>
          <p:cNvSpPr txBox="1"/>
          <p:nvPr/>
        </p:nvSpPr>
        <p:spPr>
          <a:xfrm>
            <a:off x="4876800" y="3800475"/>
            <a:ext cx="2447925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63" b="1">
                <a:solidFill>
                  <a:srgbClr val="166534"/>
                </a:solidFill>
                <a:latin typeface="Microsoft YaHei"/>
                <a:ea typeface="Microsoft YaHei"/>
              </a:rPr>
              <a:t>P2P </a:t>
            </a:r>
            <a:r>
              <a:rPr lang="zh-CN" sz="863" b="1">
                <a:solidFill>
                  <a:srgbClr val="166534"/>
                </a:solidFill>
                <a:latin typeface="Microsoft YaHei"/>
                <a:ea typeface="Microsoft YaHei"/>
              </a:rPr>
              <a:t>直连建立：后续媒体流不再经过</a:t>
            </a:r>
            <a:r>
              <a:rPr lang="en-US" sz="863" b="1">
                <a:solidFill>
                  <a:srgbClr val="166534"/>
                </a:solidFill>
                <a:latin typeface="Microsoft YaHei"/>
                <a:ea typeface="Microsoft YaHei"/>
              </a:rPr>
              <a:t> STUN/TURN</a:t>
            </a:r>
            <a:endParaRPr/>
          </a:p>
        </p:txBody>
      </p:sp>
      <p:sp>
        <p:nvSpPr>
          <p:cNvPr id="576" name="圆角矩形 575"/>
          <p:cNvSpPr/>
          <p:nvPr/>
        </p:nvSpPr>
        <p:spPr>
          <a:xfrm>
            <a:off x="685800" y="4210050"/>
            <a:ext cx="5343525" cy="1857375"/>
          </a:xfrm>
          <a:prstGeom prst="roundRect">
            <a:avLst>
              <a:gd name="adj" fmla="val 5128"/>
            </a:avLst>
          </a:prstGeom>
          <a:solidFill>
            <a:srgbClr val="FFFFFF">
              <a:alpha val="78000"/>
            </a:srgbClr>
          </a:solidFill>
          <a:ln w="12700">
            <a:solidFill>
              <a:srgbClr val="CBD5E1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7" name="文本框 576" descr="{&quot;isTemplate&quot;:true,&quot;type&quot;:&quot;text&quot;}"/>
          <p:cNvSpPr txBox="1"/>
          <p:nvPr/>
        </p:nvSpPr>
        <p:spPr>
          <a:xfrm>
            <a:off x="790575" y="4314825"/>
            <a:ext cx="51339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0891B2"/>
                </a:solidFill>
                <a:latin typeface="Microsoft YaHei"/>
                <a:ea typeface="Microsoft YaHei"/>
              </a:rPr>
              <a:t>ICE </a:t>
            </a:r>
            <a:r>
              <a:rPr lang="zh-CN" sz="975" b="1">
                <a:solidFill>
                  <a:srgbClr val="0891B2"/>
                </a:solidFill>
                <a:latin typeface="Microsoft YaHei"/>
                <a:ea typeface="Microsoft YaHei"/>
              </a:rPr>
              <a:t>候选类型</a:t>
            </a:r>
            <a:endParaRPr/>
          </a:p>
        </p:txBody>
      </p:sp>
      <p:sp>
        <p:nvSpPr>
          <p:cNvPr id="578" name="圆角矩形 577"/>
          <p:cNvSpPr/>
          <p:nvPr/>
        </p:nvSpPr>
        <p:spPr>
          <a:xfrm>
            <a:off x="790575" y="4514850"/>
            <a:ext cx="304800" cy="142875"/>
          </a:xfrm>
          <a:prstGeom prst="roundRect">
            <a:avLst>
              <a:gd name="adj" fmla="val 26667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79" name="文本框 578" descr="{&quot;isTemplate&quot;:true,&quot;type&quot;:&quot;text&quot;}"/>
          <p:cNvSpPr txBox="1"/>
          <p:nvPr/>
        </p:nvSpPr>
        <p:spPr>
          <a:xfrm>
            <a:off x="790575" y="4514850"/>
            <a:ext cx="304800" cy="142875"/>
          </a:xfrm>
          <a:prstGeom prst="rect">
            <a:avLst/>
          </a:prstGeom>
        </p:spPr>
        <p:txBody>
          <a:bodyPr wrap="none" lIns="35719" tIns="7144" rIns="35719" bIns="7144"/>
          <a:lstStyle/>
          <a:p>
            <a:pPr>
              <a:lnSpc>
                <a:spcPct val="100000"/>
              </a:lnSpc>
            </a:pPr>
            <a:r>
              <a:rPr lang="en-US" sz="788" b="1">
                <a:solidFill>
                  <a:srgbClr val="FFFFFF"/>
                </a:solidFill>
                <a:highlight>
                  <a:srgbClr val="0891B2"/>
                </a:highlight>
                <a:latin typeface="Microsoft YaHei"/>
                <a:ea typeface="Microsoft YaHei"/>
              </a:rPr>
              <a:t>host</a:t>
            </a:r>
            <a:endParaRPr/>
          </a:p>
        </p:txBody>
      </p:sp>
      <p:sp>
        <p:nvSpPr>
          <p:cNvPr id="580" name="文本框 579" descr="{&quot;isTemplate&quot;:true,&quot;type&quot;:&quot;text&quot;}"/>
          <p:cNvSpPr txBox="1"/>
          <p:nvPr/>
        </p:nvSpPr>
        <p:spPr>
          <a:xfrm>
            <a:off x="1143000" y="4524375"/>
            <a:ext cx="186690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63">
                <a:solidFill>
                  <a:srgbClr val="1E293B"/>
                </a:solidFill>
                <a:latin typeface="Microsoft YaHei"/>
                <a:ea typeface="Microsoft YaHei"/>
              </a:rPr>
              <a:t>本地网卡地址（同一局域网可直接通）</a:t>
            </a:r>
            <a:endParaRPr/>
          </a:p>
        </p:txBody>
      </p:sp>
      <p:sp>
        <p:nvSpPr>
          <p:cNvPr id="581" name="圆角矩形 580"/>
          <p:cNvSpPr/>
          <p:nvPr/>
        </p:nvSpPr>
        <p:spPr>
          <a:xfrm>
            <a:off x="790575" y="4695825"/>
            <a:ext cx="295275" cy="142875"/>
          </a:xfrm>
          <a:prstGeom prst="roundRect">
            <a:avLst>
              <a:gd name="adj" fmla="val 26667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82" name="文本框 581" descr="{&quot;isTemplate&quot;:true,&quot;type&quot;:&quot;text&quot;}"/>
          <p:cNvSpPr txBox="1"/>
          <p:nvPr/>
        </p:nvSpPr>
        <p:spPr>
          <a:xfrm>
            <a:off x="790575" y="4695825"/>
            <a:ext cx="295275" cy="142875"/>
          </a:xfrm>
          <a:prstGeom prst="rect">
            <a:avLst/>
          </a:prstGeom>
        </p:spPr>
        <p:txBody>
          <a:bodyPr wrap="none" lIns="35719" tIns="7144" rIns="35719" bIns="7144"/>
          <a:lstStyle/>
          <a:p>
            <a:pPr>
              <a:lnSpc>
                <a:spcPct val="100000"/>
              </a:lnSpc>
            </a:pPr>
            <a:r>
              <a:rPr lang="en-US" sz="788" b="1">
                <a:solidFill>
                  <a:srgbClr val="FFFFFF"/>
                </a:solidFill>
                <a:highlight>
                  <a:srgbClr val="2563EB"/>
                </a:highlight>
                <a:latin typeface="Microsoft YaHei"/>
                <a:ea typeface="Microsoft YaHei"/>
              </a:rPr>
              <a:t>srflx</a:t>
            </a:r>
            <a:endParaRPr/>
          </a:p>
        </p:txBody>
      </p:sp>
      <p:sp>
        <p:nvSpPr>
          <p:cNvPr id="583" name="文本框 582" descr="{&quot;isTemplate&quot;:true,&quot;type&quot;:&quot;text&quot;}"/>
          <p:cNvSpPr txBox="1"/>
          <p:nvPr/>
        </p:nvSpPr>
        <p:spPr>
          <a:xfrm>
            <a:off x="1133475" y="4705350"/>
            <a:ext cx="2409825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63">
                <a:solidFill>
                  <a:srgbClr val="1E293B"/>
                </a:solidFill>
                <a:latin typeface="Microsoft YaHei"/>
                <a:ea typeface="Microsoft YaHei"/>
              </a:rPr>
              <a:t>STUN </a:t>
            </a:r>
            <a:r>
              <a:rPr lang="zh-CN" sz="863">
                <a:solidFill>
                  <a:srgbClr val="1E293B"/>
                </a:solidFill>
                <a:latin typeface="Microsoft YaHei"/>
                <a:ea typeface="Microsoft YaHei"/>
              </a:rPr>
              <a:t>反射后的公网地址（即本例</a:t>
            </a:r>
            <a:r>
              <a:rPr lang="en-US" sz="863">
                <a:solidFill>
                  <a:srgbClr val="1E293B"/>
                </a:solidFill>
                <a:latin typeface="Microsoft YaHei"/>
                <a:ea typeface="Microsoft YaHei"/>
              </a:rPr>
              <a:t> 1.2.3.4:6000</a:t>
            </a:r>
            <a:r>
              <a:rPr lang="zh-CN" sz="863">
                <a:solidFill>
                  <a:srgbClr val="1E293B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584" name="圆角矩形 583"/>
          <p:cNvSpPr/>
          <p:nvPr/>
        </p:nvSpPr>
        <p:spPr>
          <a:xfrm>
            <a:off x="790575" y="4876800"/>
            <a:ext cx="323850" cy="142875"/>
          </a:xfrm>
          <a:prstGeom prst="roundRect">
            <a:avLst>
              <a:gd name="adj" fmla="val 26667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85" name="文本框 584" descr="{&quot;isTemplate&quot;:true,&quot;type&quot;:&quot;text&quot;}"/>
          <p:cNvSpPr txBox="1"/>
          <p:nvPr/>
        </p:nvSpPr>
        <p:spPr>
          <a:xfrm>
            <a:off x="790575" y="4876800"/>
            <a:ext cx="323850" cy="142875"/>
          </a:xfrm>
          <a:prstGeom prst="rect">
            <a:avLst/>
          </a:prstGeom>
        </p:spPr>
        <p:txBody>
          <a:bodyPr wrap="none" lIns="35719" tIns="7144" rIns="35719" bIns="7144"/>
          <a:lstStyle/>
          <a:p>
            <a:pPr>
              <a:lnSpc>
                <a:spcPct val="100000"/>
              </a:lnSpc>
            </a:pPr>
            <a:r>
              <a:rPr lang="en-US" sz="788" b="1">
                <a:solidFill>
                  <a:srgbClr val="FFFFFF"/>
                </a:solidFill>
                <a:highlight>
                  <a:srgbClr val="F59E0B"/>
                </a:highlight>
                <a:latin typeface="Microsoft YaHei"/>
                <a:ea typeface="Microsoft YaHei"/>
              </a:rPr>
              <a:t>relay</a:t>
            </a:r>
            <a:endParaRPr/>
          </a:p>
        </p:txBody>
      </p:sp>
      <p:sp>
        <p:nvSpPr>
          <p:cNvPr id="586" name="文本框 585" descr="{&quot;isTemplate&quot;:true,&quot;type&quot;:&quot;text&quot;}"/>
          <p:cNvSpPr txBox="1"/>
          <p:nvPr/>
        </p:nvSpPr>
        <p:spPr>
          <a:xfrm>
            <a:off x="1162050" y="4886325"/>
            <a:ext cx="2105025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63">
                <a:solidFill>
                  <a:srgbClr val="1E293B"/>
                </a:solidFill>
                <a:latin typeface="Microsoft YaHei"/>
                <a:ea typeface="Microsoft YaHei"/>
              </a:rPr>
              <a:t>TURN </a:t>
            </a:r>
            <a:r>
              <a:rPr lang="zh-CN" sz="863">
                <a:solidFill>
                  <a:srgbClr val="1E293B"/>
                </a:solidFill>
                <a:latin typeface="Microsoft YaHei"/>
                <a:ea typeface="Microsoft YaHei"/>
              </a:rPr>
              <a:t>分配的中继地址（</a:t>
            </a:r>
            <a:r>
              <a:rPr lang="en-US" sz="863">
                <a:solidFill>
                  <a:srgbClr val="1E293B"/>
                </a:solidFill>
                <a:latin typeface="Microsoft YaHei"/>
                <a:ea typeface="Microsoft YaHei"/>
              </a:rPr>
              <a:t>P2P </a:t>
            </a:r>
            <a:r>
              <a:rPr lang="zh-CN" sz="863">
                <a:solidFill>
                  <a:srgbClr val="1E293B"/>
                </a:solidFill>
                <a:latin typeface="Microsoft YaHei"/>
                <a:ea typeface="Microsoft YaHei"/>
              </a:rPr>
              <a:t>失败时兜底）</a:t>
            </a:r>
            <a:endParaRPr/>
          </a:p>
        </p:txBody>
      </p:sp>
      <p:sp>
        <p:nvSpPr>
          <p:cNvPr id="587" name="圆角矩形 586"/>
          <p:cNvSpPr/>
          <p:nvPr/>
        </p:nvSpPr>
        <p:spPr>
          <a:xfrm>
            <a:off x="6162675" y="4210050"/>
            <a:ext cx="5343525" cy="1857375"/>
          </a:xfrm>
          <a:prstGeom prst="roundRect">
            <a:avLst>
              <a:gd name="adj" fmla="val 5128"/>
            </a:avLst>
          </a:prstGeom>
          <a:solidFill>
            <a:srgbClr val="FFFFFF">
              <a:alpha val="78000"/>
            </a:srgbClr>
          </a:solidFill>
          <a:ln w="12700">
            <a:solidFill>
              <a:srgbClr val="CBD5E1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8" name="文本框 587" descr="{&quot;isTemplate&quot;:true,&quot;type&quot;:&quot;text&quot;}"/>
          <p:cNvSpPr txBox="1"/>
          <p:nvPr/>
        </p:nvSpPr>
        <p:spPr>
          <a:xfrm>
            <a:off x="6267450" y="4314825"/>
            <a:ext cx="51339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0891B2"/>
                </a:solidFill>
                <a:latin typeface="Microsoft YaHei"/>
                <a:ea typeface="Microsoft YaHei"/>
              </a:rPr>
              <a:t>ICE </a:t>
            </a:r>
            <a:r>
              <a:rPr lang="zh-CN" sz="975" b="1">
                <a:solidFill>
                  <a:srgbClr val="0891B2"/>
                </a:solidFill>
                <a:latin typeface="Microsoft YaHei"/>
                <a:ea typeface="Microsoft YaHei"/>
              </a:rPr>
              <a:t>连通性检查优先级</a:t>
            </a:r>
            <a:endParaRPr/>
          </a:p>
        </p:txBody>
      </p:sp>
      <p:sp>
        <p:nvSpPr>
          <p:cNvPr id="589" name="文本框 588" descr="{&quot;isTemplate&quot;:true,&quot;type&quot;:&quot;text&quot;}"/>
          <p:cNvSpPr txBox="1"/>
          <p:nvPr/>
        </p:nvSpPr>
        <p:spPr>
          <a:xfrm>
            <a:off x="6267450" y="4514850"/>
            <a:ext cx="5133975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63" b="1">
                <a:solidFill>
                  <a:srgbClr val="0891B2"/>
                </a:solidFill>
                <a:latin typeface="Microsoft YaHei"/>
                <a:ea typeface="Microsoft YaHei"/>
              </a:rPr>
              <a:t>1</a:t>
            </a:r>
            <a:r>
              <a:rPr lang="en-US" sz="863">
                <a:solidFill>
                  <a:srgbClr val="1E293B"/>
                </a:solidFill>
                <a:latin typeface="Microsoft YaHei"/>
                <a:ea typeface="Microsoft YaHei"/>
              </a:rPr>
              <a:t>  host ↔ host</a:t>
            </a:r>
            <a:r>
              <a:rPr lang="zh-CN" sz="863">
                <a:solidFill>
                  <a:srgbClr val="1E293B"/>
                </a:solidFill>
                <a:latin typeface="Microsoft YaHei"/>
                <a:ea typeface="Microsoft YaHei"/>
              </a:rPr>
              <a:t>（同局域网，延迟最低）</a:t>
            </a:r>
            <a:endParaRPr/>
          </a:p>
        </p:txBody>
      </p:sp>
      <p:sp>
        <p:nvSpPr>
          <p:cNvPr id="590" name="文本框 589" descr="{&quot;isTemplate&quot;:true,&quot;type&quot;:&quot;text&quot;}"/>
          <p:cNvSpPr txBox="1"/>
          <p:nvPr/>
        </p:nvSpPr>
        <p:spPr>
          <a:xfrm>
            <a:off x="6267450" y="4686300"/>
            <a:ext cx="5133975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63" b="1">
                <a:solidFill>
                  <a:srgbClr val="0891B2"/>
                </a:solidFill>
                <a:latin typeface="Microsoft YaHei"/>
                <a:ea typeface="Microsoft YaHei"/>
              </a:rPr>
              <a:t>2</a:t>
            </a:r>
            <a:r>
              <a:rPr lang="en-US" sz="863">
                <a:solidFill>
                  <a:srgbClr val="1E293B"/>
                </a:solidFill>
                <a:latin typeface="Microsoft YaHei"/>
                <a:ea typeface="Microsoft YaHei"/>
              </a:rPr>
              <a:t>  srflx ↔ srflx</a:t>
            </a:r>
            <a:r>
              <a:rPr lang="zh-CN" sz="863">
                <a:solidFill>
                  <a:srgbClr val="1E293B"/>
                </a:solidFill>
                <a:latin typeface="Microsoft YaHei"/>
                <a:ea typeface="Microsoft YaHei"/>
              </a:rPr>
              <a:t>（经</a:t>
            </a:r>
            <a:r>
              <a:rPr lang="en-US" sz="863">
                <a:solidFill>
                  <a:srgbClr val="1E293B"/>
                </a:solidFill>
                <a:latin typeface="Microsoft YaHei"/>
                <a:ea typeface="Microsoft YaHei"/>
              </a:rPr>
              <a:t> STUN </a:t>
            </a:r>
            <a:r>
              <a:rPr lang="zh-CN" sz="863">
                <a:solidFill>
                  <a:srgbClr val="1E293B"/>
                </a:solidFill>
                <a:latin typeface="Microsoft YaHei"/>
                <a:ea typeface="Microsoft YaHei"/>
              </a:rPr>
              <a:t>打洞成功）</a:t>
            </a:r>
            <a:endParaRPr/>
          </a:p>
        </p:txBody>
      </p:sp>
      <p:sp>
        <p:nvSpPr>
          <p:cNvPr id="591" name="文本框 590" descr="{&quot;isTemplate&quot;:true,&quot;type&quot;:&quot;text&quot;}"/>
          <p:cNvSpPr txBox="1"/>
          <p:nvPr/>
        </p:nvSpPr>
        <p:spPr>
          <a:xfrm>
            <a:off x="6267450" y="4857750"/>
            <a:ext cx="5133975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63" b="1">
                <a:solidFill>
                  <a:srgbClr val="0891B2"/>
                </a:solidFill>
                <a:latin typeface="Microsoft YaHei"/>
                <a:ea typeface="Microsoft YaHei"/>
              </a:rPr>
              <a:t>3</a:t>
            </a:r>
            <a:r>
              <a:rPr lang="en-US" sz="863">
                <a:solidFill>
                  <a:srgbClr val="1E293B"/>
                </a:solidFill>
                <a:latin typeface="Microsoft YaHei"/>
                <a:ea typeface="Microsoft YaHei"/>
              </a:rPr>
              <a:t>  srflx ↔ relay / host ↔ relay</a:t>
            </a:r>
            <a:endParaRPr/>
          </a:p>
        </p:txBody>
      </p:sp>
      <p:sp>
        <p:nvSpPr>
          <p:cNvPr id="592" name="文本框 591" descr="{&quot;isTemplate&quot;:true,&quot;type&quot;:&quot;text&quot;}"/>
          <p:cNvSpPr txBox="1"/>
          <p:nvPr/>
        </p:nvSpPr>
        <p:spPr>
          <a:xfrm>
            <a:off x="6267450" y="5029200"/>
            <a:ext cx="5133975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63" b="1">
                <a:solidFill>
                  <a:srgbClr val="0891B2"/>
                </a:solidFill>
                <a:latin typeface="Microsoft YaHei"/>
                <a:ea typeface="Microsoft YaHei"/>
              </a:rPr>
              <a:t>4</a:t>
            </a:r>
            <a:r>
              <a:rPr lang="en-US" sz="863">
                <a:solidFill>
                  <a:srgbClr val="1E293B"/>
                </a:solidFill>
                <a:latin typeface="Microsoft YaHei"/>
                <a:ea typeface="Microsoft YaHei"/>
              </a:rPr>
              <a:t>  relay ↔ relay</a:t>
            </a:r>
            <a:r>
              <a:rPr lang="zh-CN" sz="863">
                <a:solidFill>
                  <a:srgbClr val="1E293B"/>
                </a:solidFill>
                <a:latin typeface="Microsoft YaHei"/>
                <a:ea typeface="Microsoft YaHei"/>
              </a:rPr>
              <a:t>（连通性最有保障，成本最高）</a:t>
            </a:r>
            <a:endParaRPr/>
          </a:p>
        </p:txBody>
      </p:sp>
      <p:sp>
        <p:nvSpPr>
          <p:cNvPr id="593" name="圆角矩形 592"/>
          <p:cNvSpPr/>
          <p:nvPr/>
        </p:nvSpPr>
        <p:spPr>
          <a:xfrm>
            <a:off x="685800" y="6143625"/>
            <a:ext cx="10820400" cy="561975"/>
          </a:xfrm>
          <a:prstGeom prst="roundRect">
            <a:avLst>
              <a:gd name="adj" fmla="val 13559"/>
            </a:avLst>
          </a:prstGeom>
          <a:solidFill>
            <a:srgbClr val="E0F2FE">
              <a:alpha val="85000"/>
            </a:srgbClr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594" name="图片 593"/>
          <p:cNvPicPr>
            <a:picLocks noChangeAspect="1"/>
          </p:cNvPicPr>
          <p:nvPr/>
        </p:nvPicPr>
        <p:blipFill>
          <a:blip r:embed="rId3"/>
          <a:srcRect l="2272" r="2272"/>
          <a:stretch>
            <a:fillRect/>
          </a:stretch>
        </p:blipFill>
        <p:spPr>
          <a:xfrm>
            <a:off x="771525" y="6324600"/>
            <a:ext cx="209550" cy="209550"/>
          </a:xfrm>
          <a:prstGeom prst="rect">
            <a:avLst/>
          </a:prstGeom>
          <a:ln/>
        </p:spPr>
      </p:pic>
      <p:sp>
        <p:nvSpPr>
          <p:cNvPr id="595" name="文本框 594" descr="{&quot;isTemplate&quot;:true,&quot;type&quot;:&quot;text&quot;}"/>
          <p:cNvSpPr txBox="1"/>
          <p:nvPr/>
        </p:nvSpPr>
        <p:spPr>
          <a:xfrm>
            <a:off x="1066800" y="6229350"/>
            <a:ext cx="10353675" cy="3905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en-US" sz="863" b="1">
                <a:solidFill>
                  <a:srgbClr val="1E293B"/>
                </a:solidFill>
                <a:latin typeface="Microsoft YaHei"/>
                <a:ea typeface="Microsoft YaHei"/>
              </a:rPr>
              <a:t>LiveTalking </a:t>
            </a:r>
            <a:r>
              <a:rPr lang="zh-CN" sz="863" b="1">
                <a:solidFill>
                  <a:srgbClr val="1E293B"/>
                </a:solidFill>
                <a:latin typeface="Microsoft YaHei"/>
                <a:ea typeface="Microsoft YaHei"/>
              </a:rPr>
              <a:t>实践</a:t>
            </a:r>
            <a:r>
              <a:rPr lang="zh-CN" sz="863">
                <a:solidFill>
                  <a:srgbClr val="475569"/>
                </a:solidFill>
                <a:latin typeface="Microsoft YaHei"/>
                <a:ea typeface="Microsoft YaHei"/>
              </a:rPr>
              <a:t>：</a:t>
            </a:r>
            <a:r>
              <a:rPr lang="en-US" sz="863">
                <a:solidFill>
                  <a:srgbClr val="475569"/>
                </a:solidFill>
                <a:latin typeface="Microsoft YaHei"/>
                <a:ea typeface="Microsoft YaHei"/>
              </a:rPr>
              <a:t>WebRTC </a:t>
            </a:r>
            <a:r>
              <a:rPr lang="zh-CN" sz="863">
                <a:solidFill>
                  <a:srgbClr val="475569"/>
                </a:solidFill>
                <a:latin typeface="Microsoft YaHei"/>
                <a:ea typeface="Microsoft YaHei"/>
              </a:rPr>
              <a:t>推流在</a:t>
            </a:r>
            <a:r>
              <a:rPr lang="en-US" sz="863">
                <a:solidFill>
                  <a:srgbClr val="475569"/>
                </a:solidFill>
                <a:latin typeface="Microsoft YaHei"/>
                <a:ea typeface="Microsoft YaHei"/>
              </a:rPr>
              <a:t> config.yaml </a:t>
            </a:r>
            <a:r>
              <a:rPr lang="zh-CN" sz="863">
                <a:solidFill>
                  <a:srgbClr val="475569"/>
                </a:solidFill>
                <a:latin typeface="Microsoft YaHei"/>
                <a:ea typeface="Microsoft YaHei"/>
              </a:rPr>
              <a:t>配置</a:t>
            </a:r>
            <a:r>
              <a:rPr lang="en-US" sz="863">
                <a:solidFill>
                  <a:srgbClr val="475569"/>
                </a:solidFill>
                <a:latin typeface="Microsoft YaHei"/>
                <a:ea typeface="Microsoft YaHei"/>
              </a:rPr>
              <a:t> STUN </a:t>
            </a:r>
            <a:r>
              <a:rPr lang="zh-CN" sz="863">
                <a:solidFill>
                  <a:srgbClr val="475569"/>
                </a:solidFill>
                <a:latin typeface="Microsoft YaHei"/>
                <a:ea typeface="Microsoft YaHei"/>
              </a:rPr>
              <a:t>服务器（</a:t>
            </a:r>
            <a:r>
              <a:rPr lang="en-US" sz="863">
                <a:solidFill>
                  <a:srgbClr val="475569"/>
                </a:solidFill>
                <a:latin typeface="Microsoft YaHei"/>
                <a:ea typeface="Microsoft YaHei"/>
              </a:rPr>
              <a:t>2026-07 </a:t>
            </a:r>
            <a:r>
              <a:rPr lang="zh-CN" sz="863">
                <a:solidFill>
                  <a:srgbClr val="475569"/>
                </a:solidFill>
                <a:latin typeface="Microsoft YaHei"/>
                <a:ea typeface="Microsoft YaHei"/>
              </a:rPr>
              <a:t>新增选项）；服务端开放</a:t>
            </a:r>
            <a:r>
              <a:rPr lang="en-US" sz="863">
                <a:solidFill>
                  <a:srgbClr val="475569"/>
                </a:solidFill>
                <a:latin typeface="Microsoft YaHei"/>
                <a:ea typeface="Microsoft YaHei"/>
              </a:rPr>
              <a:t> TCP 8010 </a:t>
            </a:r>
            <a:r>
              <a:rPr lang="zh-CN" sz="863">
                <a:solidFill>
                  <a:srgbClr val="475569"/>
                </a:solidFill>
                <a:latin typeface="Microsoft YaHei"/>
                <a:ea typeface="Microsoft YaHei"/>
              </a:rPr>
              <a:t>与</a:t>
            </a:r>
            <a:r>
              <a:rPr lang="en-US" sz="863">
                <a:solidFill>
                  <a:srgbClr val="475569"/>
                </a:solidFill>
                <a:latin typeface="Microsoft YaHei"/>
                <a:ea typeface="Microsoft YaHei"/>
              </a:rPr>
              <a:t> UDP </a:t>
            </a:r>
            <a:r>
              <a:rPr lang="zh-CN" sz="863">
                <a:solidFill>
                  <a:srgbClr val="475569"/>
                </a:solidFill>
                <a:latin typeface="Microsoft YaHei"/>
                <a:ea typeface="Microsoft YaHei"/>
              </a:rPr>
              <a:t>媒体端口；对称型</a:t>
            </a:r>
            <a:r>
              <a:rPr lang="en-US" sz="863">
                <a:solidFill>
                  <a:srgbClr val="475569"/>
                </a:solidFill>
                <a:latin typeface="Microsoft YaHei"/>
                <a:ea typeface="Microsoft YaHei"/>
              </a:rPr>
              <a:t> NAT / </a:t>
            </a:r>
            <a:r>
              <a:rPr lang="zh-CN" sz="863">
                <a:solidFill>
                  <a:srgbClr val="475569"/>
                </a:solidFill>
                <a:latin typeface="Microsoft YaHei"/>
                <a:ea typeface="Microsoft YaHei"/>
              </a:rPr>
              <a:t>企业防火墙建议部署</a:t>
            </a:r>
            <a:r>
              <a:rPr lang="en-US" sz="863">
                <a:solidFill>
                  <a:srgbClr val="475569"/>
                </a:solidFill>
                <a:latin typeface="Microsoft YaHei"/>
                <a:ea typeface="Microsoft YaHei"/>
              </a:rPr>
              <a:t> coturn </a:t>
            </a:r>
            <a:r>
              <a:rPr lang="zh-CN" sz="863">
                <a:solidFill>
                  <a:srgbClr val="475569"/>
                </a:solidFill>
                <a:latin typeface="Microsoft YaHei"/>
                <a:ea typeface="Microsoft YaHei"/>
              </a:rPr>
              <a:t>作为</a:t>
            </a:r>
            <a:r>
              <a:rPr lang="en-US" sz="863">
                <a:solidFill>
                  <a:srgbClr val="475569"/>
                </a:solidFill>
                <a:latin typeface="Microsoft YaHei"/>
                <a:ea typeface="Microsoft YaHei"/>
              </a:rPr>
              <a:t> TURN </a:t>
            </a:r>
            <a:r>
              <a:rPr lang="zh-CN" sz="863">
                <a:solidFill>
                  <a:srgbClr val="475569"/>
                </a:solidFill>
                <a:latin typeface="Microsoft YaHei"/>
                <a:ea typeface="Microsoft YaHei"/>
              </a:rPr>
              <a:t>中继，或选择</a:t>
            </a:r>
            <a:r>
              <a:rPr lang="en-US" sz="863">
                <a:solidFill>
                  <a:srgbClr val="475569"/>
                </a:solidFill>
                <a:latin typeface="Microsoft YaHei"/>
                <a:ea typeface="Microsoft YaHei"/>
              </a:rPr>
              <a:t> SRS</a:t>
            </a:r>
            <a:r>
              <a:rPr lang="zh-CN" sz="863">
                <a:solidFill>
                  <a:srgbClr val="475569"/>
                </a:solidFill>
                <a:latin typeface="Microsoft YaHei"/>
                <a:ea typeface="Microsoft YaHei"/>
              </a:rPr>
              <a:t>「两</a:t>
            </a:r>
            <a:r>
              <a:rPr lang="en-US" sz="863">
                <a:solidFill>
                  <a:srgbClr val="475569"/>
                </a:solidFill>
                <a:latin typeface="Microsoft YaHei"/>
                <a:ea typeface="Microsoft YaHei"/>
              </a:rPr>
              <a:t> TCP </a:t>
            </a:r>
            <a:r>
              <a:rPr lang="zh-CN" sz="863">
                <a:solidFill>
                  <a:srgbClr val="475569"/>
                </a:solidFill>
                <a:latin typeface="Microsoft YaHei"/>
                <a:ea typeface="Microsoft YaHei"/>
              </a:rPr>
              <a:t>端口」方案绕过</a:t>
            </a:r>
            <a:r>
              <a:rPr lang="en-US" sz="863">
                <a:solidFill>
                  <a:srgbClr val="475569"/>
                </a:solidFill>
                <a:latin typeface="Microsoft YaHei"/>
                <a:ea typeface="Microsoft YaHei"/>
              </a:rPr>
              <a:t> UDP </a:t>
            </a:r>
            <a:r>
              <a:rPr lang="zh-CN" sz="863">
                <a:solidFill>
                  <a:srgbClr val="475569"/>
                </a:solidFill>
                <a:latin typeface="Microsoft YaHei"/>
                <a:ea typeface="Microsoft YaHei"/>
              </a:rPr>
              <a:t>打洞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transparent', padding: '84px 72px 32px', flexDirection: 'column' }}&gt;&#10;    &lt;Image src=&quot;resources/images/gvp_background.jpg&quot; style={{ position: 'absolute', top: 0, left: 0, width: 1280, height: 720, objectFit: 'cover' }} /&gt;&#10;    &lt;Box style={{ height: 92, flexDirection: 'column', gap: 6, justifyContent: 'center', zIndex: 1 }}&gt;&#10;        &lt;Text style={{ fontSize: 40, fontWeight: 'bold', color: '#1E293B' }}&gt;mediamtx 代理 WHEP：低延迟 WebRTC 媒体分发&lt;/Text&gt;&#10;        &lt;Text style={{ fontSize: 18, color: '#475569' }}&gt;mediamtx 按需从 LiveTalking 拉流 · 转封装为 WHEP · 客户端 WebRTC 接收（对外媒体走 TCP）&lt;/Text&gt;&#10;    &lt;/Box&gt;&#10;&#10;    &#10;    &lt;Box style={{ flexDirection: 'column', alignItems: 'center', gap: 22, marginTop: 16, zIndex: 1 }}&gt;&#10;        &lt;Box style={{ flexDirection: 'row', alignItems: 'stretch', gap: 10, justifyContent: 'center' }}&gt;&#10;            &#10;            &lt;Box style={{ width: 246, background: 'rgba(255,255,255,0.82)', borderRadius: 12, padding: 18, flexDirection: 'column', gap: 8, border: '1px solid rgba(37,99,235,0.35)', justifyContent: 'center' }}&gt;&#10;                &lt;Box style={{ flexDirection: 'row', alignItems: 'center', gap: 10 }}&gt;&#10;                    &lt;Image src='resources/images/icons/icon_robot_2563EB.png' style={{ width: 22, height: 22 }} /&gt;&#10;                    &lt;Text style={{ fontSize: 18, fontWeight: 'bold', color: '#1E293B' }}&gt;LiveTalking 引擎&lt;/Text&gt;&#10;                &lt;/Box&gt;&#10;                &lt;Text style={{ fontSize: 14, color: '#475569', lineHeight: 1.5 }}&gt;GPU 推理产出数字人音视频，作为可被拉流的媒体源&lt;/Text&gt;&#10;            &lt;/Box&gt;&#10;            &#10;            &lt;Box style={{ flexDirection: 'column', alignItems: 'center', justifyContent: 'center', gap: 3 }}&gt;&#10;                &lt;Text style={{ fontSize: 26, color: '#94A3B8' }}&gt;▶&lt;/Text&gt;&#10;                &lt;Text style={{ fontSize: 15, fontWeight: 'bold', color: '#6366F1' }}&gt;② 主动拉流&lt;/Text&gt;&#10;                &lt;Text style={{ fontSize: 13, color: '#64748B' }}&gt;WebRTC&lt;/Text&gt;&#10;            &lt;/Box&gt;&#10;            &#10;            &lt;Box style={{ width: 270, background: 'rgba(99,102,241,0.12)', borderRadius: 12, padding: 18, flexDirection: 'column', gap: 8, border: '1.5px solid #6366F1', justifyContent: 'center' }}&gt;&#10;                &lt;Box style={{ flexDirection: 'row', alignItems: 'center', gap: 10 }}&gt;&#10;                    &lt;Image src='resources/images/icons/icon_network-wired_6366F1.png' style={{ width: 22, height: 22 }} /&gt;&#10;                    &lt;Text style={{ fontSize: 18, fontWeight: 'bold', color: '#4338CA' }}&gt;mediamtx 代理&lt;/Text&gt;&#10;                &lt;/Box&gt;&#10;                &lt;Text style={{ fontSize: 14, color: '#475569', lineHeight: 1.5 }}&gt;开源流媒体网关 · 收到客户端请求后主动从 LiveTalking 拉流，再以 WHEP 对外服务&lt;/Text&gt;&#10;                &lt;Box style={{ alignSelf: 'flex-start', padding: '3px 10px', background: '#6366F1', borderRadius: 6 }}&gt;&#10;                    &lt;Text style={{ fontSize: 13, fontWeight: 'bold', color: '#FFFFFF' }}&gt;WHEP 服务器&lt;/Text&gt;&#10;                &lt;/Box&gt;&#10;            &lt;/Box&gt;&#10;            &#10;            &lt;Box style={{ flexDirection: 'column', alignItems: 'center', justifyContent: 'center', gap: 12 }}&gt;&#10;                &lt;Box style={{ flexDirection: 'column', alignItems: 'center', gap: 2 }}&gt;&#10;                    &lt;Text style={{ fontSize: 26, color: '#94A3B8' }}&gt;◀&lt;/Text&gt;&#10;                    &lt;Text style={{ fontSize: 15, fontWeight: 'bold', color: '#2563EB' }}&gt;① WHEP 请求&lt;/Text&gt;&#10;                    &lt;Text style={{ fontSize: 13, color: '#64748B' }}&gt;HTTP / SDP offer&lt;/Text&gt;&#10;                &lt;/Box&gt;&#10;                &lt;Box style={{ flexDirection: 'column', alignItems: 'center', gap: 2 }}&gt;&#10;                    &lt;Text style={{ fontSize: 26, color: '#94A3B8' }}&gt;▶&lt;/Text&gt;&#10;                    &lt;Text style={{ fontSize: 15, fontWeight: 'bold', color: '#0891B2' }}&gt;③ 下发&lt;/Text&gt;&#10;                    &lt;Text style={{ fontSize: 13, color: '#64748B' }}&gt;WHEP / WebRTC(TCP)&lt;/Text&gt;&#10;                &lt;/Box&gt;&#10;            &lt;/Box&gt;&#10;            &#10;            &lt;Box style={{ width: 234, background: 'rgba(255,255,255,0.82)', borderRadius: 12, padding: 18, flexDirection: 'column', gap: 8, border: '1px solid rgba(8,145,178,0.35)', justifyContent: 'center' }}&gt;&#10;                &lt;Box style={{ flexDirection: 'row', alignItems: 'center', gap: 10 }}&gt;&#10;                    &lt;Image src='resources/images/icons/icon_video_0891B2.png' style={{ width: 22, height: 22 }} /&gt;&#10;                    &lt;Text style={{ fontSize: 18, fontWeight: 'bold', color: '#1E293B' }}&gt;客户端&lt;/Text&gt;&#10;                &lt;/Box&gt;&#10;                &lt;Text style={{ fontSize: 14, color: '#475569', lineHeight: 1.5 }}&gt;浏览器 / App / FFmpeg，经 WHEP 接收数字人画面&lt;/Text&gt;&#10;            &lt;/Box&gt;&#10;        &lt;/Box&gt;&#10;&#10;        &#10;        &lt;Box style={{ width: 1060, flexDirection: 'column', gap: 12 }}&gt;&#10;            &lt;Box style={{ padding: '12px 18px', background: 'rgba(241,245,249,0.85)', borderRadius: 10, flexDirection: 'row', alignItems: 'center', gap: 12 }}&gt;&#10;                &lt;Box style={{ padding: '3px 12px', background: '#2563EB', borderRadius: 6 }}&gt;&#10;                    &lt;Text style={{ fontSize: 14, fontWeight: 'bold', color: '#FFFFFF' }}&gt;控制面&lt;/Text&gt;&#10;                &lt;/Box&gt;&#10;                &lt;Text style={{ fontSize: 15, color: '#334155', lineHeight: 1.5 }}&gt;客户端 → WHEP HTTP POST SDP offer → mediamtx 返回 SDP answer（拉流地址 &lt;Text style={{ fontWeight:'bold' }}&gt;/mystream/whep&lt;/Text&gt;）&lt;/Text&gt;&#10;            &lt;/Box&gt;&#10;            &lt;Box style={{ padding: '12px 18px', background: 'rgba(241,245,249,0.85)', borderRadius: 10, flexDirection: 'row', alignItems: 'center', gap: 12 }}&gt;&#10;                &lt;Box style={{ padding: '3px 12px', background: '#0891B2', borderRadius: 6 }}&gt;&#10;                    &lt;Text style={{ fontSize: 14, fontWeight: 'bold', color: '#FFFFFF' }}&gt;媒体面&lt;/Text&gt;&#10;                &lt;/Box&gt;&#10;                &lt;Text style={{ fontSize: 15, color: '#334155', lineHeight: 1.5 }}&gt;mediamtx 收到请求后，&lt;Text style={{ fontWeight:'bold', color:'#4338CA' }}&gt;主动从 LiveTalking 拉流&lt;/Text&gt; → 经 &lt;Text style={{ fontWeight:'bold' }}&gt;webrtcLocalTCPAddress&lt;/Text&gt;（如 :8188）以 TCP 下发到客户端&lt;/Text&gt;&#10;            &lt;/Box&gt;&#10;        &lt;/Box&gt;&#10;    &lt;/Box&gt;&#10;&#10;    &#10;    &lt;Box style={{ flexDirection: 'row', gap: 18, marginTop: 28, zIndex: 1 }}&gt;&#10;        &lt;Box style={{ flex: 1, padding: 18, background: 'rgba(241,245,249,0.85)', borderRadius: 10, flexDirection: 'column', gap: 5 }}&gt;&#10;            &lt;Text style={{ fontSize: 17, fontWeight: 'bold', color: '#2563EB' }}&gt;WHEP 是什么&lt;/Text&gt;&#10;            &lt;Text style={{ fontSize: 14.5, color: '#475569', lineHeight: 1.5 }}&gt;WebRTC-HTTP Egress Protocol，用 URL 直接拉流，浏览器/FFmpeg/GStreamer 消费，无需网页，端到端延迟 &amp;lt;500ms&lt;/Text&gt;&#10;        &lt;/Box&gt;&#10;        &lt;Box style={{ flex: 1, padding: 18, background: 'rgba(241,245,249,0.85)', borderRadius: 10, flexDirection: 'column', gap: 5 }}&gt;&#10;            &lt;Text style={{ fontSize: 17, fontWeight: 'bold', color: '#6366F1' }}&gt;mediamtx 角色&lt;/Text&gt;&#10;            &lt;Text style={{ fontSize: 14.5, color: '#475569', lineHeight: 1.5 }}&gt;开源流媒体网关，按客户端请求&lt;Text style={{ fontWeight:'bold', color:'#4338CA' }}&gt;主动从 LiveTalking 拉流&lt;/Text&gt;，再以 WHEP 对外服务，自动完成协议转封装&lt;/Text&gt;&#10;        &lt;/Box&gt;&#10;        &lt;Box style={{ flex: 1, padding: 18, background: 'rgba(241,245,249,0.85)', borderRadius: 10, flexDirection: 'column', gap: 5 }}&gt;&#10;            &lt;Text style={{ fontSize: 17, fontWeight: 'bold', color: '#0891B2' }}&gt;TCP 媒体传输&lt;/Text&gt;&#10;            &lt;Text style={{ fontSize: 14.5, color: '#475569', lineHeight: 1.5 }}&gt;配置 webrtcLocalTCPAddress（如 :8188），对外媒体走 TCP，更易穿透严格防火墙 / 对称型 NAT&lt;/Text&gt;&#10;        &lt;/Box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7" name="图片 59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598" name="文本框 597" descr="{&quot;isTemplate&quot;:true,&quot;type&quot;:&quot;text&quot;}"/>
          <p:cNvSpPr txBox="1"/>
          <p:nvPr/>
        </p:nvSpPr>
        <p:spPr>
          <a:xfrm>
            <a:off x="685800" y="876300"/>
            <a:ext cx="10820400" cy="4572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1E293B"/>
                </a:solidFill>
                <a:latin typeface="Microsoft YaHei"/>
                <a:ea typeface="Microsoft YaHei"/>
              </a:rPr>
              <a:t>mediamtx </a:t>
            </a:r>
            <a:r>
              <a:rPr lang="zh-CN" sz="3000" b="1">
                <a:solidFill>
                  <a:srgbClr val="1E293B"/>
                </a:solidFill>
                <a:latin typeface="Microsoft YaHei"/>
                <a:ea typeface="Microsoft YaHei"/>
              </a:rPr>
              <a:t>代理</a:t>
            </a:r>
            <a:r>
              <a:rPr lang="en-US" sz="3000" b="1">
                <a:solidFill>
                  <a:srgbClr val="1E293B"/>
                </a:solidFill>
                <a:latin typeface="Microsoft YaHei"/>
                <a:ea typeface="Microsoft YaHei"/>
              </a:rPr>
              <a:t> WHEP</a:t>
            </a:r>
            <a:r>
              <a:rPr lang="zh-CN" sz="3000" b="1">
                <a:solidFill>
                  <a:srgbClr val="1E293B"/>
                </a:solidFill>
                <a:latin typeface="Microsoft YaHei"/>
                <a:ea typeface="Microsoft YaHei"/>
              </a:rPr>
              <a:t>：低延迟</a:t>
            </a:r>
            <a:r>
              <a:rPr lang="en-US" sz="3000" b="1">
                <a:solidFill>
                  <a:srgbClr val="1E293B"/>
                </a:solidFill>
                <a:latin typeface="Microsoft YaHei"/>
                <a:ea typeface="Microsoft YaHei"/>
              </a:rPr>
              <a:t> WebRTC </a:t>
            </a:r>
            <a:r>
              <a:rPr lang="zh-CN" sz="3000" b="1">
                <a:solidFill>
                  <a:srgbClr val="1E293B"/>
                </a:solidFill>
                <a:latin typeface="Microsoft YaHei"/>
                <a:ea typeface="Microsoft YaHei"/>
              </a:rPr>
              <a:t>媒体分发</a:t>
            </a:r>
            <a:endParaRPr/>
          </a:p>
        </p:txBody>
      </p:sp>
      <p:sp>
        <p:nvSpPr>
          <p:cNvPr id="599" name="文本框 598" descr="{&quot;isTemplate&quot;:true,&quot;type&quot;:&quot;text&quot;}"/>
          <p:cNvSpPr txBox="1"/>
          <p:nvPr/>
        </p:nvSpPr>
        <p:spPr>
          <a:xfrm>
            <a:off x="685800" y="1390650"/>
            <a:ext cx="108204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>mediamtx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按需从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> LiveTalking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拉流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> ·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转封装为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> WHEP ·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客户端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> WebRTC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接收（对外媒体走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> TCP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600" name="圆角矩形 599"/>
          <p:cNvSpPr/>
          <p:nvPr/>
        </p:nvSpPr>
        <p:spPr>
          <a:xfrm>
            <a:off x="1304925" y="1828800"/>
            <a:ext cx="2343150" cy="1638300"/>
          </a:xfrm>
          <a:prstGeom prst="roundRect">
            <a:avLst>
              <a:gd name="adj" fmla="val 6977"/>
            </a:avLst>
          </a:prstGeom>
          <a:solidFill>
            <a:srgbClr val="FFFFFF">
              <a:alpha val="82000"/>
            </a:srgbClr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01" name="图片 6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375" y="2266950"/>
            <a:ext cx="209550" cy="209550"/>
          </a:xfrm>
          <a:prstGeom prst="rect">
            <a:avLst/>
          </a:prstGeom>
          <a:ln/>
        </p:spPr>
      </p:pic>
      <p:sp>
        <p:nvSpPr>
          <p:cNvPr id="602" name="文本框 601" descr="{&quot;isTemplate&quot;:true,&quot;type&quot;:&quot;text&quot;}"/>
          <p:cNvSpPr txBox="1"/>
          <p:nvPr/>
        </p:nvSpPr>
        <p:spPr>
          <a:xfrm>
            <a:off x="1781175" y="2266950"/>
            <a:ext cx="12954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E293B"/>
                </a:solidFill>
                <a:latin typeface="Microsoft YaHei"/>
                <a:ea typeface="Microsoft YaHei"/>
              </a:rPr>
              <a:t>LiveTalking </a:t>
            </a:r>
            <a:r>
              <a:rPr lang="zh-CN" sz="1350" b="1">
                <a:solidFill>
                  <a:srgbClr val="1E293B"/>
                </a:solidFill>
                <a:latin typeface="Microsoft YaHei"/>
                <a:ea typeface="Microsoft YaHei"/>
              </a:rPr>
              <a:t>引擎</a:t>
            </a:r>
            <a:endParaRPr/>
          </a:p>
        </p:txBody>
      </p:sp>
      <p:sp>
        <p:nvSpPr>
          <p:cNvPr id="603" name="文本框 602" descr="{&quot;isTemplate&quot;:true,&quot;type&quot;:&quot;text&quot;}"/>
          <p:cNvSpPr txBox="1"/>
          <p:nvPr/>
        </p:nvSpPr>
        <p:spPr>
          <a:xfrm>
            <a:off x="1476375" y="2552700"/>
            <a:ext cx="2000250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GPU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推理产出数字人音视频，作为可被拉流的媒体源</a:t>
            </a:r>
            <a:endParaRPr/>
          </a:p>
        </p:txBody>
      </p:sp>
      <p:sp>
        <p:nvSpPr>
          <p:cNvPr id="604" name="文本框 603" descr="{&quot;isTemplate&quot;:true,&quot;type&quot;:&quot;text&quot;}"/>
          <p:cNvSpPr txBox="1"/>
          <p:nvPr/>
        </p:nvSpPr>
        <p:spPr>
          <a:xfrm>
            <a:off x="4019550" y="2305050"/>
            <a:ext cx="219075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950">
                <a:solidFill>
                  <a:srgbClr val="94A3B8"/>
                </a:solidFill>
                <a:latin typeface="Microsoft YaHei"/>
                <a:ea typeface="Microsoft YaHei"/>
              </a:rPr>
              <a:t>▶</a:t>
            </a:r>
            <a:endParaRPr/>
          </a:p>
        </p:txBody>
      </p:sp>
      <p:sp>
        <p:nvSpPr>
          <p:cNvPr id="605" name="文本框 604" descr="{&quot;isTemplate&quot;:true,&quot;type&quot;:&quot;text&quot;}"/>
          <p:cNvSpPr txBox="1"/>
          <p:nvPr/>
        </p:nvSpPr>
        <p:spPr>
          <a:xfrm>
            <a:off x="3743325" y="2638425"/>
            <a:ext cx="7620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6366F1"/>
                </a:solidFill>
                <a:latin typeface="Microsoft YaHei"/>
                <a:ea typeface="Microsoft YaHei"/>
              </a:rPr>
              <a:t>② </a:t>
            </a:r>
            <a:r>
              <a:rPr lang="zh-CN" sz="1125" b="1">
                <a:solidFill>
                  <a:srgbClr val="6366F1"/>
                </a:solidFill>
                <a:latin typeface="Microsoft YaHei"/>
                <a:ea typeface="Microsoft YaHei"/>
              </a:rPr>
              <a:t>主动拉流</a:t>
            </a:r>
            <a:endParaRPr/>
          </a:p>
        </p:txBody>
      </p:sp>
      <p:sp>
        <p:nvSpPr>
          <p:cNvPr id="606" name="文本框 605" descr="{&quot;isTemplate&quot;:true,&quot;type&quot;:&quot;text&quot;}"/>
          <p:cNvSpPr txBox="1"/>
          <p:nvPr/>
        </p:nvSpPr>
        <p:spPr>
          <a:xfrm>
            <a:off x="3876675" y="2838450"/>
            <a:ext cx="5048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WebRTC</a:t>
            </a:r>
            <a:endParaRPr/>
          </a:p>
        </p:txBody>
      </p:sp>
      <p:sp>
        <p:nvSpPr>
          <p:cNvPr id="607" name="圆角矩形 606"/>
          <p:cNvSpPr/>
          <p:nvPr/>
        </p:nvSpPr>
        <p:spPr>
          <a:xfrm>
            <a:off x="4600575" y="1828800"/>
            <a:ext cx="2571750" cy="1638300"/>
          </a:xfrm>
          <a:prstGeom prst="roundRect">
            <a:avLst>
              <a:gd name="adj" fmla="val 6977"/>
            </a:avLst>
          </a:prstGeom>
          <a:solidFill>
            <a:srgbClr val="6366F1">
              <a:alpha val="12000"/>
            </a:srgbClr>
          </a:solidFill>
          <a:ln w="19050">
            <a:solidFill>
              <a:srgbClr val="6366F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08" name="图片 60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2025" y="2000250"/>
            <a:ext cx="209550" cy="209550"/>
          </a:xfrm>
          <a:prstGeom prst="rect">
            <a:avLst/>
          </a:prstGeom>
          <a:ln/>
        </p:spPr>
      </p:pic>
      <p:sp>
        <p:nvSpPr>
          <p:cNvPr id="609" name="文本框 608" descr="{&quot;isTemplate&quot;:true,&quot;type&quot;:&quot;text&quot;}"/>
          <p:cNvSpPr txBox="1"/>
          <p:nvPr/>
        </p:nvSpPr>
        <p:spPr>
          <a:xfrm>
            <a:off x="5076825" y="2000250"/>
            <a:ext cx="12192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4338CA"/>
                </a:solidFill>
                <a:latin typeface="Microsoft YaHei"/>
                <a:ea typeface="Microsoft YaHei"/>
              </a:rPr>
              <a:t>mediamtx </a:t>
            </a:r>
            <a:r>
              <a:rPr lang="zh-CN" sz="1350" b="1">
                <a:solidFill>
                  <a:srgbClr val="4338CA"/>
                </a:solidFill>
                <a:latin typeface="Microsoft YaHei"/>
                <a:ea typeface="Microsoft YaHei"/>
              </a:rPr>
              <a:t>代理</a:t>
            </a:r>
            <a:endParaRPr/>
          </a:p>
        </p:txBody>
      </p:sp>
      <p:sp>
        <p:nvSpPr>
          <p:cNvPr id="610" name="文本框 609" descr="{&quot;isTemplate&quot;:true,&quot;type&quot;:&quot;text&quot;}"/>
          <p:cNvSpPr txBox="1"/>
          <p:nvPr/>
        </p:nvSpPr>
        <p:spPr>
          <a:xfrm>
            <a:off x="4772025" y="2286000"/>
            <a:ext cx="2228850" cy="7239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开源流媒体网关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收到客户端请求后主动从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 LiveTalking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拉流，再以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 WHEP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对外服务</a:t>
            </a:r>
            <a:endParaRPr/>
          </a:p>
        </p:txBody>
      </p:sp>
      <p:sp>
        <p:nvSpPr>
          <p:cNvPr id="611" name="圆角矩形 610"/>
          <p:cNvSpPr/>
          <p:nvPr/>
        </p:nvSpPr>
        <p:spPr>
          <a:xfrm>
            <a:off x="4772025" y="3086100"/>
            <a:ext cx="971550" cy="209550"/>
          </a:xfrm>
          <a:prstGeom prst="roundRect">
            <a:avLst>
              <a:gd name="adj" fmla="val 27273"/>
            </a:avLst>
          </a:prstGeom>
          <a:solidFill>
            <a:srgbClr val="6366F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12" name="文本框 611" descr="{&quot;isTemplate&quot;:true,&quot;type&quot;:&quot;text&quot;}"/>
          <p:cNvSpPr txBox="1"/>
          <p:nvPr/>
        </p:nvSpPr>
        <p:spPr>
          <a:xfrm>
            <a:off x="4867275" y="3114675"/>
            <a:ext cx="7810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WHEP </a:t>
            </a: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服务器</a:t>
            </a:r>
            <a:endParaRPr/>
          </a:p>
        </p:txBody>
      </p:sp>
      <p:sp>
        <p:nvSpPr>
          <p:cNvPr id="613" name="文本框 612" descr="{&quot;isTemplate&quot;:true,&quot;type&quot;:&quot;text&quot;}"/>
          <p:cNvSpPr txBox="1"/>
          <p:nvPr/>
        </p:nvSpPr>
        <p:spPr>
          <a:xfrm>
            <a:off x="7800975" y="1924050"/>
            <a:ext cx="24765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950">
                <a:solidFill>
                  <a:srgbClr val="94A3B8"/>
                </a:solidFill>
                <a:latin typeface="Microsoft YaHei"/>
                <a:ea typeface="Microsoft YaHei"/>
              </a:rPr>
              <a:t>◀</a:t>
            </a:r>
            <a:endParaRPr/>
          </a:p>
        </p:txBody>
      </p:sp>
      <p:sp>
        <p:nvSpPr>
          <p:cNvPr id="614" name="文本框 613" descr="{&quot;isTemplate&quot;:true,&quot;type&quot;:&quot;text&quot;}"/>
          <p:cNvSpPr txBox="1"/>
          <p:nvPr/>
        </p:nvSpPr>
        <p:spPr>
          <a:xfrm>
            <a:off x="7448550" y="2247900"/>
            <a:ext cx="94297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563EB"/>
                </a:solidFill>
                <a:latin typeface="Microsoft YaHei"/>
                <a:ea typeface="Microsoft YaHei"/>
              </a:rPr>
              <a:t>① WHEP </a:t>
            </a:r>
            <a:r>
              <a:rPr lang="zh-CN" sz="1125" b="1">
                <a:solidFill>
                  <a:srgbClr val="2563EB"/>
                </a:solidFill>
                <a:latin typeface="Microsoft YaHei"/>
                <a:ea typeface="Microsoft YaHei"/>
              </a:rPr>
              <a:t>请求</a:t>
            </a:r>
            <a:endParaRPr/>
          </a:p>
        </p:txBody>
      </p:sp>
      <p:sp>
        <p:nvSpPr>
          <p:cNvPr id="615" name="文本框 614" descr="{&quot;isTemplate&quot;:true,&quot;type&quot;:&quot;text&quot;}"/>
          <p:cNvSpPr txBox="1"/>
          <p:nvPr/>
        </p:nvSpPr>
        <p:spPr>
          <a:xfrm>
            <a:off x="7419975" y="2438400"/>
            <a:ext cx="10001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HTTP / SDP offer</a:t>
            </a:r>
            <a:endParaRPr/>
          </a:p>
        </p:txBody>
      </p:sp>
      <p:sp>
        <p:nvSpPr>
          <p:cNvPr id="616" name="文本框 615" descr="{&quot;isTemplate&quot;:true,&quot;type&quot;:&quot;text&quot;}"/>
          <p:cNvSpPr txBox="1"/>
          <p:nvPr/>
        </p:nvSpPr>
        <p:spPr>
          <a:xfrm>
            <a:off x="7810500" y="2705100"/>
            <a:ext cx="219075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950">
                <a:solidFill>
                  <a:srgbClr val="94A3B8"/>
                </a:solidFill>
                <a:latin typeface="Microsoft YaHei"/>
                <a:ea typeface="Microsoft YaHei"/>
              </a:rPr>
              <a:t>▶</a:t>
            </a:r>
            <a:endParaRPr/>
          </a:p>
        </p:txBody>
      </p:sp>
      <p:sp>
        <p:nvSpPr>
          <p:cNvPr id="617" name="文本框 616" descr="{&quot;isTemplate&quot;:true,&quot;type&quot;:&quot;text&quot;}"/>
          <p:cNvSpPr txBox="1"/>
          <p:nvPr/>
        </p:nvSpPr>
        <p:spPr>
          <a:xfrm>
            <a:off x="7686675" y="3028950"/>
            <a:ext cx="4762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891B2"/>
                </a:solidFill>
                <a:latin typeface="Microsoft YaHei"/>
                <a:ea typeface="Microsoft YaHei"/>
              </a:rPr>
              <a:t>③ </a:t>
            </a:r>
            <a:r>
              <a:rPr lang="zh-CN" sz="1125" b="1">
                <a:solidFill>
                  <a:srgbClr val="0891B2"/>
                </a:solidFill>
                <a:latin typeface="Microsoft YaHei"/>
                <a:ea typeface="Microsoft YaHei"/>
              </a:rPr>
              <a:t>下发</a:t>
            </a:r>
            <a:endParaRPr/>
          </a:p>
        </p:txBody>
      </p:sp>
      <p:sp>
        <p:nvSpPr>
          <p:cNvPr id="618" name="文本框 617" descr="{&quot;isTemplate&quot;:true,&quot;type&quot;:&quot;text&quot;}"/>
          <p:cNvSpPr txBox="1"/>
          <p:nvPr/>
        </p:nvSpPr>
        <p:spPr>
          <a:xfrm>
            <a:off x="7267575" y="3219450"/>
            <a:ext cx="13049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WHEP / WebRTC(TCP)</a:t>
            </a:r>
            <a:endParaRPr/>
          </a:p>
        </p:txBody>
      </p:sp>
      <p:sp>
        <p:nvSpPr>
          <p:cNvPr id="619" name="圆角矩形 618"/>
          <p:cNvSpPr/>
          <p:nvPr/>
        </p:nvSpPr>
        <p:spPr>
          <a:xfrm>
            <a:off x="8667750" y="1828800"/>
            <a:ext cx="2228850" cy="1638300"/>
          </a:xfrm>
          <a:prstGeom prst="roundRect">
            <a:avLst>
              <a:gd name="adj" fmla="val 6977"/>
            </a:avLst>
          </a:prstGeom>
          <a:solidFill>
            <a:srgbClr val="FFFFFF">
              <a:alpha val="82000"/>
            </a:srgbClr>
          </a:solidFill>
          <a:ln w="12700">
            <a:solidFill>
              <a:srgbClr val="0891B2">
                <a:alpha val="3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20" name="图片 6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9200" y="2266950"/>
            <a:ext cx="209550" cy="209550"/>
          </a:xfrm>
          <a:prstGeom prst="rect">
            <a:avLst/>
          </a:prstGeom>
          <a:ln/>
        </p:spPr>
      </p:pic>
      <p:sp>
        <p:nvSpPr>
          <p:cNvPr id="621" name="文本框 620" descr="{&quot;isTemplate&quot;:true,&quot;type&quot;:&quot;text&quot;}"/>
          <p:cNvSpPr txBox="1"/>
          <p:nvPr/>
        </p:nvSpPr>
        <p:spPr>
          <a:xfrm>
            <a:off x="9144000" y="2266950"/>
            <a:ext cx="5143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293B"/>
                </a:solidFill>
                <a:latin typeface="Microsoft YaHei"/>
                <a:ea typeface="Microsoft YaHei"/>
              </a:rPr>
              <a:t>客户端</a:t>
            </a:r>
            <a:endParaRPr/>
          </a:p>
        </p:txBody>
      </p:sp>
      <p:sp>
        <p:nvSpPr>
          <p:cNvPr id="622" name="文本框 621" descr="{&quot;isTemplate&quot;:true,&quot;type&quot;:&quot;text&quot;}"/>
          <p:cNvSpPr txBox="1"/>
          <p:nvPr/>
        </p:nvSpPr>
        <p:spPr>
          <a:xfrm>
            <a:off x="8839200" y="2552700"/>
            <a:ext cx="1885950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浏览器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 / App / FFmpeg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，经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 WHEP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接收数字人画面</a:t>
            </a:r>
            <a:endParaRPr/>
          </a:p>
        </p:txBody>
      </p:sp>
      <p:sp>
        <p:nvSpPr>
          <p:cNvPr id="623" name="圆角矩形 622"/>
          <p:cNvSpPr/>
          <p:nvPr/>
        </p:nvSpPr>
        <p:spPr>
          <a:xfrm>
            <a:off x="1047750" y="3676650"/>
            <a:ext cx="10096500" cy="485775"/>
          </a:xfrm>
          <a:prstGeom prst="roundRect">
            <a:avLst>
              <a:gd name="adj" fmla="val 19608"/>
            </a:avLst>
          </a:prstGeom>
          <a:solidFill>
            <a:srgbClr val="F1F5F9">
              <a:alpha val="8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24" name="圆角矩形 623"/>
          <p:cNvSpPr/>
          <p:nvPr/>
        </p:nvSpPr>
        <p:spPr>
          <a:xfrm>
            <a:off x="1219200" y="3810000"/>
            <a:ext cx="628650" cy="219075"/>
          </a:xfrm>
          <a:prstGeom prst="roundRect">
            <a:avLst>
              <a:gd name="adj" fmla="val 26087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25" name="文本框 624" descr="{&quot;isTemplate&quot;:true,&quot;type&quot;:&quot;text&quot;}"/>
          <p:cNvSpPr txBox="1"/>
          <p:nvPr/>
        </p:nvSpPr>
        <p:spPr>
          <a:xfrm>
            <a:off x="1333500" y="3838575"/>
            <a:ext cx="4000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控制面</a:t>
            </a:r>
            <a:endParaRPr/>
          </a:p>
        </p:txBody>
      </p:sp>
      <p:sp>
        <p:nvSpPr>
          <p:cNvPr id="626" name="文本框 625" descr="{&quot;isTemplate&quot;:true,&quot;type&quot;:&quot;text&quot;}"/>
          <p:cNvSpPr txBox="1"/>
          <p:nvPr/>
        </p:nvSpPr>
        <p:spPr>
          <a:xfrm>
            <a:off x="1962150" y="3790950"/>
            <a:ext cx="67437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客户端</a:t>
            </a:r>
            <a:r>
              <a:rPr lang="en-US" sz="1125">
                <a:solidFill>
                  <a:srgbClr val="334155"/>
                </a:solidFill>
                <a:latin typeface="Microsoft YaHei"/>
                <a:ea typeface="Microsoft YaHei"/>
              </a:rPr>
              <a:t> → WHEP HTTP POST SDP offer → mediamtx </a:t>
            </a: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返回</a:t>
            </a:r>
            <a:r>
              <a:rPr lang="en-US" sz="1125">
                <a:solidFill>
                  <a:srgbClr val="334155"/>
                </a:solidFill>
                <a:latin typeface="Microsoft YaHei"/>
                <a:ea typeface="Microsoft YaHei"/>
              </a:rPr>
              <a:t> SDP answer</a:t>
            </a: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（拉流地址</a:t>
            </a:r>
            <a:r>
              <a:rPr lang="en-US" sz="1125">
                <a:solidFill>
                  <a:srgbClr val="334155"/>
                </a:solidFill>
                <a:latin typeface="Microsoft YaHei"/>
                <a:ea typeface="Microsoft YaHei"/>
              </a:rPr>
              <a:t> /mystream/whep</a:t>
            </a: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627" name="圆角矩形 626"/>
          <p:cNvSpPr/>
          <p:nvPr/>
        </p:nvSpPr>
        <p:spPr>
          <a:xfrm>
            <a:off x="1047750" y="4276725"/>
            <a:ext cx="10096500" cy="485775"/>
          </a:xfrm>
          <a:prstGeom prst="roundRect">
            <a:avLst>
              <a:gd name="adj" fmla="val 19608"/>
            </a:avLst>
          </a:prstGeom>
          <a:solidFill>
            <a:srgbClr val="F1F5F9">
              <a:alpha val="8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28" name="圆角矩形 627"/>
          <p:cNvSpPr/>
          <p:nvPr/>
        </p:nvSpPr>
        <p:spPr>
          <a:xfrm>
            <a:off x="1219200" y="4410075"/>
            <a:ext cx="628650" cy="219075"/>
          </a:xfrm>
          <a:prstGeom prst="roundRect">
            <a:avLst>
              <a:gd name="adj" fmla="val 26087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29" name="文本框 628" descr="{&quot;isTemplate&quot;:true,&quot;type&quot;:&quot;text&quot;}"/>
          <p:cNvSpPr txBox="1"/>
          <p:nvPr/>
        </p:nvSpPr>
        <p:spPr>
          <a:xfrm>
            <a:off x="1333500" y="4438650"/>
            <a:ext cx="4000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媒体面</a:t>
            </a:r>
            <a:endParaRPr/>
          </a:p>
        </p:txBody>
      </p:sp>
      <p:sp>
        <p:nvSpPr>
          <p:cNvPr id="630" name="文本框 629" descr="{&quot;isTemplate&quot;:true,&quot;type&quot;:&quot;text&quot;}"/>
          <p:cNvSpPr txBox="1"/>
          <p:nvPr/>
        </p:nvSpPr>
        <p:spPr>
          <a:xfrm>
            <a:off x="1962150" y="4391025"/>
            <a:ext cx="734377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en-US" sz="1125">
                <a:solidFill>
                  <a:srgbClr val="334155"/>
                </a:solidFill>
                <a:latin typeface="Microsoft YaHei"/>
                <a:ea typeface="Microsoft YaHei"/>
              </a:rPr>
              <a:t>mediamtx </a:t>
            </a: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收到请求后，主动从</a:t>
            </a:r>
            <a:r>
              <a:rPr lang="en-US" sz="1125">
                <a:solidFill>
                  <a:srgbClr val="334155"/>
                </a:solidFill>
                <a:latin typeface="Microsoft YaHei"/>
                <a:ea typeface="Microsoft YaHei"/>
              </a:rPr>
              <a:t> LiveTalking </a:t>
            </a: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拉流</a:t>
            </a:r>
            <a:r>
              <a:rPr lang="en-US" sz="1125">
                <a:solidFill>
                  <a:srgbClr val="334155"/>
                </a:solidFill>
                <a:latin typeface="Microsoft YaHei"/>
                <a:ea typeface="Microsoft YaHei"/>
              </a:rPr>
              <a:t> → </a:t>
            </a: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经</a:t>
            </a:r>
            <a:r>
              <a:rPr lang="en-US" sz="1125">
                <a:solidFill>
                  <a:srgbClr val="334155"/>
                </a:solidFill>
                <a:latin typeface="Microsoft YaHei"/>
                <a:ea typeface="Microsoft YaHei"/>
              </a:rPr>
              <a:t> webrtcLocalTCPAddress</a:t>
            </a: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（如</a:t>
            </a:r>
            <a:r>
              <a:rPr lang="en-US" sz="1125">
                <a:solidFill>
                  <a:srgbClr val="334155"/>
                </a:solidFill>
                <a:latin typeface="Microsoft YaHei"/>
                <a:ea typeface="Microsoft YaHei"/>
              </a:rPr>
              <a:t> :8188</a:t>
            </a: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）以</a:t>
            </a:r>
            <a:r>
              <a:rPr lang="en-US" sz="1125">
                <a:solidFill>
                  <a:srgbClr val="334155"/>
                </a:solidFill>
                <a:latin typeface="Microsoft YaHei"/>
                <a:ea typeface="Microsoft YaHei"/>
              </a:rPr>
              <a:t> TCP </a:t>
            </a: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下发到客户端</a:t>
            </a:r>
            <a:endParaRPr/>
          </a:p>
        </p:txBody>
      </p:sp>
      <p:sp>
        <p:nvSpPr>
          <p:cNvPr id="631" name="圆角矩形 630"/>
          <p:cNvSpPr/>
          <p:nvPr/>
        </p:nvSpPr>
        <p:spPr>
          <a:xfrm>
            <a:off x="685800" y="5029200"/>
            <a:ext cx="3495675" cy="1343025"/>
          </a:xfrm>
          <a:prstGeom prst="roundRect">
            <a:avLst>
              <a:gd name="adj" fmla="val 7092"/>
            </a:avLst>
          </a:prstGeom>
          <a:solidFill>
            <a:srgbClr val="F1F5F9">
              <a:alpha val="8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32" name="文本框 631" descr="{&quot;isTemplate&quot;:true,&quot;type&quot;:&quot;text&quot;}"/>
          <p:cNvSpPr txBox="1"/>
          <p:nvPr/>
        </p:nvSpPr>
        <p:spPr>
          <a:xfrm>
            <a:off x="857250" y="5200650"/>
            <a:ext cx="3152775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563EB"/>
                </a:solidFill>
                <a:latin typeface="Microsoft YaHei"/>
                <a:ea typeface="Microsoft YaHei"/>
              </a:rPr>
              <a:t>WHEP </a:t>
            </a:r>
            <a:r>
              <a:rPr lang="zh-CN" sz="1275" b="1">
                <a:solidFill>
                  <a:srgbClr val="2563EB"/>
                </a:solidFill>
                <a:latin typeface="Microsoft YaHei"/>
                <a:ea typeface="Microsoft YaHei"/>
              </a:rPr>
              <a:t>是什么</a:t>
            </a:r>
            <a:endParaRPr/>
          </a:p>
        </p:txBody>
      </p:sp>
      <p:sp>
        <p:nvSpPr>
          <p:cNvPr id="633" name="文本框 632" descr="{&quot;isTemplate&quot;:true,&quot;type&quot;:&quot;text&quot;}"/>
          <p:cNvSpPr txBox="1"/>
          <p:nvPr/>
        </p:nvSpPr>
        <p:spPr>
          <a:xfrm>
            <a:off x="857250" y="5448300"/>
            <a:ext cx="3152775" cy="7524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088">
                <a:solidFill>
                  <a:srgbClr val="475569"/>
                </a:solidFill>
                <a:latin typeface="Microsoft YaHei"/>
                <a:ea typeface="Microsoft YaHei"/>
              </a:rPr>
              <a:t>WebRTC-HTTP Egress Protocol</a:t>
            </a:r>
            <a:r>
              <a:rPr lang="zh-CN" sz="1088">
                <a:solidFill>
                  <a:srgbClr val="475569"/>
                </a:solidFill>
                <a:latin typeface="Microsoft YaHei"/>
                <a:ea typeface="Microsoft YaHei"/>
              </a:rPr>
              <a:t>，用</a:t>
            </a:r>
            <a:r>
              <a:rPr lang="en-US" sz="1088">
                <a:solidFill>
                  <a:srgbClr val="475569"/>
                </a:solidFill>
                <a:latin typeface="Microsoft YaHei"/>
                <a:ea typeface="Microsoft YaHei"/>
              </a:rPr>
              <a:t> URL </a:t>
            </a:r>
            <a:r>
              <a:rPr lang="zh-CN" sz="1088">
                <a:solidFill>
                  <a:srgbClr val="475569"/>
                </a:solidFill>
                <a:latin typeface="Microsoft YaHei"/>
                <a:ea typeface="Microsoft YaHei"/>
              </a:rPr>
              <a:t>直接拉流，浏览器</a:t>
            </a:r>
            <a:r>
              <a:rPr lang="en-US" sz="1088">
                <a:solidFill>
                  <a:srgbClr val="475569"/>
                </a:solidFill>
                <a:latin typeface="Microsoft YaHei"/>
                <a:ea typeface="Microsoft YaHei"/>
              </a:rPr>
              <a:t>/FFmpeg/GStreamer </a:t>
            </a:r>
            <a:r>
              <a:rPr lang="zh-CN" sz="1088">
                <a:solidFill>
                  <a:srgbClr val="475569"/>
                </a:solidFill>
                <a:latin typeface="Microsoft YaHei"/>
                <a:ea typeface="Microsoft YaHei"/>
              </a:rPr>
              <a:t>消费，无需网页，端到端延迟</a:t>
            </a:r>
            <a:r>
              <a:rPr lang="en-US" sz="1088">
                <a:solidFill>
                  <a:srgbClr val="475569"/>
                </a:solidFill>
                <a:latin typeface="Microsoft YaHei"/>
                <a:ea typeface="Microsoft YaHei"/>
              </a:rPr>
              <a:t> &lt;500ms</a:t>
            </a:r>
            <a:endParaRPr/>
          </a:p>
        </p:txBody>
      </p:sp>
      <p:sp>
        <p:nvSpPr>
          <p:cNvPr id="634" name="圆角矩形 633"/>
          <p:cNvSpPr/>
          <p:nvPr/>
        </p:nvSpPr>
        <p:spPr>
          <a:xfrm>
            <a:off x="4352925" y="5029200"/>
            <a:ext cx="3486150" cy="1343025"/>
          </a:xfrm>
          <a:prstGeom prst="roundRect">
            <a:avLst>
              <a:gd name="adj" fmla="val 7092"/>
            </a:avLst>
          </a:prstGeom>
          <a:solidFill>
            <a:srgbClr val="F1F5F9">
              <a:alpha val="8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35" name="文本框 634" descr="{&quot;isTemplate&quot;:true,&quot;type&quot;:&quot;text&quot;}"/>
          <p:cNvSpPr txBox="1"/>
          <p:nvPr/>
        </p:nvSpPr>
        <p:spPr>
          <a:xfrm>
            <a:off x="4524375" y="5200650"/>
            <a:ext cx="31432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6366F1"/>
                </a:solidFill>
                <a:latin typeface="Microsoft YaHei"/>
                <a:ea typeface="Microsoft YaHei"/>
              </a:rPr>
              <a:t>mediamtx </a:t>
            </a:r>
            <a:r>
              <a:rPr lang="zh-CN" sz="1275" b="1">
                <a:solidFill>
                  <a:srgbClr val="6366F1"/>
                </a:solidFill>
                <a:latin typeface="Microsoft YaHei"/>
                <a:ea typeface="Microsoft YaHei"/>
              </a:rPr>
              <a:t>角色</a:t>
            </a:r>
            <a:endParaRPr/>
          </a:p>
        </p:txBody>
      </p:sp>
      <p:sp>
        <p:nvSpPr>
          <p:cNvPr id="636" name="文本框 635" descr="{&quot;isTemplate&quot;:true,&quot;type&quot;:&quot;text&quot;}"/>
          <p:cNvSpPr txBox="1"/>
          <p:nvPr/>
        </p:nvSpPr>
        <p:spPr>
          <a:xfrm>
            <a:off x="4524375" y="5448300"/>
            <a:ext cx="3143250" cy="504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088">
                <a:solidFill>
                  <a:srgbClr val="475569"/>
                </a:solidFill>
                <a:latin typeface="Microsoft YaHei"/>
                <a:ea typeface="Microsoft YaHei"/>
              </a:rPr>
              <a:t>开源流媒体网关，按客户端请求主动从</a:t>
            </a:r>
            <a:r>
              <a:rPr lang="en-US" sz="1088">
                <a:solidFill>
                  <a:srgbClr val="475569"/>
                </a:solidFill>
                <a:latin typeface="Microsoft YaHei"/>
                <a:ea typeface="Microsoft YaHei"/>
              </a:rPr>
              <a:t> LiveTalking </a:t>
            </a:r>
            <a:r>
              <a:rPr lang="zh-CN" sz="1088">
                <a:solidFill>
                  <a:srgbClr val="475569"/>
                </a:solidFill>
                <a:latin typeface="Microsoft YaHei"/>
                <a:ea typeface="Microsoft YaHei"/>
              </a:rPr>
              <a:t>拉流，再以</a:t>
            </a:r>
            <a:r>
              <a:rPr lang="en-US" sz="1088">
                <a:solidFill>
                  <a:srgbClr val="475569"/>
                </a:solidFill>
                <a:latin typeface="Microsoft YaHei"/>
                <a:ea typeface="Microsoft YaHei"/>
              </a:rPr>
              <a:t> WHEP </a:t>
            </a:r>
            <a:r>
              <a:rPr lang="zh-CN" sz="1088">
                <a:solidFill>
                  <a:srgbClr val="475569"/>
                </a:solidFill>
                <a:latin typeface="Microsoft YaHei"/>
                <a:ea typeface="Microsoft YaHei"/>
              </a:rPr>
              <a:t>对外服务，自动完成协议转封装</a:t>
            </a:r>
            <a:endParaRPr/>
          </a:p>
        </p:txBody>
      </p:sp>
      <p:sp>
        <p:nvSpPr>
          <p:cNvPr id="637" name="圆角矩形 636"/>
          <p:cNvSpPr/>
          <p:nvPr/>
        </p:nvSpPr>
        <p:spPr>
          <a:xfrm>
            <a:off x="8010525" y="5029200"/>
            <a:ext cx="3495675" cy="1343025"/>
          </a:xfrm>
          <a:prstGeom prst="roundRect">
            <a:avLst>
              <a:gd name="adj" fmla="val 7092"/>
            </a:avLst>
          </a:prstGeom>
          <a:solidFill>
            <a:srgbClr val="F1F5F9">
              <a:alpha val="8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38" name="文本框 637" descr="{&quot;isTemplate&quot;:true,&quot;type&quot;:&quot;text&quot;}"/>
          <p:cNvSpPr txBox="1"/>
          <p:nvPr/>
        </p:nvSpPr>
        <p:spPr>
          <a:xfrm>
            <a:off x="8181975" y="5200650"/>
            <a:ext cx="3152775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891B2"/>
                </a:solidFill>
                <a:latin typeface="Microsoft YaHei"/>
                <a:ea typeface="Microsoft YaHei"/>
              </a:rPr>
              <a:t>TCP </a:t>
            </a:r>
            <a:r>
              <a:rPr lang="zh-CN" sz="1275" b="1">
                <a:solidFill>
                  <a:srgbClr val="0891B2"/>
                </a:solidFill>
                <a:latin typeface="Microsoft YaHei"/>
                <a:ea typeface="Microsoft YaHei"/>
              </a:rPr>
              <a:t>媒体传输</a:t>
            </a:r>
            <a:endParaRPr/>
          </a:p>
        </p:txBody>
      </p:sp>
      <p:sp>
        <p:nvSpPr>
          <p:cNvPr id="639" name="文本框 638" descr="{&quot;isTemplate&quot;:true,&quot;type&quot;:&quot;text&quot;}"/>
          <p:cNvSpPr txBox="1"/>
          <p:nvPr/>
        </p:nvSpPr>
        <p:spPr>
          <a:xfrm>
            <a:off x="8181975" y="5448300"/>
            <a:ext cx="3152775" cy="504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088">
                <a:solidFill>
                  <a:srgbClr val="475569"/>
                </a:solidFill>
                <a:latin typeface="Microsoft YaHei"/>
                <a:ea typeface="Microsoft YaHei"/>
              </a:rPr>
              <a:t>配置</a:t>
            </a:r>
            <a:r>
              <a:rPr lang="en-US" sz="1088">
                <a:solidFill>
                  <a:srgbClr val="475569"/>
                </a:solidFill>
                <a:latin typeface="Microsoft YaHei"/>
                <a:ea typeface="Microsoft YaHei"/>
              </a:rPr>
              <a:t> webrtcLocalTCPAddress</a:t>
            </a:r>
            <a:r>
              <a:rPr lang="zh-CN" sz="1088">
                <a:solidFill>
                  <a:srgbClr val="475569"/>
                </a:solidFill>
                <a:latin typeface="Microsoft YaHei"/>
                <a:ea typeface="Microsoft YaHei"/>
              </a:rPr>
              <a:t>（如</a:t>
            </a:r>
            <a:r>
              <a:rPr lang="en-US" sz="1088">
                <a:solidFill>
                  <a:srgbClr val="475569"/>
                </a:solidFill>
                <a:latin typeface="Microsoft YaHei"/>
                <a:ea typeface="Microsoft YaHei"/>
              </a:rPr>
              <a:t> :8188</a:t>
            </a:r>
            <a:r>
              <a:rPr lang="zh-CN" sz="1088">
                <a:solidFill>
                  <a:srgbClr val="475569"/>
                </a:solidFill>
                <a:latin typeface="Microsoft YaHei"/>
                <a:ea typeface="Microsoft YaHei"/>
              </a:rPr>
              <a:t>），对外媒体走</a:t>
            </a:r>
            <a:r>
              <a:rPr lang="en-US" sz="1088">
                <a:solidFill>
                  <a:srgbClr val="475569"/>
                </a:solidFill>
                <a:latin typeface="Microsoft YaHei"/>
                <a:ea typeface="Microsoft YaHei"/>
              </a:rPr>
              <a:t> TCP</a:t>
            </a:r>
            <a:r>
              <a:rPr lang="zh-CN" sz="1088">
                <a:solidFill>
                  <a:srgbClr val="475569"/>
                </a:solidFill>
                <a:latin typeface="Microsoft YaHei"/>
                <a:ea typeface="Microsoft YaHei"/>
              </a:rPr>
              <a:t>，更易穿透严格防火墙</a:t>
            </a:r>
            <a:r>
              <a:rPr lang="en-US" sz="1088">
                <a:solidFill>
                  <a:srgbClr val="475569"/>
                </a:solidFill>
                <a:latin typeface="Microsoft YaHei"/>
                <a:ea typeface="Microsoft YaHei"/>
              </a:rPr>
              <a:t> / </a:t>
            </a:r>
            <a:r>
              <a:rPr lang="zh-CN" sz="1088">
                <a:solidFill>
                  <a:srgbClr val="475569"/>
                </a:solidFill>
                <a:latin typeface="Microsoft YaHei"/>
                <a:ea typeface="Microsoft YaHei"/>
              </a:rPr>
              <a:t>对称型</a:t>
            </a:r>
            <a:r>
              <a:rPr lang="en-US" sz="1088">
                <a:solidFill>
                  <a:srgbClr val="475569"/>
                </a:solidFill>
                <a:latin typeface="Microsoft YaHei"/>
                <a:ea typeface="Microsoft YaHei"/>
              </a:rPr>
              <a:t> NAT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transparent', padding: '90px 72px 16px', flexDirection: 'column' }}&gt;&#10;    &lt;Image src=&quot;resources/images/gvp_background.jpg&quot; style={{ position: 'absolute', top: 0, left: 0, width: 1280, height: 720, objectFit: 'cover', }} /&gt;&#10;    &lt;Box style={{ zIndex: 1,  height: 80, flexDirection: 'column', gap: 4, justifyContent: 'center' }}&gt;&#10;        &lt;Text style={{ fontSize: 36, fontWeight: 'bold', color: '#1E293B' }}&gt;网络部署：方案总结对比&lt;/Text&gt;&#10;        &lt;Text style={{ fontSize: 16, color: '#475569' }}&gt;全端口 / mediamtx 代理 · 按网络环境选型&lt;/Text&gt;&#10;    &lt;/Box&gt;&#10;&#10;    &lt;Box style={{ zIndex: 1,  flex: 1, marginTop: 8, flexDirection: 'column', borderRadius: 8, overflow: 'hidden', border: '1px solid rgba(203, 213, 225, 0.6)' }}&gt;&#10;        {[&#10;            &lt;Box key=&quot;hdr&quot; style={{ flexDirection: 'row', flexShrink: 0 }}&gt;&#10;                {['方案', '端口需求', '适用场景', '延迟', '优缺点'].map((h, i) =&gt; (&#10;                    &lt;Box key={'h' + i} style={{ flexGrow: 0, flexShrink: 0, flexBasis: [215, 250, 330, 186, 155][i], padding: '12px 10px', justifyContent: 'center', alignItems: 'center', background: 'rgba(224, 242, 254, 0.9)', borderRight: '1px solid rgba(203, 213, 225, 0.6)', borderBottom: '1px solid rgba(203, 213, 225, 0.6)' }}&gt;&#10;                        &lt;Text style={{ fontSize: 15, fontWeight: 'bold', color: '#0891B2', textAlign: 'center' }}&gt;{h}&lt;/Text&gt;&#10;                    &lt;/Box&gt;&#10;                ))}&#10;            &lt;/Box&gt;,&#10;            ...[&#10;                { bg: 'rgba(255, 255, 255, 0.78)', sep: true, cells: [&#10;                    { t: 'WebRTC 全端口', c: '#2563EB', b: true },&#10;                    { t: 'TCP 8010\n+ UDP 1-65536', c: '#475569' },&#10;                    { t: '自有服务器\n(UCloud) 可开UDP', c: '#475569' },&#10;                    { t: '最低\n百毫秒级', c: '#0891B2', b: true },&#10;                    { t: '延迟最低，需开放UDP', c: '#475569' }&#10;                ] },&#10;                { bg: 'rgba(99, 102, 241, 0.10)', sep: false, cells: [&#10;                    { t: 'mediamtx 代理', c: '#4338CA', b: true },&#10;                    { t: 'TCP 8010\n+ TCP(如:8188)', c: '#4338CA', b: true },&#10;                    { t: 'AutoDL 等\n不便开UDP的云', c: '#4338CA' },&#10;                    { t: '低\n经mediamtx转发', c: '#4338CA', b: true },&#10;                    { t: 'mediamtx 按请求主动从 LiveTalking 拉流，对外 TCP 媒体，无需开 UDP', c: '#4338CA' }&#10;                ] }&#10;            ].map((row, ri) =&gt; (&#10;                &lt;Box key={'r' + ri} style={{ flexDirection: 'row', flexGrow: 1 }}&gt;&#10;                    {row.cells.map((cell, i) =&gt; (&#10;                        &lt;Box key={i} style={{ flexGrow: 0, flexShrink: 0, flexBasis: [215, 250, 330, 186, 155][i], padding: '12px 10px', justifyContent: 'center', alignItems: 'center', background: row.bg, borderRight: '1px solid rgba(203, 213, 225, 0.6)', ...(row.sep ? { borderBottom: '1px solid rgba(203, 213, 225, 0.6)' } : {}) }}&gt;&#10;                            &lt;Text style={{ fontSize: 14, color: cell.c, fontWeight: cell.b ? 'bold' : 'normal', textAlign: 'center', lineHeight: 1.45 }}&gt;{cell.t}&lt;/Text&gt;&#10;                        &lt;/Box&gt;&#10;                    ))}&#10;                &lt;/Box&gt;&#10;            ))&#10;        ]}&#10;    &lt;/Box&gt;&#10;    &lt;Box style={{ zIndex: 1,  flexDirection: 'row', gap: 16, marginTop: 12, padding: 16, background: 'rgba(255, 255, 255, 0.78)', borderRadius: 8, alignItems: 'center' }}&gt;&#10;        &lt;Image src='resources/images/icons/icon_lightbulb_0891B2.png' style={{ width: 24, height: 24 }} /&gt;&#10;        &lt;Text style={{ fontSize: 14, color: '#475569', lineHeight: 1.5 }}&gt;&#10;            &lt;span style={{ fontWeight: 'bold', color: '#4338CA' }}&gt;AutoDL 等云环境不便开放 UDP&lt;/span&gt;：优先选用 &lt;span style={{ fontWeight: 'bold', color: '#4338CA' }}&gt;mediamtx 代理&lt;/span&gt;（对外走 TCP 媒体转发，无需开放任何 UDP 端口）&#10;        &lt;/Text&gt;&#10;    &lt;/Box&gt;&#10;    &lt;Box style={{ zIndex: 1,  height: 30, flexDirection: 'row', justifyContent: 'space-between', alignItems: 'center', marginTop: 4 }}&gt;&#10;        &lt;Text style={{ fontSize: 14, color: '#475569' }}&gt;WebRTC 原理：双方本地绑定UDP → 交换candidate → 互相试探 → 连通（mediamtx 代理将其收敛为 TCP）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1" name="图片 6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642" name="文本框 641" descr="{&quot;isTemplate&quot;:true,&quot;type&quot;:&quot;text&quot;}"/>
          <p:cNvSpPr txBox="1"/>
          <p:nvPr/>
        </p:nvSpPr>
        <p:spPr>
          <a:xfrm>
            <a:off x="685800" y="914400"/>
            <a:ext cx="10820400" cy="4191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E293B"/>
                </a:solidFill>
                <a:latin typeface="Microsoft YaHei"/>
                <a:ea typeface="Microsoft YaHei"/>
              </a:rPr>
              <a:t>网络部署：方案总结对比</a:t>
            </a:r>
            <a:endParaRPr/>
          </a:p>
        </p:txBody>
      </p:sp>
      <p:sp>
        <p:nvSpPr>
          <p:cNvPr id="643" name="文本框 642" descr="{&quot;isTemplate&quot;:true,&quot;type&quot;:&quot;text&quot;}"/>
          <p:cNvSpPr txBox="1"/>
          <p:nvPr/>
        </p:nvSpPr>
        <p:spPr>
          <a:xfrm>
            <a:off x="685800" y="1371600"/>
            <a:ext cx="108204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全端口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> / mediamtx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代理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按网络环境选型</a:t>
            </a:r>
            <a:endParaRPr/>
          </a:p>
        </p:txBody>
      </p:sp>
      <p:sp>
        <p:nvSpPr>
          <p:cNvPr id="644" name="圆角矩形 643"/>
          <p:cNvSpPr/>
          <p:nvPr/>
        </p:nvSpPr>
        <p:spPr>
          <a:xfrm>
            <a:off x="685800" y="1695450"/>
            <a:ext cx="10820400" cy="4019550"/>
          </a:xfrm>
          <a:prstGeom prst="roundRect">
            <a:avLst>
              <a:gd name="adj" fmla="val 1896"/>
            </a:avLst>
          </a:prstGeom>
          <a:ln w="12700">
            <a:solidFill>
              <a:srgbClr val="CBD5E1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5" name="任意形状 644"/>
          <p:cNvSpPr/>
          <p:nvPr/>
        </p:nvSpPr>
        <p:spPr>
          <a:xfrm>
            <a:off x="685800" y="1695450"/>
            <a:ext cx="2047875" cy="409575"/>
          </a:xfrm>
          <a:custGeom>
            <a:avLst/>
            <a:gdLst/>
            <a:ahLst/>
            <a:cxnLst/>
            <a:rect l="0" t="0" r="0" b="0"/>
            <a:pathLst>
              <a:path w="215" h="43">
                <a:moveTo>
                  <a:pt x="215" y="43"/>
                </a:moveTo>
                <a:lnTo>
                  <a:pt x="0" y="43"/>
                </a:lnTo>
                <a:lnTo>
                  <a:pt x="0" y="8"/>
                </a:lnTo>
                <a:cubicBezTo>
                  <a:pt x="0" y="4"/>
                  <a:pt x="4" y="0"/>
                  <a:pt x="8" y="0"/>
                </a:cubicBezTo>
                <a:lnTo>
                  <a:pt x="215" y="0"/>
                </a:lnTo>
                <a:close/>
              </a:path>
            </a:pathLst>
          </a:custGeom>
          <a:solidFill>
            <a:srgbClr val="E0F2FE">
              <a:alpha val="9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46" name="任意形状 645"/>
          <p:cNvSpPr/>
          <p:nvPr/>
        </p:nvSpPr>
        <p:spPr>
          <a:xfrm>
            <a:off x="685800" y="1695450"/>
            <a:ext cx="2057400" cy="419100"/>
          </a:xfrm>
          <a:custGeom>
            <a:avLst/>
            <a:gdLst/>
            <a:ahLst/>
            <a:cxnLst/>
            <a:rect l="0" t="0" r="0" b="0"/>
            <a:pathLst>
              <a:path w="216" h="44">
                <a:moveTo>
                  <a:pt x="215" y="0"/>
                </a:moveTo>
                <a:lnTo>
                  <a:pt x="216" y="0"/>
                </a:lnTo>
                <a:lnTo>
                  <a:pt x="216" y="44"/>
                </a:lnTo>
                <a:lnTo>
                  <a:pt x="215" y="43"/>
                </a:lnTo>
                <a:close/>
              </a:path>
            </a:pathLst>
          </a:custGeom>
          <a:solidFill>
            <a:srgbClr val="CBD5E1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47" name="任意形状 646"/>
          <p:cNvSpPr/>
          <p:nvPr/>
        </p:nvSpPr>
        <p:spPr>
          <a:xfrm>
            <a:off x="685800" y="1695450"/>
            <a:ext cx="2057400" cy="419100"/>
          </a:xfrm>
          <a:custGeom>
            <a:avLst/>
            <a:gdLst/>
            <a:ahLst/>
            <a:cxnLst/>
            <a:rect l="0" t="0" r="0" b="0"/>
            <a:pathLst>
              <a:path w="216" h="44">
                <a:moveTo>
                  <a:pt x="0" y="43"/>
                </a:moveTo>
                <a:lnTo>
                  <a:pt x="215" y="43"/>
                </a:lnTo>
                <a:lnTo>
                  <a:pt x="216" y="44"/>
                </a:lnTo>
                <a:lnTo>
                  <a:pt x="0" y="44"/>
                </a:lnTo>
                <a:close/>
              </a:path>
            </a:pathLst>
          </a:custGeom>
          <a:solidFill>
            <a:srgbClr val="CBD5E1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48" name="文本框 647" descr="{&quot;isTemplate&quot;:true,&quot;type&quot;:&quot;text&quot;}"/>
          <p:cNvSpPr txBox="1"/>
          <p:nvPr/>
        </p:nvSpPr>
        <p:spPr>
          <a:xfrm>
            <a:off x="1562100" y="1809750"/>
            <a:ext cx="2857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125" b="1">
                <a:solidFill>
                  <a:srgbClr val="0891B2"/>
                </a:solidFill>
                <a:latin typeface="Microsoft YaHei"/>
                <a:ea typeface="Microsoft YaHei"/>
              </a:rPr>
              <a:t>方案</a:t>
            </a:r>
            <a:endParaRPr/>
          </a:p>
        </p:txBody>
      </p:sp>
      <p:sp>
        <p:nvSpPr>
          <p:cNvPr id="649" name="矩形 648"/>
          <p:cNvSpPr/>
          <p:nvPr/>
        </p:nvSpPr>
        <p:spPr>
          <a:xfrm>
            <a:off x="2733675" y="1695450"/>
            <a:ext cx="2381250" cy="409575"/>
          </a:xfrm>
          <a:prstGeom prst="rect">
            <a:avLst/>
          </a:prstGeom>
          <a:solidFill>
            <a:srgbClr val="E0F2FE">
              <a:alpha val="9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50" name="任意形状 649"/>
          <p:cNvSpPr/>
          <p:nvPr/>
        </p:nvSpPr>
        <p:spPr>
          <a:xfrm>
            <a:off x="2733675" y="1695450"/>
            <a:ext cx="2390775" cy="419100"/>
          </a:xfrm>
          <a:custGeom>
            <a:avLst/>
            <a:gdLst/>
            <a:ahLst/>
            <a:cxnLst/>
            <a:rect l="0" t="0" r="0" b="0"/>
            <a:pathLst>
              <a:path w="251" h="44">
                <a:moveTo>
                  <a:pt x="250" y="0"/>
                </a:moveTo>
                <a:lnTo>
                  <a:pt x="251" y="0"/>
                </a:lnTo>
                <a:lnTo>
                  <a:pt x="251" y="44"/>
                </a:lnTo>
                <a:lnTo>
                  <a:pt x="250" y="43"/>
                </a:lnTo>
                <a:close/>
              </a:path>
            </a:pathLst>
          </a:custGeom>
          <a:solidFill>
            <a:srgbClr val="CBD5E1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51" name="任意形状 650"/>
          <p:cNvSpPr/>
          <p:nvPr/>
        </p:nvSpPr>
        <p:spPr>
          <a:xfrm>
            <a:off x="2733675" y="1695450"/>
            <a:ext cx="2390775" cy="419100"/>
          </a:xfrm>
          <a:custGeom>
            <a:avLst/>
            <a:gdLst/>
            <a:ahLst/>
            <a:cxnLst/>
            <a:rect l="0" t="0" r="0" b="0"/>
            <a:pathLst>
              <a:path w="251" h="44">
                <a:moveTo>
                  <a:pt x="0" y="43"/>
                </a:moveTo>
                <a:lnTo>
                  <a:pt x="250" y="43"/>
                </a:lnTo>
                <a:lnTo>
                  <a:pt x="251" y="44"/>
                </a:lnTo>
                <a:lnTo>
                  <a:pt x="0" y="44"/>
                </a:lnTo>
                <a:close/>
              </a:path>
            </a:pathLst>
          </a:custGeom>
          <a:solidFill>
            <a:srgbClr val="CBD5E1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52" name="文本框 651" descr="{&quot;isTemplate&quot;:true,&quot;type&quot;:&quot;text&quot;}"/>
          <p:cNvSpPr txBox="1"/>
          <p:nvPr/>
        </p:nvSpPr>
        <p:spPr>
          <a:xfrm>
            <a:off x="3638550" y="1809750"/>
            <a:ext cx="5715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125" b="1">
                <a:solidFill>
                  <a:srgbClr val="0891B2"/>
                </a:solidFill>
                <a:latin typeface="Microsoft YaHei"/>
                <a:ea typeface="Microsoft YaHei"/>
              </a:rPr>
              <a:t>端口需求</a:t>
            </a:r>
            <a:endParaRPr/>
          </a:p>
        </p:txBody>
      </p:sp>
      <p:sp>
        <p:nvSpPr>
          <p:cNvPr id="653" name="矩形 652"/>
          <p:cNvSpPr/>
          <p:nvPr/>
        </p:nvSpPr>
        <p:spPr>
          <a:xfrm>
            <a:off x="5114925" y="1695450"/>
            <a:ext cx="3143250" cy="409575"/>
          </a:xfrm>
          <a:prstGeom prst="rect">
            <a:avLst/>
          </a:prstGeom>
          <a:solidFill>
            <a:srgbClr val="E0F2FE">
              <a:alpha val="9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54" name="任意形状 653"/>
          <p:cNvSpPr/>
          <p:nvPr/>
        </p:nvSpPr>
        <p:spPr>
          <a:xfrm>
            <a:off x="5114925" y="1695450"/>
            <a:ext cx="3152775" cy="419100"/>
          </a:xfrm>
          <a:custGeom>
            <a:avLst/>
            <a:gdLst/>
            <a:ahLst/>
            <a:cxnLst/>
            <a:rect l="0" t="0" r="0" b="0"/>
            <a:pathLst>
              <a:path w="331" h="44">
                <a:moveTo>
                  <a:pt x="330" y="0"/>
                </a:moveTo>
                <a:lnTo>
                  <a:pt x="331" y="0"/>
                </a:lnTo>
                <a:lnTo>
                  <a:pt x="331" y="44"/>
                </a:lnTo>
                <a:lnTo>
                  <a:pt x="330" y="43"/>
                </a:lnTo>
                <a:close/>
              </a:path>
            </a:pathLst>
          </a:custGeom>
          <a:solidFill>
            <a:srgbClr val="CBD5E1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55" name="任意形状 654"/>
          <p:cNvSpPr/>
          <p:nvPr/>
        </p:nvSpPr>
        <p:spPr>
          <a:xfrm>
            <a:off x="5114925" y="1695450"/>
            <a:ext cx="3152775" cy="419100"/>
          </a:xfrm>
          <a:custGeom>
            <a:avLst/>
            <a:gdLst/>
            <a:ahLst/>
            <a:cxnLst/>
            <a:rect l="0" t="0" r="0" b="0"/>
            <a:pathLst>
              <a:path w="331" h="44">
                <a:moveTo>
                  <a:pt x="0" y="43"/>
                </a:moveTo>
                <a:lnTo>
                  <a:pt x="330" y="43"/>
                </a:lnTo>
                <a:lnTo>
                  <a:pt x="331" y="44"/>
                </a:lnTo>
                <a:lnTo>
                  <a:pt x="0" y="44"/>
                </a:lnTo>
                <a:close/>
              </a:path>
            </a:pathLst>
          </a:custGeom>
          <a:solidFill>
            <a:srgbClr val="CBD5E1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56" name="文本框 655" descr="{&quot;isTemplate&quot;:true,&quot;type&quot;:&quot;text&quot;}"/>
          <p:cNvSpPr txBox="1"/>
          <p:nvPr/>
        </p:nvSpPr>
        <p:spPr>
          <a:xfrm>
            <a:off x="6400800" y="1809750"/>
            <a:ext cx="5715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125" b="1">
                <a:solidFill>
                  <a:srgbClr val="0891B2"/>
                </a:solidFill>
                <a:latin typeface="Microsoft YaHei"/>
                <a:ea typeface="Microsoft YaHei"/>
              </a:rPr>
              <a:t>适用场景</a:t>
            </a:r>
            <a:endParaRPr/>
          </a:p>
        </p:txBody>
      </p:sp>
      <p:sp>
        <p:nvSpPr>
          <p:cNvPr id="657" name="矩形 656"/>
          <p:cNvSpPr/>
          <p:nvPr/>
        </p:nvSpPr>
        <p:spPr>
          <a:xfrm>
            <a:off x="8258175" y="1695450"/>
            <a:ext cx="1771650" cy="409575"/>
          </a:xfrm>
          <a:prstGeom prst="rect">
            <a:avLst/>
          </a:prstGeom>
          <a:solidFill>
            <a:srgbClr val="E0F2FE">
              <a:alpha val="9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58" name="任意形状 657"/>
          <p:cNvSpPr/>
          <p:nvPr/>
        </p:nvSpPr>
        <p:spPr>
          <a:xfrm>
            <a:off x="8258175" y="1695450"/>
            <a:ext cx="1781175" cy="419100"/>
          </a:xfrm>
          <a:custGeom>
            <a:avLst/>
            <a:gdLst/>
            <a:ahLst/>
            <a:cxnLst/>
            <a:rect l="0" t="0" r="0" b="0"/>
            <a:pathLst>
              <a:path w="187" h="44">
                <a:moveTo>
                  <a:pt x="186" y="0"/>
                </a:moveTo>
                <a:lnTo>
                  <a:pt x="187" y="0"/>
                </a:lnTo>
                <a:lnTo>
                  <a:pt x="187" y="44"/>
                </a:lnTo>
                <a:lnTo>
                  <a:pt x="186" y="43"/>
                </a:lnTo>
                <a:close/>
              </a:path>
            </a:pathLst>
          </a:custGeom>
          <a:solidFill>
            <a:srgbClr val="CBD5E1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59" name="任意形状 658"/>
          <p:cNvSpPr/>
          <p:nvPr/>
        </p:nvSpPr>
        <p:spPr>
          <a:xfrm>
            <a:off x="8258175" y="1695450"/>
            <a:ext cx="1781175" cy="419100"/>
          </a:xfrm>
          <a:custGeom>
            <a:avLst/>
            <a:gdLst/>
            <a:ahLst/>
            <a:cxnLst/>
            <a:rect l="0" t="0" r="0" b="0"/>
            <a:pathLst>
              <a:path w="187" h="44">
                <a:moveTo>
                  <a:pt x="0" y="43"/>
                </a:moveTo>
                <a:lnTo>
                  <a:pt x="186" y="43"/>
                </a:lnTo>
                <a:lnTo>
                  <a:pt x="187" y="44"/>
                </a:lnTo>
                <a:lnTo>
                  <a:pt x="0" y="44"/>
                </a:lnTo>
                <a:close/>
              </a:path>
            </a:pathLst>
          </a:custGeom>
          <a:solidFill>
            <a:srgbClr val="CBD5E1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60" name="文本框 659" descr="{&quot;isTemplate&quot;:true,&quot;type&quot;:&quot;text&quot;}"/>
          <p:cNvSpPr txBox="1"/>
          <p:nvPr/>
        </p:nvSpPr>
        <p:spPr>
          <a:xfrm>
            <a:off x="9001125" y="1809750"/>
            <a:ext cx="2857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125" b="1">
                <a:solidFill>
                  <a:srgbClr val="0891B2"/>
                </a:solidFill>
                <a:latin typeface="Microsoft YaHei"/>
                <a:ea typeface="Microsoft YaHei"/>
              </a:rPr>
              <a:t>延迟</a:t>
            </a:r>
            <a:endParaRPr/>
          </a:p>
        </p:txBody>
      </p:sp>
      <p:sp>
        <p:nvSpPr>
          <p:cNvPr id="661" name="任意形状 660"/>
          <p:cNvSpPr/>
          <p:nvPr/>
        </p:nvSpPr>
        <p:spPr>
          <a:xfrm>
            <a:off x="10029825" y="1695450"/>
            <a:ext cx="1476375" cy="409575"/>
          </a:xfrm>
          <a:custGeom>
            <a:avLst/>
            <a:gdLst/>
            <a:ahLst/>
            <a:cxnLst/>
            <a:rect l="0" t="0" r="0" b="0"/>
            <a:pathLst>
              <a:path w="155" h="43">
                <a:moveTo>
                  <a:pt x="147" y="0"/>
                </a:moveTo>
                <a:cubicBezTo>
                  <a:pt x="152" y="0"/>
                  <a:pt x="155" y="4"/>
                  <a:pt x="155" y="8"/>
                </a:cubicBezTo>
                <a:lnTo>
                  <a:pt x="155" y="43"/>
                </a:lnTo>
                <a:lnTo>
                  <a:pt x="0" y="43"/>
                </a:lnTo>
                <a:lnTo>
                  <a:pt x="0" y="0"/>
                </a:lnTo>
                <a:lnTo>
                  <a:pt x="147" y="0"/>
                </a:lnTo>
                <a:close/>
              </a:path>
            </a:pathLst>
          </a:custGeom>
          <a:solidFill>
            <a:srgbClr val="E0F2FE">
              <a:alpha val="9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62" name="任意形状 661"/>
          <p:cNvSpPr/>
          <p:nvPr/>
        </p:nvSpPr>
        <p:spPr>
          <a:xfrm>
            <a:off x="10029825" y="1695450"/>
            <a:ext cx="1485900" cy="419100"/>
          </a:xfrm>
          <a:custGeom>
            <a:avLst/>
            <a:gdLst/>
            <a:ahLst/>
            <a:cxnLst/>
            <a:rect l="0" t="0" r="0" b="0"/>
            <a:pathLst>
              <a:path w="156" h="44">
                <a:moveTo>
                  <a:pt x="155" y="0"/>
                </a:moveTo>
                <a:lnTo>
                  <a:pt x="156" y="0"/>
                </a:lnTo>
                <a:lnTo>
                  <a:pt x="156" y="44"/>
                </a:lnTo>
                <a:lnTo>
                  <a:pt x="155" y="43"/>
                </a:lnTo>
                <a:close/>
              </a:path>
            </a:pathLst>
          </a:custGeom>
          <a:solidFill>
            <a:srgbClr val="CBD5E1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63" name="任意形状 662"/>
          <p:cNvSpPr/>
          <p:nvPr/>
        </p:nvSpPr>
        <p:spPr>
          <a:xfrm>
            <a:off x="10029825" y="1695450"/>
            <a:ext cx="1485900" cy="419100"/>
          </a:xfrm>
          <a:custGeom>
            <a:avLst/>
            <a:gdLst/>
            <a:ahLst/>
            <a:cxnLst/>
            <a:rect l="0" t="0" r="0" b="0"/>
            <a:pathLst>
              <a:path w="156" h="44">
                <a:moveTo>
                  <a:pt x="0" y="43"/>
                </a:moveTo>
                <a:lnTo>
                  <a:pt x="155" y="43"/>
                </a:lnTo>
                <a:lnTo>
                  <a:pt x="156" y="44"/>
                </a:lnTo>
                <a:lnTo>
                  <a:pt x="0" y="44"/>
                </a:lnTo>
                <a:close/>
              </a:path>
            </a:pathLst>
          </a:custGeom>
          <a:solidFill>
            <a:srgbClr val="CBD5E1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64" name="文本框 663" descr="{&quot;isTemplate&quot;:true,&quot;type&quot;:&quot;text&quot;}"/>
          <p:cNvSpPr txBox="1"/>
          <p:nvPr/>
        </p:nvSpPr>
        <p:spPr>
          <a:xfrm>
            <a:off x="10553700" y="1809750"/>
            <a:ext cx="42862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125" b="1">
                <a:solidFill>
                  <a:srgbClr val="0891B2"/>
                </a:solidFill>
                <a:latin typeface="Microsoft YaHei"/>
                <a:ea typeface="Microsoft YaHei"/>
              </a:rPr>
              <a:t>优缺点</a:t>
            </a:r>
            <a:endParaRPr/>
          </a:p>
        </p:txBody>
      </p:sp>
      <p:sp>
        <p:nvSpPr>
          <p:cNvPr id="665" name="矩形 664"/>
          <p:cNvSpPr/>
          <p:nvPr/>
        </p:nvSpPr>
        <p:spPr>
          <a:xfrm>
            <a:off x="685800" y="2105025"/>
            <a:ext cx="2047875" cy="1581150"/>
          </a:xfrm>
          <a:prstGeom prst="rect">
            <a:avLst/>
          </a:prstGeom>
          <a:solidFill>
            <a:srgbClr val="FFFFFF">
              <a:alpha val="78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66" name="任意形状 665"/>
          <p:cNvSpPr/>
          <p:nvPr/>
        </p:nvSpPr>
        <p:spPr>
          <a:xfrm>
            <a:off x="685800" y="2105025"/>
            <a:ext cx="2057400" cy="1590675"/>
          </a:xfrm>
          <a:custGeom>
            <a:avLst/>
            <a:gdLst/>
            <a:ahLst/>
            <a:cxnLst/>
            <a:rect l="0" t="0" r="0" b="0"/>
            <a:pathLst>
              <a:path w="216" h="167">
                <a:moveTo>
                  <a:pt x="215" y="0"/>
                </a:moveTo>
                <a:lnTo>
                  <a:pt x="216" y="0"/>
                </a:lnTo>
                <a:lnTo>
                  <a:pt x="216" y="167"/>
                </a:lnTo>
                <a:lnTo>
                  <a:pt x="215" y="166"/>
                </a:lnTo>
                <a:close/>
              </a:path>
            </a:pathLst>
          </a:custGeom>
          <a:solidFill>
            <a:srgbClr val="CBD5E1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67" name="任意形状 666"/>
          <p:cNvSpPr/>
          <p:nvPr/>
        </p:nvSpPr>
        <p:spPr>
          <a:xfrm>
            <a:off x="685800" y="2105025"/>
            <a:ext cx="2057400" cy="1590675"/>
          </a:xfrm>
          <a:custGeom>
            <a:avLst/>
            <a:gdLst/>
            <a:ahLst/>
            <a:cxnLst/>
            <a:rect l="0" t="0" r="0" b="0"/>
            <a:pathLst>
              <a:path w="216" h="167">
                <a:moveTo>
                  <a:pt x="0" y="166"/>
                </a:moveTo>
                <a:lnTo>
                  <a:pt x="215" y="166"/>
                </a:lnTo>
                <a:lnTo>
                  <a:pt x="216" y="167"/>
                </a:lnTo>
                <a:lnTo>
                  <a:pt x="0" y="167"/>
                </a:lnTo>
                <a:close/>
              </a:path>
            </a:pathLst>
          </a:custGeom>
          <a:solidFill>
            <a:srgbClr val="CBD5E1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68" name="文本框 667" descr="{&quot;isTemplate&quot;:true,&quot;type&quot;:&quot;text&quot;}"/>
          <p:cNvSpPr txBox="1"/>
          <p:nvPr/>
        </p:nvSpPr>
        <p:spPr>
          <a:xfrm>
            <a:off x="1219200" y="2771775"/>
            <a:ext cx="981075" cy="23812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45000"/>
              </a:lnSpc>
            </a:pPr>
            <a:r>
              <a:rPr lang="en-US" sz="1050" b="1">
                <a:solidFill>
                  <a:srgbClr val="2563EB"/>
                </a:solidFill>
                <a:latin typeface="Microsoft YaHei"/>
                <a:ea typeface="Microsoft YaHei"/>
              </a:rPr>
              <a:t>WebRTC </a:t>
            </a:r>
            <a:r>
              <a:rPr lang="zh-CN" sz="1050" b="1">
                <a:solidFill>
                  <a:srgbClr val="2563EB"/>
                </a:solidFill>
                <a:latin typeface="Microsoft YaHei"/>
                <a:ea typeface="Microsoft YaHei"/>
              </a:rPr>
              <a:t>全端口</a:t>
            </a:r>
            <a:endParaRPr/>
          </a:p>
        </p:txBody>
      </p:sp>
      <p:sp>
        <p:nvSpPr>
          <p:cNvPr id="669" name="矩形 668"/>
          <p:cNvSpPr/>
          <p:nvPr/>
        </p:nvSpPr>
        <p:spPr>
          <a:xfrm>
            <a:off x="2733675" y="2105025"/>
            <a:ext cx="2381250" cy="1581150"/>
          </a:xfrm>
          <a:prstGeom prst="rect">
            <a:avLst/>
          </a:prstGeom>
          <a:solidFill>
            <a:srgbClr val="FFFFFF">
              <a:alpha val="78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70" name="任意形状 669"/>
          <p:cNvSpPr/>
          <p:nvPr/>
        </p:nvSpPr>
        <p:spPr>
          <a:xfrm>
            <a:off x="2733675" y="2105025"/>
            <a:ext cx="2390775" cy="1590675"/>
          </a:xfrm>
          <a:custGeom>
            <a:avLst/>
            <a:gdLst/>
            <a:ahLst/>
            <a:cxnLst/>
            <a:rect l="0" t="0" r="0" b="0"/>
            <a:pathLst>
              <a:path w="251" h="167">
                <a:moveTo>
                  <a:pt x="250" y="0"/>
                </a:moveTo>
                <a:lnTo>
                  <a:pt x="251" y="0"/>
                </a:lnTo>
                <a:lnTo>
                  <a:pt x="251" y="167"/>
                </a:lnTo>
                <a:lnTo>
                  <a:pt x="250" y="166"/>
                </a:lnTo>
                <a:close/>
              </a:path>
            </a:pathLst>
          </a:custGeom>
          <a:solidFill>
            <a:srgbClr val="CBD5E1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71" name="任意形状 670"/>
          <p:cNvSpPr/>
          <p:nvPr/>
        </p:nvSpPr>
        <p:spPr>
          <a:xfrm>
            <a:off x="2733675" y="2105025"/>
            <a:ext cx="2390775" cy="1590675"/>
          </a:xfrm>
          <a:custGeom>
            <a:avLst/>
            <a:gdLst/>
            <a:ahLst/>
            <a:cxnLst/>
            <a:rect l="0" t="0" r="0" b="0"/>
            <a:pathLst>
              <a:path w="251" h="167">
                <a:moveTo>
                  <a:pt x="0" y="166"/>
                </a:moveTo>
                <a:lnTo>
                  <a:pt x="250" y="166"/>
                </a:lnTo>
                <a:lnTo>
                  <a:pt x="251" y="167"/>
                </a:lnTo>
                <a:lnTo>
                  <a:pt x="0" y="167"/>
                </a:lnTo>
                <a:close/>
              </a:path>
            </a:pathLst>
          </a:custGeom>
          <a:solidFill>
            <a:srgbClr val="CBD5E1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72" name="文本框 671" descr="{&quot;isTemplate&quot;:true,&quot;type&quot;:&quot;text&quot;}"/>
          <p:cNvSpPr txBox="1"/>
          <p:nvPr/>
        </p:nvSpPr>
        <p:spPr>
          <a:xfrm>
            <a:off x="3429000" y="2657475"/>
            <a:ext cx="990600" cy="46672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45000"/>
              </a:lnSpc>
            </a:pP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TCP 8010
+ UDP 1-65536</a:t>
            </a:r>
            <a:endParaRPr/>
          </a:p>
        </p:txBody>
      </p:sp>
      <p:sp>
        <p:nvSpPr>
          <p:cNvPr id="673" name="矩形 672"/>
          <p:cNvSpPr/>
          <p:nvPr/>
        </p:nvSpPr>
        <p:spPr>
          <a:xfrm>
            <a:off x="5114925" y="2105025"/>
            <a:ext cx="3143250" cy="1581150"/>
          </a:xfrm>
          <a:prstGeom prst="rect">
            <a:avLst/>
          </a:prstGeom>
          <a:solidFill>
            <a:srgbClr val="FFFFFF">
              <a:alpha val="78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74" name="任意形状 673"/>
          <p:cNvSpPr/>
          <p:nvPr/>
        </p:nvSpPr>
        <p:spPr>
          <a:xfrm>
            <a:off x="5114925" y="2105025"/>
            <a:ext cx="3152775" cy="1590675"/>
          </a:xfrm>
          <a:custGeom>
            <a:avLst/>
            <a:gdLst/>
            <a:ahLst/>
            <a:cxnLst/>
            <a:rect l="0" t="0" r="0" b="0"/>
            <a:pathLst>
              <a:path w="331" h="167">
                <a:moveTo>
                  <a:pt x="330" y="0"/>
                </a:moveTo>
                <a:lnTo>
                  <a:pt x="331" y="0"/>
                </a:lnTo>
                <a:lnTo>
                  <a:pt x="331" y="167"/>
                </a:lnTo>
                <a:lnTo>
                  <a:pt x="330" y="166"/>
                </a:lnTo>
                <a:close/>
              </a:path>
            </a:pathLst>
          </a:custGeom>
          <a:solidFill>
            <a:srgbClr val="CBD5E1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75" name="任意形状 674"/>
          <p:cNvSpPr/>
          <p:nvPr/>
        </p:nvSpPr>
        <p:spPr>
          <a:xfrm>
            <a:off x="5114925" y="2105025"/>
            <a:ext cx="3152775" cy="1590675"/>
          </a:xfrm>
          <a:custGeom>
            <a:avLst/>
            <a:gdLst/>
            <a:ahLst/>
            <a:cxnLst/>
            <a:rect l="0" t="0" r="0" b="0"/>
            <a:pathLst>
              <a:path w="331" h="167">
                <a:moveTo>
                  <a:pt x="0" y="166"/>
                </a:moveTo>
                <a:lnTo>
                  <a:pt x="330" y="166"/>
                </a:lnTo>
                <a:lnTo>
                  <a:pt x="331" y="167"/>
                </a:lnTo>
                <a:lnTo>
                  <a:pt x="0" y="167"/>
                </a:lnTo>
                <a:close/>
              </a:path>
            </a:pathLst>
          </a:custGeom>
          <a:solidFill>
            <a:srgbClr val="CBD5E1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76" name="文本框 675" descr="{&quot;isTemplate&quot;:true,&quot;type&quot;:&quot;text&quot;}"/>
          <p:cNvSpPr txBox="1"/>
          <p:nvPr/>
        </p:nvSpPr>
        <p:spPr>
          <a:xfrm>
            <a:off x="6105525" y="2657475"/>
            <a:ext cx="1162050" cy="46672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45000"/>
              </a:lnSpc>
            </a:pP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自有服务器
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(UCloud)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可开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UDP</a:t>
            </a:r>
            <a:endParaRPr/>
          </a:p>
        </p:txBody>
      </p:sp>
      <p:sp>
        <p:nvSpPr>
          <p:cNvPr id="677" name="矩形 676"/>
          <p:cNvSpPr/>
          <p:nvPr/>
        </p:nvSpPr>
        <p:spPr>
          <a:xfrm>
            <a:off x="8258175" y="2105025"/>
            <a:ext cx="1771650" cy="1581150"/>
          </a:xfrm>
          <a:prstGeom prst="rect">
            <a:avLst/>
          </a:prstGeom>
          <a:solidFill>
            <a:srgbClr val="FFFFFF">
              <a:alpha val="78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78" name="任意形状 677"/>
          <p:cNvSpPr/>
          <p:nvPr/>
        </p:nvSpPr>
        <p:spPr>
          <a:xfrm>
            <a:off x="8258175" y="2105025"/>
            <a:ext cx="1781175" cy="1590675"/>
          </a:xfrm>
          <a:custGeom>
            <a:avLst/>
            <a:gdLst/>
            <a:ahLst/>
            <a:cxnLst/>
            <a:rect l="0" t="0" r="0" b="0"/>
            <a:pathLst>
              <a:path w="187" h="167">
                <a:moveTo>
                  <a:pt x="186" y="0"/>
                </a:moveTo>
                <a:lnTo>
                  <a:pt x="187" y="0"/>
                </a:lnTo>
                <a:lnTo>
                  <a:pt x="187" y="167"/>
                </a:lnTo>
                <a:lnTo>
                  <a:pt x="186" y="166"/>
                </a:lnTo>
                <a:close/>
              </a:path>
            </a:pathLst>
          </a:custGeom>
          <a:solidFill>
            <a:srgbClr val="CBD5E1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79" name="任意形状 678"/>
          <p:cNvSpPr/>
          <p:nvPr/>
        </p:nvSpPr>
        <p:spPr>
          <a:xfrm>
            <a:off x="8258175" y="2105025"/>
            <a:ext cx="1781175" cy="1590675"/>
          </a:xfrm>
          <a:custGeom>
            <a:avLst/>
            <a:gdLst/>
            <a:ahLst/>
            <a:cxnLst/>
            <a:rect l="0" t="0" r="0" b="0"/>
            <a:pathLst>
              <a:path w="187" h="167">
                <a:moveTo>
                  <a:pt x="0" y="166"/>
                </a:moveTo>
                <a:lnTo>
                  <a:pt x="186" y="166"/>
                </a:lnTo>
                <a:lnTo>
                  <a:pt x="187" y="167"/>
                </a:lnTo>
                <a:lnTo>
                  <a:pt x="0" y="167"/>
                </a:lnTo>
                <a:close/>
              </a:path>
            </a:pathLst>
          </a:custGeom>
          <a:solidFill>
            <a:srgbClr val="CBD5E1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80" name="文本框 679" descr="{&quot;isTemplate&quot;:true,&quot;type&quot;:&quot;text&quot;}"/>
          <p:cNvSpPr txBox="1"/>
          <p:nvPr/>
        </p:nvSpPr>
        <p:spPr>
          <a:xfrm>
            <a:off x="8877300" y="2657475"/>
            <a:ext cx="533400" cy="46672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45000"/>
              </a:lnSpc>
            </a:pPr>
            <a:r>
              <a:rPr lang="zh-CN" sz="1050" b="1">
                <a:solidFill>
                  <a:srgbClr val="0891B2"/>
                </a:solidFill>
                <a:latin typeface="Microsoft YaHei"/>
                <a:ea typeface="Microsoft YaHei"/>
              </a:rPr>
              <a:t>最低
百毫秒级</a:t>
            </a:r>
            <a:endParaRPr/>
          </a:p>
        </p:txBody>
      </p:sp>
      <p:sp>
        <p:nvSpPr>
          <p:cNvPr id="681" name="矩形 680"/>
          <p:cNvSpPr/>
          <p:nvPr/>
        </p:nvSpPr>
        <p:spPr>
          <a:xfrm>
            <a:off x="10029825" y="2105025"/>
            <a:ext cx="1476375" cy="1581150"/>
          </a:xfrm>
          <a:prstGeom prst="rect">
            <a:avLst/>
          </a:prstGeom>
          <a:solidFill>
            <a:srgbClr val="FFFFFF">
              <a:alpha val="78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82" name="任意形状 681"/>
          <p:cNvSpPr/>
          <p:nvPr/>
        </p:nvSpPr>
        <p:spPr>
          <a:xfrm>
            <a:off x="10029825" y="2105025"/>
            <a:ext cx="1485900" cy="1590675"/>
          </a:xfrm>
          <a:custGeom>
            <a:avLst/>
            <a:gdLst/>
            <a:ahLst/>
            <a:cxnLst/>
            <a:rect l="0" t="0" r="0" b="0"/>
            <a:pathLst>
              <a:path w="156" h="167">
                <a:moveTo>
                  <a:pt x="155" y="0"/>
                </a:moveTo>
                <a:lnTo>
                  <a:pt x="156" y="0"/>
                </a:lnTo>
                <a:lnTo>
                  <a:pt x="156" y="167"/>
                </a:lnTo>
                <a:lnTo>
                  <a:pt x="155" y="166"/>
                </a:lnTo>
                <a:close/>
              </a:path>
            </a:pathLst>
          </a:custGeom>
          <a:solidFill>
            <a:srgbClr val="CBD5E1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83" name="任意形状 682"/>
          <p:cNvSpPr/>
          <p:nvPr/>
        </p:nvSpPr>
        <p:spPr>
          <a:xfrm>
            <a:off x="10029825" y="2105025"/>
            <a:ext cx="1485900" cy="1590675"/>
          </a:xfrm>
          <a:custGeom>
            <a:avLst/>
            <a:gdLst/>
            <a:ahLst/>
            <a:cxnLst/>
            <a:rect l="0" t="0" r="0" b="0"/>
            <a:pathLst>
              <a:path w="156" h="167">
                <a:moveTo>
                  <a:pt x="0" y="166"/>
                </a:moveTo>
                <a:lnTo>
                  <a:pt x="155" y="166"/>
                </a:lnTo>
                <a:lnTo>
                  <a:pt x="156" y="167"/>
                </a:lnTo>
                <a:lnTo>
                  <a:pt x="0" y="167"/>
                </a:lnTo>
                <a:close/>
              </a:path>
            </a:pathLst>
          </a:custGeom>
          <a:solidFill>
            <a:srgbClr val="CBD5E1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84" name="文本框 683" descr="{&quot;isTemplate&quot;:true,&quot;type&quot;:&quot;text&quot;}"/>
          <p:cNvSpPr txBox="1"/>
          <p:nvPr/>
        </p:nvSpPr>
        <p:spPr>
          <a:xfrm>
            <a:off x="10125075" y="2657475"/>
            <a:ext cx="12763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algn="ctr">
              <a:lnSpc>
                <a:spcPct val="145000"/>
              </a:lnSpc>
            </a:pP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延迟最低，需开放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UDP</a:t>
            </a:r>
            <a:endParaRPr/>
          </a:p>
        </p:txBody>
      </p:sp>
      <p:sp>
        <p:nvSpPr>
          <p:cNvPr id="685" name="任意形状 684"/>
          <p:cNvSpPr/>
          <p:nvPr/>
        </p:nvSpPr>
        <p:spPr>
          <a:xfrm>
            <a:off x="685800" y="3686175"/>
            <a:ext cx="2047875" cy="2028825"/>
          </a:xfrm>
          <a:custGeom>
            <a:avLst/>
            <a:gdLst/>
            <a:ahLst/>
            <a:cxnLst/>
            <a:rect l="0" t="0" r="0" b="0"/>
            <a:pathLst>
              <a:path w="215" h="213">
                <a:moveTo>
                  <a:pt x="215" y="213"/>
                </a:moveTo>
                <a:lnTo>
                  <a:pt x="8" y="213"/>
                </a:lnTo>
                <a:cubicBezTo>
                  <a:pt x="4" y="213"/>
                  <a:pt x="0" y="209"/>
                  <a:pt x="0" y="205"/>
                </a:cubicBezTo>
                <a:lnTo>
                  <a:pt x="0" y="0"/>
                </a:lnTo>
                <a:lnTo>
                  <a:pt x="215" y="0"/>
                </a:lnTo>
                <a:close/>
              </a:path>
            </a:pathLst>
          </a:custGeom>
          <a:solidFill>
            <a:srgbClr val="6366F1">
              <a:alpha val="1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86" name="任意形状 685"/>
          <p:cNvSpPr/>
          <p:nvPr/>
        </p:nvSpPr>
        <p:spPr>
          <a:xfrm>
            <a:off x="685800" y="3686175"/>
            <a:ext cx="2057400" cy="2028825"/>
          </a:xfrm>
          <a:custGeom>
            <a:avLst/>
            <a:gdLst/>
            <a:ahLst/>
            <a:cxnLst/>
            <a:rect l="0" t="0" r="0" b="0"/>
            <a:pathLst>
              <a:path w="216" h="213">
                <a:moveTo>
                  <a:pt x="215" y="0"/>
                </a:moveTo>
                <a:lnTo>
                  <a:pt x="216" y="0"/>
                </a:lnTo>
                <a:lnTo>
                  <a:pt x="216" y="213"/>
                </a:lnTo>
                <a:lnTo>
                  <a:pt x="215" y="213"/>
                </a:lnTo>
                <a:close/>
              </a:path>
            </a:pathLst>
          </a:custGeom>
          <a:solidFill>
            <a:srgbClr val="CBD5E1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87" name="文本框 686" descr="{&quot;isTemplate&quot;:true,&quot;type&quot;:&quot;text&quot;}"/>
          <p:cNvSpPr txBox="1"/>
          <p:nvPr/>
        </p:nvSpPr>
        <p:spPr>
          <a:xfrm>
            <a:off x="1228725" y="4581525"/>
            <a:ext cx="952500" cy="23812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45000"/>
              </a:lnSpc>
            </a:pPr>
            <a:r>
              <a:rPr lang="en-US" sz="1050" b="1">
                <a:solidFill>
                  <a:srgbClr val="4338CA"/>
                </a:solidFill>
                <a:latin typeface="Microsoft YaHei"/>
                <a:ea typeface="Microsoft YaHei"/>
              </a:rPr>
              <a:t>mediamtx </a:t>
            </a:r>
            <a:r>
              <a:rPr lang="zh-CN" sz="1050" b="1">
                <a:solidFill>
                  <a:srgbClr val="4338CA"/>
                </a:solidFill>
                <a:latin typeface="Microsoft YaHei"/>
                <a:ea typeface="Microsoft YaHei"/>
              </a:rPr>
              <a:t>代理</a:t>
            </a:r>
            <a:endParaRPr/>
          </a:p>
        </p:txBody>
      </p:sp>
      <p:sp>
        <p:nvSpPr>
          <p:cNvPr id="688" name="矩形 687"/>
          <p:cNvSpPr/>
          <p:nvPr/>
        </p:nvSpPr>
        <p:spPr>
          <a:xfrm>
            <a:off x="2733675" y="3686175"/>
            <a:ext cx="2381250" cy="2028825"/>
          </a:xfrm>
          <a:prstGeom prst="rect">
            <a:avLst/>
          </a:prstGeom>
          <a:solidFill>
            <a:srgbClr val="6366F1">
              <a:alpha val="1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89" name="任意形状 688"/>
          <p:cNvSpPr/>
          <p:nvPr/>
        </p:nvSpPr>
        <p:spPr>
          <a:xfrm>
            <a:off x="2733675" y="3686175"/>
            <a:ext cx="2390775" cy="2028825"/>
          </a:xfrm>
          <a:custGeom>
            <a:avLst/>
            <a:gdLst/>
            <a:ahLst/>
            <a:cxnLst/>
            <a:rect l="0" t="0" r="0" b="0"/>
            <a:pathLst>
              <a:path w="251" h="213">
                <a:moveTo>
                  <a:pt x="250" y="0"/>
                </a:moveTo>
                <a:lnTo>
                  <a:pt x="251" y="0"/>
                </a:lnTo>
                <a:lnTo>
                  <a:pt x="251" y="213"/>
                </a:lnTo>
                <a:lnTo>
                  <a:pt x="250" y="213"/>
                </a:lnTo>
                <a:close/>
              </a:path>
            </a:pathLst>
          </a:custGeom>
          <a:solidFill>
            <a:srgbClr val="CBD5E1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90" name="文本框 689" descr="{&quot;isTemplate&quot;:true,&quot;type&quot;:&quot;text&quot;}"/>
          <p:cNvSpPr txBox="1"/>
          <p:nvPr/>
        </p:nvSpPr>
        <p:spPr>
          <a:xfrm>
            <a:off x="3448050" y="4467225"/>
            <a:ext cx="952500" cy="46672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45000"/>
              </a:lnSpc>
            </a:pPr>
            <a:r>
              <a:rPr lang="en-US" sz="1050" b="1">
                <a:solidFill>
                  <a:srgbClr val="4338CA"/>
                </a:solidFill>
                <a:latin typeface="Microsoft YaHei"/>
                <a:ea typeface="Microsoft YaHei"/>
              </a:rPr>
              <a:t>TCP 8010
+ TCP(</a:t>
            </a:r>
            <a:r>
              <a:rPr lang="zh-CN" sz="1050" b="1">
                <a:solidFill>
                  <a:srgbClr val="4338CA"/>
                </a:solidFill>
                <a:latin typeface="Microsoft YaHei"/>
                <a:ea typeface="Microsoft YaHei"/>
              </a:rPr>
              <a:t>如</a:t>
            </a:r>
            <a:r>
              <a:rPr lang="en-US" sz="1050" b="1">
                <a:solidFill>
                  <a:srgbClr val="4338CA"/>
                </a:solidFill>
                <a:latin typeface="Microsoft YaHei"/>
                <a:ea typeface="Microsoft YaHei"/>
              </a:rPr>
              <a:t>:8188)</a:t>
            </a:r>
            <a:endParaRPr/>
          </a:p>
        </p:txBody>
      </p:sp>
      <p:sp>
        <p:nvSpPr>
          <p:cNvPr id="691" name="矩形 690"/>
          <p:cNvSpPr/>
          <p:nvPr/>
        </p:nvSpPr>
        <p:spPr>
          <a:xfrm>
            <a:off x="5114925" y="3686175"/>
            <a:ext cx="3143250" cy="2028825"/>
          </a:xfrm>
          <a:prstGeom prst="rect">
            <a:avLst/>
          </a:prstGeom>
          <a:solidFill>
            <a:srgbClr val="6366F1">
              <a:alpha val="1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92" name="任意形状 691"/>
          <p:cNvSpPr/>
          <p:nvPr/>
        </p:nvSpPr>
        <p:spPr>
          <a:xfrm>
            <a:off x="5114925" y="3686175"/>
            <a:ext cx="3152775" cy="2028825"/>
          </a:xfrm>
          <a:custGeom>
            <a:avLst/>
            <a:gdLst/>
            <a:ahLst/>
            <a:cxnLst/>
            <a:rect l="0" t="0" r="0" b="0"/>
            <a:pathLst>
              <a:path w="331" h="213">
                <a:moveTo>
                  <a:pt x="330" y="0"/>
                </a:moveTo>
                <a:lnTo>
                  <a:pt x="331" y="0"/>
                </a:lnTo>
                <a:lnTo>
                  <a:pt x="331" y="213"/>
                </a:lnTo>
                <a:lnTo>
                  <a:pt x="330" y="213"/>
                </a:lnTo>
                <a:close/>
              </a:path>
            </a:pathLst>
          </a:custGeom>
          <a:solidFill>
            <a:srgbClr val="CBD5E1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93" name="文本框 692" descr="{&quot;isTemplate&quot;:true,&quot;type&quot;:&quot;text&quot;}"/>
          <p:cNvSpPr txBox="1"/>
          <p:nvPr/>
        </p:nvSpPr>
        <p:spPr>
          <a:xfrm>
            <a:off x="6210300" y="4467225"/>
            <a:ext cx="952500" cy="46672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45000"/>
              </a:lnSpc>
            </a:pPr>
            <a:r>
              <a:rPr lang="en-US" sz="1050">
                <a:solidFill>
                  <a:srgbClr val="4338CA"/>
                </a:solidFill>
                <a:latin typeface="Microsoft YaHei"/>
                <a:ea typeface="Microsoft YaHei"/>
              </a:rPr>
              <a:t>AutoDL </a:t>
            </a:r>
            <a:r>
              <a:rPr lang="zh-CN" sz="1050">
                <a:solidFill>
                  <a:srgbClr val="4338CA"/>
                </a:solidFill>
                <a:latin typeface="Microsoft YaHei"/>
                <a:ea typeface="Microsoft YaHei"/>
              </a:rPr>
              <a:t>等
不便开</a:t>
            </a:r>
            <a:r>
              <a:rPr lang="en-US" sz="1050">
                <a:solidFill>
                  <a:srgbClr val="4338CA"/>
                </a:solidFill>
                <a:latin typeface="Microsoft YaHei"/>
                <a:ea typeface="Microsoft YaHei"/>
              </a:rPr>
              <a:t>UDP</a:t>
            </a:r>
            <a:r>
              <a:rPr lang="zh-CN" sz="1050">
                <a:solidFill>
                  <a:srgbClr val="4338CA"/>
                </a:solidFill>
                <a:latin typeface="Microsoft YaHei"/>
                <a:ea typeface="Microsoft YaHei"/>
              </a:rPr>
              <a:t>的云</a:t>
            </a:r>
            <a:endParaRPr/>
          </a:p>
        </p:txBody>
      </p:sp>
      <p:sp>
        <p:nvSpPr>
          <p:cNvPr id="694" name="矩形 693"/>
          <p:cNvSpPr/>
          <p:nvPr/>
        </p:nvSpPr>
        <p:spPr>
          <a:xfrm>
            <a:off x="8258175" y="3686175"/>
            <a:ext cx="1771650" cy="2028825"/>
          </a:xfrm>
          <a:prstGeom prst="rect">
            <a:avLst/>
          </a:prstGeom>
          <a:solidFill>
            <a:srgbClr val="6366F1">
              <a:alpha val="1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95" name="任意形状 694"/>
          <p:cNvSpPr/>
          <p:nvPr/>
        </p:nvSpPr>
        <p:spPr>
          <a:xfrm>
            <a:off x="8258175" y="3686175"/>
            <a:ext cx="1781175" cy="2028825"/>
          </a:xfrm>
          <a:custGeom>
            <a:avLst/>
            <a:gdLst/>
            <a:ahLst/>
            <a:cxnLst/>
            <a:rect l="0" t="0" r="0" b="0"/>
            <a:pathLst>
              <a:path w="187" h="213">
                <a:moveTo>
                  <a:pt x="186" y="0"/>
                </a:moveTo>
                <a:lnTo>
                  <a:pt x="187" y="0"/>
                </a:lnTo>
                <a:lnTo>
                  <a:pt x="187" y="213"/>
                </a:lnTo>
                <a:lnTo>
                  <a:pt x="186" y="213"/>
                </a:lnTo>
                <a:close/>
              </a:path>
            </a:pathLst>
          </a:custGeom>
          <a:solidFill>
            <a:srgbClr val="CBD5E1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96" name="文本框 695" descr="{&quot;isTemplate&quot;:true,&quot;type&quot;:&quot;text&quot;}"/>
          <p:cNvSpPr txBox="1"/>
          <p:nvPr/>
        </p:nvSpPr>
        <p:spPr>
          <a:xfrm>
            <a:off x="8620125" y="4467225"/>
            <a:ext cx="1047750" cy="46672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45000"/>
              </a:lnSpc>
            </a:pPr>
            <a:r>
              <a:rPr lang="zh-CN" sz="1050" b="1">
                <a:solidFill>
                  <a:srgbClr val="4338CA"/>
                </a:solidFill>
                <a:latin typeface="Microsoft YaHei"/>
                <a:ea typeface="Microsoft YaHei"/>
              </a:rPr>
              <a:t>低
经</a:t>
            </a:r>
            <a:r>
              <a:rPr lang="en-US" sz="1050" b="1">
                <a:solidFill>
                  <a:srgbClr val="4338CA"/>
                </a:solidFill>
                <a:latin typeface="Microsoft YaHei"/>
                <a:ea typeface="Microsoft YaHei"/>
              </a:rPr>
              <a:t>mediamtx</a:t>
            </a:r>
            <a:r>
              <a:rPr lang="zh-CN" sz="1050" b="1">
                <a:solidFill>
                  <a:srgbClr val="4338CA"/>
                </a:solidFill>
                <a:latin typeface="Microsoft YaHei"/>
                <a:ea typeface="Microsoft YaHei"/>
              </a:rPr>
              <a:t>转发</a:t>
            </a:r>
            <a:endParaRPr/>
          </a:p>
        </p:txBody>
      </p:sp>
      <p:sp>
        <p:nvSpPr>
          <p:cNvPr id="697" name="任意形状 696"/>
          <p:cNvSpPr/>
          <p:nvPr/>
        </p:nvSpPr>
        <p:spPr>
          <a:xfrm>
            <a:off x="10029825" y="3686175"/>
            <a:ext cx="1476375" cy="2028825"/>
          </a:xfrm>
          <a:custGeom>
            <a:avLst/>
            <a:gdLst/>
            <a:ahLst/>
            <a:cxnLst/>
            <a:rect l="0" t="0" r="0" b="0"/>
            <a:pathLst>
              <a:path w="155" h="213">
                <a:moveTo>
                  <a:pt x="155" y="205"/>
                </a:moveTo>
                <a:cubicBezTo>
                  <a:pt x="155" y="209"/>
                  <a:pt x="151" y="213"/>
                  <a:pt x="147" y="213"/>
                </a:cubicBezTo>
                <a:lnTo>
                  <a:pt x="0" y="213"/>
                </a:lnTo>
                <a:lnTo>
                  <a:pt x="0" y="0"/>
                </a:lnTo>
                <a:lnTo>
                  <a:pt x="155" y="0"/>
                </a:lnTo>
                <a:close/>
              </a:path>
            </a:pathLst>
          </a:custGeom>
          <a:solidFill>
            <a:srgbClr val="6366F1">
              <a:alpha val="1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98" name="任意形状 697"/>
          <p:cNvSpPr/>
          <p:nvPr/>
        </p:nvSpPr>
        <p:spPr>
          <a:xfrm>
            <a:off x="10029825" y="3686175"/>
            <a:ext cx="1485900" cy="2028825"/>
          </a:xfrm>
          <a:custGeom>
            <a:avLst/>
            <a:gdLst/>
            <a:ahLst/>
            <a:cxnLst/>
            <a:rect l="0" t="0" r="0" b="0"/>
            <a:pathLst>
              <a:path w="156" h="213">
                <a:moveTo>
                  <a:pt x="155" y="0"/>
                </a:moveTo>
                <a:lnTo>
                  <a:pt x="156" y="0"/>
                </a:lnTo>
                <a:lnTo>
                  <a:pt x="156" y="213"/>
                </a:lnTo>
                <a:lnTo>
                  <a:pt x="155" y="213"/>
                </a:lnTo>
                <a:close/>
              </a:path>
            </a:pathLst>
          </a:custGeom>
          <a:solidFill>
            <a:srgbClr val="CBD5E1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99" name="文本框 698" descr="{&quot;isTemplate&quot;:true,&quot;type&quot;:&quot;text&quot;}"/>
          <p:cNvSpPr txBox="1"/>
          <p:nvPr/>
        </p:nvSpPr>
        <p:spPr>
          <a:xfrm>
            <a:off x="10125075" y="4238625"/>
            <a:ext cx="1276350" cy="933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algn="ctr">
              <a:lnSpc>
                <a:spcPct val="145000"/>
              </a:lnSpc>
            </a:pPr>
            <a:r>
              <a:rPr lang="en-US" sz="1050">
                <a:solidFill>
                  <a:srgbClr val="4338CA"/>
                </a:solidFill>
                <a:latin typeface="Microsoft YaHei"/>
                <a:ea typeface="Microsoft YaHei"/>
              </a:rPr>
              <a:t>mediamtx </a:t>
            </a:r>
            <a:r>
              <a:rPr lang="zh-CN" sz="1050">
                <a:solidFill>
                  <a:srgbClr val="4338CA"/>
                </a:solidFill>
                <a:latin typeface="Microsoft YaHei"/>
                <a:ea typeface="Microsoft YaHei"/>
              </a:rPr>
              <a:t>按请求主动从</a:t>
            </a:r>
            <a:r>
              <a:rPr lang="en-US" sz="1050">
                <a:solidFill>
                  <a:srgbClr val="4338CA"/>
                </a:solidFill>
                <a:latin typeface="Microsoft YaHei"/>
                <a:ea typeface="Microsoft YaHei"/>
              </a:rPr>
              <a:t> LiveTalking </a:t>
            </a:r>
            <a:r>
              <a:rPr lang="zh-CN" sz="1050">
                <a:solidFill>
                  <a:srgbClr val="4338CA"/>
                </a:solidFill>
                <a:latin typeface="Microsoft YaHei"/>
                <a:ea typeface="Microsoft YaHei"/>
              </a:rPr>
              <a:t>拉流，对外</a:t>
            </a:r>
            <a:r>
              <a:rPr lang="en-US" sz="1050">
                <a:solidFill>
                  <a:srgbClr val="4338CA"/>
                </a:solidFill>
                <a:latin typeface="Microsoft YaHei"/>
                <a:ea typeface="Microsoft YaHei"/>
              </a:rPr>
              <a:t> TCP </a:t>
            </a:r>
            <a:r>
              <a:rPr lang="zh-CN" sz="1050">
                <a:solidFill>
                  <a:srgbClr val="4338CA"/>
                </a:solidFill>
                <a:latin typeface="Microsoft YaHei"/>
                <a:ea typeface="Microsoft YaHei"/>
              </a:rPr>
              <a:t>媒体，无需开</a:t>
            </a:r>
            <a:r>
              <a:rPr lang="en-US" sz="1050">
                <a:solidFill>
                  <a:srgbClr val="4338CA"/>
                </a:solidFill>
                <a:latin typeface="Microsoft YaHei"/>
                <a:ea typeface="Microsoft YaHei"/>
              </a:rPr>
              <a:t> UDP</a:t>
            </a:r>
            <a:endParaRPr/>
          </a:p>
        </p:txBody>
      </p:sp>
      <p:sp>
        <p:nvSpPr>
          <p:cNvPr id="700" name="圆角矩形 699"/>
          <p:cNvSpPr/>
          <p:nvPr/>
        </p:nvSpPr>
        <p:spPr>
          <a:xfrm>
            <a:off x="685800" y="5829300"/>
            <a:ext cx="10820400" cy="552450"/>
          </a:xfrm>
          <a:prstGeom prst="roundRect">
            <a:avLst>
              <a:gd name="adj" fmla="val 13793"/>
            </a:avLst>
          </a:prstGeom>
          <a:solidFill>
            <a:srgbClr val="FFFFFF">
              <a:alpha val="78000"/>
            </a:srgbClr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701" name="图片 7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5991225"/>
            <a:ext cx="228600" cy="228600"/>
          </a:xfrm>
          <a:prstGeom prst="rect">
            <a:avLst/>
          </a:prstGeom>
          <a:ln/>
        </p:spPr>
      </p:pic>
      <p:sp>
        <p:nvSpPr>
          <p:cNvPr id="702" name="文本框 701" descr="{&quot;isTemplate&quot;:true,&quot;type&quot;:&quot;text&quot;}"/>
          <p:cNvSpPr txBox="1"/>
          <p:nvPr/>
        </p:nvSpPr>
        <p:spPr>
          <a:xfrm>
            <a:off x="1219200" y="5981700"/>
            <a:ext cx="664845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en-US" sz="1050" b="1">
                <a:solidFill>
                  <a:srgbClr val="4338CA"/>
                </a:solidFill>
                <a:latin typeface="Microsoft YaHei"/>
                <a:ea typeface="Microsoft YaHei"/>
              </a:rPr>
              <a:t>AutoDL </a:t>
            </a:r>
            <a:r>
              <a:rPr lang="zh-CN" sz="1050" b="1">
                <a:solidFill>
                  <a:srgbClr val="4338CA"/>
                </a:solidFill>
                <a:latin typeface="Microsoft YaHei"/>
                <a:ea typeface="Microsoft YaHei"/>
              </a:rPr>
              <a:t>等云环境不便开放</a:t>
            </a:r>
            <a:r>
              <a:rPr lang="en-US" sz="1050" b="1">
                <a:solidFill>
                  <a:srgbClr val="4338CA"/>
                </a:solidFill>
                <a:latin typeface="Microsoft YaHei"/>
                <a:ea typeface="Microsoft YaHei"/>
              </a:rPr>
              <a:t> UDP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：优先选用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 </a:t>
            </a:r>
            <a:r>
              <a:rPr lang="en-US" sz="1050" b="1">
                <a:solidFill>
                  <a:srgbClr val="4338CA"/>
                </a:solidFill>
                <a:latin typeface="Microsoft YaHei"/>
                <a:ea typeface="Microsoft YaHei"/>
              </a:rPr>
              <a:t>mediamtx </a:t>
            </a:r>
            <a:r>
              <a:rPr lang="zh-CN" sz="1050" b="1">
                <a:solidFill>
                  <a:srgbClr val="4338CA"/>
                </a:solidFill>
                <a:latin typeface="Microsoft YaHei"/>
                <a:ea typeface="Microsoft YaHei"/>
              </a:rPr>
              <a:t>代理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（对外走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 TCP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媒体转发，无需开放任何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 UDP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端口）</a:t>
            </a:r>
            <a:endParaRPr/>
          </a:p>
        </p:txBody>
      </p:sp>
      <p:sp>
        <p:nvSpPr>
          <p:cNvPr id="703" name="文本框 702" descr="{&quot;isTemplate&quot;:true,&quot;type&quot;:&quot;text&quot;}"/>
          <p:cNvSpPr txBox="1"/>
          <p:nvPr/>
        </p:nvSpPr>
        <p:spPr>
          <a:xfrm>
            <a:off x="685800" y="6486525"/>
            <a:ext cx="6553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WebRTC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原理：双方本地绑定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UDP →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交换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candidate →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互相试探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 →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连通（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mediamtx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代理将其收敛为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 TCP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transparent', padding: '90px 72px 16px', flexDirection: 'column' }}&gt;&#10;    &lt;Image src=&quot;resources/images/gvp_background.jpg&quot; style={{ position: 'absolute', top: 0, left: 0, width: 1280, height: 720, objectFit: 'cover', }} /&gt;&#10;    &lt;Box style={{ zIndex: 1,  height: 80, flexDirection: 'column', gap: 4, justifyContent: 'center' }}&gt;&#10;        &lt;Text style={{ fontSize: 36, fontWeight: 'bold', color: '#1E293B' }}&gt;TTS 方案与模型选型&lt;/Text&gt;&#10;        &lt;Text style={{ fontSize: 16, color: '#475569' }}&gt;7 种 TTS 引擎对比 · 按延迟、成本、克隆能力选型&lt;/Text&gt;&#10;    &lt;/Box&gt;&#10;    &lt;Box style={{ zIndex: 1,  flex: 1, marginTop: 8 }}&gt;&#10;        &lt;Table&#10;            style={{ width: '100%', height: '100%' }}&#10;            defaultTextStyle={{ fontSize: 14, textAlign: 'center', color: '#1E293B' }}&#10;            defaultCellStyle={{ border: { left: { width: 1, color: 'rgba(203, 213, 225, 0.6)' }, right: { width: 1, color: 'rgba(203, 213, 225, 0.6)' }, top: { width: 1, color: 'rgba(203, 213, 225, 0.6)' }, bottom: { width: 1, color: 'rgba(203, 213, 225, 0.6)' } } }}&#10;            cells={[&#10;                [&#10;                    { text: '方案', textStyle: { bold: true, color: '#0891B2' }, cellStyle: { background: { color: 'rgba(224, 242, 254, 0.9)' } } },&#10;                    { text: '特点', textStyle: { bold: true, color: '#0891B2' }, cellStyle: { background: { color: 'rgba(224, 242, 254, 0.9)' } } },&#10;                    { text: '首包延迟', textStyle: { bold: true, color: '#0891B2' }, cellStyle: { background: { color: 'rgba(224, 242, 254, 0.9)' } } },&#10;                    { text: '成本', textStyle: { bold: true, color: '#0891B2' }, cellStyle: { background: { color: 'rgba(224, 242, 254, 0.9)' } } },&#10;                    { text: '声音克隆', textStyle: { bold: true, color: '#0891B2' }, cellStyle: { background: { color: 'rgba(224, 242, 254, 0.9)' } } },&#10;                    { text: '离线部署', textStyle: { bold: true, color: '#0891B2' }, cellStyle: { background: { color: 'rgba(224, 242, 254, 0.9)' } } }&#10;                ],&#10;                [&#10;                    { text: 'EdgeTTS', textStyle: { bold: true, color: '#2563EB' }, cellStyle: { background: { color: 'rgba(255, 255, 255, 0.78)' } } },&#10;                    '微软免费',&#10;                    { text: '较大', textStyle: { color: '#475569' }, cellStyle: { background: { color: 'rgba(255, 255, 255, 0.78)' } } },&#10;                    { text: '免费', textStyle: { color: '#0891B2', bold: true }, cellStyle: { background: { color: 'rgba(255, 255, 255, 0.78)' } } },&#10;                    { text: '不支持', textStyle: { color: '#475569' }, cellStyle: { background: { color: 'rgba(255, 255, 255, 0.78)' } } },&#10;                    { text: '不支持', textStyle: { color: '#475569' }, cellStyle: { background: { color: 'rgba(255, 255, 255, 0.78)' } } }&#10;                ],&#10;                [&#10;                    { text: 'GPT-SoVITS', textStyle: { bold: true, color: '#2563EB' }, cellStyle: { background: { color: 'rgba(241, 245, 249, 0.85)' } } },&#10;                    { text: '开源，3秒克隆', cellStyle: { background: { color: 'rgba(241, 245, 249, 0.85)' } } },&#10;                    { text: '~0.7s', textStyle: { color: '#475569' }, cellStyle: { background: { color: 'rgba(241, 245, 249, 0.85)' } } },&#10;                    { text: '自部署', cellStyle: { background: { color: 'rgba(241, 245, 249, 0.85)' } } },&#10;                    { text: '支持', textStyle: { color: '#0891B2', bold: true }, cellStyle: { background: { color: 'rgba(241, 245, 249, 0.85)' } } },&#10;                    { text: '支持', textStyle: { color: '#0891B2', bold: true }, cellStyle: { background: { color: 'rgba(241, 245, 249, 0.85)' } } }&#10;                ],&#10;                [&#10;                    { text: 'CosyVoice', textStyle: { bold: true, color: '#2563EB' }, cellStyle: { background: { color: 'rgba(255, 255, 255, 0.78)' } } },&#10;                    '阿里开源，情感',&#10;                    { text: '~4s', textStyle: { color: '#475569' }, cellStyle: { background: { color: 'rgba(255, 255, 255, 0.78)' } } },&#10;                    { text: '自部署', cellStyle: { background: { color: 'rgba(255, 255, 255, 0.78)' } } },&#10;                    { text: '支持', textStyle: { color: '#0891B2', bold: true }, cellStyle: { background: { color: 'rgba(255, 255, 255, 0.78)' } } },&#10;                    { text: '支持', textStyle: { color: '#0891B2', bold: true }, cellStyle: { background: { color: 'rgba(255, 255, 255, 0.78)' } } }&#10;                ],&#10;                [&#10;                    { text: 'fish-speech', textStyle: { bold: true, color: '#2563EB' }, cellStyle: { background: { color: 'rgba(241, 245, 249, 0.85)' } } },&#10;                    { text: '开源，音色管理', cellStyle: { background: { color: 'rgba(241, 245, 249, 0.85)' } } },&#10;                    { text: '~1s', textStyle: { color: '#475569' }, cellStyle: { background: { color: 'rgba(241, 245, 249, 0.85)' } } },&#10;                    { text: '自部署', cellStyle: { background: { color: 'rgba(241, 245, 249, 0.85)' } } },&#10;                    { text: '支持', textStyle: { color: '#0891B2', bold: true }, cellStyle: { background: { color: 'rgba(241, 245, 249, 0.85)' } } },&#10;                    { text: '支持', textStyle: { color: '#0891B2', bold: true }, cellStyle: { background: { color: 'rgba(241, 245, 249, 0.85)' } } }&#10;                ],&#10;                [&#10;                    { text: 'vLLM-Omni', textStyle: { bold: true, color: '#0891B2' }, cellStyle: { background: { color: 'rgba(255, 255, 255, 0.78)' } } },&#10;                    { text: '统一推理框架，8+模型', textStyle: { color: '#0891B2', bold: true }, cellStyle: { background: { color: 'rgba(255, 255, 255, 0.78)' } } },&#10;                    { text: '130ms', textStyle: { color: '#0891B2', bold: true, fontSize: 16 }, cellStyle: { background: { color: 'rgba(255, 255, 255, 0.78)' } } },&#10;                    { text: '自部署', textStyle: { color: '#0891B2' }, cellStyle: { background: { color: 'rgba(255, 255, 255, 0.78)' } } },&#10;                    { text: '支持', textStyle: { color: '#0891B2', bold: true }, cellStyle: { background: { color: 'rgba(255, 255, 255, 0.78)' } } },&#10;                    { text: '支持', textStyle: { color: '#0891B2', bold: true }, cellStyle: { background: { color: 'rgba(255, 255, 255, 0.78)' } } }&#10;                ],&#10;                [&#10;                    { text: '腾讯云TTS', textStyle: { bold: true, color: '#2563EB' }, cellStyle: { background: { color: 'rgba(241, 245, 249, 0.85)' } } },&#10;                    { text: '商用级，质量最好', cellStyle: { background: { color: 'rgba(241, 245, 249, 0.85)' } } },&#10;                    { text: '~500ms', textStyle: { color: '#475569' }, cellStyle: { background: { color: 'rgba(241, 245, 249, 0.85)' } } },&#10;                    { text: '按量付费', cellStyle: { background: { color: 'rgba(241, 245, 249, 0.85)' } } },&#10;                    { text: '支持', textStyle: { color: '#0891B2', bold: true }, cellStyle: { background: { color: 'rgba(241, 245, 249, 0.85)' } } },&#10;                    { text: '不支持', textStyle: { color: '#475569' }, cellStyle: { background: { color: 'rgba(241, 245, 249, 0.85)' } } }&#10;                ]&#10;            ]}&#10;        /&gt;&#10;    &lt;/Box&gt;&#10;    &lt;Box style={{ zIndex: 1,  flexDirection: 'row', gap: 16, marginTop: 12, padding: 14, background: 'rgba(255, 255, 255, 0.78)', borderRadius: 8, alignItems: 'center' }}&gt;&#10;        &lt;Image src='resources/images/icons/icon_star_0891B2.png' style={{ width: 22, height: 22 }} /&gt;&#10;        &lt;Text style={{ fontSize: 14, color: '#475569', lineHeight: 1.5 }}&gt;&#10;            &lt;span style={{ fontWeight: 'bold', color: '#1E293B' }}&gt;推荐选型&lt;/span&gt;：免费快速用 EdgeTTS · 需要声音克隆用 GPT-SoVITS · 极致低延迟用 vLLM-Omni(130ms) · 商用质量用腾讯云&#10;        &lt;/Text&gt;&#10;    &lt;/Box&gt;&#10;    &lt;Box style={{ zIndex: 1,  height: 30, flexDirection: 'row', justifyContent: 'space-between', alignItems: 'center', marginTop: 4 }}&gt;&#10;        &lt;Text style={{ fontSize: 14, color: '#475569' }}&gt;vLLM-Omni 支持 Qwen3-TTS / Fish Speech / CosyVoice 等 8+ 模型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5" name="图片 76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766" name="文本框 765" descr="{&quot;isTemplate&quot;:true,&quot;type&quot;:&quot;text&quot;}"/>
          <p:cNvSpPr txBox="1"/>
          <p:nvPr/>
        </p:nvSpPr>
        <p:spPr>
          <a:xfrm>
            <a:off x="685800" y="914400"/>
            <a:ext cx="10820400" cy="4191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1E293B"/>
                </a:solidFill>
                <a:latin typeface="Microsoft YaHei"/>
                <a:ea typeface="Microsoft YaHei"/>
              </a:rPr>
              <a:t>TTS </a:t>
            </a:r>
            <a:r>
              <a:rPr lang="zh-CN" sz="2700" b="1">
                <a:solidFill>
                  <a:srgbClr val="1E293B"/>
                </a:solidFill>
                <a:latin typeface="Microsoft YaHei"/>
                <a:ea typeface="Microsoft YaHei"/>
              </a:rPr>
              <a:t>方案与模型选型</a:t>
            </a:r>
            <a:endParaRPr/>
          </a:p>
        </p:txBody>
      </p:sp>
      <p:sp>
        <p:nvSpPr>
          <p:cNvPr id="767" name="文本框 766" descr="{&quot;isTemplate&quot;:true,&quot;type&quot;:&quot;text&quot;}"/>
          <p:cNvSpPr txBox="1"/>
          <p:nvPr/>
        </p:nvSpPr>
        <p:spPr>
          <a:xfrm>
            <a:off x="685800" y="1371600"/>
            <a:ext cx="108204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>7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种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> TTS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引擎对比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按延迟、成本、克隆能力选型</a:t>
            </a:r>
            <a:endParaRPr/>
          </a:p>
        </p:txBody>
      </p:sp>
      <p:graphicFrame>
        <p:nvGraphicFramePr>
          <p:cNvPr id="768" name="表格 767"/>
          <p:cNvGraphicFramePr/>
          <p:nvPr>
            <p:extLst>
              <p:ext uri="{D42A27DB-BD31-4B8C-83A1-F6EECF244321}">
                <p14:modId xmlns:p14="http://schemas.microsoft.com/office/powerpoint/2010/main" val="1395568823"/>
              </p:ext>
            </p:extLst>
          </p:nvPr>
        </p:nvGraphicFramePr>
        <p:xfrm>
          <a:off x="685800" y="1695450"/>
          <a:ext cx="10820398" cy="4057651"/>
        </p:xfrm>
        <a:graphic>
          <a:graphicData uri="http://schemas.openxmlformats.org/drawingml/2006/table">
            <a:tbl>
              <a:tblPr/>
              <a:tblGrid>
                <a:gridCol w="1913754">
                  <a:extLst>
                    <a:ext uri="{9D8B030D-6E8A-4147-A177-3AD203B41FA5}">
                      <a16:colId xmlns:a16="http://schemas.microsoft.com/office/drawing/2014/main" val="1"/>
                    </a:ext>
                  </a:extLst>
                </a:gridCol>
                <a:gridCol w="3302080">
                  <a:extLst>
                    <a:ext uri="{9D8B030D-6E8A-4147-A177-3AD203B41FA5}">
                      <a16:colId xmlns:a16="http://schemas.microsoft.com/office/drawing/2014/main" val="2"/>
                    </a:ext>
                  </a:extLst>
                </a:gridCol>
                <a:gridCol w="1401141">
                  <a:extLst>
                    <a:ext uri="{9D8B030D-6E8A-4147-A177-3AD203B41FA5}">
                      <a16:colId xmlns:a16="http://schemas.microsoft.com/office/drawing/2014/main" val="3"/>
                    </a:ext>
                  </a:extLst>
                </a:gridCol>
                <a:gridCol w="1401141">
                  <a:extLst>
                    <a:ext uri="{9D8B030D-6E8A-4147-A177-3AD203B41FA5}">
                      <a16:colId xmlns:a16="http://schemas.microsoft.com/office/drawing/2014/main" val="4"/>
                    </a:ext>
                  </a:extLst>
                </a:gridCol>
                <a:gridCol w="1401141">
                  <a:extLst>
                    <a:ext uri="{9D8B030D-6E8A-4147-A177-3AD203B41FA5}">
                      <a16:colId xmlns:a16="http://schemas.microsoft.com/office/drawing/2014/main" val="5"/>
                    </a:ext>
                  </a:extLst>
                </a:gridCol>
                <a:gridCol w="1401141">
                  <a:extLst>
                    <a:ext uri="{9D8B030D-6E8A-4147-A177-3AD203B41FA5}">
                      <a16:colId xmlns:a16="http://schemas.microsoft.com/office/drawing/2014/main" val="6"/>
                    </a:ext>
                  </a:extLst>
                </a:gridCol>
              </a:tblGrid>
              <a:tr h="571658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0891B2"/>
                          </a:solidFill>
                          <a:latin typeface="Microsoft YaHei"/>
                          <a:ea typeface="Microsoft YaHei"/>
                        </a:rPr>
                        <a:t>方案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F2FE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0891B2"/>
                          </a:solidFill>
                          <a:latin typeface="Microsoft YaHei"/>
                          <a:ea typeface="Microsoft YaHei"/>
                        </a:rPr>
                        <a:t>特点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F2FE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0891B2"/>
                          </a:solidFill>
                          <a:latin typeface="Microsoft YaHei"/>
                          <a:ea typeface="Microsoft YaHei"/>
                        </a:rPr>
                        <a:t>首包延迟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F2FE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0891B2"/>
                          </a:solidFill>
                          <a:latin typeface="Microsoft YaHei"/>
                          <a:ea typeface="Microsoft YaHei"/>
                        </a:rPr>
                        <a:t>成本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F2FE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0891B2"/>
                          </a:solidFill>
                          <a:latin typeface="Microsoft YaHei"/>
                          <a:ea typeface="Microsoft YaHei"/>
                        </a:rPr>
                        <a:t>声音克隆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F2FE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0891B2"/>
                          </a:solidFill>
                          <a:latin typeface="Microsoft YaHei"/>
                          <a:ea typeface="Microsoft YaHei"/>
                        </a:rPr>
                        <a:t>离线部署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F2FE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"/>
                  </a:ext>
                </a:extLst>
              </a:tr>
              <a:tr h="571658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2563EB"/>
                          </a:solidFill>
                          <a:latin typeface="Microsoft YaHei"/>
                          <a:ea typeface="Microsoft YaHei"/>
                        </a:rPr>
                        <a:t>EdgeTTS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7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微软免费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较大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7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0891B2"/>
                          </a:solidFill>
                          <a:latin typeface="Microsoft YaHei"/>
                          <a:ea typeface="Microsoft YaHei"/>
                        </a:rPr>
                        <a:t>免费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7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不支持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7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不支持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7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"/>
                  </a:ext>
                </a:extLst>
              </a:tr>
              <a:tr h="571658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2563EB"/>
                          </a:solidFill>
                          <a:latin typeface="Microsoft YaHei"/>
                          <a:ea typeface="Microsoft YaHei"/>
                        </a:rPr>
                        <a:t>GPT-SoVITS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开源，3秒克隆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~0.7s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自部署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0891B2"/>
                          </a:solidFill>
                          <a:latin typeface="Microsoft YaHei"/>
                          <a:ea typeface="Microsoft YaHei"/>
                        </a:rPr>
                        <a:t>支持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0891B2"/>
                          </a:solidFill>
                          <a:latin typeface="Microsoft YaHei"/>
                          <a:ea typeface="Microsoft YaHei"/>
                        </a:rPr>
                        <a:t>支持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"/>
                  </a:ext>
                </a:extLst>
              </a:tr>
              <a:tr h="571658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2563EB"/>
                          </a:solidFill>
                          <a:latin typeface="Microsoft YaHei"/>
                          <a:ea typeface="Microsoft YaHei"/>
                        </a:rPr>
                        <a:t>CosyVoice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7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阿里开源，情感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~4s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7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自部署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7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0891B2"/>
                          </a:solidFill>
                          <a:latin typeface="Microsoft YaHei"/>
                          <a:ea typeface="Microsoft YaHei"/>
                        </a:rPr>
                        <a:t>支持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7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0891B2"/>
                          </a:solidFill>
                          <a:latin typeface="Microsoft YaHei"/>
                          <a:ea typeface="Microsoft YaHei"/>
                        </a:rPr>
                        <a:t>支持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7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"/>
                  </a:ext>
                </a:extLst>
              </a:tr>
              <a:tr h="571658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2563EB"/>
                          </a:solidFill>
                          <a:latin typeface="Microsoft YaHei"/>
                          <a:ea typeface="Microsoft YaHei"/>
                        </a:rPr>
                        <a:t>fish-speech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开源，音色管理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~1s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自部署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0891B2"/>
                          </a:solidFill>
                          <a:latin typeface="Microsoft YaHei"/>
                          <a:ea typeface="Microsoft YaHei"/>
                        </a:rPr>
                        <a:t>支持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0891B2"/>
                          </a:solidFill>
                          <a:latin typeface="Microsoft YaHei"/>
                          <a:ea typeface="Microsoft YaHei"/>
                        </a:rPr>
                        <a:t>支持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"/>
                  </a:ext>
                </a:extLst>
              </a:tr>
              <a:tr h="627703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0891B2"/>
                          </a:solidFill>
                          <a:latin typeface="Microsoft YaHei"/>
                          <a:ea typeface="Microsoft YaHei"/>
                        </a:rPr>
                        <a:t>vLLM-Omni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7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0891B2"/>
                          </a:solidFill>
                          <a:latin typeface="Microsoft YaHei"/>
                          <a:ea typeface="Microsoft YaHei"/>
                        </a:rPr>
                        <a:t>统一推理框架，8+模型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7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lang="zh-CN" altLang="en-US" sz="1200" b="1" dirty="0">
                          <a:solidFill>
                            <a:srgbClr val="0891B2"/>
                          </a:solidFill>
                          <a:latin typeface="Microsoft YaHei"/>
                          <a:ea typeface="Microsoft YaHei"/>
                        </a:rPr>
                        <a:t>～</a:t>
                      </a:r>
                      <a:r>
                        <a:rPr lang="en-US" altLang="zh-CN" sz="1200" b="1" dirty="0">
                          <a:solidFill>
                            <a:srgbClr val="0891B2"/>
                          </a:solidFill>
                          <a:latin typeface="Microsoft YaHei"/>
                          <a:ea typeface="Microsoft YaHei"/>
                        </a:rPr>
                        <a:t>400</a:t>
                      </a:r>
                      <a:r>
                        <a:rPr sz="1200" b="1" dirty="0">
                          <a:solidFill>
                            <a:srgbClr val="0891B2"/>
                          </a:solidFill>
                          <a:latin typeface="Microsoft YaHei"/>
                          <a:ea typeface="Microsoft YaHei"/>
                        </a:rPr>
                        <a:t>ms</a:t>
                      </a:r>
                      <a:endParaRPr dirty="0"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7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0891B2"/>
                          </a:solidFill>
                          <a:latin typeface="Microsoft YaHei"/>
                          <a:ea typeface="Microsoft YaHei"/>
                        </a:rPr>
                        <a:t>自部署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7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0891B2"/>
                          </a:solidFill>
                          <a:latin typeface="Microsoft YaHei"/>
                          <a:ea typeface="Microsoft YaHei"/>
                        </a:rPr>
                        <a:t>支持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7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0891B2"/>
                          </a:solidFill>
                          <a:latin typeface="Microsoft YaHei"/>
                          <a:ea typeface="Microsoft YaHei"/>
                        </a:rPr>
                        <a:t>支持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7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"/>
                  </a:ext>
                </a:extLst>
              </a:tr>
              <a:tr h="571658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2563EB"/>
                          </a:solidFill>
                          <a:latin typeface="Microsoft YaHei"/>
                          <a:ea typeface="Microsoft YaHei"/>
                        </a:rPr>
                        <a:t>腾讯云TTS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商用级，质量最好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dirty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~500ms</a:t>
                      </a:r>
                      <a:endParaRPr dirty="0"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按量付费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0891B2"/>
                          </a:solidFill>
                          <a:latin typeface="Microsoft YaHei"/>
                          <a:ea typeface="Microsoft YaHei"/>
                        </a:rPr>
                        <a:t>支持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dirty="0" err="1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不支持</a:t>
                      </a:r>
                      <a:endParaRPr dirty="0"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"/>
                  </a:ext>
                </a:extLst>
              </a:tr>
            </a:tbl>
          </a:graphicData>
        </a:graphic>
      </p:graphicFrame>
      <p:sp>
        <p:nvSpPr>
          <p:cNvPr id="769" name="圆角矩形 768"/>
          <p:cNvSpPr/>
          <p:nvPr/>
        </p:nvSpPr>
        <p:spPr>
          <a:xfrm>
            <a:off x="685800" y="5867400"/>
            <a:ext cx="10820400" cy="514350"/>
          </a:xfrm>
          <a:prstGeom prst="roundRect">
            <a:avLst>
              <a:gd name="adj" fmla="val 14815"/>
            </a:avLst>
          </a:prstGeom>
          <a:solidFill>
            <a:srgbClr val="FFFFFF">
              <a:alpha val="78000"/>
            </a:srgbClr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770" name="图片 76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" y="6019800"/>
            <a:ext cx="209550" cy="209550"/>
          </a:xfrm>
          <a:prstGeom prst="rect">
            <a:avLst/>
          </a:prstGeom>
          <a:ln/>
        </p:spPr>
      </p:pic>
      <p:sp>
        <p:nvSpPr>
          <p:cNvPr id="771" name="文本框 770" descr="{&quot;isTemplate&quot;:true,&quot;type&quot;:&quot;text&quot;}"/>
          <p:cNvSpPr txBox="1"/>
          <p:nvPr/>
        </p:nvSpPr>
        <p:spPr>
          <a:xfrm>
            <a:off x="1181100" y="6000750"/>
            <a:ext cx="716280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050" b="1" dirty="0">
                <a:solidFill>
                  <a:srgbClr val="1E293B"/>
                </a:solidFill>
                <a:latin typeface="Microsoft YaHei"/>
                <a:ea typeface="Microsoft YaHei"/>
              </a:rPr>
              <a:t>推荐选型</a:t>
            </a:r>
            <a:r>
              <a:rPr lang="zh-CN" sz="1050" dirty="0">
                <a:solidFill>
                  <a:srgbClr val="475569"/>
                </a:solidFill>
                <a:latin typeface="Microsoft YaHei"/>
                <a:ea typeface="Microsoft YaHei"/>
              </a:rPr>
              <a:t>：免费快速用</a:t>
            </a:r>
            <a:r>
              <a:rPr lang="en-US" sz="1050" dirty="0">
                <a:solidFill>
                  <a:srgbClr val="475569"/>
                </a:solidFill>
                <a:latin typeface="Microsoft YaHei"/>
                <a:ea typeface="Microsoft YaHei"/>
              </a:rPr>
              <a:t> </a:t>
            </a:r>
            <a:r>
              <a:rPr lang="en-US" sz="1050" dirty="0" err="1">
                <a:solidFill>
                  <a:srgbClr val="475569"/>
                </a:solidFill>
                <a:latin typeface="Microsoft YaHei"/>
                <a:ea typeface="Microsoft YaHei"/>
              </a:rPr>
              <a:t>EdgeTTS</a:t>
            </a:r>
            <a:r>
              <a:rPr lang="en-US" sz="1050" dirty="0">
                <a:solidFill>
                  <a:srgbClr val="475569"/>
                </a:solidFill>
                <a:latin typeface="Microsoft YaHei"/>
                <a:ea typeface="Microsoft YaHei"/>
              </a:rPr>
              <a:t> · </a:t>
            </a:r>
            <a:r>
              <a:rPr lang="zh-CN" sz="1050" dirty="0">
                <a:solidFill>
                  <a:srgbClr val="475569"/>
                </a:solidFill>
                <a:latin typeface="Microsoft YaHei"/>
                <a:ea typeface="Microsoft YaHei"/>
              </a:rPr>
              <a:t>需要声音克隆用</a:t>
            </a:r>
            <a:r>
              <a:rPr lang="en-US" sz="1050" dirty="0">
                <a:solidFill>
                  <a:srgbClr val="475569"/>
                </a:solidFill>
                <a:latin typeface="Microsoft YaHei"/>
                <a:ea typeface="Microsoft YaHei"/>
              </a:rPr>
              <a:t> GPT-</a:t>
            </a:r>
            <a:r>
              <a:rPr lang="en-US" sz="1050" dirty="0" err="1">
                <a:solidFill>
                  <a:srgbClr val="475569"/>
                </a:solidFill>
                <a:latin typeface="Microsoft YaHei"/>
                <a:ea typeface="Microsoft YaHei"/>
              </a:rPr>
              <a:t>SoVITS</a:t>
            </a:r>
            <a:r>
              <a:rPr lang="en-US" sz="1050" dirty="0">
                <a:solidFill>
                  <a:srgbClr val="475569"/>
                </a:solidFill>
                <a:latin typeface="Microsoft YaHei"/>
                <a:ea typeface="Microsoft YaHei"/>
              </a:rPr>
              <a:t> · </a:t>
            </a:r>
            <a:r>
              <a:rPr lang="en-US" sz="1050" dirty="0" err="1">
                <a:solidFill>
                  <a:srgbClr val="475569"/>
                </a:solidFill>
                <a:latin typeface="Microsoft YaHei"/>
                <a:ea typeface="Microsoft YaHei"/>
              </a:rPr>
              <a:t>统一框架</a:t>
            </a:r>
            <a:r>
              <a:rPr lang="zh-CN" sz="1050" dirty="0">
                <a:solidFill>
                  <a:srgbClr val="475569"/>
                </a:solidFill>
                <a:latin typeface="Microsoft YaHei"/>
                <a:ea typeface="Microsoft YaHei"/>
              </a:rPr>
              <a:t>用</a:t>
            </a:r>
            <a:r>
              <a:rPr lang="en-US" sz="1050" dirty="0">
                <a:solidFill>
                  <a:srgbClr val="475569"/>
                </a:solidFill>
                <a:latin typeface="Microsoft YaHei"/>
                <a:ea typeface="Microsoft YaHei"/>
              </a:rPr>
              <a:t> </a:t>
            </a:r>
            <a:r>
              <a:rPr lang="en-US" sz="1050" dirty="0" err="1">
                <a:solidFill>
                  <a:srgbClr val="475569"/>
                </a:solidFill>
                <a:latin typeface="Microsoft YaHei"/>
                <a:ea typeface="Microsoft YaHei"/>
              </a:rPr>
              <a:t>vLLM</a:t>
            </a:r>
            <a:r>
              <a:rPr lang="en-US" sz="1050" dirty="0">
                <a:solidFill>
                  <a:srgbClr val="475569"/>
                </a:solidFill>
                <a:latin typeface="Microsoft YaHei"/>
                <a:ea typeface="Microsoft YaHei"/>
              </a:rPr>
              <a:t>-Omni · </a:t>
            </a:r>
            <a:r>
              <a:rPr lang="zh-CN" sz="1050" dirty="0">
                <a:solidFill>
                  <a:srgbClr val="475569"/>
                </a:solidFill>
                <a:latin typeface="Microsoft YaHei"/>
                <a:ea typeface="Microsoft YaHei"/>
              </a:rPr>
              <a:t>商用质量用腾讯云</a:t>
            </a:r>
            <a:endParaRPr dirty="0"/>
          </a:p>
        </p:txBody>
      </p:sp>
      <p:sp>
        <p:nvSpPr>
          <p:cNvPr id="772" name="文本框 771" descr="{&quot;isTemplate&quot;:true,&quot;type&quot;:&quot;text&quot;}"/>
          <p:cNvSpPr txBox="1"/>
          <p:nvPr/>
        </p:nvSpPr>
        <p:spPr>
          <a:xfrm>
            <a:off x="685800" y="6486525"/>
            <a:ext cx="42100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vLLM-Omni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支持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 Qwen3-TTS / Fish Speech / CosyVoice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等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 8+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模型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transparent', padding: 0, flexDirection: 'row', alignItems: 'center' }}&gt;&#10;    &lt;Image src=&quot;resources/images/gvp_background.jpg&quot; style={{ position: 'absolute', top: 0, left: 0, width: 1280, height: 720, objectFit: 'cover', }} /&gt;&#10;        &lt;Box style={{ position: 'absolute', left: 60, top: 0, bottom: 0, width: 480, justifyContent: 'center', flexDirection: 'column', gap: 20 }}&gt;&#10;        &lt;Text style={{ fontSize: 20, color: '#0891B2', letterSpacing: 4, fontWeight: '600' }}&gt;PART 04&lt;/Text&gt;&#10;        &lt;Box style={{ width: 80, height: 4, background: 'linear-gradient(90deg, #2563EB 0%, #0891B2 100%)', borderRadius: 2 }} /&gt;&#10;        &lt;Text style={{ fontSize: 56, fontWeight: 'bold', color: '#1E293B', lineHeight: 1.1 }}&gt;&#10;            LiveStream&lt;br /&gt;&#10;            &lt;span style={{ backgroundImage: 'linear-gradient(135deg, #2563EB 0%, #0891B2 100%)', backgroundClip: 'text', color: 'transparent' }}&gt;数字人直播系统&lt;/span&gt;&#10;        &lt;/Text&gt;&#10;        &lt;Text style={{ fontSize: 20, color: '#475569', lineHeight: 1.5, marginTop: 8 }}&gt;&#10;            7×24 小时无人直播 · AI 大脑驱动&lt;br /&gt;&#10;            话术引擎 + 弹幕采集 + RAG 知识库&#10;        &lt;/Text&gt;&#10;        &lt;Box style={{ flexDirection: 'row', gap: 24, marginTop: 16 }}&gt;&#10;            &lt;Box style={{ flexDirection: 'column', gap: 4 }}&gt;&#10;                &lt;Text style={{ fontSize: 28, fontWeight: 'bold', color: '#2563EB' }}&gt;4&lt;/Text&gt;&#10;                &lt;Text style={{ fontSize: 13, color: '#475569' }}&gt;核心模块&lt;/Text&gt;&#10;            &lt;/Box&gt;&#10;            &lt;Box style={{ width: 1, height: 40, background: 'rgba(241, 245, 249, 0.85)' }} /&gt;&#10;            &lt;Box style={{ flexDirection: 'column', gap: 4 }}&gt;&#10;                &lt;Text style={{ fontSize: 28, fontWeight: 'bold', color: '#0891B2' }}&gt;3&lt;/Text&gt;&#10;                &lt;Text style={{ fontSize: 13, color: '#475569' }}&gt;话术驱动&lt;/Text&gt;&#10;            &lt;/Box&gt;&#10;            &lt;Box style={{ width: 1, height: 40, background: 'rgba(241, 245, 249, 0.85)' }} /&gt;&#10;            &lt;Box style={{ flexDirection: 'column', gap: 4 }}&gt;&#10;                &lt;Text style={{ fontSize: 28, fontWeight: 'bold', color: '#2563EB' }}&gt;1-3s&lt;/Text&gt;&#10;                &lt;Text style={{ fontSize: 13, color: '#475569' }}&gt;端到端延迟&lt;/Text&gt;&#10;            &lt;/Box&gt;&#10;        &lt;/Box&gt;&#10;    &lt;/Box&gt;&#10;    &lt;Box style={{ zIndex: 1,  position: 'absolute', right: 60, top: 0, bottom: 0, width: 560, justifyContent: 'center', flexDirection: 'column', gap: 12 }}&gt;&#10;        &lt;Box style={{ padding: 16, background: 'rgba(37, 99, 235,0.08)', borderRadius: 12, border: '1px solid rgba(37, 99, 235,0.2)', flexDirection: 'column', gap: 6 }}&gt;&#10;            &lt;Box style={{ flexDirection: 'row', alignItems: 'center', gap: 8 }}&gt;&#10;                &lt;Image src='resources/images/icons/icon_comment-dots_2563EB.png' style={{ width: 22, height: 22 }} /&gt;&#10;                &lt;Text style={{ fontSize: 17, fontWeight: 'bold', color: '#1E293B' }}&gt;话术引擎&lt;/Text&gt;&#10;            &lt;/Box&gt;&#10;            &lt;Text style={{ fontSize: 13, color: '#475569', lineHeight: 1.4 }}&gt;优先级队列 + 加权随机选取，话术三层次：循环话术 + 弹幕互动 + 氛围话术&lt;/Text&gt;&#10;        &lt;/Box&gt;&#10;        &lt;Box style={{ padding: 16, background: 'rgba(8, 145, 178,0.08)', borderRadius: 12, border: '1px solid rgba(8, 145, 178,0.2)', flexDirection: 'column', gap: 6 }}&gt;&#10;            &lt;Box style={{ flexDirection: 'row', alignItems: 'center', gap: 8 }}&gt;&#10;                &lt;Image src='resources/images/icons/icon_comments_0891B2.png' style={{ width: 22, height: 22 }} /&gt;&#10;                &lt;Text style={{ fontSize: 17, fontWeight: 'bold', color: '#1E293B' }}&gt;弹幕采集&lt;/Text&gt;&#10;            &lt;/Box&gt;&#10;            &lt;Text style={{ fontSize: 13, color: '#475569', lineHeight: 1.4 }}&gt;策略模式统一 B站 / 抖音 / 视频号，归一化为 DanmakuMessage&lt;/Text&gt;&#10;        &lt;/Box&gt;&#10;        &lt;Box style={{ padding: 16, background: 'rgba(37, 99, 235,0.08)', borderRadius: 12, border: '1px solid rgba(37, 99, 235,0.2)', flexDirection: 'column', gap: 6 }}&gt;&#10;            &lt;Box style={{ flexDirection: 'row', alignItems: 'center', gap: 8 }}&gt;&#10;                &lt;Image src='resources/images/icons/icon_brain_2563EB.png' style={{ width: 22, height: 22 }} /&gt;&#10;                &lt;Text style={{ fontSize: 17, fontWeight: 'bold', color: '#1E293B' }}&gt;AI 大脑&lt;/Text&gt;&#10;            &lt;/Box&gt;&#10;            &lt;Text style={{ fontSize: 13, color: '#475569', lineHeight: 1.4 }}&gt;LLM + 人设记忆(10轮窗口) + 知识库 RAG (ChromaDB)&lt;/Text&gt;&#10;        &lt;/Box&gt;&#10;        &lt;Box style={{ padding: 16, background: 'rgba(8, 145, 178,0.08)', borderRadius: 12, border: '1px solid rgba(8, 145, 178,0.2)', flexDirection: 'column', gap: 6 }}&gt;&#10;            &lt;Box style={{ flexDirection: 'row', alignItems: 'center', gap: 8 }}&gt;&#10;                &lt;Image src='resources/images/icons/icon_video_0891B2.png' style={{ width: 22, height: 22 }} /&gt;&#10;                &lt;Text style={{ fontSize: 17, fontWeight: 'bold', color: '#1E293B' }}&gt;数字人交互&lt;/Text&gt;&#10;            &lt;/Box&gt;&#10;            &lt;Text style={{ fontSize: 13, color: '#475569', lineHeight: 1.4 }}&gt;LiveTalking HTTP API + SSE 事件流，文字/音频/视频三种话术驱动&lt;/Text&gt;&#10;        &lt;/Box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5" name="图片 70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708" name="文本框 707" descr="{&quot;isTemplate&quot;:true,&quot;type&quot;:&quot;text&quot;}"/>
          <p:cNvSpPr txBox="1"/>
          <p:nvPr/>
        </p:nvSpPr>
        <p:spPr>
          <a:xfrm>
            <a:off x="571500" y="2143125"/>
            <a:ext cx="4572000" cy="1409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10000"/>
              </a:lnSpc>
            </a:pPr>
            <a:r>
              <a:rPr lang="en-US" sz="4200" b="1" dirty="0" err="1">
                <a:solidFill>
                  <a:srgbClr val="1E293B"/>
                </a:solidFill>
                <a:latin typeface="Microsoft YaHei"/>
                <a:ea typeface="Microsoft YaHei"/>
              </a:rPr>
              <a:t>LiveStream</a:t>
            </a:r>
            <a:endParaRPr dirty="0"/>
          </a:p>
          <a:p>
            <a:pPr>
              <a:lnSpc>
                <a:spcPct val="110000"/>
              </a:lnSpc>
            </a:pPr>
            <a:r>
              <a:rPr lang="zh-CN" sz="4200" b="1" dirty="0">
                <a:gradFill>
                  <a:gsLst>
                    <a:gs pos="0">
                      <a:srgbClr val="2563EB"/>
                    </a:gs>
                    <a:gs pos="100000">
                      <a:srgbClr val="0891B2"/>
                    </a:gs>
                  </a:gsLst>
                  <a:lin ang="2700000" scaled="1"/>
                </a:gradFill>
                <a:latin typeface="Microsoft YaHei"/>
                <a:ea typeface="Microsoft YaHei"/>
              </a:rPr>
              <a:t>数字人直播系统</a:t>
            </a:r>
            <a:endParaRPr dirty="0"/>
          </a:p>
        </p:txBody>
      </p:sp>
      <p:sp>
        <p:nvSpPr>
          <p:cNvPr id="709" name="文本框 708" descr="{&quot;isTemplate&quot;:true,&quot;type&quot;:&quot;text&quot;}"/>
          <p:cNvSpPr txBox="1"/>
          <p:nvPr/>
        </p:nvSpPr>
        <p:spPr>
          <a:xfrm>
            <a:off x="571500" y="3819525"/>
            <a:ext cx="4572000" cy="685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en-US" sz="1500">
                <a:solidFill>
                  <a:srgbClr val="475569"/>
                </a:solidFill>
                <a:latin typeface="Microsoft YaHei"/>
                <a:ea typeface="Microsoft YaHei"/>
              </a:rPr>
              <a:t>7×24 </a:t>
            </a:r>
            <a:r>
              <a:rPr lang="zh-CN" sz="1500">
                <a:solidFill>
                  <a:srgbClr val="475569"/>
                </a:solidFill>
                <a:latin typeface="Microsoft YaHei"/>
                <a:ea typeface="Microsoft YaHei"/>
              </a:rPr>
              <a:t>小时无人直播</a:t>
            </a:r>
            <a:r>
              <a:rPr lang="en-US" sz="1500">
                <a:solidFill>
                  <a:srgbClr val="475569"/>
                </a:solidFill>
                <a:latin typeface="Microsoft YaHei"/>
                <a:ea typeface="Microsoft YaHei"/>
              </a:rPr>
              <a:t> · AI </a:t>
            </a:r>
            <a:r>
              <a:rPr lang="zh-CN" sz="1500">
                <a:solidFill>
                  <a:srgbClr val="475569"/>
                </a:solidFill>
                <a:latin typeface="Microsoft YaHei"/>
                <a:ea typeface="Microsoft YaHei"/>
              </a:rPr>
              <a:t>大脑驱动</a:t>
            </a:r>
            <a:endParaRPr/>
          </a:p>
          <a:p>
            <a:pPr>
              <a:lnSpc>
                <a:spcPct val="150000"/>
              </a:lnSpc>
            </a:pPr>
            <a:r>
              <a:rPr lang="zh-CN" sz="1500">
                <a:solidFill>
                  <a:srgbClr val="475569"/>
                </a:solidFill>
                <a:latin typeface="Microsoft YaHei"/>
                <a:ea typeface="Microsoft YaHei"/>
              </a:rPr>
              <a:t>话术引擎</a:t>
            </a:r>
            <a:r>
              <a:rPr lang="en-US" sz="1500">
                <a:solidFill>
                  <a:srgbClr val="475569"/>
                </a:solidFill>
                <a:latin typeface="Microsoft YaHei"/>
                <a:ea typeface="Microsoft YaHei"/>
              </a:rPr>
              <a:t> + </a:t>
            </a:r>
            <a:r>
              <a:rPr lang="zh-CN" sz="1500">
                <a:solidFill>
                  <a:srgbClr val="475569"/>
                </a:solidFill>
                <a:latin typeface="Microsoft YaHei"/>
                <a:ea typeface="Microsoft YaHei"/>
              </a:rPr>
              <a:t>弹幕采集</a:t>
            </a:r>
            <a:r>
              <a:rPr lang="en-US" sz="1500">
                <a:solidFill>
                  <a:srgbClr val="475569"/>
                </a:solidFill>
                <a:latin typeface="Microsoft YaHei"/>
                <a:ea typeface="Microsoft YaHei"/>
              </a:rPr>
              <a:t> + RAG </a:t>
            </a:r>
            <a:r>
              <a:rPr lang="zh-CN" sz="1500">
                <a:solidFill>
                  <a:srgbClr val="475569"/>
                </a:solidFill>
                <a:latin typeface="Microsoft YaHei"/>
                <a:ea typeface="Microsoft YaHei"/>
              </a:rPr>
              <a:t>知识库</a:t>
            </a:r>
            <a:endParaRPr/>
          </a:p>
        </p:txBody>
      </p:sp>
      <p:sp>
        <p:nvSpPr>
          <p:cNvPr id="710" name="文本框 709" descr="{&quot;isTemplate&quot;:true,&quot;type&quot;:&quot;text&quot;}"/>
          <p:cNvSpPr txBox="1"/>
          <p:nvPr/>
        </p:nvSpPr>
        <p:spPr>
          <a:xfrm>
            <a:off x="571500" y="4848225"/>
            <a:ext cx="495300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2563EB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711" name="文本框 710" descr="{&quot;isTemplate&quot;:true,&quot;type&quot;:&quot;text&quot;}"/>
          <p:cNvSpPr txBox="1"/>
          <p:nvPr/>
        </p:nvSpPr>
        <p:spPr>
          <a:xfrm>
            <a:off x="571500" y="5210175"/>
            <a:ext cx="4953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核心模块</a:t>
            </a:r>
            <a:endParaRPr/>
          </a:p>
        </p:txBody>
      </p:sp>
      <p:sp>
        <p:nvSpPr>
          <p:cNvPr id="712" name="矩形 711"/>
          <p:cNvSpPr/>
          <p:nvPr/>
        </p:nvSpPr>
        <p:spPr>
          <a:xfrm>
            <a:off x="1295400" y="4848225"/>
            <a:ext cx="9525" cy="381000"/>
          </a:xfrm>
          <a:prstGeom prst="rect">
            <a:avLst/>
          </a:prstGeom>
          <a:solidFill>
            <a:srgbClr val="F1F5F9">
              <a:alpha val="8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13" name="文本框 712" descr="{&quot;isTemplate&quot;:true,&quot;type&quot;:&quot;text&quot;}"/>
          <p:cNvSpPr txBox="1"/>
          <p:nvPr/>
        </p:nvSpPr>
        <p:spPr>
          <a:xfrm>
            <a:off x="1533525" y="4848225"/>
            <a:ext cx="495300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0891B2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714" name="文本框 713" descr="{&quot;isTemplate&quot;:true,&quot;type&quot;:&quot;text&quot;}"/>
          <p:cNvSpPr txBox="1"/>
          <p:nvPr/>
        </p:nvSpPr>
        <p:spPr>
          <a:xfrm>
            <a:off x="1533525" y="5210175"/>
            <a:ext cx="4953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话术驱动</a:t>
            </a:r>
            <a:endParaRPr/>
          </a:p>
        </p:txBody>
      </p:sp>
      <p:sp>
        <p:nvSpPr>
          <p:cNvPr id="715" name="矩形 714"/>
          <p:cNvSpPr/>
          <p:nvPr/>
        </p:nvSpPr>
        <p:spPr>
          <a:xfrm>
            <a:off x="2257425" y="4848225"/>
            <a:ext cx="9525" cy="381000"/>
          </a:xfrm>
          <a:prstGeom prst="rect">
            <a:avLst/>
          </a:prstGeom>
          <a:solidFill>
            <a:srgbClr val="F1F5F9">
              <a:alpha val="8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16" name="文本框 715" descr="{&quot;isTemplate&quot;:true,&quot;type&quot;:&quot;text&quot;}"/>
          <p:cNvSpPr txBox="1"/>
          <p:nvPr/>
        </p:nvSpPr>
        <p:spPr>
          <a:xfrm>
            <a:off x="2495550" y="4848225"/>
            <a:ext cx="619125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2563EB"/>
                </a:solidFill>
                <a:latin typeface="Microsoft YaHei"/>
                <a:ea typeface="Microsoft YaHei"/>
              </a:rPr>
              <a:t>1-3s</a:t>
            </a:r>
            <a:endParaRPr/>
          </a:p>
        </p:txBody>
      </p:sp>
      <p:sp>
        <p:nvSpPr>
          <p:cNvPr id="717" name="文本框 716" descr="{&quot;isTemplate&quot;:true,&quot;type&quot;:&quot;text&quot;}"/>
          <p:cNvSpPr txBox="1"/>
          <p:nvPr/>
        </p:nvSpPr>
        <p:spPr>
          <a:xfrm>
            <a:off x="2495550" y="5210175"/>
            <a:ext cx="6191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端到端延迟</a:t>
            </a:r>
            <a:endParaRPr/>
          </a:p>
        </p:txBody>
      </p:sp>
      <p:sp>
        <p:nvSpPr>
          <p:cNvPr id="718" name="圆角矩形 717"/>
          <p:cNvSpPr/>
          <p:nvPr/>
        </p:nvSpPr>
        <p:spPr>
          <a:xfrm>
            <a:off x="6286500" y="1695450"/>
            <a:ext cx="5334000" cy="781050"/>
          </a:xfrm>
          <a:prstGeom prst="roundRect">
            <a:avLst>
              <a:gd name="adj" fmla="val 14634"/>
            </a:avLst>
          </a:prstGeom>
          <a:solidFill>
            <a:srgbClr val="2563EB">
              <a:alpha val="8000"/>
            </a:srgbClr>
          </a:solidFill>
          <a:ln w="12700">
            <a:solidFill>
              <a:srgbClr val="2563EB">
                <a:alpha val="2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719" name="图片 7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8900" y="1847850"/>
            <a:ext cx="209550" cy="209550"/>
          </a:xfrm>
          <a:prstGeom prst="rect">
            <a:avLst/>
          </a:prstGeom>
          <a:ln/>
        </p:spPr>
      </p:pic>
      <p:sp>
        <p:nvSpPr>
          <p:cNvPr id="720" name="文本框 719" descr="{&quot;isTemplate&quot;:true,&quot;type&quot;:&quot;text&quot;}"/>
          <p:cNvSpPr txBox="1"/>
          <p:nvPr/>
        </p:nvSpPr>
        <p:spPr>
          <a:xfrm>
            <a:off x="6724650" y="1857375"/>
            <a:ext cx="6477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293B"/>
                </a:solidFill>
                <a:latin typeface="Microsoft YaHei"/>
                <a:ea typeface="Microsoft YaHei"/>
              </a:rPr>
              <a:t>话术引擎</a:t>
            </a:r>
            <a:endParaRPr/>
          </a:p>
        </p:txBody>
      </p:sp>
      <p:sp>
        <p:nvSpPr>
          <p:cNvPr id="721" name="文本框 720" descr="{&quot;isTemplate&quot;:true,&quot;type&quot;:&quot;text&quot;}"/>
          <p:cNvSpPr txBox="1"/>
          <p:nvPr/>
        </p:nvSpPr>
        <p:spPr>
          <a:xfrm>
            <a:off x="6438900" y="2114550"/>
            <a:ext cx="50292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优先级队列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+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加权随机选取，话术三层次：循环话术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+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弹幕互动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+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氛围话术</a:t>
            </a:r>
            <a:endParaRPr/>
          </a:p>
        </p:txBody>
      </p:sp>
      <p:sp>
        <p:nvSpPr>
          <p:cNvPr id="722" name="圆角矩形 721"/>
          <p:cNvSpPr/>
          <p:nvPr/>
        </p:nvSpPr>
        <p:spPr>
          <a:xfrm>
            <a:off x="6286500" y="2590800"/>
            <a:ext cx="5334000" cy="781050"/>
          </a:xfrm>
          <a:prstGeom prst="roundRect">
            <a:avLst>
              <a:gd name="adj" fmla="val 14634"/>
            </a:avLst>
          </a:prstGeom>
          <a:solidFill>
            <a:srgbClr val="0891B2">
              <a:alpha val="8000"/>
            </a:srgbClr>
          </a:solidFill>
          <a:ln w="12700">
            <a:solidFill>
              <a:srgbClr val="0891B2">
                <a:alpha val="2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723" name="图片 7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8900" y="2743200"/>
            <a:ext cx="209550" cy="209550"/>
          </a:xfrm>
          <a:prstGeom prst="rect">
            <a:avLst/>
          </a:prstGeom>
          <a:ln/>
        </p:spPr>
      </p:pic>
      <p:sp>
        <p:nvSpPr>
          <p:cNvPr id="724" name="文本框 723" descr="{&quot;isTemplate&quot;:true,&quot;type&quot;:&quot;text&quot;}"/>
          <p:cNvSpPr txBox="1"/>
          <p:nvPr/>
        </p:nvSpPr>
        <p:spPr>
          <a:xfrm>
            <a:off x="6724650" y="2752725"/>
            <a:ext cx="6477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293B"/>
                </a:solidFill>
                <a:latin typeface="Microsoft YaHei"/>
                <a:ea typeface="Microsoft YaHei"/>
              </a:rPr>
              <a:t>弹幕采集</a:t>
            </a:r>
            <a:endParaRPr/>
          </a:p>
        </p:txBody>
      </p:sp>
      <p:sp>
        <p:nvSpPr>
          <p:cNvPr id="725" name="文本框 724" descr="{&quot;isTemplate&quot;:true,&quot;type&quot;:&quot;text&quot;}"/>
          <p:cNvSpPr txBox="1"/>
          <p:nvPr/>
        </p:nvSpPr>
        <p:spPr>
          <a:xfrm>
            <a:off x="6438900" y="3009900"/>
            <a:ext cx="50292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策略模式统一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B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站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抖音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视频号，归一化为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DanmakuMessage</a:t>
            </a:r>
            <a:endParaRPr/>
          </a:p>
        </p:txBody>
      </p:sp>
      <p:sp>
        <p:nvSpPr>
          <p:cNvPr id="726" name="圆角矩形 725"/>
          <p:cNvSpPr/>
          <p:nvPr/>
        </p:nvSpPr>
        <p:spPr>
          <a:xfrm>
            <a:off x="6286500" y="3486150"/>
            <a:ext cx="5334000" cy="781050"/>
          </a:xfrm>
          <a:prstGeom prst="roundRect">
            <a:avLst>
              <a:gd name="adj" fmla="val 14634"/>
            </a:avLst>
          </a:prstGeom>
          <a:solidFill>
            <a:srgbClr val="2563EB">
              <a:alpha val="8000"/>
            </a:srgbClr>
          </a:solidFill>
          <a:ln w="12700">
            <a:solidFill>
              <a:srgbClr val="2563EB">
                <a:alpha val="2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727" name="图片 7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8900" y="3638550"/>
            <a:ext cx="209550" cy="209550"/>
          </a:xfrm>
          <a:prstGeom prst="rect">
            <a:avLst/>
          </a:prstGeom>
          <a:ln/>
        </p:spPr>
      </p:pic>
      <p:sp>
        <p:nvSpPr>
          <p:cNvPr id="728" name="文本框 727" descr="{&quot;isTemplate&quot;:true,&quot;type&quot;:&quot;text&quot;}"/>
          <p:cNvSpPr txBox="1"/>
          <p:nvPr/>
        </p:nvSpPr>
        <p:spPr>
          <a:xfrm>
            <a:off x="6724650" y="3648075"/>
            <a:ext cx="5334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E293B"/>
                </a:solidFill>
                <a:latin typeface="Microsoft YaHei"/>
                <a:ea typeface="Microsoft YaHei"/>
              </a:rPr>
              <a:t>AI </a:t>
            </a:r>
            <a:r>
              <a:rPr lang="zh-CN" sz="1275" b="1">
                <a:solidFill>
                  <a:srgbClr val="1E293B"/>
                </a:solidFill>
                <a:latin typeface="Microsoft YaHei"/>
                <a:ea typeface="Microsoft YaHei"/>
              </a:rPr>
              <a:t>大脑</a:t>
            </a:r>
            <a:endParaRPr/>
          </a:p>
        </p:txBody>
      </p:sp>
      <p:sp>
        <p:nvSpPr>
          <p:cNvPr id="729" name="文本框 728" descr="{&quot;isTemplate&quot;:true,&quot;type&quot;:&quot;text&quot;}"/>
          <p:cNvSpPr txBox="1"/>
          <p:nvPr/>
        </p:nvSpPr>
        <p:spPr>
          <a:xfrm>
            <a:off x="6438900" y="3905250"/>
            <a:ext cx="50292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LLM +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人设记忆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(10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轮窗口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) +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知识库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RAG (ChromaDB)</a:t>
            </a:r>
            <a:endParaRPr/>
          </a:p>
        </p:txBody>
      </p:sp>
      <p:sp>
        <p:nvSpPr>
          <p:cNvPr id="730" name="圆角矩形 729"/>
          <p:cNvSpPr/>
          <p:nvPr/>
        </p:nvSpPr>
        <p:spPr>
          <a:xfrm>
            <a:off x="6286500" y="4381500"/>
            <a:ext cx="5334000" cy="781050"/>
          </a:xfrm>
          <a:prstGeom prst="roundRect">
            <a:avLst>
              <a:gd name="adj" fmla="val 14634"/>
            </a:avLst>
          </a:prstGeom>
          <a:solidFill>
            <a:srgbClr val="0891B2">
              <a:alpha val="8000"/>
            </a:srgbClr>
          </a:solidFill>
          <a:ln w="12700">
            <a:solidFill>
              <a:srgbClr val="0891B2">
                <a:alpha val="2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731" name="图片 73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8900" y="4533900"/>
            <a:ext cx="209550" cy="209550"/>
          </a:xfrm>
          <a:prstGeom prst="rect">
            <a:avLst/>
          </a:prstGeom>
          <a:ln/>
        </p:spPr>
      </p:pic>
      <p:sp>
        <p:nvSpPr>
          <p:cNvPr id="732" name="文本框 731" descr="{&quot;isTemplate&quot;:true,&quot;type&quot;:&quot;text&quot;}"/>
          <p:cNvSpPr txBox="1"/>
          <p:nvPr/>
        </p:nvSpPr>
        <p:spPr>
          <a:xfrm>
            <a:off x="6724650" y="4543425"/>
            <a:ext cx="809625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293B"/>
                </a:solidFill>
                <a:latin typeface="Microsoft YaHei"/>
                <a:ea typeface="Microsoft YaHei"/>
              </a:rPr>
              <a:t>数字人交互</a:t>
            </a:r>
            <a:endParaRPr/>
          </a:p>
        </p:txBody>
      </p:sp>
      <p:sp>
        <p:nvSpPr>
          <p:cNvPr id="733" name="文本框 732" descr="{&quot;isTemplate&quot;:true,&quot;type&quot;:&quot;text&quot;}"/>
          <p:cNvSpPr txBox="1"/>
          <p:nvPr/>
        </p:nvSpPr>
        <p:spPr>
          <a:xfrm>
            <a:off x="6438900" y="4800600"/>
            <a:ext cx="50292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LiveTalking HTTP API + SSE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事件流，文字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/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音频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/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视频三种话术驱动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transparent', padding: '88px 72px 16px', flexDirection: 'column' }}&gt;&#10;    &lt;Image src=&quot;resources/images/gvp_background.jpg&quot; style={{ position: 'absolute', top: 0, left: 0, width: 1280, height: 720, objectFit: 'cover' }} /&gt;&#10;    &lt;Box style={{ height: 76, flexDirection: 'column', gap: 6, justifyContent: 'center', zIndex: 1 }}&gt;&#10;        &lt;Text style={{ fontSize: 34, fontWeight: 'bold', color: '#1E293B' }}&gt;直播系统部署与数据流&lt;/Text&gt;&#10;        &lt;Text style={{ fontSize: 16, color: '#475569' }}&gt;弹幕抓取 · 直播大脑 · LiveTalking 引擎 · 直播采集，协同完成无人直播&lt;/Text&gt;&#10;    &lt;/Box&gt;&#10;&#10;    &lt;Box style={{ flex: 1, flexDirection: 'column', alignItems: 'center', justifyContent: 'center', gap: 14, marginTop: 10, zIndex: 1 }}&gt;&#10;        &lt;Box style={{ padding: '10px 26px', background: 'rgba(99,102,241,0.12)', border: '1px solid #6366F1', borderRadius: 10, justifyContent: 'center', alignItems: 'center' }}&gt;&#10;            &lt;Text style={{ fontSize: 18, fontWeight: 'bold', color: '#4F46E5' }}&gt;直播平台 · B站 / 抖音 / 视频号&lt;/Text&gt;&#10;        &lt;/Box&gt;&#10;        &lt;Box style={{ flexDirection: 'row', alignItems: 'center', gap: 8 }}&gt;&#10;            &lt;Text style={{ fontSize: 26, color: '#94A3B8' }}&gt;▼&lt;/Text&gt;&#10;            &lt;Text style={{ fontSize: 14, color: '#64748B' }}&gt;弹幕输入&lt;/Text&gt;&#10;        &lt;/Box&gt;&#10;        &lt;Box style={{ flexDirection: 'row', alignItems: 'stretch', gap: 12, justifyContent: 'center', marginTop: 4 }}&gt;&#10;&#10;            &lt;Box style={{ width: 248, background: 'rgba(255,255,255,0.80)', borderRadius: 12, padding: 20, flexDirection: 'column', gap: 10, border: '1px solid rgba(37,99,235,0.35)', justifyContent: 'center' }}&gt;&#10;                &lt;Box style={{ flexDirection: 'row', alignItems: 'center', gap: 10 }}&gt;&#10;                    &lt;Image src='resources/images/icons/icon_comments_2563EB.png' style={{ width: 24, height: 24 }} /&gt;&#10;                    &lt;Text style={{ fontSize: 18, fontWeight: 'bold', color: '#1E293B' }}&gt;弹幕抓取&lt;/Text&gt;&#10;                &lt;/Box&gt;&#10;                &lt;Text style={{ fontSize: 14, color: '#475569', lineHeight: 1.5 }}&gt;平台客户端 · 策略模式统一接入，归一化为 DanmakuMessage&lt;/Text&gt;&#10;            &lt;/Box&gt;&#10;            &lt;Box style={{ flexDirection: 'column', alignItems: 'center', justifyContent: 'center', gap: 4 }}&gt;&#10;                &lt;Text style={{ fontSize: 26, color: '#94A3B8' }}&gt;▶&lt;/Text&gt;&#10;                &lt;Text style={{ fontSize: 13, color: '#64748B' }}&gt;弹幕&lt;/Text&gt;&#10;            &lt;/Box&gt;&#10;&#10;            &lt;Box style={{ width: 248, background: 'rgba(255,255,255,0.80)', borderRadius: 12, padding: 20, flexDirection: 'column', gap: 10, border: '1px solid rgba(8,145,178,0.35)', justifyContent: 'center' }}&gt;&#10;                &lt;Box style={{ flexDirection: 'row', alignItems: 'center', gap: 10 }}&gt;&#10;                    &lt;Image src='resources/images/icons/icon_brain_0891B2.png' style={{ width: 24, height: 24 }} /&gt;&#10;                    &lt;Text style={{ fontSize: 18, fontWeight: 'bold', color: '#1E293B' }}&gt;直播大脑&lt;/Text&gt;&#10;                &lt;/Box&gt;&#10;                &lt;Text style={{ fontSize: 14, color: '#475569', lineHeight: 1.5 }}&gt;话术引擎(优先级队列+加权随机) · AI大脑(LLM+人设记忆+RAG)&lt;/Text&gt;&#10;            &lt;/Box&gt;&#10;            &lt;Box style={{ flexDirection: 'column', alignItems: 'center', justifyContent: 'center', gap: 4 }}&gt;&#10;                &lt;Text style={{ fontSize: 26, color: '#94A3B8' }}&gt;▶&lt;/Text&gt;&#10;                &lt;Text style={{ fontSize: 13, color: '#64748B' }}&gt;回复文本&lt;/Text&gt;&#10;            &lt;/Box&gt;&#10;&#10;            &lt;Box style={{ width: 248, background: 'rgba(255,255,255,0.80)', borderRadius: 12, padding: 20, flexDirection: 'column', gap: 10, border: '1px solid rgba(37,99,235,0.35)', justifyContent: 'center' }}&gt;&#10;                &lt;Box style={{ flexDirection: 'row', alignItems: 'center', gap: 10 }}&gt;&#10;                    &lt;Image src='resources/images/icons/icon_robot_2563EB.png' style={{ width: 24, height: 24 }} /&gt;&#10;                    &lt;Text style={{ fontSize: 18, fontWeight: 'bold', color: '#1E293B' }}&gt;LiveTalking 引擎&lt;/Text&gt;&#10;                &lt;/Box&gt;&#10;                &lt;Text style={{ fontSize: 14, color: '#475569', lineHeight: 1.5 }}&gt;GPU 推理 · /human 文本驱动 · LLM(可选)→TTS→口型→后处理&lt;/Text&gt;&#10;            &lt;/Box&gt;&#10;            &lt;Box style={{ flexDirection: 'column', alignItems: 'center', justifyContent: 'center', gap: 4 }}&gt;&#10;                &lt;Text style={{ fontSize: 26, color: '#94A3B8' }}&gt;▶&lt;/Text&gt;&#10;                &lt;Text style={{ fontSize: 13, color: '#64748B' }}&gt;音视频&lt;/Text&gt;&#10;            &lt;/Box&gt;&#10;&#10;            &lt;Box style={{ width: 248, background: 'rgba(255,255,255,0.80)', borderRadius: 12, padding: 20, flexDirection: 'column', gap: 10, border: '1px solid rgba(8,145,178,0.35)', justifyContent: 'center' }}&gt;&#10;                &lt;Box style={{ flexDirection: 'row', alignItems: 'center', gap: 10 }}&gt;&#10;                    &lt;Image src='resources/images/icons/icon_code_0891B2.png' style={{ width: 24, height: 24 }} /&gt;&#10;                    &lt;Text style={{ fontSize: 18, fontWeight: 'bold', color: '#1E293B' }}&gt;直播工具&lt;/Text&gt;&#10;                &lt;/Box&gt;&#10;                &lt;Text style={{ fontSize: 14, color: '#475569', lineHeight: 1.5 }}&gt;OBS / 直播伴侣抓屏 或 虚拟摄像头采集，推送直播平台&lt;/Text&gt;&#10;            &lt;/Box&gt;&#10;        &lt;/Box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5" name="图片 7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736" name="文本框 735" descr="{&quot;isTemplate&quot;:true,&quot;type&quot;:&quot;text&quot;}"/>
          <p:cNvSpPr txBox="1"/>
          <p:nvPr/>
        </p:nvSpPr>
        <p:spPr>
          <a:xfrm>
            <a:off x="685800" y="885825"/>
            <a:ext cx="1082040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直播系统部署与数据流</a:t>
            </a:r>
            <a:endParaRPr/>
          </a:p>
        </p:txBody>
      </p:sp>
      <p:sp>
        <p:nvSpPr>
          <p:cNvPr id="737" name="文本框 736" descr="{&quot;isTemplate&quot;:true,&quot;type&quot;:&quot;text&quot;}"/>
          <p:cNvSpPr txBox="1"/>
          <p:nvPr/>
        </p:nvSpPr>
        <p:spPr>
          <a:xfrm>
            <a:off x="685800" y="1333500"/>
            <a:ext cx="108204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弹幕抓取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直播大脑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> · LiveTalking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引擎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直播采集，协同完成无人直播</a:t>
            </a:r>
            <a:endParaRPr/>
          </a:p>
        </p:txBody>
      </p:sp>
      <p:sp>
        <p:nvSpPr>
          <p:cNvPr id="738" name="圆角矩形 737"/>
          <p:cNvSpPr/>
          <p:nvPr/>
        </p:nvSpPr>
        <p:spPr>
          <a:xfrm>
            <a:off x="4695825" y="3086100"/>
            <a:ext cx="2809875" cy="400050"/>
          </a:xfrm>
          <a:prstGeom prst="roundRect">
            <a:avLst>
              <a:gd name="adj" fmla="val 23810"/>
            </a:avLst>
          </a:prstGeom>
          <a:solidFill>
            <a:srgbClr val="6366F1">
              <a:alpha val="12000"/>
            </a:srgbClr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39" name="文本框 738" descr="{&quot;isTemplate&quot;:true,&quot;type&quot;:&quot;text&quot;}"/>
          <p:cNvSpPr txBox="1"/>
          <p:nvPr/>
        </p:nvSpPr>
        <p:spPr>
          <a:xfrm>
            <a:off x="4943475" y="3181350"/>
            <a:ext cx="231457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4F46E5"/>
                </a:solidFill>
                <a:latin typeface="Microsoft YaHei"/>
                <a:ea typeface="Microsoft YaHei"/>
              </a:rPr>
              <a:t>直播平台</a:t>
            </a:r>
            <a:r>
              <a:rPr lang="en-US" sz="1350" b="1">
                <a:solidFill>
                  <a:srgbClr val="4F46E5"/>
                </a:solidFill>
                <a:latin typeface="Microsoft YaHei"/>
                <a:ea typeface="Microsoft YaHei"/>
              </a:rPr>
              <a:t> · B</a:t>
            </a:r>
            <a:r>
              <a:rPr lang="zh-CN" sz="1350" b="1">
                <a:solidFill>
                  <a:srgbClr val="4F46E5"/>
                </a:solidFill>
                <a:latin typeface="Microsoft YaHei"/>
                <a:ea typeface="Microsoft YaHei"/>
              </a:rPr>
              <a:t>站</a:t>
            </a:r>
            <a:r>
              <a:rPr lang="en-US" sz="1350" b="1">
                <a:solidFill>
                  <a:srgbClr val="4F46E5"/>
                </a:solidFill>
                <a:latin typeface="Microsoft YaHei"/>
                <a:ea typeface="Microsoft YaHei"/>
              </a:rPr>
              <a:t> / </a:t>
            </a:r>
            <a:r>
              <a:rPr lang="zh-CN" sz="1350" b="1">
                <a:solidFill>
                  <a:srgbClr val="4F46E5"/>
                </a:solidFill>
                <a:latin typeface="Microsoft YaHei"/>
                <a:ea typeface="Microsoft YaHei"/>
              </a:rPr>
              <a:t>抖音</a:t>
            </a:r>
            <a:r>
              <a:rPr lang="en-US" sz="1350" b="1">
                <a:solidFill>
                  <a:srgbClr val="4F46E5"/>
                </a:solidFill>
                <a:latin typeface="Microsoft YaHei"/>
                <a:ea typeface="Microsoft YaHei"/>
              </a:rPr>
              <a:t> / </a:t>
            </a:r>
            <a:r>
              <a:rPr lang="zh-CN" sz="1350" b="1">
                <a:solidFill>
                  <a:srgbClr val="4F46E5"/>
                </a:solidFill>
                <a:latin typeface="Microsoft YaHei"/>
                <a:ea typeface="Microsoft YaHei"/>
              </a:rPr>
              <a:t>视频号</a:t>
            </a:r>
            <a:endParaRPr/>
          </a:p>
        </p:txBody>
      </p:sp>
      <p:sp>
        <p:nvSpPr>
          <p:cNvPr id="740" name="文本框 739" descr="{&quot;isTemplate&quot;:true,&quot;type&quot;:&quot;text&quot;}"/>
          <p:cNvSpPr txBox="1"/>
          <p:nvPr/>
        </p:nvSpPr>
        <p:spPr>
          <a:xfrm>
            <a:off x="5667375" y="3619500"/>
            <a:ext cx="24765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950">
                <a:solidFill>
                  <a:srgbClr val="94A3B8"/>
                </a:solidFill>
                <a:latin typeface="Microsoft YaHei"/>
                <a:ea typeface="Microsoft YaHei"/>
              </a:rPr>
              <a:t>▼</a:t>
            </a:r>
            <a:endParaRPr/>
          </a:p>
        </p:txBody>
      </p:sp>
      <p:sp>
        <p:nvSpPr>
          <p:cNvPr id="741" name="文本框 740" descr="{&quot;isTemplate&quot;:true,&quot;type&quot;:&quot;text&quot;}"/>
          <p:cNvSpPr txBox="1"/>
          <p:nvPr/>
        </p:nvSpPr>
        <p:spPr>
          <a:xfrm>
            <a:off x="5991225" y="3695700"/>
            <a:ext cx="5334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弹幕输入</a:t>
            </a:r>
            <a:endParaRPr/>
          </a:p>
        </p:txBody>
      </p:sp>
      <p:sp>
        <p:nvSpPr>
          <p:cNvPr id="742" name="圆角矩形 741"/>
          <p:cNvSpPr/>
          <p:nvPr/>
        </p:nvSpPr>
        <p:spPr>
          <a:xfrm>
            <a:off x="685800" y="4095750"/>
            <a:ext cx="2362200" cy="1190625"/>
          </a:xfrm>
          <a:prstGeom prst="roundRect">
            <a:avLst>
              <a:gd name="adj" fmla="val 96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743" name="图片 7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" y="4171950"/>
            <a:ext cx="228600" cy="228600"/>
          </a:xfrm>
          <a:prstGeom prst="rect">
            <a:avLst/>
          </a:prstGeom>
          <a:ln/>
        </p:spPr>
      </p:pic>
      <p:sp>
        <p:nvSpPr>
          <p:cNvPr id="744" name="文本框 743" descr="{&quot;isTemplate&quot;:true,&quot;type&quot;:&quot;text&quot;}"/>
          <p:cNvSpPr txBox="1"/>
          <p:nvPr/>
        </p:nvSpPr>
        <p:spPr>
          <a:xfrm>
            <a:off x="1200150" y="4181475"/>
            <a:ext cx="6858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293B"/>
                </a:solidFill>
                <a:latin typeface="Microsoft YaHei"/>
                <a:ea typeface="Microsoft YaHei"/>
              </a:rPr>
              <a:t>弹幕抓取</a:t>
            </a:r>
            <a:endParaRPr/>
          </a:p>
        </p:txBody>
      </p:sp>
      <p:sp>
        <p:nvSpPr>
          <p:cNvPr id="745" name="文本框 744" descr="{&quot;isTemplate&quot;:true,&quot;type&quot;:&quot;text&quot;}"/>
          <p:cNvSpPr txBox="1"/>
          <p:nvPr/>
        </p:nvSpPr>
        <p:spPr>
          <a:xfrm>
            <a:off x="876300" y="4495800"/>
            <a:ext cx="1981200" cy="7239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平台客户端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策略模式统一接入，归一化为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 DanmakuMessage</a:t>
            </a:r>
            <a:endParaRPr/>
          </a:p>
        </p:txBody>
      </p:sp>
      <p:sp>
        <p:nvSpPr>
          <p:cNvPr id="746" name="文本框 745" descr="{&quot;isTemplate&quot;:true,&quot;type&quot;:&quot;text&quot;}"/>
          <p:cNvSpPr txBox="1"/>
          <p:nvPr/>
        </p:nvSpPr>
        <p:spPr>
          <a:xfrm>
            <a:off x="3076575" y="4371975"/>
            <a:ext cx="219075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950">
                <a:solidFill>
                  <a:srgbClr val="94A3B8"/>
                </a:solidFill>
                <a:latin typeface="Microsoft YaHei"/>
                <a:ea typeface="Microsoft YaHei"/>
              </a:rPr>
              <a:t>▶</a:t>
            </a:r>
            <a:endParaRPr/>
          </a:p>
        </p:txBody>
      </p:sp>
      <p:sp>
        <p:nvSpPr>
          <p:cNvPr id="747" name="文本框 746" descr="{&quot;isTemplate&quot;:true,&quot;type&quot;:&quot;text&quot;}"/>
          <p:cNvSpPr txBox="1"/>
          <p:nvPr/>
        </p:nvSpPr>
        <p:spPr>
          <a:xfrm>
            <a:off x="3067050" y="4714875"/>
            <a:ext cx="238125" cy="3048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弹幕</a:t>
            </a:r>
            <a:endParaRPr/>
          </a:p>
        </p:txBody>
      </p:sp>
      <p:sp>
        <p:nvSpPr>
          <p:cNvPr id="748" name="圆角矩形 747"/>
          <p:cNvSpPr/>
          <p:nvPr/>
        </p:nvSpPr>
        <p:spPr>
          <a:xfrm>
            <a:off x="3419475" y="4095750"/>
            <a:ext cx="2362200" cy="1190625"/>
          </a:xfrm>
          <a:prstGeom prst="roundRect">
            <a:avLst>
              <a:gd name="adj" fmla="val 96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0891B2">
                <a:alpha val="3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749" name="图片 74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9975" y="4171950"/>
            <a:ext cx="228600" cy="228600"/>
          </a:xfrm>
          <a:prstGeom prst="rect">
            <a:avLst/>
          </a:prstGeom>
          <a:ln/>
        </p:spPr>
      </p:pic>
      <p:sp>
        <p:nvSpPr>
          <p:cNvPr id="750" name="文本框 749" descr="{&quot;isTemplate&quot;:true,&quot;type&quot;:&quot;text&quot;}"/>
          <p:cNvSpPr txBox="1"/>
          <p:nvPr/>
        </p:nvSpPr>
        <p:spPr>
          <a:xfrm>
            <a:off x="3933825" y="4181475"/>
            <a:ext cx="6858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293B"/>
                </a:solidFill>
                <a:latin typeface="Microsoft YaHei"/>
                <a:ea typeface="Microsoft YaHei"/>
              </a:rPr>
              <a:t>直播大脑</a:t>
            </a:r>
            <a:endParaRPr/>
          </a:p>
        </p:txBody>
      </p:sp>
      <p:sp>
        <p:nvSpPr>
          <p:cNvPr id="751" name="文本框 750" descr="{&quot;isTemplate&quot;:true,&quot;type&quot;:&quot;text&quot;}"/>
          <p:cNvSpPr txBox="1"/>
          <p:nvPr/>
        </p:nvSpPr>
        <p:spPr>
          <a:xfrm>
            <a:off x="3609975" y="4495800"/>
            <a:ext cx="1981200" cy="7239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话术引擎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(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优先级队列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+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加权随机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) · AI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大脑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(LLM+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人设记忆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+RAG)</a:t>
            </a:r>
            <a:endParaRPr/>
          </a:p>
        </p:txBody>
      </p:sp>
      <p:sp>
        <p:nvSpPr>
          <p:cNvPr id="752" name="文本框 751" descr="{&quot;isTemplate&quot;:true,&quot;type&quot;:&quot;text&quot;}"/>
          <p:cNvSpPr txBox="1"/>
          <p:nvPr/>
        </p:nvSpPr>
        <p:spPr>
          <a:xfrm>
            <a:off x="5934075" y="4371975"/>
            <a:ext cx="219075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950">
                <a:solidFill>
                  <a:srgbClr val="94A3B8"/>
                </a:solidFill>
                <a:latin typeface="Microsoft YaHei"/>
                <a:ea typeface="Microsoft YaHei"/>
              </a:rPr>
              <a:t>▶</a:t>
            </a:r>
            <a:endParaRPr/>
          </a:p>
        </p:txBody>
      </p:sp>
      <p:sp>
        <p:nvSpPr>
          <p:cNvPr id="753" name="文本框 752" descr="{&quot;isTemplate&quot;:true,&quot;type&quot;:&quot;text&quot;}"/>
          <p:cNvSpPr txBox="1"/>
          <p:nvPr/>
        </p:nvSpPr>
        <p:spPr>
          <a:xfrm>
            <a:off x="5800725" y="4714875"/>
            <a:ext cx="476250" cy="3048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回复文本</a:t>
            </a:r>
            <a:endParaRPr/>
          </a:p>
        </p:txBody>
      </p:sp>
      <p:sp>
        <p:nvSpPr>
          <p:cNvPr id="754" name="圆角矩形 753"/>
          <p:cNvSpPr/>
          <p:nvPr/>
        </p:nvSpPr>
        <p:spPr>
          <a:xfrm>
            <a:off x="6391275" y="4095750"/>
            <a:ext cx="2362200" cy="1190625"/>
          </a:xfrm>
          <a:prstGeom prst="roundRect">
            <a:avLst>
              <a:gd name="adj" fmla="val 96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755" name="图片 75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1775" y="4171950"/>
            <a:ext cx="228600" cy="228600"/>
          </a:xfrm>
          <a:prstGeom prst="rect">
            <a:avLst/>
          </a:prstGeom>
          <a:ln/>
        </p:spPr>
      </p:pic>
      <p:sp>
        <p:nvSpPr>
          <p:cNvPr id="756" name="文本框 755" descr="{&quot;isTemplate&quot;:true,&quot;type&quot;:&quot;text&quot;}"/>
          <p:cNvSpPr txBox="1"/>
          <p:nvPr/>
        </p:nvSpPr>
        <p:spPr>
          <a:xfrm>
            <a:off x="6905625" y="4181475"/>
            <a:ext cx="12954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E293B"/>
                </a:solidFill>
                <a:latin typeface="Microsoft YaHei"/>
                <a:ea typeface="Microsoft YaHei"/>
              </a:rPr>
              <a:t>LiveTalking </a:t>
            </a:r>
            <a:r>
              <a:rPr lang="zh-CN" sz="1350" b="1">
                <a:solidFill>
                  <a:srgbClr val="1E293B"/>
                </a:solidFill>
                <a:latin typeface="Microsoft YaHei"/>
                <a:ea typeface="Microsoft YaHei"/>
              </a:rPr>
              <a:t>引擎</a:t>
            </a:r>
            <a:endParaRPr/>
          </a:p>
        </p:txBody>
      </p:sp>
      <p:sp>
        <p:nvSpPr>
          <p:cNvPr id="757" name="文本框 756" descr="{&quot;isTemplate&quot;:true,&quot;type&quot;:&quot;text&quot;}"/>
          <p:cNvSpPr txBox="1"/>
          <p:nvPr/>
        </p:nvSpPr>
        <p:spPr>
          <a:xfrm>
            <a:off x="6581775" y="4495800"/>
            <a:ext cx="1981200" cy="7239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GPU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推理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 · /human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文本驱动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 · LLM(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可选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)→TTS→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口型→后处理</a:t>
            </a:r>
            <a:endParaRPr/>
          </a:p>
        </p:txBody>
      </p:sp>
      <p:sp>
        <p:nvSpPr>
          <p:cNvPr id="758" name="文本框 757" descr="{&quot;isTemplate&quot;:true,&quot;type&quot;:&quot;text&quot;}"/>
          <p:cNvSpPr txBox="1"/>
          <p:nvPr/>
        </p:nvSpPr>
        <p:spPr>
          <a:xfrm>
            <a:off x="8839200" y="4371975"/>
            <a:ext cx="219075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950">
                <a:solidFill>
                  <a:srgbClr val="94A3B8"/>
                </a:solidFill>
                <a:latin typeface="Microsoft YaHei"/>
                <a:ea typeface="Microsoft YaHei"/>
              </a:rPr>
              <a:t>▶</a:t>
            </a:r>
            <a:endParaRPr/>
          </a:p>
        </p:txBody>
      </p:sp>
      <p:sp>
        <p:nvSpPr>
          <p:cNvPr id="759" name="文本框 758" descr="{&quot;isTemplate&quot;:true,&quot;type&quot;:&quot;text&quot;}"/>
          <p:cNvSpPr txBox="1"/>
          <p:nvPr/>
        </p:nvSpPr>
        <p:spPr>
          <a:xfrm>
            <a:off x="8772525" y="4714875"/>
            <a:ext cx="352425" cy="3048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音视频</a:t>
            </a:r>
            <a:endParaRPr/>
          </a:p>
        </p:txBody>
      </p:sp>
      <p:sp>
        <p:nvSpPr>
          <p:cNvPr id="760" name="圆角矩形 759"/>
          <p:cNvSpPr/>
          <p:nvPr/>
        </p:nvSpPr>
        <p:spPr>
          <a:xfrm>
            <a:off x="9239250" y="4095750"/>
            <a:ext cx="2362200" cy="1190625"/>
          </a:xfrm>
          <a:prstGeom prst="roundRect">
            <a:avLst>
              <a:gd name="adj" fmla="val 96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0891B2">
                <a:alpha val="3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761" name="图片 76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9750" y="4286250"/>
            <a:ext cx="228600" cy="228600"/>
          </a:xfrm>
          <a:prstGeom prst="rect">
            <a:avLst/>
          </a:prstGeom>
          <a:ln/>
        </p:spPr>
      </p:pic>
      <p:sp>
        <p:nvSpPr>
          <p:cNvPr id="762" name="文本框 761" descr="{&quot;isTemplate&quot;:true,&quot;type&quot;:&quot;text&quot;}"/>
          <p:cNvSpPr txBox="1"/>
          <p:nvPr/>
        </p:nvSpPr>
        <p:spPr>
          <a:xfrm>
            <a:off x="9753600" y="4295775"/>
            <a:ext cx="6858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293B"/>
                </a:solidFill>
                <a:latin typeface="Microsoft YaHei"/>
                <a:ea typeface="Microsoft YaHei"/>
              </a:rPr>
              <a:t>直播工具</a:t>
            </a:r>
            <a:endParaRPr/>
          </a:p>
        </p:txBody>
      </p:sp>
      <p:sp>
        <p:nvSpPr>
          <p:cNvPr id="763" name="文本框 762" descr="{&quot;isTemplate&quot;:true,&quot;type&quot;:&quot;text&quot;}"/>
          <p:cNvSpPr txBox="1"/>
          <p:nvPr/>
        </p:nvSpPr>
        <p:spPr>
          <a:xfrm>
            <a:off x="9429750" y="4610100"/>
            <a:ext cx="1981200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OBS /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直播伴侣抓屏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或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虚拟摄像头采集，推送直播平台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padding: 0, flexDirection: 'column', justifyContent: 'center', alignItems: 'center' }}&gt;&#10;    &lt;Image src=&quot;resources/images/gvp_background.jpg&quot; style={{ position: 'absolute', top: 0, left: 0, width: 1280, height: 720, objectFit: 'cover', }} /&gt;&#10;    &lt;Box style={{ flexDirection: 'column', alignItems: 'center', gap: 24, zIndex: 1 }}&gt;&#10;        &lt;Text style={{ fontSize: 20, color: '#0891B2', letterSpacing: 6, fontWeight: '600' }}&gt;PART 01&lt;/Text&gt;&#10;        &lt;Box style={{ width: 80, height: 4, background: 'linear-gradient(90deg, #2563EB 0%, #0891B2 100%)', borderRadius: 2 }} /&gt;&#10;        &lt;Text style={{ fontSize: 60, fontWeight: 'bold', color: '#1E293B', letterSpacing: 2 }}&gt;数字人技术背景&lt;/Text&gt;&#10;        &lt;Text style={{ fontSize: 22, color: '#475569', marginTop: 8 }}&gt;神经渲染 vs 3D 渲染 · 主流口型驱动方案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1" name="图片 97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972" name="文本框 971" descr="{&quot;isTemplate&quot;:true,&quot;type&quot;:&quot;text&quot;}"/>
          <p:cNvSpPr txBox="1"/>
          <p:nvPr/>
        </p:nvSpPr>
        <p:spPr>
          <a:xfrm>
            <a:off x="5514975" y="2447925"/>
            <a:ext cx="117157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 b="1" spc="450" dirty="0">
                <a:solidFill>
                  <a:srgbClr val="0891B2"/>
                </a:solidFill>
                <a:latin typeface="Microsoft YaHei"/>
                <a:ea typeface="Microsoft YaHei"/>
              </a:rPr>
              <a:t>PART 04</a:t>
            </a:r>
            <a:endParaRPr dirty="0"/>
          </a:p>
        </p:txBody>
      </p:sp>
      <p:sp>
        <p:nvSpPr>
          <p:cNvPr id="973" name="圆角矩形 972"/>
          <p:cNvSpPr/>
          <p:nvPr/>
        </p:nvSpPr>
        <p:spPr>
          <a:xfrm>
            <a:off x="5715000" y="2905125"/>
            <a:ext cx="7620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0891B2"/>
              </a:gs>
            </a:gsLst>
            <a:lin ang="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974" name="文本框 973" descr="{&quot;isTemplate&quot;:true,&quot;type&quot;:&quot;text&quot;}"/>
          <p:cNvSpPr txBox="1"/>
          <p:nvPr/>
        </p:nvSpPr>
        <p:spPr>
          <a:xfrm>
            <a:off x="3857625" y="3228976"/>
            <a:ext cx="4133850" cy="6858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en-US" sz="4500" b="1" spc="150" dirty="0" err="1">
                <a:solidFill>
                  <a:srgbClr val="1E293B"/>
                </a:solidFill>
                <a:latin typeface="Microsoft YaHei"/>
                <a:ea typeface="Microsoft YaHei"/>
              </a:rPr>
              <a:t>典型案例</a:t>
            </a:r>
            <a:endParaRPr dirty="0"/>
          </a:p>
        </p:txBody>
      </p:sp>
      <p:sp>
        <p:nvSpPr>
          <p:cNvPr id="975" name="文本框 974" descr="{&quot;isTemplate&quot;:true,&quot;type&quot;:&quot;text&quot;}"/>
          <p:cNvSpPr txBox="1"/>
          <p:nvPr/>
        </p:nvSpPr>
        <p:spPr>
          <a:xfrm>
            <a:off x="4200525" y="4162425"/>
            <a:ext cx="37909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594537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transparent', padding: '90px 60px 16px', flexDirection: 'column' }}&gt;&#10;    &lt;Image src=&quot;resources/images/gvp_background.jpg&quot; style={{ position: 'absolute', top: 0, left: 0, width: 1280, height: 720, objectFit: 'cover', }} /&gt;&#10;    &lt;Box style={{ zIndex: 1, height: 56, flexDirection: 'column', gap: 2, justifyContent: 'center' }}&gt;&#10;        &lt;Box style={{ flexDirection: 'row', alignItems: 'center', gap: 10 }}&gt;&#10;            &lt;Text style={{ fontSize: 30, fontWeight: 'bold', color: '#1E293B' }}&gt;智能讲解员&lt;/Text&gt;&#10;            &lt;Box style={{ background: 'rgba(37, 99, 235, 0.12)', borderRadius: 4, padding: '2px 10px' }}&gt;&#10;                &lt;Text style={{ fontSize: 13, color: '#2563EB', fontWeight: 'bold' }}&gt;场景一&lt;/Text&gt;&#10;            &lt;/Box&gt;&#10;        &lt;/Box&gt;&#10;        &lt;Text style={{ fontSize: 14, color: '#475569' }}&gt;展厅 / 产业园全天候自主讲解 · 三维数字孪生园区联动 · 全域数据可视化&lt;/Text&gt;&#10;    &lt;/Box&gt;&#10;&#10;    &lt;Box style={{ zIndex: 1, flexDirection: 'row', gap: 16, flex: 1, marginTop: 10 }}&gt;&#10;        &lt;Box style={{ flex: 1.2, background: 'rgba(255, 255, 255, 0.82)', borderRadius: 10, padding: 12, flexDirection: 'column', gap: 8, border: '1px solid rgba(203, 213, 225, 0.4)', justifyContent: 'center', alignItems: 'center' }}&gt;&#10;            &lt;Image src=&quot;resources/images/cases/case_explainer_a.png&quot; style={{ width: 430, height: 230, objectFit: 'contain', borderRadius: 8 }} /&gt;&#10;            &lt;Image src=&quot;resources/images/cases/case_explainer_b.png&quot; style={{ width: 430, height: 230, objectFit: 'contain', borderRadius: 8 }} /&gt;&#10;            &lt;Text style={{ fontSize: 12, color: '#475569', textAlign: 'center' }}&gt;主动迎宾、像真人一样互动的讲解员数字人&lt;/Text&gt;&#10;        &lt;/Box&gt;&#10;&#10;        &lt;Box style={{ flex: 1, flexDirection: 'column', gap: 12 }}&gt;&#10;            &lt;Box style={{ flex: 1, background: 'rgba(255, 255, 255, 0.82)', borderRadius: 10, padding: 16, flexDirection: 'column', gap: 8, border: '1px solid rgba(203, 213, 225, 0.4)' }}&gt;&#10;                &lt;Text style={{ fontSize: 16, fontWeight: 'bold', color: '#2563EB' }}&gt;定位&lt;/Text&gt;&#10;                &lt;Text style={{ fontSize: 13, color: '#475569', lineHeight: 1.6 }}&gt;主动迎宾，像真人一样互动。7×24 小时不间断深度介绍公司、讲产品、说文化，基于知识库进行智能问答，真正解放重复解说的人力。&lt;/Text&gt;&#10;            &lt;/Box&gt;&#10;            &lt;Box style={{ flex: 1, background: 'rgba(255, 255, 255, 0.82)', borderRadius: 10, padding: 16, flexDirection: 'column', gap: 8, border: '1px solid rgba(203, 213, 225, 0.4)' }}&gt;&#10;                &lt;Text style={{ fontSize: 16, fontWeight: 'bold', color: '#0891B2' }}&gt;落地场景&lt;/Text&gt;&#10;                &lt;Box style={{ flexDirection: 'column', gap: 5 }}&gt;&#10;                    &lt;Text style={{ fontSize: 13, color: '#475569' }}&gt;• 展厅 / 产业园 / 企业展厅全天候自主讲解&lt;/Text&gt;&#10;                    &lt;Text style={{ fontSize: 13, color: '#475569' }}&gt;• 三维数字孪生园区联动，全域数据可视化展示&lt;/Text&gt;&#10;                    &lt;Text style={{ fontSize: 13, color: '#475569' }}&gt;• 支持多模态交互，适配大屏与移动端&lt;/Text&gt;&#10;                &lt;/Box&gt;&#10;            &lt;/Box&gt;&#10;        &lt;/Box&gt;&#10;    &lt;/Box&gt;&#10;&#10;    &lt;Box style={{ zIndex: 1, height: 28, flexDirection: 'row', justifyContent: 'space-between', alignItems: 'center', marginTop: 6 }}&gt;&#10;        &lt;Text style={{ fontSize: 13, color: '#475569' }}&gt;价值：替代重复人工解说，访客随时获得标准化、有温度的公司与产品讲解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8" name="图片 100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009" name="文本框 1008" descr="{&quot;isTemplate&quot;:true,&quot;type&quot;:&quot;text&quot;}"/>
          <p:cNvSpPr txBox="1"/>
          <p:nvPr/>
        </p:nvSpPr>
        <p:spPr>
          <a:xfrm>
            <a:off x="571500" y="866775"/>
            <a:ext cx="142875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E293B"/>
                </a:solidFill>
                <a:latin typeface="Microsoft YaHei"/>
                <a:ea typeface="Microsoft YaHei"/>
              </a:rPr>
              <a:t>智能讲解员</a:t>
            </a:r>
            <a:endParaRPr/>
          </a:p>
        </p:txBody>
      </p:sp>
      <p:sp>
        <p:nvSpPr>
          <p:cNvPr id="1010" name="圆角矩形 1009"/>
          <p:cNvSpPr/>
          <p:nvPr/>
        </p:nvSpPr>
        <p:spPr>
          <a:xfrm>
            <a:off x="2095500" y="942975"/>
            <a:ext cx="561975" cy="190500"/>
          </a:xfrm>
          <a:prstGeom prst="roundRect">
            <a:avLst>
              <a:gd name="adj" fmla="val 20000"/>
            </a:avLst>
          </a:prstGeom>
          <a:solidFill>
            <a:srgbClr val="2563EB">
              <a:alpha val="1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11" name="文本框 1010" descr="{&quot;isTemplate&quot;:true,&quot;type&quot;:&quot;text&quot;}"/>
          <p:cNvSpPr txBox="1"/>
          <p:nvPr/>
        </p:nvSpPr>
        <p:spPr>
          <a:xfrm>
            <a:off x="2190750" y="962025"/>
            <a:ext cx="3714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2563EB"/>
                </a:solidFill>
                <a:latin typeface="Microsoft YaHei"/>
                <a:ea typeface="Microsoft YaHei"/>
              </a:rPr>
              <a:t>场景一</a:t>
            </a:r>
            <a:endParaRPr/>
          </a:p>
        </p:txBody>
      </p:sp>
      <p:sp>
        <p:nvSpPr>
          <p:cNvPr id="1012" name="文本框 1011" descr="{&quot;isTemplate&quot;:true,&quot;type&quot;:&quot;text&quot;}"/>
          <p:cNvSpPr txBox="1"/>
          <p:nvPr/>
        </p:nvSpPr>
        <p:spPr>
          <a:xfrm>
            <a:off x="571500" y="1228725"/>
            <a:ext cx="110490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展厅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产业园全天候自主讲解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三维数字孪生园区联动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全域数据可视化</a:t>
            </a:r>
            <a:endParaRPr/>
          </a:p>
        </p:txBody>
      </p:sp>
      <p:sp>
        <p:nvSpPr>
          <p:cNvPr id="1013" name="圆角矩形 1012"/>
          <p:cNvSpPr/>
          <p:nvPr/>
        </p:nvSpPr>
        <p:spPr>
          <a:xfrm>
            <a:off x="571500" y="1485900"/>
            <a:ext cx="5943600" cy="4905375"/>
          </a:xfrm>
          <a:prstGeom prst="roundRect">
            <a:avLst>
              <a:gd name="adj" fmla="val 1942"/>
            </a:avLst>
          </a:prstGeom>
          <a:solidFill>
            <a:srgbClr val="FFFFFF">
              <a:alpha val="82000"/>
            </a:srgbClr>
          </a:solidFill>
          <a:ln w="12700">
            <a:solidFill>
              <a:srgbClr val="CBD5E1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014" name="图片 1013"/>
          <p:cNvPicPr>
            <a:picLocks noChangeAspect="1"/>
          </p:cNvPicPr>
          <p:nvPr/>
        </p:nvPicPr>
        <p:blipFill>
          <a:blip r:embed="rId3"/>
          <a:srcRect t="7928" b="7928"/>
          <a:stretch>
            <a:fillRect/>
          </a:stretch>
        </p:blipFill>
        <p:spPr>
          <a:xfrm>
            <a:off x="723900" y="2271712"/>
            <a:ext cx="5698436" cy="3048000"/>
          </a:xfrm>
          <a:prstGeom prst="roundRect">
            <a:avLst>
              <a:gd name="adj" fmla="val 3478"/>
            </a:avLst>
          </a:prstGeom>
          <a:ln/>
        </p:spPr>
      </p:pic>
      <p:sp>
        <p:nvSpPr>
          <p:cNvPr id="1016" name="文本框 1015" descr="{&quot;isTemplate&quot;:true,&quot;type&quot;:&quot;text&quot;}"/>
          <p:cNvSpPr txBox="1"/>
          <p:nvPr/>
        </p:nvSpPr>
        <p:spPr>
          <a:xfrm>
            <a:off x="2457450" y="6134100"/>
            <a:ext cx="21717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主动迎宾、像真人一样互动的讲解员数字人</a:t>
            </a:r>
            <a:endParaRPr/>
          </a:p>
        </p:txBody>
      </p:sp>
      <p:sp>
        <p:nvSpPr>
          <p:cNvPr id="1017" name="圆角矩形 1016"/>
          <p:cNvSpPr/>
          <p:nvPr/>
        </p:nvSpPr>
        <p:spPr>
          <a:xfrm>
            <a:off x="6667500" y="1485900"/>
            <a:ext cx="4953000" cy="2362200"/>
          </a:xfrm>
          <a:prstGeom prst="roundRect">
            <a:avLst>
              <a:gd name="adj" fmla="val 4032"/>
            </a:avLst>
          </a:prstGeom>
          <a:solidFill>
            <a:srgbClr val="FFFFFF">
              <a:alpha val="82000"/>
            </a:srgbClr>
          </a:solidFill>
          <a:ln w="12700">
            <a:solidFill>
              <a:srgbClr val="CBD5E1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18" name="文本框 1017" descr="{&quot;isTemplate&quot;:true,&quot;type&quot;:&quot;text&quot;}"/>
          <p:cNvSpPr txBox="1"/>
          <p:nvPr/>
        </p:nvSpPr>
        <p:spPr>
          <a:xfrm>
            <a:off x="6819900" y="1638300"/>
            <a:ext cx="46482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563EB"/>
                </a:solidFill>
                <a:latin typeface="Microsoft YaHei"/>
                <a:ea typeface="Microsoft YaHei"/>
              </a:rPr>
              <a:t>定位</a:t>
            </a:r>
            <a:endParaRPr/>
          </a:p>
        </p:txBody>
      </p:sp>
      <p:sp>
        <p:nvSpPr>
          <p:cNvPr id="1019" name="文本框 1018" descr="{&quot;isTemplate&quot;:true,&quot;type&quot;:&quot;text&quot;}"/>
          <p:cNvSpPr txBox="1"/>
          <p:nvPr/>
        </p:nvSpPr>
        <p:spPr>
          <a:xfrm>
            <a:off x="6819900" y="1905000"/>
            <a:ext cx="4648200" cy="4762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主动迎宾，像真人一样互动。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7×24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小时不间断深度介绍公司、讲产品、说文化，基于知识库进行智能问答，真正解放重复解说的人力。</a:t>
            </a:r>
            <a:endParaRPr/>
          </a:p>
        </p:txBody>
      </p:sp>
      <p:sp>
        <p:nvSpPr>
          <p:cNvPr id="1020" name="圆角矩形 1019"/>
          <p:cNvSpPr/>
          <p:nvPr/>
        </p:nvSpPr>
        <p:spPr>
          <a:xfrm>
            <a:off x="6667500" y="3962400"/>
            <a:ext cx="4953000" cy="2428875"/>
          </a:xfrm>
          <a:prstGeom prst="roundRect">
            <a:avLst>
              <a:gd name="adj" fmla="val 3922"/>
            </a:avLst>
          </a:prstGeom>
          <a:solidFill>
            <a:srgbClr val="FFFFFF">
              <a:alpha val="82000"/>
            </a:srgbClr>
          </a:solidFill>
          <a:ln w="12700">
            <a:solidFill>
              <a:srgbClr val="CBD5E1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21" name="文本框 1020" descr="{&quot;isTemplate&quot;:true,&quot;type&quot;:&quot;text&quot;}"/>
          <p:cNvSpPr txBox="1"/>
          <p:nvPr/>
        </p:nvSpPr>
        <p:spPr>
          <a:xfrm>
            <a:off x="6819900" y="4114800"/>
            <a:ext cx="46482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891B2"/>
                </a:solidFill>
                <a:latin typeface="Microsoft YaHei"/>
                <a:ea typeface="Microsoft YaHei"/>
              </a:rPr>
              <a:t>落地场景</a:t>
            </a:r>
            <a:endParaRPr/>
          </a:p>
        </p:txBody>
      </p:sp>
      <p:sp>
        <p:nvSpPr>
          <p:cNvPr id="1022" name="文本框 1021" descr="{&quot;isTemplate&quot;:true,&quot;type&quot;:&quot;text&quot;}"/>
          <p:cNvSpPr txBox="1"/>
          <p:nvPr/>
        </p:nvSpPr>
        <p:spPr>
          <a:xfrm>
            <a:off x="6819900" y="4381500"/>
            <a:ext cx="46482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•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展厅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产业园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企业展厅全天候自主讲解</a:t>
            </a:r>
            <a:endParaRPr/>
          </a:p>
        </p:txBody>
      </p:sp>
      <p:sp>
        <p:nvSpPr>
          <p:cNvPr id="1023" name="文本框 1022" descr="{&quot;isTemplate&quot;:true,&quot;type&quot;:&quot;text&quot;}"/>
          <p:cNvSpPr txBox="1"/>
          <p:nvPr/>
        </p:nvSpPr>
        <p:spPr>
          <a:xfrm>
            <a:off x="6819900" y="4581525"/>
            <a:ext cx="46482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•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三维数字孪生园区联动，全域数据可视化展示</a:t>
            </a:r>
            <a:endParaRPr/>
          </a:p>
        </p:txBody>
      </p:sp>
      <p:sp>
        <p:nvSpPr>
          <p:cNvPr id="1024" name="文本框 1023" descr="{&quot;isTemplate&quot;:true,&quot;type&quot;:&quot;text&quot;}"/>
          <p:cNvSpPr txBox="1"/>
          <p:nvPr/>
        </p:nvSpPr>
        <p:spPr>
          <a:xfrm>
            <a:off x="6819900" y="4781550"/>
            <a:ext cx="46482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•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支持多模态交互，适配大屏与移动端</a:t>
            </a:r>
            <a:endParaRPr/>
          </a:p>
        </p:txBody>
      </p:sp>
      <p:sp>
        <p:nvSpPr>
          <p:cNvPr id="1025" name="文本框 1024" descr="{&quot;isTemplate&quot;:true,&quot;type&quot;:&quot;text&quot;}"/>
          <p:cNvSpPr txBox="1"/>
          <p:nvPr/>
        </p:nvSpPr>
        <p:spPr>
          <a:xfrm>
            <a:off x="571500" y="6505575"/>
            <a:ext cx="40862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价值：替代重复人工解说，访客随时获得标准化、有温度的公司与产品讲解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770054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transparent', padding: '90px 60px 16px', flexDirection: 'column' }}&gt;&#10;    &lt;Image src=&quot;resources/images/gvp_background.jpg&quot; style={{ position: 'absolute', top: 0, left: 0, width: 1280, height: 720, objectFit: 'cover', }} /&gt;&#10;    &lt;Box style={{ zIndex: 1, height: 56, flexDirection: 'column', gap: 2, justifyContent: 'center' }}&gt;&#10;        &lt;Box style={{ flexDirection: 'row', alignItems: 'center', gap: 10 }}&gt;&#10;            &lt;Text style={{ fontSize: 30, fontWeight: 'bold', color: '#1E293B' }}&gt;智能培训师&lt;/Text&gt;&#10;            &lt;Box style={{ background: 'rgba(37, 99, 235, 0.12)', borderRadius: 4, padding: '2px 10px' }}&gt;&#10;                &lt;Text style={{ fontSize: 13, color: '#2563EB', fontWeight: 'bold' }}&gt;场景二&lt;/Text&gt;&#10;            &lt;/Box&gt;&#10;        &lt;/Box&gt;&#10;        &lt;Text style={{ fontSize: 14, color: '#475569' }}&gt;永不疲倦的标准化培训导师 · 随时随地随学随问&lt;/Text&gt;&#10;    &lt;/Box&gt;&#10;&#10;    &lt;Box style={{ zIndex: 1, flexDirection: 'row', gap: 16, flex: 1, marginTop: 10 }}&gt;&#10;        &lt;Box style={{ flex: 1.2, background: 'rgba(255, 255, 255, 0.82)', borderRadius: 10, padding: 12, flexDirection: 'column', gap: 8, border: '1px solid rgba(203, 213, 225, 0.4)', justifyContent: 'center', alignItems: 'center' }}&gt;&#10;            &lt;Image src=&quot;resources/images/cases/case_trainer.png&quot; style={{ width: 560, height: 380, objectFit: 'contain', borderRadius: 8 }} /&gt;&#10;            &lt;Text style={{ fontSize: 12, color: '#475569', textAlign: 'center' }}&gt;可对话、可答疑的培训师数字人&lt;/Text&gt;&#10;        &lt;/Box&gt;&#10;&#10;        &lt;Box style={{ flex: 1, flexDirection: 'column', gap: 12 }}&gt;&#10;            &lt;Box style={{ flex: 1, background: 'rgba(255, 255, 255, 0.82)', borderRadius: 10, padding: 16, flexDirection: 'column', gap: 8, border: '1px solid rgba(203, 213, 225, 0.4)' }}&gt;&#10;                &lt;Text style={{ fontSize: 16, fontWeight: 'bold', color: '#2563EB' }}&gt;定位&lt;/Text&gt;&#10;                &lt;Text style={{ fontSize: 13, color: '#475569', lineHeight: 1.6 }}&gt;打造一个永不疲倦的标准化培训导师，覆盖新员工培训、岗位培训、企业宣传、产品宣讲、案例分享等场景。&lt;/Text&gt;&#10;            &lt;/Box&gt;&#10;            &lt;Box style={{ flex: 1, background: 'rgba(255, 255, 255, 0.82)', borderRadius: 10, padding: 16, flexDirection: 'column', gap: 8, border: '1px solid rgba(203, 213, 225, 0.4)' }}&gt;&#10;                &lt;Text style={{ fontSize: 16, fontWeight: 'bold', color: '#0891B2' }}&gt;商业价值&lt;/Text&gt;&#10;                &lt;Box style={{ flexDirection: 'column', gap: 5 }}&gt;&#10;                    &lt;Text style={{ fontSize: 13, color: '#475569' }}&gt;• 大幅减少集中培训成本，实现“随时、随地、随学、随问”&lt;/Text&gt;&#10;                    &lt;Text style={{ fontSize: 13, color: '#475569' }}&gt;• 加速新员工上岗，促进老员工能力升级&lt;/Text&gt;&#10;                    &lt;Text style={{ fontSize: 13, color: '#475569' }}&gt;• 培训内容标准化、可复盘、可规模化复制&lt;/Text&gt;&#10;                &lt;/Box&gt;&#10;            &lt;/Box&gt;&#10;        &lt;/Box&gt;&#10;    &lt;/Box&gt;&#10;&#10;    &lt;Box style={{ zIndex: 1, height: 28, flexDirection: 'row', justifyContent: 'space-between', alignItems: 'center', marginTop: 6 }}&gt;&#10;        &lt;Text style={{ fontSize: 13, color: '#475569' }}&gt;价值：把培训从“集中排期”变为“按需随时”，显著降低组织培训成本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图片 10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028" name="文本框 1027" descr="{&quot;isTemplate&quot;:true,&quot;type&quot;:&quot;text&quot;}"/>
          <p:cNvSpPr txBox="1"/>
          <p:nvPr/>
        </p:nvSpPr>
        <p:spPr>
          <a:xfrm>
            <a:off x="571500" y="866775"/>
            <a:ext cx="142875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E293B"/>
                </a:solidFill>
                <a:latin typeface="Microsoft YaHei"/>
                <a:ea typeface="Microsoft YaHei"/>
              </a:rPr>
              <a:t>智能培训师</a:t>
            </a:r>
            <a:endParaRPr/>
          </a:p>
        </p:txBody>
      </p:sp>
      <p:sp>
        <p:nvSpPr>
          <p:cNvPr id="1029" name="圆角矩形 1028"/>
          <p:cNvSpPr/>
          <p:nvPr/>
        </p:nvSpPr>
        <p:spPr>
          <a:xfrm>
            <a:off x="2095500" y="942975"/>
            <a:ext cx="561975" cy="190500"/>
          </a:xfrm>
          <a:prstGeom prst="roundRect">
            <a:avLst>
              <a:gd name="adj" fmla="val 20000"/>
            </a:avLst>
          </a:prstGeom>
          <a:solidFill>
            <a:srgbClr val="2563EB">
              <a:alpha val="1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30" name="文本框 1029" descr="{&quot;isTemplate&quot;:true,&quot;type&quot;:&quot;text&quot;}"/>
          <p:cNvSpPr txBox="1"/>
          <p:nvPr/>
        </p:nvSpPr>
        <p:spPr>
          <a:xfrm>
            <a:off x="2190750" y="962025"/>
            <a:ext cx="3714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2563EB"/>
                </a:solidFill>
                <a:latin typeface="Microsoft YaHei"/>
                <a:ea typeface="Microsoft YaHei"/>
              </a:rPr>
              <a:t>场景二</a:t>
            </a:r>
            <a:endParaRPr/>
          </a:p>
        </p:txBody>
      </p:sp>
      <p:sp>
        <p:nvSpPr>
          <p:cNvPr id="1031" name="文本框 1030" descr="{&quot;isTemplate&quot;:true,&quot;type&quot;:&quot;text&quot;}"/>
          <p:cNvSpPr txBox="1"/>
          <p:nvPr/>
        </p:nvSpPr>
        <p:spPr>
          <a:xfrm>
            <a:off x="571500" y="1228725"/>
            <a:ext cx="110490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永不疲倦的标准化培训导师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随时随地随学随问</a:t>
            </a:r>
            <a:endParaRPr/>
          </a:p>
        </p:txBody>
      </p:sp>
      <p:sp>
        <p:nvSpPr>
          <p:cNvPr id="1032" name="圆角矩形 1031"/>
          <p:cNvSpPr/>
          <p:nvPr/>
        </p:nvSpPr>
        <p:spPr>
          <a:xfrm>
            <a:off x="571500" y="1485900"/>
            <a:ext cx="5943600" cy="4895850"/>
          </a:xfrm>
          <a:prstGeom prst="roundRect">
            <a:avLst>
              <a:gd name="adj" fmla="val 1946"/>
            </a:avLst>
          </a:prstGeom>
          <a:solidFill>
            <a:srgbClr val="FFFFFF">
              <a:alpha val="82000"/>
            </a:srgbClr>
          </a:solidFill>
          <a:ln w="12700">
            <a:solidFill>
              <a:srgbClr val="CBD5E1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34" name="文本框 1033" descr="{&quot;isTemplate&quot;:true,&quot;type&quot;:&quot;text&quot;}"/>
          <p:cNvSpPr txBox="1"/>
          <p:nvPr/>
        </p:nvSpPr>
        <p:spPr>
          <a:xfrm>
            <a:off x="2743200" y="5715000"/>
            <a:ext cx="16002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可对话、可答疑的培训师数字人</a:t>
            </a:r>
            <a:endParaRPr/>
          </a:p>
        </p:txBody>
      </p:sp>
      <p:sp>
        <p:nvSpPr>
          <p:cNvPr id="1035" name="圆角矩形 1034"/>
          <p:cNvSpPr/>
          <p:nvPr/>
        </p:nvSpPr>
        <p:spPr>
          <a:xfrm>
            <a:off x="6667500" y="1485900"/>
            <a:ext cx="4953000" cy="2352675"/>
          </a:xfrm>
          <a:prstGeom prst="roundRect">
            <a:avLst>
              <a:gd name="adj" fmla="val 4049"/>
            </a:avLst>
          </a:prstGeom>
          <a:solidFill>
            <a:srgbClr val="FFFFFF">
              <a:alpha val="82000"/>
            </a:srgbClr>
          </a:solidFill>
          <a:ln w="12700">
            <a:solidFill>
              <a:srgbClr val="CBD5E1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36" name="文本框 1035" descr="{&quot;isTemplate&quot;:true,&quot;type&quot;:&quot;text&quot;}"/>
          <p:cNvSpPr txBox="1"/>
          <p:nvPr/>
        </p:nvSpPr>
        <p:spPr>
          <a:xfrm>
            <a:off x="6819900" y="1638300"/>
            <a:ext cx="46482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563EB"/>
                </a:solidFill>
                <a:latin typeface="Microsoft YaHei"/>
                <a:ea typeface="Microsoft YaHei"/>
              </a:rPr>
              <a:t>定位</a:t>
            </a:r>
            <a:endParaRPr/>
          </a:p>
        </p:txBody>
      </p:sp>
      <p:sp>
        <p:nvSpPr>
          <p:cNvPr id="1037" name="文本框 1036" descr="{&quot;isTemplate&quot;:true,&quot;type&quot;:&quot;text&quot;}"/>
          <p:cNvSpPr txBox="1"/>
          <p:nvPr/>
        </p:nvSpPr>
        <p:spPr>
          <a:xfrm>
            <a:off x="6819900" y="1905000"/>
            <a:ext cx="4648200" cy="4762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打造一个永不疲倦的标准化培训导师，覆盖新员工培训、岗位培训、企业宣传、产品宣讲、案例分享等场景。</a:t>
            </a:r>
            <a:endParaRPr/>
          </a:p>
        </p:txBody>
      </p:sp>
      <p:sp>
        <p:nvSpPr>
          <p:cNvPr id="1038" name="圆角矩形 1037"/>
          <p:cNvSpPr/>
          <p:nvPr/>
        </p:nvSpPr>
        <p:spPr>
          <a:xfrm>
            <a:off x="6667500" y="3952875"/>
            <a:ext cx="4953000" cy="2428875"/>
          </a:xfrm>
          <a:prstGeom prst="roundRect">
            <a:avLst>
              <a:gd name="adj" fmla="val 3922"/>
            </a:avLst>
          </a:prstGeom>
          <a:solidFill>
            <a:srgbClr val="FFFFFF">
              <a:alpha val="82000"/>
            </a:srgbClr>
          </a:solidFill>
          <a:ln w="12700">
            <a:solidFill>
              <a:srgbClr val="CBD5E1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39" name="文本框 1038" descr="{&quot;isTemplate&quot;:true,&quot;type&quot;:&quot;text&quot;}"/>
          <p:cNvSpPr txBox="1"/>
          <p:nvPr/>
        </p:nvSpPr>
        <p:spPr>
          <a:xfrm>
            <a:off x="6819900" y="4105275"/>
            <a:ext cx="46482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891B2"/>
                </a:solidFill>
                <a:latin typeface="Microsoft YaHei"/>
                <a:ea typeface="Microsoft YaHei"/>
              </a:rPr>
              <a:t>商业价值</a:t>
            </a:r>
            <a:endParaRPr/>
          </a:p>
        </p:txBody>
      </p:sp>
      <p:sp>
        <p:nvSpPr>
          <p:cNvPr id="1040" name="文本框 1039" descr="{&quot;isTemplate&quot;:true,&quot;type&quot;:&quot;text&quot;}"/>
          <p:cNvSpPr txBox="1"/>
          <p:nvPr/>
        </p:nvSpPr>
        <p:spPr>
          <a:xfrm>
            <a:off x="6819900" y="4371975"/>
            <a:ext cx="46482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•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大幅减少集中培训成本，实现“随时、随地、随学、随问”</a:t>
            </a:r>
            <a:endParaRPr/>
          </a:p>
        </p:txBody>
      </p:sp>
      <p:sp>
        <p:nvSpPr>
          <p:cNvPr id="1041" name="文本框 1040" descr="{&quot;isTemplate&quot;:true,&quot;type&quot;:&quot;text&quot;}"/>
          <p:cNvSpPr txBox="1"/>
          <p:nvPr/>
        </p:nvSpPr>
        <p:spPr>
          <a:xfrm>
            <a:off x="6819900" y="4572000"/>
            <a:ext cx="46482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•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加速新员工上岗，促进老员工能力升级</a:t>
            </a:r>
            <a:endParaRPr/>
          </a:p>
        </p:txBody>
      </p:sp>
      <p:sp>
        <p:nvSpPr>
          <p:cNvPr id="1042" name="文本框 1041" descr="{&quot;isTemplate&quot;:true,&quot;type&quot;:&quot;text&quot;}"/>
          <p:cNvSpPr txBox="1"/>
          <p:nvPr/>
        </p:nvSpPr>
        <p:spPr>
          <a:xfrm>
            <a:off x="6819900" y="4772025"/>
            <a:ext cx="46482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•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培训内容标准化、可复盘、可规模化复制</a:t>
            </a:r>
            <a:endParaRPr/>
          </a:p>
        </p:txBody>
      </p:sp>
      <p:sp>
        <p:nvSpPr>
          <p:cNvPr id="1043" name="文本框 1042" descr="{&quot;isTemplate&quot;:true,&quot;type&quot;:&quot;text&quot;}"/>
          <p:cNvSpPr txBox="1"/>
          <p:nvPr/>
        </p:nvSpPr>
        <p:spPr>
          <a:xfrm>
            <a:off x="571500" y="6496050"/>
            <a:ext cx="39624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价值：把培训从“集中排期”变为“按需随时”，显著降低组织培训成本</a:t>
            </a:r>
            <a:endParaRPr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5E37CC56-C886-1B4F-BA86-6AE1A33CD22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23900" y="2076450"/>
            <a:ext cx="5634037" cy="3429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347511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transparent', padding: '90px 60px 16px', flexDirection: 'column' }}&gt;&#10;    &lt;Image src=&quot;resources/images/gvp_background.jpg&quot; style={{ position: 'absolute', top: 0, left: 0, width: 1280, height: 720, objectFit: 'cover', }} /&gt;&#10;    &lt;Box style={{ zIndex: 1, height: 56, flexDirection: 'column', gap: 2, justifyContent: 'center' }}&gt;&#10;        &lt;Box style={{ flexDirection: 'row', alignItems: 'center', gap: 10 }}&gt;&#10;            &lt;Text style={{ fontSize: 30, fontWeight: 'bold', color: '#1E293B' }}&gt;官网智能客服&lt;/Text&gt;&#10;            &lt;Box style={{ background: 'rgba(37, 99, 235, 0.12)', borderRadius: 4, padding: '2px 10px' }}&gt;&#10;                &lt;Text style={{ fontSize: 13, color: '#2563EB', fontWeight: 'bold' }}&gt;场景三&lt;/Text&gt;&#10;            &lt;/Box&gt;&#10;        &lt;/Box&gt;&#10;        &lt;Text style={{ fontSize: 14, color: '#475569' }}&gt;企业官网专属客服 · 7×24 在线接待 · 图文视频多形式应答&lt;/Text&gt;&#10;    &lt;/Box&gt;&#10;&#10;    &lt;Box style={{ zIndex: 1, flexDirection: 'row', gap: 16, flex: 1, marginTop: 10 }}&gt;&#10;        &lt;Box style={{ flex: 1.2, background: 'rgba(255, 255, 255, 0.82)', borderRadius: 10, padding: 12, flexDirection: 'column', gap: 8, border: '1px solid rgba(203, 213, 225, 0.4)', justifyContent: 'center', alignItems: 'center' }}&gt;&#10;            &lt;Image src=&quot;resources/images/cases/case_service.png&quot; style={{ width: 560, height: 380, objectFit: 'contain', borderRadius: 8 }} /&gt;&#10;            &lt;Text style={{ fontSize: 12, color: '#475569', textAlign: 'center' }}&gt;官网嵌入的可对话数字人客服&lt;/Text&gt;&#10;        &lt;/Box&gt;&#10;&#10;        &lt;Box style={{ flex: 1, flexDirection: 'column', gap: 12 }}&gt;&#10;            &lt;Box style={{ flex: 1, background: 'rgba(255, 255, 255, 0.82)', borderRadius: 10, padding: 16, flexDirection: 'column', gap: 8, border: '1px solid rgba(203, 213, 225, 0.4)' }}&gt;&#10;                &lt;Text style={{ fontSize: 16, fontWeight: 'bold', color: '#2563EB' }}&gt;咨询应答&lt;/Text&gt;&#10;                &lt;Text style={{ fontSize: 13, color: '#475569', lineHeight: 1.6 }}&gt;针对企业、产品、方案等问题提供精准答复，支持图文、视频等多形式输出，比纯文本客服更具亲和力。&lt;/Text&gt;&#10;            &lt;/Box&gt;&#10;            &lt;Box style={{ flex: 1, background: 'rgba(255, 255, 255, 0.82)', borderRadius: 10, padding: 16, flexDirection: 'column', gap: 8, border: '1px solid rgba(203, 213, 225, 0.4)' }}&gt;&#10;                &lt;Text style={{ fontSize: 16, fontWeight: 'bold', color: '#0891B2' }}&gt;线索收集&lt;/Text&gt;&#10;                &lt;Box style={{ flexDirection: 'column', gap: 5 }}&gt;&#10;                    &lt;Text style={{ fontSize: 13, color: '#475569' }}&gt;• 对话中引导访客留存姓名、电话、企业、行业信息&lt;/Text&gt;&#10;                    &lt;Text style={{ fontSize: 13, color: '#475569' }}&gt;• 自动沉淀商机，便于后续销售跟进&lt;/Text&gt;&#10;                    &lt;Text style={{ fontSize: 13, color: '#475569' }}&gt;• 7×24 在线，不错过任何意向客户&lt;/Text&gt;&#10;                &lt;/Box&gt;&#10;            &lt;/Box&gt;&#10;        &lt;/Box&gt;&#10;    &lt;/Box&gt;&#10;&#10;    &lt;Box style={{ zIndex: 1, height: 28, flexDirection: 'row', justifyContent: 'space-between', alignItems: 'center', marginTop: 6 }}&gt;&#10;        &lt;Text style={{ fontSize: 13, color: '#475569' }}&gt;价值：把官网访客转化为可跟进的商机，提升留资率与转化效率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5" name="图片 10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046" name="文本框 1045" descr="{&quot;isTemplate&quot;:true,&quot;type&quot;:&quot;text&quot;}"/>
          <p:cNvSpPr txBox="1"/>
          <p:nvPr/>
        </p:nvSpPr>
        <p:spPr>
          <a:xfrm>
            <a:off x="571500" y="866775"/>
            <a:ext cx="171450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E293B"/>
                </a:solidFill>
                <a:latin typeface="Microsoft YaHei"/>
                <a:ea typeface="Microsoft YaHei"/>
              </a:rPr>
              <a:t>官网智能客服</a:t>
            </a:r>
            <a:endParaRPr/>
          </a:p>
        </p:txBody>
      </p:sp>
      <p:sp>
        <p:nvSpPr>
          <p:cNvPr id="1047" name="圆角矩形 1046"/>
          <p:cNvSpPr/>
          <p:nvPr/>
        </p:nvSpPr>
        <p:spPr>
          <a:xfrm>
            <a:off x="2381250" y="942975"/>
            <a:ext cx="561975" cy="190500"/>
          </a:xfrm>
          <a:prstGeom prst="roundRect">
            <a:avLst>
              <a:gd name="adj" fmla="val 20000"/>
            </a:avLst>
          </a:prstGeom>
          <a:solidFill>
            <a:srgbClr val="2563EB">
              <a:alpha val="1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48" name="文本框 1047" descr="{&quot;isTemplate&quot;:true,&quot;type&quot;:&quot;text&quot;}"/>
          <p:cNvSpPr txBox="1"/>
          <p:nvPr/>
        </p:nvSpPr>
        <p:spPr>
          <a:xfrm>
            <a:off x="2476500" y="962025"/>
            <a:ext cx="3714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2563EB"/>
                </a:solidFill>
                <a:latin typeface="Microsoft YaHei"/>
                <a:ea typeface="Microsoft YaHei"/>
              </a:rPr>
              <a:t>场景三</a:t>
            </a:r>
            <a:endParaRPr/>
          </a:p>
        </p:txBody>
      </p:sp>
      <p:sp>
        <p:nvSpPr>
          <p:cNvPr id="1049" name="文本框 1048" descr="{&quot;isTemplate&quot;:true,&quot;type&quot;:&quot;text&quot;}"/>
          <p:cNvSpPr txBox="1"/>
          <p:nvPr/>
        </p:nvSpPr>
        <p:spPr>
          <a:xfrm>
            <a:off x="571500" y="1228725"/>
            <a:ext cx="110490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企业官网专属客服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 · 7×24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在线接待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图文视频多形式应答</a:t>
            </a:r>
            <a:endParaRPr/>
          </a:p>
        </p:txBody>
      </p:sp>
      <p:sp>
        <p:nvSpPr>
          <p:cNvPr id="1050" name="圆角矩形 1049"/>
          <p:cNvSpPr/>
          <p:nvPr/>
        </p:nvSpPr>
        <p:spPr>
          <a:xfrm>
            <a:off x="571500" y="1485900"/>
            <a:ext cx="5943600" cy="4895850"/>
          </a:xfrm>
          <a:prstGeom prst="roundRect">
            <a:avLst>
              <a:gd name="adj" fmla="val 1946"/>
            </a:avLst>
          </a:prstGeom>
          <a:solidFill>
            <a:srgbClr val="FFFFFF">
              <a:alpha val="82000"/>
            </a:srgbClr>
          </a:solidFill>
          <a:ln w="12700">
            <a:solidFill>
              <a:srgbClr val="CBD5E1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051" name="图片 1050"/>
          <p:cNvPicPr>
            <a:picLocks noChangeAspect="1"/>
          </p:cNvPicPr>
          <p:nvPr/>
        </p:nvPicPr>
        <p:blipFill>
          <a:blip r:embed="rId3"/>
          <a:srcRect l="8552" r="8552"/>
          <a:stretch>
            <a:fillRect/>
          </a:stretch>
        </p:blipFill>
        <p:spPr>
          <a:xfrm>
            <a:off x="876300" y="2019300"/>
            <a:ext cx="5334000" cy="3619500"/>
          </a:xfrm>
          <a:prstGeom prst="roundRect">
            <a:avLst>
              <a:gd name="adj" fmla="val 2105"/>
            </a:avLst>
          </a:prstGeom>
          <a:ln/>
        </p:spPr>
      </p:pic>
      <p:sp>
        <p:nvSpPr>
          <p:cNvPr id="1052" name="文本框 1051" descr="{&quot;isTemplate&quot;:true,&quot;type&quot;:&quot;text&quot;}"/>
          <p:cNvSpPr txBox="1"/>
          <p:nvPr/>
        </p:nvSpPr>
        <p:spPr>
          <a:xfrm>
            <a:off x="2800350" y="5715000"/>
            <a:ext cx="14859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官网嵌入的可对话数字人客服</a:t>
            </a:r>
            <a:endParaRPr/>
          </a:p>
        </p:txBody>
      </p:sp>
      <p:sp>
        <p:nvSpPr>
          <p:cNvPr id="1053" name="圆角矩形 1052"/>
          <p:cNvSpPr/>
          <p:nvPr/>
        </p:nvSpPr>
        <p:spPr>
          <a:xfrm>
            <a:off x="6667500" y="1485900"/>
            <a:ext cx="4953000" cy="2352675"/>
          </a:xfrm>
          <a:prstGeom prst="roundRect">
            <a:avLst>
              <a:gd name="adj" fmla="val 4049"/>
            </a:avLst>
          </a:prstGeom>
          <a:solidFill>
            <a:srgbClr val="FFFFFF">
              <a:alpha val="82000"/>
            </a:srgbClr>
          </a:solidFill>
          <a:ln w="12700">
            <a:solidFill>
              <a:srgbClr val="CBD5E1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54" name="文本框 1053" descr="{&quot;isTemplate&quot;:true,&quot;type&quot;:&quot;text&quot;}"/>
          <p:cNvSpPr txBox="1"/>
          <p:nvPr/>
        </p:nvSpPr>
        <p:spPr>
          <a:xfrm>
            <a:off x="6819900" y="1638300"/>
            <a:ext cx="46482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563EB"/>
                </a:solidFill>
                <a:latin typeface="Microsoft YaHei"/>
                <a:ea typeface="Microsoft YaHei"/>
              </a:rPr>
              <a:t>咨询应答</a:t>
            </a:r>
            <a:endParaRPr/>
          </a:p>
        </p:txBody>
      </p:sp>
      <p:sp>
        <p:nvSpPr>
          <p:cNvPr id="1055" name="文本框 1054" descr="{&quot;isTemplate&quot;:true,&quot;type&quot;:&quot;text&quot;}"/>
          <p:cNvSpPr txBox="1"/>
          <p:nvPr/>
        </p:nvSpPr>
        <p:spPr>
          <a:xfrm>
            <a:off x="6819900" y="1905000"/>
            <a:ext cx="4648200" cy="4762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针对企业、产品、方案等问题提供精准答复，支持图文、视频等多形式输出，比纯文本客服更具亲和力。</a:t>
            </a:r>
            <a:endParaRPr/>
          </a:p>
        </p:txBody>
      </p:sp>
      <p:sp>
        <p:nvSpPr>
          <p:cNvPr id="1056" name="圆角矩形 1055"/>
          <p:cNvSpPr/>
          <p:nvPr/>
        </p:nvSpPr>
        <p:spPr>
          <a:xfrm>
            <a:off x="6667500" y="3952875"/>
            <a:ext cx="4953000" cy="2428875"/>
          </a:xfrm>
          <a:prstGeom prst="roundRect">
            <a:avLst>
              <a:gd name="adj" fmla="val 3922"/>
            </a:avLst>
          </a:prstGeom>
          <a:solidFill>
            <a:srgbClr val="FFFFFF">
              <a:alpha val="82000"/>
            </a:srgbClr>
          </a:solidFill>
          <a:ln w="12700">
            <a:solidFill>
              <a:srgbClr val="CBD5E1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57" name="文本框 1056" descr="{&quot;isTemplate&quot;:true,&quot;type&quot;:&quot;text&quot;}"/>
          <p:cNvSpPr txBox="1"/>
          <p:nvPr/>
        </p:nvSpPr>
        <p:spPr>
          <a:xfrm>
            <a:off x="6819900" y="4105275"/>
            <a:ext cx="46482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891B2"/>
                </a:solidFill>
                <a:latin typeface="Microsoft YaHei"/>
                <a:ea typeface="Microsoft YaHei"/>
              </a:rPr>
              <a:t>线索收集</a:t>
            </a:r>
            <a:endParaRPr/>
          </a:p>
        </p:txBody>
      </p:sp>
      <p:sp>
        <p:nvSpPr>
          <p:cNvPr id="1058" name="文本框 1057" descr="{&quot;isTemplate&quot;:true,&quot;type&quot;:&quot;text&quot;}"/>
          <p:cNvSpPr txBox="1"/>
          <p:nvPr/>
        </p:nvSpPr>
        <p:spPr>
          <a:xfrm>
            <a:off x="6819900" y="4371975"/>
            <a:ext cx="46482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•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对话中引导访客留存姓名、电话、企业、行业信息</a:t>
            </a:r>
            <a:endParaRPr/>
          </a:p>
        </p:txBody>
      </p:sp>
      <p:sp>
        <p:nvSpPr>
          <p:cNvPr id="1059" name="文本框 1058" descr="{&quot;isTemplate&quot;:true,&quot;type&quot;:&quot;text&quot;}"/>
          <p:cNvSpPr txBox="1"/>
          <p:nvPr/>
        </p:nvSpPr>
        <p:spPr>
          <a:xfrm>
            <a:off x="6819900" y="4572000"/>
            <a:ext cx="46482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•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自动沉淀商机，便于后续销售跟进</a:t>
            </a:r>
            <a:endParaRPr/>
          </a:p>
        </p:txBody>
      </p:sp>
      <p:sp>
        <p:nvSpPr>
          <p:cNvPr id="1060" name="文本框 1059" descr="{&quot;isTemplate&quot;:true,&quot;type&quot;:&quot;text&quot;}"/>
          <p:cNvSpPr txBox="1"/>
          <p:nvPr/>
        </p:nvSpPr>
        <p:spPr>
          <a:xfrm>
            <a:off x="6819900" y="4772025"/>
            <a:ext cx="46482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• 7×24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在线，不错过任何意向客户</a:t>
            </a:r>
            <a:endParaRPr/>
          </a:p>
        </p:txBody>
      </p:sp>
      <p:sp>
        <p:nvSpPr>
          <p:cNvPr id="1061" name="文本框 1060" descr="{&quot;isTemplate&quot;:true,&quot;type&quot;:&quot;text&quot;}"/>
          <p:cNvSpPr txBox="1"/>
          <p:nvPr/>
        </p:nvSpPr>
        <p:spPr>
          <a:xfrm>
            <a:off x="571500" y="6496050"/>
            <a:ext cx="34671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价值：把官网访客转化为可跟进的商机，提升留资率与转化效率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474228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transparent', padding: '90px 60px 16px', flexDirection: 'column' }}&gt;&#10;    &lt;Image src=&quot;resources/images/gvp_background.jpg&quot; style={{ position: 'absolute', top: 0, left: 0, width: 1280, height: 720, objectFit: 'cover', }} /&gt;&#10;    &lt;Box style={{ zIndex: 1, height: 56, flexDirection: 'column', gap: 2, justifyContent: 'center' }}&gt;&#10;        &lt;Box style={{ flexDirection: 'row', alignItems: 'center', gap: 10 }}&gt;&#10;            &lt;Text style={{ fontSize: 30, fontWeight: 'bold', color: '#1E293B' }}&gt;大屏指挥调度&lt;/Text&gt;&#10;            &lt;Box style={{ background: 'rgba(37, 99, 235, 0.12)', borderRadius: 4, padding: '2px 10px' }}&gt;&#10;                &lt;Text style={{ fontSize: 13, color: '#2563EB', fontWeight: 'bold' }}&gt;场景四&lt;/Text&gt;&#10;            &lt;/Box&gt;&#10;        &lt;/Box&gt;&#10;        &lt;Text style={{ fontSize: 14, color: '#475569' }}&gt;展厅数据驾驶舱大屏 · 自然语言交互 · 解决“只能看、不能问”&lt;/Text&gt;&#10;    &lt;/Box&gt;&#10;&#10;    &lt;Box style={{ zIndex: 1, flexDirection: 'row', gap: 16, flex: 1, marginTop: 10 }}&gt;&#10;        &lt;Box style={{ flex: 1.2, background: 'rgba(255, 255, 255, 0.82)', borderRadius: 10, padding: 12, flexDirection: 'column', gap: 8, border: '1px solid rgba(203, 213, 225, 0.4)', justifyContent: 'center', alignItems: 'center' }}&gt;&#10;            &lt;Image src=&quot;resources/images/cases/case_dispatch.png&quot; style={{ width: 560, height: 380, objectFit: 'contain', borderRadius: 8 }} /&gt;&#10;            &lt;Text style={{ fontSize: 12, color: '#475569', textAlign: 'center' }}&gt;面向数据驾驶舱大屏的指挥调度数字人&lt;/Text&gt;&#10;        &lt;/Box&gt;&#10;&#10;        &lt;Box style={{ flex: 1, flexDirection: 'column', gap: 12 }}&gt;&#10;            &lt;Box style={{ flex: 1, background: 'rgba(255, 255, 255, 0.82)', borderRadius: 10, padding: 16, flexDirection: 'column', gap: 8, border: '1px solid rgba(203, 213, 225, 0.4)' }}&gt;&#10;                &lt;Text style={{ fontSize: 16, fontWeight: 'bold', color: '#2563EB' }}&gt;核心能力&lt;/Text&gt;&#10;                &lt;Text style={{ fontSize: 13, color: '#475569', lineHeight: 1.6 }}&gt;用于展厅数据驾驶舱大屏，具备大屏调度、数据查询、业务讲解等功能，用户通过自然语音与大屏智能交互。&lt;/Text&gt;&#10;            &lt;/Box&gt;&#10;            &lt;Box style={{ flex: 1, background: 'rgba(255, 255, 255, 0.82)', borderRadius: 10, padding: 16, flexDirection: 'column', gap: 8, border: '1px solid rgba(203, 213, 225, 0.4)' }}&gt;&#10;                &lt;Text style={{ fontSize: 16, fontWeight: 'bold', color: '#0891B2' }}&gt;商业价值&lt;/Text&gt;&#10;                &lt;Box style={{ flexDirection: 'column', gap: 5 }}&gt;&#10;                    &lt;Text style={{ fontSize: 13, color: '#475569' }}&gt;• 解决传统数据大屏“只能看、不能问”的痛点&lt;/Text&gt;&#10;                    &lt;Text style={{ fontSize: 13, color: '#475569' }}&gt;• 结合大模型意图理解，解放用户双手&lt;/Text&gt;&#10;                    &lt;Text style={{ fontSize: 13, color: '#475569' }}&gt;• 较大提升人机交互效率与指挥调度体验&lt;/Text&gt;&#10;                &lt;/Box&gt;&#10;            &lt;/Box&gt;&#10;        &lt;/Box&gt;&#10;    &lt;/Box&gt;&#10;&#10;    &lt;Box style={{ zIndex: 1, height: 28, flexDirection: 'row', justifyContent: 'space-between', alignItems: 'center', marginTop: 6 }}&gt;&#10;        &lt;Text style={{ fontSize: 13, color: '#475569' }}&gt;价值：让数据大屏从“被动展示”升级为“可对话、可调度”的智能中枢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3" name="图片 10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064" name="文本框 1063" descr="{&quot;isTemplate&quot;:true,&quot;type&quot;:&quot;text&quot;}"/>
          <p:cNvSpPr txBox="1"/>
          <p:nvPr/>
        </p:nvSpPr>
        <p:spPr>
          <a:xfrm>
            <a:off x="571500" y="866775"/>
            <a:ext cx="171450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E293B"/>
                </a:solidFill>
                <a:latin typeface="Microsoft YaHei"/>
                <a:ea typeface="Microsoft YaHei"/>
              </a:rPr>
              <a:t>大屏指挥调度</a:t>
            </a:r>
            <a:endParaRPr/>
          </a:p>
        </p:txBody>
      </p:sp>
      <p:sp>
        <p:nvSpPr>
          <p:cNvPr id="1065" name="圆角矩形 1064"/>
          <p:cNvSpPr/>
          <p:nvPr/>
        </p:nvSpPr>
        <p:spPr>
          <a:xfrm>
            <a:off x="2381250" y="942975"/>
            <a:ext cx="561975" cy="190500"/>
          </a:xfrm>
          <a:prstGeom prst="roundRect">
            <a:avLst>
              <a:gd name="adj" fmla="val 20000"/>
            </a:avLst>
          </a:prstGeom>
          <a:solidFill>
            <a:srgbClr val="2563EB">
              <a:alpha val="1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66" name="文本框 1065" descr="{&quot;isTemplate&quot;:true,&quot;type&quot;:&quot;text&quot;}"/>
          <p:cNvSpPr txBox="1"/>
          <p:nvPr/>
        </p:nvSpPr>
        <p:spPr>
          <a:xfrm>
            <a:off x="2476500" y="962025"/>
            <a:ext cx="3714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2563EB"/>
                </a:solidFill>
                <a:latin typeface="Microsoft YaHei"/>
                <a:ea typeface="Microsoft YaHei"/>
              </a:rPr>
              <a:t>场景四</a:t>
            </a:r>
            <a:endParaRPr/>
          </a:p>
        </p:txBody>
      </p:sp>
      <p:sp>
        <p:nvSpPr>
          <p:cNvPr id="1067" name="文本框 1066" descr="{&quot;isTemplate&quot;:true,&quot;type&quot;:&quot;text&quot;}"/>
          <p:cNvSpPr txBox="1"/>
          <p:nvPr/>
        </p:nvSpPr>
        <p:spPr>
          <a:xfrm>
            <a:off x="571500" y="1228725"/>
            <a:ext cx="110490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展厅数据驾驶舱大屏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自然语言交互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解决“只能看、不能问”</a:t>
            </a:r>
            <a:endParaRPr/>
          </a:p>
        </p:txBody>
      </p:sp>
      <p:sp>
        <p:nvSpPr>
          <p:cNvPr id="1068" name="圆角矩形 1067"/>
          <p:cNvSpPr/>
          <p:nvPr/>
        </p:nvSpPr>
        <p:spPr>
          <a:xfrm>
            <a:off x="571500" y="1485900"/>
            <a:ext cx="5943600" cy="4895850"/>
          </a:xfrm>
          <a:prstGeom prst="roundRect">
            <a:avLst>
              <a:gd name="adj" fmla="val 1946"/>
            </a:avLst>
          </a:prstGeom>
          <a:solidFill>
            <a:srgbClr val="FFFFFF">
              <a:alpha val="82000"/>
            </a:srgbClr>
          </a:solidFill>
          <a:ln w="12700">
            <a:solidFill>
              <a:srgbClr val="CBD5E1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069" name="图片 1068"/>
          <p:cNvPicPr>
            <a:picLocks noChangeAspect="1"/>
          </p:cNvPicPr>
          <p:nvPr/>
        </p:nvPicPr>
        <p:blipFill>
          <a:blip r:embed="rId3"/>
          <a:srcRect l="2679" r="2679"/>
          <a:stretch>
            <a:fillRect/>
          </a:stretch>
        </p:blipFill>
        <p:spPr>
          <a:xfrm>
            <a:off x="876300" y="2019300"/>
            <a:ext cx="5334000" cy="3619500"/>
          </a:xfrm>
          <a:prstGeom prst="roundRect">
            <a:avLst>
              <a:gd name="adj" fmla="val 2105"/>
            </a:avLst>
          </a:prstGeom>
          <a:ln/>
        </p:spPr>
      </p:pic>
      <p:sp>
        <p:nvSpPr>
          <p:cNvPr id="1070" name="文本框 1069" descr="{&quot;isTemplate&quot;:true,&quot;type&quot;:&quot;text&quot;}"/>
          <p:cNvSpPr txBox="1"/>
          <p:nvPr/>
        </p:nvSpPr>
        <p:spPr>
          <a:xfrm>
            <a:off x="2571750" y="5715000"/>
            <a:ext cx="19431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面向数据驾驶舱大屏的指挥调度数字人</a:t>
            </a:r>
            <a:endParaRPr/>
          </a:p>
        </p:txBody>
      </p:sp>
      <p:sp>
        <p:nvSpPr>
          <p:cNvPr id="1071" name="圆角矩形 1070"/>
          <p:cNvSpPr/>
          <p:nvPr/>
        </p:nvSpPr>
        <p:spPr>
          <a:xfrm>
            <a:off x="6667500" y="1485900"/>
            <a:ext cx="4953000" cy="2352675"/>
          </a:xfrm>
          <a:prstGeom prst="roundRect">
            <a:avLst>
              <a:gd name="adj" fmla="val 4049"/>
            </a:avLst>
          </a:prstGeom>
          <a:solidFill>
            <a:srgbClr val="FFFFFF">
              <a:alpha val="82000"/>
            </a:srgbClr>
          </a:solidFill>
          <a:ln w="12700">
            <a:solidFill>
              <a:srgbClr val="CBD5E1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72" name="文本框 1071" descr="{&quot;isTemplate&quot;:true,&quot;type&quot;:&quot;text&quot;}"/>
          <p:cNvSpPr txBox="1"/>
          <p:nvPr/>
        </p:nvSpPr>
        <p:spPr>
          <a:xfrm>
            <a:off x="6819900" y="1638300"/>
            <a:ext cx="46482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563EB"/>
                </a:solidFill>
                <a:latin typeface="Microsoft YaHei"/>
                <a:ea typeface="Microsoft YaHei"/>
              </a:rPr>
              <a:t>核心能力</a:t>
            </a:r>
            <a:endParaRPr/>
          </a:p>
        </p:txBody>
      </p:sp>
      <p:sp>
        <p:nvSpPr>
          <p:cNvPr id="1073" name="文本框 1072" descr="{&quot;isTemplate&quot;:true,&quot;type&quot;:&quot;text&quot;}"/>
          <p:cNvSpPr txBox="1"/>
          <p:nvPr/>
        </p:nvSpPr>
        <p:spPr>
          <a:xfrm>
            <a:off x="6819900" y="1905000"/>
            <a:ext cx="4648200" cy="4762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用于展厅数据驾驶舱大屏，具备大屏调度、数据查询、业务讲解等功能，用户通过自然语音与大屏智能交互。</a:t>
            </a:r>
            <a:endParaRPr/>
          </a:p>
        </p:txBody>
      </p:sp>
      <p:sp>
        <p:nvSpPr>
          <p:cNvPr id="1074" name="圆角矩形 1073"/>
          <p:cNvSpPr/>
          <p:nvPr/>
        </p:nvSpPr>
        <p:spPr>
          <a:xfrm>
            <a:off x="6667500" y="3952875"/>
            <a:ext cx="4953000" cy="2428875"/>
          </a:xfrm>
          <a:prstGeom prst="roundRect">
            <a:avLst>
              <a:gd name="adj" fmla="val 3922"/>
            </a:avLst>
          </a:prstGeom>
          <a:solidFill>
            <a:srgbClr val="FFFFFF">
              <a:alpha val="82000"/>
            </a:srgbClr>
          </a:solidFill>
          <a:ln w="12700">
            <a:solidFill>
              <a:srgbClr val="CBD5E1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75" name="文本框 1074" descr="{&quot;isTemplate&quot;:true,&quot;type&quot;:&quot;text&quot;}"/>
          <p:cNvSpPr txBox="1"/>
          <p:nvPr/>
        </p:nvSpPr>
        <p:spPr>
          <a:xfrm>
            <a:off x="6819900" y="4105275"/>
            <a:ext cx="46482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891B2"/>
                </a:solidFill>
                <a:latin typeface="Microsoft YaHei"/>
                <a:ea typeface="Microsoft YaHei"/>
              </a:rPr>
              <a:t>商业价值</a:t>
            </a:r>
            <a:endParaRPr/>
          </a:p>
        </p:txBody>
      </p:sp>
      <p:sp>
        <p:nvSpPr>
          <p:cNvPr id="1076" name="文本框 1075" descr="{&quot;isTemplate&quot;:true,&quot;type&quot;:&quot;text&quot;}"/>
          <p:cNvSpPr txBox="1"/>
          <p:nvPr/>
        </p:nvSpPr>
        <p:spPr>
          <a:xfrm>
            <a:off x="6819900" y="4371975"/>
            <a:ext cx="46482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•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解决传统数据大屏“只能看、不能问”的痛点</a:t>
            </a:r>
            <a:endParaRPr/>
          </a:p>
        </p:txBody>
      </p:sp>
      <p:sp>
        <p:nvSpPr>
          <p:cNvPr id="1077" name="文本框 1076" descr="{&quot;isTemplate&quot;:true,&quot;type&quot;:&quot;text&quot;}"/>
          <p:cNvSpPr txBox="1"/>
          <p:nvPr/>
        </p:nvSpPr>
        <p:spPr>
          <a:xfrm>
            <a:off x="6819900" y="4572000"/>
            <a:ext cx="46482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•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结合大模型意图理解，解放用户双手</a:t>
            </a:r>
            <a:endParaRPr/>
          </a:p>
        </p:txBody>
      </p:sp>
      <p:sp>
        <p:nvSpPr>
          <p:cNvPr id="1078" name="文本框 1077" descr="{&quot;isTemplate&quot;:true,&quot;type&quot;:&quot;text&quot;}"/>
          <p:cNvSpPr txBox="1"/>
          <p:nvPr/>
        </p:nvSpPr>
        <p:spPr>
          <a:xfrm>
            <a:off x="6819900" y="4772025"/>
            <a:ext cx="46482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•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较大提升人机交互效率与指挥调度体验</a:t>
            </a:r>
            <a:endParaRPr/>
          </a:p>
        </p:txBody>
      </p:sp>
      <p:sp>
        <p:nvSpPr>
          <p:cNvPr id="1079" name="文本框 1078" descr="{&quot;isTemplate&quot;:true,&quot;type&quot;:&quot;text&quot;}"/>
          <p:cNvSpPr txBox="1"/>
          <p:nvPr/>
        </p:nvSpPr>
        <p:spPr>
          <a:xfrm>
            <a:off x="571500" y="6496050"/>
            <a:ext cx="39624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价值：让数据大屏从“被动展示”升级为“可对话、可调度”的智能中枢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405638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transparent', padding: '90px 60px 16px', flexDirection: 'column' }}&gt;&#10;    &lt;Image src=&quot;resources/images/gvp_background.jpg&quot; style={{ position: 'absolute', top: 0, left: 0, width: 1280, height: 720, objectFit: 'cover', }} /&gt;&#10;    &lt;Box style={{ zIndex: 1, height: 56, flexDirection: 'column', gap: 2, justifyContent: 'center' }}&gt;&#10;        &lt;Box style={{ flexDirection: 'row', alignItems: 'center', gap: 10 }}&gt;&#10;            &lt;Text style={{ fontSize: 30, fontWeight: 'bold', color: '#1E293B' }}&gt;大屏指挥调度&lt;/Text&gt;&#10;            &lt;Box style={{ background: 'rgba(37, 99, 235, 0.12)', borderRadius: 4, padding: '2px 10px' }}&gt;&#10;                &lt;Text style={{ fontSize: 13, color: '#2563EB', fontWeight: 'bold' }}&gt;场景四&lt;/Text&gt;&#10;            &lt;/Box&gt;&#10;        &lt;/Box&gt;&#10;        &lt;Text style={{ fontSize: 14, color: '#475569' }}&gt;展厅数据驾驶舱大屏 · 自然语言交互 · 解决“只能看、不能问”&lt;/Text&gt;&#10;    &lt;/Box&gt;&#10;&#10;    &lt;Box style={{ zIndex: 1, flexDirection: 'row', gap: 16, flex: 1, marginTop: 10 }}&gt;&#10;        &lt;Box style={{ flex: 1.2, background: 'rgba(255, 255, 255, 0.82)', borderRadius: 10, padding: 12, flexDirection: 'column', gap: 8, border: '1px solid rgba(203, 213, 225, 0.4)', justifyContent: 'center', alignItems: 'center' }}&gt;&#10;            &lt;Image src=&quot;resources/images/cases/case_dispatch.png&quot; style={{ width: 560, height: 380, objectFit: 'contain', borderRadius: 8 }} /&gt;&#10;            &lt;Text style={{ fontSize: 12, color: '#475569', textAlign: 'center' }}&gt;面向数据驾驶舱大屏的指挥调度数字人&lt;/Text&gt;&#10;        &lt;/Box&gt;&#10;&#10;        &lt;Box style={{ flex: 1, flexDirection: 'column', gap: 12 }}&gt;&#10;            &lt;Box style={{ flex: 1, background: 'rgba(255, 255, 255, 0.82)', borderRadius: 10, padding: 16, flexDirection: 'column', gap: 8, border: '1px solid rgba(203, 213, 225, 0.4)' }}&gt;&#10;                &lt;Text style={{ fontSize: 16, fontWeight: 'bold', color: '#2563EB' }}&gt;核心能力&lt;/Text&gt;&#10;                &lt;Text style={{ fontSize: 13, color: '#475569', lineHeight: 1.6 }}&gt;用于展厅数据驾驶舱大屏，具备大屏调度、数据查询、业务讲解等功能，用户通过自然语音与大屏智能交互。&lt;/Text&gt;&#10;            &lt;/Box&gt;&#10;            &lt;Box style={{ flex: 1, background: 'rgba(255, 255, 255, 0.82)', borderRadius: 10, padding: 16, flexDirection: 'column', gap: 8, border: '1px solid rgba(203, 213, 225, 0.4)' }}&gt;&#10;                &lt;Text style={{ fontSize: 16, fontWeight: 'bold', color: '#0891B2' }}&gt;商业价值&lt;/Text&gt;&#10;                &lt;Box style={{ flexDirection: 'column', gap: 5 }}&gt;&#10;                    &lt;Text style={{ fontSize: 13, color: '#475569' }}&gt;• 解决传统数据大屏“只能看、不能问”的痛点&lt;/Text&gt;&#10;                    &lt;Text style={{ fontSize: 13, color: '#475569' }}&gt;• 结合大模型意图理解，解放用户双手&lt;/Text&gt;&#10;                    &lt;Text style={{ fontSize: 13, color: '#475569' }}&gt;• 较大提升人机交互效率与指挥调度体验&lt;/Text&gt;&#10;                &lt;/Box&gt;&#10;            &lt;/Box&gt;&#10;        &lt;/Box&gt;&#10;    &lt;/Box&gt;&#10;&#10;    &lt;Box style={{ zIndex: 1, height: 28, flexDirection: 'row', justifyContent: 'space-between', alignItems: 'center', marginTop: 6 }}&gt;&#10;        &lt;Text style={{ fontSize: 13, color: '#475569' }}&gt;价值：让数据大屏从“被动展示”升级为“可对话、可调度”的智能中枢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3" name="图片 10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649"/>
            <a:ext cx="12192000" cy="6858000"/>
          </a:xfrm>
          <a:prstGeom prst="rect">
            <a:avLst/>
          </a:prstGeom>
          <a:ln/>
        </p:spPr>
      </p:pic>
      <p:sp>
        <p:nvSpPr>
          <p:cNvPr id="1064" name="文本框 1063" descr="{&quot;isTemplate&quot;:true,&quot;type&quot;:&quot;text&quot;}"/>
          <p:cNvSpPr txBox="1"/>
          <p:nvPr/>
        </p:nvSpPr>
        <p:spPr>
          <a:xfrm>
            <a:off x="571500" y="866775"/>
            <a:ext cx="171450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altLang="en-US" sz="2250" b="1" dirty="0">
                <a:solidFill>
                  <a:srgbClr val="1E293B"/>
                </a:solidFill>
                <a:latin typeface="Microsoft YaHei"/>
                <a:ea typeface="Microsoft YaHei"/>
              </a:rPr>
              <a:t>赛博女友</a:t>
            </a:r>
            <a:endParaRPr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ADE33EA-63DC-6D43-B7AA-DE1835200E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015" y="1562372"/>
            <a:ext cx="9810750" cy="4428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3522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transparent', padding: 0, flexDirection: 'column', justifyContent: 'center', alignItems: 'center' }}&gt;&#10;    &lt;Image src=&quot;resources/images/gvp_background.jpg&quot; style={{ position: 'absolute', top: 0, left: 0, width: 1280, height: 720, objectFit: 'cover', }} /&gt;&#10;        &lt;Box style={{ flexDirection: 'column', alignItems: 'center', gap: 20, zIndex: 1 }}&gt;&#10;        &lt;Text style={{ fontSize: 20, color: '#0891B2', letterSpacing: 6, fontWeight: '600' }}&gt;SUMMARY&lt;/Text&gt;&#10;        &lt;Text style={{ fontSize: 72, fontWeight: 'bold', color: '#1E293B', letterSpacing: 2, lineHeight: 1.1 }}&gt;&#10;            &lt;span style={{ backgroundImage: 'linear-gradient(135deg, #2563EB 0%, #0891B2 100%)', backgroundClip: 'text', color: 'transparent' }}&gt;开源 · 实时 · 可商用&lt;/span&gt;&#10;        &lt;/Text&gt;&#10;        &lt;Box style={{ flexDirection: 'row', gap: 40, marginTop: 32 }}&gt;&#10;            &lt;Box style={{ flexDirection: 'column', alignItems: 'center', gap: 8 }}&gt;&#10;                &lt;Box style={{ width: 56, height: 56, borderRadius: 14, background: 'rgba(37, 99, 235,0.15)', justifyContent: 'center', alignItems: 'center' }}&gt;&#10;                    &lt;Image src='resources/images/icons/icon_layer-group_2563EB.png' style={{ width: 28, height: 28 }} /&gt;&#10;                &lt;/Box&gt;&#10;                &lt;Text style={{ fontSize: 16, fontWeight: 'bold', color: '#1E293B' }}&gt;四层架构&lt;/Text&gt;&#10;                &lt;Text style={{ fontSize: 13, color: '#475569' }}&gt;插件化 · 三线程一协程&lt;/Text&gt;&#10;            &lt;/Box&gt;&#10;            &lt;Box style={{ flexDirection: 'column', alignItems: 'center', gap: 8 }}&gt;&#10;                &lt;Box style={{ width: 56, height: 56, borderRadius: 14, background: 'rgba(8, 145, 178,0.15)', justifyContent: 'center', alignItems: 'center' }}&gt;&#10;                    &lt;Image src='resources/images/icons/icon_bolt_0891B2.png' style={{ width: 28, height: 28 }} /&gt;&#10;                &lt;/Box&gt;&#10;                &lt;Text style={{ fontSize: 16, fontWeight: 'bold', color: '#1E293B' }}&gt;全链路流式&lt;/Text&gt;&#10;                &lt;Text style={{ fontSize: 13, color: '#475569' }}&gt;边说边渲染边推流&lt;/Text&gt;&#10;            &lt;/Box&gt;&#10;            &lt;Box style={{ flexDirection: 'column', alignItems: 'center', gap: 8 }}&gt;&#10;                &lt;Box style={{ width: 56, height: 56, borderRadius: 14, background: 'rgba(37, 99, 235,0.15)', justifyContent: 'center', alignItems: 'center' }}&gt;&#10;                    &lt;Image src='resources/images/icons/icon_video_2563EB.png' style={{ width: 28, height: 28 }} /&gt;&#10;                &lt;/Box&gt;&#10;                &lt;Text style={{ fontSize: 16, fontWeight: 'bold', color: '#1E293B' }}&gt;生态完整&lt;/Text&gt;&#10;                &lt;Text style={{ fontSize: 13, color: '#475569' }}&gt;引擎 + 直播系统&lt;/Text&gt;&#10;            &lt;/Box&gt;&#10;            &lt;Box style={{ flexDirection: 'column', alignItems: 'center', gap: 8 }}&gt;&#10;                &lt;Box style={{ width: 56, height: 56, borderRadius: 14, background: 'rgba(8, 145, 178,0.15)', justifyContent: 'center', alignItems: 'center' }}&gt;&#10;                    &lt;Image src='resources/images/icons/icon_network-wired_0891B2.png' style={{ width: 28, height: 28 }} /&gt;&#10;                &lt;/Box&gt;&#10;                &lt;Text style={{ fontSize: 16, fontWeight: 'bold', color: '#1E293B' }}&gt;多并发&lt;/Text&gt;&#10;                &lt;Text style={{ fontSize: 13, color: '#475569' }}&gt;水平扩展 · 多路并行&lt;/Text&gt;&#10;            &lt;/Box&gt;&#10;        &lt;/Box&gt;&#10;        &lt;Box style={{ marginTop: 40, padding: '16px 40px', background: 'rgba(37, 99, 235,0.08)', borderRadius: 30, border: '1px solid rgba(37, 99, 235,0.3)' }}&gt;&#10;            &lt;Text style={{ fontSize: 18, color: '#0891B2', fontWeight: '600' }}&gt;github.com/lipku/LiveTalking&lt;/Text&gt;&#10;        &lt;/Box&gt;&#10;        &lt;Text style={{ fontSize: 14, color: '#64748B', marginTop: 16 }}&gt;Apache 2.0 · 7.7k+ Stars · 100+ 企业落地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7" name="图片 97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12192000" cy="6858000"/>
          </a:xfrm>
          <a:prstGeom prst="rect">
            <a:avLst/>
          </a:prstGeom>
          <a:ln/>
        </p:spPr>
      </p:pic>
      <p:sp>
        <p:nvSpPr>
          <p:cNvPr id="978" name="文本框 977" descr="{&quot;isTemplate&quot;:true,&quot;type&quot;:&quot;text&quot;}"/>
          <p:cNvSpPr txBox="1"/>
          <p:nvPr/>
        </p:nvSpPr>
        <p:spPr>
          <a:xfrm>
            <a:off x="5400675" y="1209675"/>
            <a:ext cx="140017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 b="1" spc="450">
                <a:solidFill>
                  <a:srgbClr val="0891B2"/>
                </a:solidFill>
                <a:latin typeface="Microsoft YaHei"/>
                <a:ea typeface="Microsoft YaHei"/>
              </a:rPr>
              <a:t>SUMMARY</a:t>
            </a:r>
            <a:endParaRPr/>
          </a:p>
        </p:txBody>
      </p:sp>
      <p:sp>
        <p:nvSpPr>
          <p:cNvPr id="979" name="文本框 978" descr="{&quot;isTemplate&quot;:true,&quot;type&quot;:&quot;text&quot;}"/>
          <p:cNvSpPr txBox="1"/>
          <p:nvPr/>
        </p:nvSpPr>
        <p:spPr>
          <a:xfrm>
            <a:off x="3000375" y="1628775"/>
            <a:ext cx="6191250" cy="914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10000"/>
              </a:lnSpc>
            </a:pPr>
            <a:r>
              <a:rPr lang="zh-CN" sz="5400" b="1" spc="150" dirty="0">
                <a:gradFill>
                  <a:gsLst>
                    <a:gs pos="0">
                      <a:srgbClr val="2563EB"/>
                    </a:gs>
                    <a:gs pos="100000">
                      <a:srgbClr val="0891B2"/>
                    </a:gs>
                  </a:gsLst>
                  <a:lin ang="2700000" scaled="1"/>
                </a:gradFill>
                <a:latin typeface="Microsoft YaHei"/>
                <a:ea typeface="Microsoft YaHei"/>
              </a:rPr>
              <a:t>开源</a:t>
            </a:r>
            <a:r>
              <a:rPr lang="en-US" sz="5400" b="1" spc="150" dirty="0">
                <a:gradFill>
                  <a:gsLst>
                    <a:gs pos="0">
                      <a:srgbClr val="2563EB"/>
                    </a:gs>
                    <a:gs pos="100000">
                      <a:srgbClr val="0891B2"/>
                    </a:gs>
                  </a:gsLst>
                  <a:lin ang="2700000" scaled="1"/>
                </a:gradFill>
                <a:latin typeface="Microsoft YaHei"/>
                <a:ea typeface="Microsoft YaHei"/>
              </a:rPr>
              <a:t> · </a:t>
            </a:r>
            <a:r>
              <a:rPr lang="zh-CN" sz="5400" b="1" spc="150" dirty="0">
                <a:gradFill>
                  <a:gsLst>
                    <a:gs pos="0">
                      <a:srgbClr val="2563EB"/>
                    </a:gs>
                    <a:gs pos="100000">
                      <a:srgbClr val="0891B2"/>
                    </a:gs>
                  </a:gsLst>
                  <a:lin ang="2700000" scaled="1"/>
                </a:gradFill>
                <a:latin typeface="Microsoft YaHei"/>
                <a:ea typeface="Microsoft YaHei"/>
              </a:rPr>
              <a:t>实时</a:t>
            </a:r>
            <a:r>
              <a:rPr lang="en-US" sz="5400" b="1" spc="150" dirty="0">
                <a:gradFill>
                  <a:gsLst>
                    <a:gs pos="0">
                      <a:srgbClr val="2563EB"/>
                    </a:gs>
                    <a:gs pos="100000">
                      <a:srgbClr val="0891B2"/>
                    </a:gs>
                  </a:gsLst>
                  <a:lin ang="2700000" scaled="1"/>
                </a:gradFill>
                <a:latin typeface="Microsoft YaHei"/>
                <a:ea typeface="Microsoft YaHei"/>
              </a:rPr>
              <a:t> · </a:t>
            </a:r>
            <a:r>
              <a:rPr lang="en-US" sz="5400" b="1" spc="150" dirty="0" err="1">
                <a:gradFill>
                  <a:gsLst>
                    <a:gs pos="0">
                      <a:srgbClr val="2563EB"/>
                    </a:gs>
                    <a:gs pos="100000">
                      <a:srgbClr val="0891B2"/>
                    </a:gs>
                  </a:gsLst>
                  <a:lin ang="2700000" scaled="1"/>
                </a:gradFill>
                <a:latin typeface="Microsoft YaHei"/>
                <a:ea typeface="Microsoft YaHei"/>
              </a:rPr>
              <a:t>多并发</a:t>
            </a:r>
            <a:endParaRPr dirty="0"/>
          </a:p>
        </p:txBody>
      </p:sp>
      <p:sp>
        <p:nvSpPr>
          <p:cNvPr id="980" name="圆角矩形 979"/>
          <p:cNvSpPr/>
          <p:nvPr/>
        </p:nvSpPr>
        <p:spPr>
          <a:xfrm>
            <a:off x="3762375" y="3038475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2563EB">
              <a:alpha val="15000"/>
            </a:srgbClr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981" name="图片 9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5725" y="3171825"/>
            <a:ext cx="266700" cy="266700"/>
          </a:xfrm>
          <a:prstGeom prst="rect">
            <a:avLst/>
          </a:prstGeom>
          <a:ln/>
        </p:spPr>
      </p:pic>
      <p:sp>
        <p:nvSpPr>
          <p:cNvPr id="982" name="文本框 981" descr="{&quot;isTemplate&quot;:true,&quot;type&quot;:&quot;text&quot;}"/>
          <p:cNvSpPr txBox="1"/>
          <p:nvPr/>
        </p:nvSpPr>
        <p:spPr>
          <a:xfrm>
            <a:off x="3724275" y="3648075"/>
            <a:ext cx="6096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293B"/>
                </a:solidFill>
                <a:latin typeface="Microsoft YaHei"/>
                <a:ea typeface="Microsoft YaHei"/>
              </a:rPr>
              <a:t>四层架构</a:t>
            </a:r>
            <a:endParaRPr/>
          </a:p>
        </p:txBody>
      </p:sp>
      <p:sp>
        <p:nvSpPr>
          <p:cNvPr id="983" name="文本框 982" descr="{&quot;isTemplate&quot;:true,&quot;type&quot;:&quot;text&quot;}"/>
          <p:cNvSpPr txBox="1"/>
          <p:nvPr/>
        </p:nvSpPr>
        <p:spPr>
          <a:xfrm>
            <a:off x="3419475" y="3914775"/>
            <a:ext cx="12192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插件化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三线程一协程</a:t>
            </a:r>
            <a:endParaRPr/>
          </a:p>
        </p:txBody>
      </p:sp>
      <p:sp>
        <p:nvSpPr>
          <p:cNvPr id="984" name="圆角矩形 983"/>
          <p:cNvSpPr/>
          <p:nvPr/>
        </p:nvSpPr>
        <p:spPr>
          <a:xfrm>
            <a:off x="5248275" y="3038475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0891B2">
              <a:alpha val="15000"/>
            </a:srgbClr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985" name="图片 98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1625" y="3171825"/>
            <a:ext cx="266700" cy="266700"/>
          </a:xfrm>
          <a:prstGeom prst="rect">
            <a:avLst/>
          </a:prstGeom>
          <a:ln/>
        </p:spPr>
      </p:pic>
      <p:sp>
        <p:nvSpPr>
          <p:cNvPr id="986" name="文本框 985" descr="{&quot;isTemplate&quot;:true,&quot;type&quot;:&quot;text&quot;}"/>
          <p:cNvSpPr txBox="1"/>
          <p:nvPr/>
        </p:nvSpPr>
        <p:spPr>
          <a:xfrm>
            <a:off x="5133975" y="3648075"/>
            <a:ext cx="7620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293B"/>
                </a:solidFill>
                <a:latin typeface="Microsoft YaHei"/>
                <a:ea typeface="Microsoft YaHei"/>
              </a:rPr>
              <a:t>全链路流式</a:t>
            </a:r>
            <a:endParaRPr/>
          </a:p>
        </p:txBody>
      </p:sp>
      <p:sp>
        <p:nvSpPr>
          <p:cNvPr id="987" name="文本框 986" descr="{&quot;isTemplate&quot;:true,&quot;type&quot;:&quot;text&quot;}"/>
          <p:cNvSpPr txBox="1"/>
          <p:nvPr/>
        </p:nvSpPr>
        <p:spPr>
          <a:xfrm>
            <a:off x="5019675" y="3914775"/>
            <a:ext cx="9906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边说边渲染边推流</a:t>
            </a:r>
            <a:endParaRPr/>
          </a:p>
        </p:txBody>
      </p:sp>
      <p:sp>
        <p:nvSpPr>
          <p:cNvPr id="988" name="圆角矩形 987"/>
          <p:cNvSpPr/>
          <p:nvPr/>
        </p:nvSpPr>
        <p:spPr>
          <a:xfrm>
            <a:off x="6581775" y="3038475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2563EB">
              <a:alpha val="15000"/>
            </a:srgbClr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989" name="图片 98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5125" y="3171825"/>
            <a:ext cx="266700" cy="266700"/>
          </a:xfrm>
          <a:prstGeom prst="rect">
            <a:avLst/>
          </a:prstGeom>
          <a:ln/>
        </p:spPr>
      </p:pic>
      <p:sp>
        <p:nvSpPr>
          <p:cNvPr id="990" name="文本框 989" descr="{&quot;isTemplate&quot;:true,&quot;type&quot;:&quot;text&quot;}"/>
          <p:cNvSpPr txBox="1"/>
          <p:nvPr/>
        </p:nvSpPr>
        <p:spPr>
          <a:xfrm>
            <a:off x="6543675" y="3648075"/>
            <a:ext cx="6096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293B"/>
                </a:solidFill>
                <a:latin typeface="Microsoft YaHei"/>
                <a:ea typeface="Microsoft YaHei"/>
              </a:rPr>
              <a:t>生态完整</a:t>
            </a:r>
            <a:endParaRPr/>
          </a:p>
        </p:txBody>
      </p:sp>
      <p:sp>
        <p:nvSpPr>
          <p:cNvPr id="991" name="文本框 990" descr="{&quot;isTemplate&quot;:true,&quot;type&quot;:&quot;text&quot;}"/>
          <p:cNvSpPr txBox="1"/>
          <p:nvPr/>
        </p:nvSpPr>
        <p:spPr>
          <a:xfrm>
            <a:off x="6391275" y="3914775"/>
            <a:ext cx="9144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引擎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+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直播系统</a:t>
            </a:r>
            <a:endParaRPr/>
          </a:p>
        </p:txBody>
      </p:sp>
      <p:sp>
        <p:nvSpPr>
          <p:cNvPr id="992" name="圆角矩形 991"/>
          <p:cNvSpPr/>
          <p:nvPr/>
        </p:nvSpPr>
        <p:spPr>
          <a:xfrm>
            <a:off x="7972425" y="3038475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0891B2">
              <a:alpha val="15000"/>
            </a:srgbClr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993" name="图片 99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5775" y="3171825"/>
            <a:ext cx="266700" cy="266700"/>
          </a:xfrm>
          <a:prstGeom prst="rect">
            <a:avLst/>
          </a:prstGeom>
          <a:ln/>
        </p:spPr>
      </p:pic>
      <p:sp>
        <p:nvSpPr>
          <p:cNvPr id="994" name="文本框 993" descr="{&quot;isTemplate&quot;:true,&quot;type&quot;:&quot;text&quot;}"/>
          <p:cNvSpPr txBox="1"/>
          <p:nvPr/>
        </p:nvSpPr>
        <p:spPr>
          <a:xfrm>
            <a:off x="8010525" y="3648075"/>
            <a:ext cx="4572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293B"/>
                </a:solidFill>
                <a:latin typeface="Microsoft YaHei"/>
                <a:ea typeface="Microsoft YaHei"/>
              </a:rPr>
              <a:t>多并发</a:t>
            </a:r>
            <a:endParaRPr/>
          </a:p>
        </p:txBody>
      </p:sp>
      <p:sp>
        <p:nvSpPr>
          <p:cNvPr id="995" name="文本框 994" descr="{&quot;isTemplate&quot;:true,&quot;type&quot;:&quot;text&quot;}"/>
          <p:cNvSpPr txBox="1"/>
          <p:nvPr/>
        </p:nvSpPr>
        <p:spPr>
          <a:xfrm>
            <a:off x="7686675" y="3914775"/>
            <a:ext cx="10953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dirty="0">
                <a:solidFill>
                  <a:srgbClr val="475569"/>
                </a:solidFill>
                <a:latin typeface="Microsoft YaHei"/>
                <a:ea typeface="Microsoft YaHei"/>
              </a:rPr>
              <a:t>水平扩展</a:t>
            </a:r>
            <a:r>
              <a:rPr lang="en-US" sz="975" dirty="0">
                <a:solidFill>
                  <a:srgbClr val="475569"/>
                </a:solidFill>
                <a:latin typeface="Microsoft YaHei"/>
                <a:ea typeface="Microsoft YaHei"/>
              </a:rPr>
              <a:t> · </a:t>
            </a:r>
            <a:r>
              <a:rPr lang="zh-CN" sz="975" dirty="0">
                <a:solidFill>
                  <a:srgbClr val="475569"/>
                </a:solidFill>
                <a:latin typeface="Microsoft YaHei"/>
                <a:ea typeface="Microsoft YaHei"/>
              </a:rPr>
              <a:t>多路并行</a:t>
            </a:r>
            <a:endParaRPr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4FC4860-F51C-5846-ACAB-B685C8BD7C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9338" y="4316889"/>
            <a:ext cx="1786572" cy="1786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3137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372</TotalTime>
  <Words>5223</Words>
  <Application>Microsoft Macintosh PowerPoint</Application>
  <PresentationFormat>宽屏</PresentationFormat>
  <Paragraphs>799</Paragraphs>
  <Slides>38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42" baseType="lpstr"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李 中</cp:lastModifiedBy>
  <cp:revision>48</cp:revision>
  <dcterms:created xsi:type="dcterms:W3CDTF">2026-08-12T11:15:11Z</dcterms:created>
  <dcterms:modified xsi:type="dcterms:W3CDTF">2026-08-14T02:44:31Z</dcterms:modified>
</cp:coreProperties>
</file>